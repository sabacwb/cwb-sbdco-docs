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00" r:id="rId5"/>
    <p:sldMasterId id="2147483921" r:id="rId6"/>
  </p:sldMasterIdLst>
  <p:notesMasterIdLst>
    <p:notesMasterId r:id="rId11"/>
  </p:notesMasterIdLst>
  <p:handoutMasterIdLst>
    <p:handoutMasterId r:id="rId12"/>
  </p:handoutMasterIdLst>
  <p:sldIdLst>
    <p:sldId id="256" r:id="rId7"/>
    <p:sldId id="409" r:id="rId8"/>
    <p:sldId id="399" r:id="rId9"/>
    <p:sldId id="428" r:id="rId10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en Newbrook" initials="YN" lastIdx="3" clrIdx="0">
    <p:extLst>
      <p:ext uri="{19B8F6BF-5375-455C-9EA6-DF929625EA0E}">
        <p15:presenceInfo xmlns:p15="http://schemas.microsoft.com/office/powerpoint/2012/main" userId="S::ynewbrook@central1.com::09f9323b-fd08-43e7-8701-2d6489e9955c" providerId="AD"/>
      </p:ext>
    </p:extLst>
  </p:cmAuthor>
  <p:cmAuthor id="2" name="Jennifer Forewell" initials="JF" lastIdx="2" clrIdx="1">
    <p:extLst>
      <p:ext uri="{19B8F6BF-5375-455C-9EA6-DF929625EA0E}">
        <p15:presenceInfo xmlns:p15="http://schemas.microsoft.com/office/powerpoint/2012/main" userId="S::jforewell@central1.com::232a18af-9d3d-4c5d-892e-459ab0577acc" providerId="AD"/>
      </p:ext>
    </p:extLst>
  </p:cmAuthor>
  <p:cmAuthor id="3" name="Aaron Tom" initials="AT" lastIdx="2" clrIdx="2">
    <p:extLst>
      <p:ext uri="{19B8F6BF-5375-455C-9EA6-DF929625EA0E}">
        <p15:presenceInfo xmlns:p15="http://schemas.microsoft.com/office/powerpoint/2012/main" userId="S::atom@central1.com::7e1053df-4f71-4441-9c0c-d3d5a054419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606"/>
    <a:srgbClr val="BAC5B9"/>
    <a:srgbClr val="A9ACA0"/>
    <a:srgbClr val="2DCCD3"/>
    <a:srgbClr val="0097A9"/>
    <a:srgbClr val="FF8200"/>
    <a:srgbClr val="003B5C"/>
    <a:srgbClr val="84754E"/>
    <a:srgbClr val="DAAA00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81" autoAdjust="0"/>
    <p:restoredTop sz="97267" autoAdjust="0"/>
  </p:normalViewPr>
  <p:slideViewPr>
    <p:cSldViewPr snapToGrid="0">
      <p:cViewPr varScale="1">
        <p:scale>
          <a:sx n="191" d="100"/>
          <a:sy n="191" d="100"/>
        </p:scale>
        <p:origin x="1488" y="148"/>
      </p:cViewPr>
      <p:guideLst>
        <p:guide orient="horz" pos="1620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01/13/2022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01/13/2022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44227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127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2616" y="4209352"/>
            <a:ext cx="5617870" cy="4188171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50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33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64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9249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2823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3618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996830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4319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853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02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77826" y="3122333"/>
            <a:ext cx="6362700" cy="398089"/>
          </a:xfrm>
        </p:spPr>
        <p:txBody>
          <a:bodyPr/>
          <a:lstStyle/>
          <a:p>
            <a:r>
              <a:rPr lang="en-CA" dirty="0"/>
              <a:t>January 14, 2022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85709" y="1492530"/>
            <a:ext cx="8350249" cy="528638"/>
          </a:xfrm>
        </p:spPr>
        <p:txBody>
          <a:bodyPr/>
          <a:lstStyle/>
          <a:p>
            <a:r>
              <a:rPr lang="en-US" sz="4000" dirty="0"/>
              <a:t>EMT/T2 Readiness</a:t>
            </a:r>
          </a:p>
          <a:p>
            <a:r>
              <a:rPr lang="en-US" sz="4000" dirty="0"/>
              <a:t>Go/No-Go</a:t>
            </a:r>
            <a:endParaRPr lang="en-CA" sz="4000" spc="-100" dirty="0"/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399" y="284830"/>
            <a:ext cx="8280401" cy="397483"/>
          </a:xfrm>
        </p:spPr>
        <p:txBody>
          <a:bodyPr/>
          <a:lstStyle/>
          <a:p>
            <a:r>
              <a:rPr lang="en-US" dirty="0"/>
              <a:t>Agenda</a:t>
            </a:r>
            <a:endParaRPr lang="en-US" i="1" dirty="0">
              <a:solidFill>
                <a:srgbClr val="003B5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406399" y="1067913"/>
            <a:ext cx="8280400" cy="2743200"/>
          </a:xfrm>
        </p:spPr>
        <p:txBody>
          <a:bodyPr/>
          <a:lstStyle/>
          <a:p>
            <a:r>
              <a:rPr lang="en-US" b="1" dirty="0">
                <a:solidFill>
                  <a:srgbClr val="0097A9"/>
                </a:solidFill>
              </a:rPr>
              <a:t>EMT/T2 Readiness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IS/C1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DM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8405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43120" y="1558298"/>
            <a:ext cx="1910605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Business</a:t>
            </a:r>
            <a:r>
              <a:rPr lang="en-US" dirty="0"/>
              <a:t> Readiness</a:t>
            </a: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814131" y="1339469"/>
            <a:ext cx="1474574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Testing</a:t>
            </a:r>
            <a:endParaRPr lang="en-CA" b="1" dirty="0"/>
          </a:p>
        </p:txBody>
      </p:sp>
      <p:sp>
        <p:nvSpPr>
          <p:cNvPr id="8" name="Rounded Rectangle 7"/>
          <p:cNvSpPr/>
          <p:nvPr/>
        </p:nvSpPr>
        <p:spPr>
          <a:xfrm>
            <a:off x="543120" y="3478286"/>
            <a:ext cx="1910605" cy="1169551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543120" y="1817238"/>
            <a:ext cx="19084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Test scenarios completed and passed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/>
              <a:t>Business testing*</a:t>
            </a:r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</p:txBody>
      </p:sp>
      <p:sp>
        <p:nvSpPr>
          <p:cNvPr id="25" name="Rounded Rectangle 24"/>
          <p:cNvSpPr/>
          <p:nvPr/>
        </p:nvSpPr>
        <p:spPr>
          <a:xfrm>
            <a:off x="2508997" y="1558298"/>
            <a:ext cx="1910605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Rectangle 25"/>
          <p:cNvSpPr/>
          <p:nvPr/>
        </p:nvSpPr>
        <p:spPr>
          <a:xfrm>
            <a:off x="2780008" y="1339469"/>
            <a:ext cx="1474574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OCM</a:t>
            </a:r>
            <a:endParaRPr lang="en-CA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2508997" y="3478287"/>
            <a:ext cx="1908471" cy="1169550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/>
          <p:cNvSpPr txBox="1"/>
          <p:nvPr/>
        </p:nvSpPr>
        <p:spPr>
          <a:xfrm>
            <a:off x="2508997" y="1817238"/>
            <a:ext cx="19042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Communications, Internal &amp; External prepared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/>
              <a:t>Launch communications*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>
              <a:buSzPct val="100000"/>
            </a:pPr>
            <a:endParaRPr lang="en-US" sz="1000" dirty="0"/>
          </a:p>
          <a:p>
            <a:endParaRPr lang="en-CA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503483" y="3558738"/>
            <a:ext cx="1908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Complete post business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0" name="Rounded Rectangle 29"/>
          <p:cNvSpPr/>
          <p:nvPr/>
        </p:nvSpPr>
        <p:spPr>
          <a:xfrm>
            <a:off x="4467293" y="1558298"/>
            <a:ext cx="1910605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1" name="Rectangle 30"/>
          <p:cNvSpPr/>
          <p:nvPr/>
        </p:nvSpPr>
        <p:spPr>
          <a:xfrm>
            <a:off x="4738304" y="1320175"/>
            <a:ext cx="1474574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IS/C1</a:t>
            </a:r>
            <a:endParaRPr lang="en-CA" b="1" dirty="0"/>
          </a:p>
        </p:txBody>
      </p:sp>
      <p:sp>
        <p:nvSpPr>
          <p:cNvPr id="32" name="Rounded Rectangle 31"/>
          <p:cNvSpPr/>
          <p:nvPr/>
        </p:nvSpPr>
        <p:spPr>
          <a:xfrm>
            <a:off x="4467293" y="3478287"/>
            <a:ext cx="1910605" cy="1169550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TextBox 32"/>
          <p:cNvSpPr txBox="1"/>
          <p:nvPr/>
        </p:nvSpPr>
        <p:spPr>
          <a:xfrm>
            <a:off x="4467293" y="1797944"/>
            <a:ext cx="19106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Change Request approved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Web pages completed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C1 resources ready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4467293" y="3539444"/>
            <a:ext cx="19106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None</a:t>
            </a:r>
            <a:endParaRPr lang="en-CA" sz="1000" dirty="0"/>
          </a:p>
        </p:txBody>
      </p:sp>
      <p:sp>
        <p:nvSpPr>
          <p:cNvPr id="41" name="Chevron 40"/>
          <p:cNvSpPr/>
          <p:nvPr/>
        </p:nvSpPr>
        <p:spPr>
          <a:xfrm>
            <a:off x="2105070" y="210686"/>
            <a:ext cx="219740" cy="39808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00" y="205769"/>
            <a:ext cx="891721" cy="76014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B41F43-5F15-4A1D-83C8-B8BC8D06C4C4}"/>
              </a:ext>
            </a:extLst>
          </p:cNvPr>
          <p:cNvSpPr/>
          <p:nvPr/>
        </p:nvSpPr>
        <p:spPr>
          <a:xfrm rot="16200000">
            <a:off x="-379595" y="2382671"/>
            <a:ext cx="1656085" cy="15125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Completed</a:t>
            </a:r>
            <a:endParaRPr lang="en-CA" sz="1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EE6BB3-D8C7-40B8-A813-EF8C9DA8965E}"/>
              </a:ext>
            </a:extLst>
          </p:cNvPr>
          <p:cNvSpPr/>
          <p:nvPr/>
        </p:nvSpPr>
        <p:spPr>
          <a:xfrm rot="16200000">
            <a:off x="-23227" y="3872391"/>
            <a:ext cx="951151" cy="15125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Remediation</a:t>
            </a:r>
            <a:endParaRPr lang="en-CA" sz="1100" b="1" dirty="0"/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936F1F17-8B88-47E2-A407-F6B6150E4529}"/>
              </a:ext>
            </a:extLst>
          </p:cNvPr>
          <p:cNvSpPr/>
          <p:nvPr/>
        </p:nvSpPr>
        <p:spPr>
          <a:xfrm>
            <a:off x="6423769" y="1558287"/>
            <a:ext cx="1910605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19AF88-AD20-47A0-89E3-2BEBD565FACD}"/>
              </a:ext>
            </a:extLst>
          </p:cNvPr>
          <p:cNvSpPr/>
          <p:nvPr/>
        </p:nvSpPr>
        <p:spPr>
          <a:xfrm>
            <a:off x="6694780" y="1339458"/>
            <a:ext cx="1474574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DM</a:t>
            </a:r>
            <a:endParaRPr lang="en-CA" b="1" dirty="0"/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66B6E5BB-A3D3-4402-9541-1259B0CA94D8}"/>
              </a:ext>
            </a:extLst>
          </p:cNvPr>
          <p:cNvSpPr/>
          <p:nvPr/>
        </p:nvSpPr>
        <p:spPr>
          <a:xfrm>
            <a:off x="6423769" y="3478276"/>
            <a:ext cx="1908471" cy="1169550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AA3C8A-ED16-41AA-AB25-C010EBB94CE3}"/>
              </a:ext>
            </a:extLst>
          </p:cNvPr>
          <p:cNvSpPr txBox="1"/>
          <p:nvPr/>
        </p:nvSpPr>
        <p:spPr>
          <a:xfrm>
            <a:off x="6423769" y="1802938"/>
            <a:ext cx="1904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T2 Mock run – Jan 18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T2 Prod migration – Jan 22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Communications prepared*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>
              <a:buSzPct val="100000"/>
            </a:pPr>
            <a:endParaRPr lang="en-US" sz="1000" dirty="0"/>
          </a:p>
          <a:p>
            <a:endParaRPr lang="en-CA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1EC21D-27F1-4FE0-ADEF-5DE11E8D5958}"/>
              </a:ext>
            </a:extLst>
          </p:cNvPr>
          <p:cNvSpPr txBox="1"/>
          <p:nvPr/>
        </p:nvSpPr>
        <p:spPr>
          <a:xfrm>
            <a:off x="6418255" y="3549201"/>
            <a:ext cx="1908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To be released, post mock run (1/18)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130E60-6C1D-4A68-A181-0EB24C13AF94}"/>
              </a:ext>
            </a:extLst>
          </p:cNvPr>
          <p:cNvSpPr txBox="1"/>
          <p:nvPr/>
        </p:nvSpPr>
        <p:spPr>
          <a:xfrm>
            <a:off x="536562" y="3558731"/>
            <a:ext cx="1908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Complete Monday evening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4821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240687"/>
            <a:ext cx="8280401" cy="397483"/>
          </a:xfrm>
        </p:spPr>
        <p:txBody>
          <a:bodyPr/>
          <a:lstStyle/>
          <a:p>
            <a:r>
              <a:rPr lang="en-US" dirty="0"/>
              <a:t>Go/No-Go Recommendation &amp; Decision</a:t>
            </a:r>
            <a:endParaRPr lang="en-CA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399" y="673348"/>
            <a:ext cx="8128001" cy="3850013"/>
          </a:xfrm>
        </p:spPr>
        <p:txBody>
          <a:bodyPr/>
          <a:lstStyle/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97A9"/>
                </a:solidFill>
              </a:rPr>
              <a:t>Go – Subject to:</a:t>
            </a:r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00000"/>
                </a:solidFill>
              </a:rPr>
              <a:t>No-Go   </a:t>
            </a:r>
          </a:p>
          <a:p>
            <a:pPr marL="742950" lvl="1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None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endParaRPr lang="en-US" sz="11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97A9"/>
                </a:solidFill>
              </a:rPr>
              <a:t>Decision (</a:t>
            </a:r>
            <a:r>
              <a:rPr lang="en-US" sz="1400">
                <a:solidFill>
                  <a:srgbClr val="0097A9"/>
                </a:solidFill>
              </a:rPr>
              <a:t>all approved for GO)</a:t>
            </a:r>
            <a:endParaRPr lang="en-US" sz="1400" dirty="0">
              <a:solidFill>
                <a:srgbClr val="0097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14852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7E95BB7-831E-4E25-80F3-94728565E23B}"/>
    </a:ext>
  </a:extLst>
</a:theme>
</file>

<file path=ppt/theme/theme2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3.xml><?xml version="1.0" encoding="utf-8"?>
<a:theme xmlns:a="http://schemas.openxmlformats.org/drawingml/2006/main" name="1_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164667-F593-48BE-B1B8-F464243115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7BF586-4BCD-4AA7-BDD9-426B37FC8399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sharepoint/v4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B8A0ECA-6826-4A4C-B9A4-95D79076B92E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12828</TotalTime>
  <Words>117</Words>
  <Application>Microsoft Office PowerPoint</Application>
  <PresentationFormat>On-screen Show (16:9)</PresentationFormat>
  <Paragraphs>49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Frutiger LT Std 57 Cn</vt:lpstr>
      <vt:lpstr>Wingdings</vt:lpstr>
      <vt:lpstr>Title Slide Option 1</vt:lpstr>
      <vt:lpstr>2 Primary Gold - Content</vt:lpstr>
      <vt:lpstr>1_2 Primary Gold - Content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Mastaller</dc:creator>
  <cp:lastModifiedBy>Dino Noce</cp:lastModifiedBy>
  <cp:revision>176</cp:revision>
  <cp:lastPrinted>2014-01-17T22:29:57Z</cp:lastPrinted>
  <dcterms:created xsi:type="dcterms:W3CDTF">2020-01-03T22:06:25Z</dcterms:created>
  <dcterms:modified xsi:type="dcterms:W3CDTF">2022-01-14T18:37:48Z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937800</vt:r8>
  </property>
  <property fmtid="{D5CDD505-2E9C-101B-9397-08002B2CF9AE}" pid="4" name="URL">
    <vt:lpwstr/>
  </property>
</Properties>
</file>