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70" r:id="rId10"/>
    <p:sldId id="271" r:id="rId11"/>
    <p:sldId id="272" r:id="rId12"/>
    <p:sldId id="273" r:id="rId13"/>
    <p:sldId id="274" r:id="rId14"/>
    <p:sldId id="275" r:id="rId15"/>
    <p:sldId id="264" r:id="rId16"/>
    <p:sldId id="266" r:id="rId17"/>
    <p:sldId id="267" r:id="rId18"/>
    <p:sldId id="268" r:id="rId19"/>
    <p:sldId id="265"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1" d="100"/>
          <a:sy n="81" d="100"/>
        </p:scale>
        <p:origin x="60" y="53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11F1-0B47-4953-A5EA-BBC4E8D1AD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9CB8C059-B176-4EBB-A205-05CDFF79EC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393ADBB-1BCB-41C4-BBD5-B21EAC988CA5}"/>
              </a:ext>
            </a:extLst>
          </p:cNvPr>
          <p:cNvSpPr>
            <a:spLocks noGrp="1"/>
          </p:cNvSpPr>
          <p:nvPr>
            <p:ph type="dt" sz="half" idx="10"/>
          </p:nvPr>
        </p:nvSpPr>
        <p:spPr/>
        <p:txBody>
          <a:bodyPr/>
          <a:lstStyle/>
          <a:p>
            <a:fld id="{4760B288-8A3A-427C-9B7B-E1B26CAACB89}" type="datetimeFigureOut">
              <a:rPr lang="en-CA" smtClean="0"/>
              <a:t>08/06/2021</a:t>
            </a:fld>
            <a:endParaRPr lang="en-CA"/>
          </a:p>
        </p:txBody>
      </p:sp>
      <p:sp>
        <p:nvSpPr>
          <p:cNvPr id="5" name="Footer Placeholder 4">
            <a:extLst>
              <a:ext uri="{FF2B5EF4-FFF2-40B4-BE49-F238E27FC236}">
                <a16:creationId xmlns:a16="http://schemas.microsoft.com/office/drawing/2014/main" id="{146061ED-9EF9-43A4-BC32-FDF4865E50E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53C6415-3BBF-488F-86FE-F416F4D7C792}"/>
              </a:ext>
            </a:extLst>
          </p:cNvPr>
          <p:cNvSpPr>
            <a:spLocks noGrp="1"/>
          </p:cNvSpPr>
          <p:nvPr>
            <p:ph type="sldNum" sz="quarter" idx="12"/>
          </p:nvPr>
        </p:nvSpPr>
        <p:spPr/>
        <p:txBody>
          <a:bodyPr/>
          <a:lstStyle/>
          <a:p>
            <a:fld id="{E1B0E7C9-B129-4460-9A31-26E3E793BCB2}" type="slidenum">
              <a:rPr lang="en-CA" smtClean="0"/>
              <a:t>‹#›</a:t>
            </a:fld>
            <a:endParaRPr lang="en-CA"/>
          </a:p>
        </p:txBody>
      </p:sp>
    </p:spTree>
    <p:extLst>
      <p:ext uri="{BB962C8B-B14F-4D97-AF65-F5344CB8AC3E}">
        <p14:creationId xmlns:p14="http://schemas.microsoft.com/office/powerpoint/2010/main" val="512439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CB8C059-B176-4EBB-A205-05CDFF79EC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Tree>
    <p:extLst>
      <p:ext uri="{BB962C8B-B14F-4D97-AF65-F5344CB8AC3E}">
        <p14:creationId xmlns:p14="http://schemas.microsoft.com/office/powerpoint/2010/main" val="2667895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349A0FF-0BFF-403B-9839-FAEF026AA968}"/>
              </a:ext>
            </a:extLst>
          </p:cNvPr>
          <p:cNvSpPr>
            <a:spLocks noGrp="1"/>
          </p:cNvSpPr>
          <p:nvPr>
            <p:ph idx="1" hasCustomPrompt="1"/>
          </p:nvPr>
        </p:nvSpPr>
        <p:spPr>
          <a:xfrm>
            <a:off x="130834" y="111844"/>
            <a:ext cx="9674524" cy="5400000"/>
          </a:xfrm>
          <a:ln>
            <a:solidFill>
              <a:schemeClr val="bg2">
                <a:lumMod val="50000"/>
              </a:schemeClr>
            </a:solidFill>
          </a:ln>
        </p:spPr>
        <p:txBody>
          <a:bodyPr/>
          <a:lstStyle>
            <a:lvl1pPr marL="0" indent="0">
              <a:buNone/>
              <a:defRPr/>
            </a:lvl1pPr>
          </a:lstStyle>
          <a:p>
            <a:pPr lvl="0"/>
            <a:r>
              <a:rPr lang="en-US" dirty="0"/>
              <a:t>&lt;image&gt;</a:t>
            </a:r>
            <a:endParaRPr lang="en-CA" dirty="0"/>
          </a:p>
        </p:txBody>
      </p:sp>
      <p:sp>
        <p:nvSpPr>
          <p:cNvPr id="7" name="Content Placeholder 2">
            <a:extLst>
              <a:ext uri="{FF2B5EF4-FFF2-40B4-BE49-F238E27FC236}">
                <a16:creationId xmlns:a16="http://schemas.microsoft.com/office/drawing/2014/main" id="{055BE884-A01C-4C8E-B362-C77961349CF5}"/>
              </a:ext>
            </a:extLst>
          </p:cNvPr>
          <p:cNvSpPr>
            <a:spLocks noGrp="1"/>
          </p:cNvSpPr>
          <p:nvPr>
            <p:ph idx="10" hasCustomPrompt="1"/>
          </p:nvPr>
        </p:nvSpPr>
        <p:spPr>
          <a:xfrm>
            <a:off x="9805358" y="111844"/>
            <a:ext cx="2335514" cy="2338183"/>
          </a:xfrm>
          <a:ln>
            <a:solidFill>
              <a:schemeClr val="bg2">
                <a:lumMod val="50000"/>
              </a:schemeClr>
            </a:solidFill>
          </a:ln>
        </p:spPr>
        <p:txBody>
          <a:bodyPr>
            <a:normAutofit/>
          </a:bodyPr>
          <a:lstStyle>
            <a:lvl1pPr marL="0" indent="0">
              <a:buNone/>
              <a:defRPr sz="1600"/>
            </a:lvl1pPr>
          </a:lstStyle>
          <a:p>
            <a:pPr lvl="0"/>
            <a:r>
              <a:rPr lang="en-US" dirty="0"/>
              <a:t>&lt;description&gt;</a:t>
            </a:r>
            <a:endParaRPr lang="en-CA" dirty="0"/>
          </a:p>
        </p:txBody>
      </p:sp>
      <p:sp>
        <p:nvSpPr>
          <p:cNvPr id="10" name="Content Placeholder 2">
            <a:extLst>
              <a:ext uri="{FF2B5EF4-FFF2-40B4-BE49-F238E27FC236}">
                <a16:creationId xmlns:a16="http://schemas.microsoft.com/office/drawing/2014/main" id="{01CFE1F0-C9B9-4DAD-82F4-AE3EBB8D29EB}"/>
              </a:ext>
            </a:extLst>
          </p:cNvPr>
          <p:cNvSpPr>
            <a:spLocks noGrp="1"/>
          </p:cNvSpPr>
          <p:nvPr>
            <p:ph idx="11" hasCustomPrompt="1"/>
          </p:nvPr>
        </p:nvSpPr>
        <p:spPr>
          <a:xfrm>
            <a:off x="130834" y="5511844"/>
            <a:ext cx="9674524" cy="1300013"/>
          </a:xfrm>
          <a:ln>
            <a:solidFill>
              <a:schemeClr val="bg2">
                <a:lumMod val="50000"/>
              </a:schemeClr>
            </a:solidFill>
          </a:ln>
        </p:spPr>
        <p:txBody>
          <a:bodyPr>
            <a:normAutofit/>
          </a:bodyPr>
          <a:lstStyle>
            <a:lvl1pPr marL="0" indent="0">
              <a:buNone/>
              <a:defRPr sz="1600"/>
            </a:lvl1pPr>
          </a:lstStyle>
          <a:p>
            <a:pPr lvl="0"/>
            <a:r>
              <a:rPr lang="en-US" dirty="0"/>
              <a:t>&lt;script&gt;</a:t>
            </a:r>
            <a:endParaRPr lang="en-CA" dirty="0"/>
          </a:p>
        </p:txBody>
      </p:sp>
      <p:sp>
        <p:nvSpPr>
          <p:cNvPr id="13" name="Content Placeholder 2">
            <a:extLst>
              <a:ext uri="{FF2B5EF4-FFF2-40B4-BE49-F238E27FC236}">
                <a16:creationId xmlns:a16="http://schemas.microsoft.com/office/drawing/2014/main" id="{C4102ADA-E4A2-4525-8AA3-5A0274766145}"/>
              </a:ext>
            </a:extLst>
          </p:cNvPr>
          <p:cNvSpPr>
            <a:spLocks noGrp="1"/>
          </p:cNvSpPr>
          <p:nvPr>
            <p:ph idx="12" hasCustomPrompt="1"/>
          </p:nvPr>
        </p:nvSpPr>
        <p:spPr>
          <a:xfrm>
            <a:off x="9805358" y="2450027"/>
            <a:ext cx="2335514" cy="2180915"/>
          </a:xfrm>
          <a:ln>
            <a:solidFill>
              <a:schemeClr val="bg2">
                <a:lumMod val="50000"/>
              </a:schemeClr>
            </a:solidFill>
          </a:ln>
        </p:spPr>
        <p:txBody>
          <a:bodyPr>
            <a:normAutofit/>
          </a:bodyPr>
          <a:lstStyle>
            <a:lvl1pPr marL="0" indent="0">
              <a:buNone/>
              <a:defRPr sz="1600"/>
            </a:lvl1pPr>
          </a:lstStyle>
          <a:p>
            <a:pPr lvl="0"/>
            <a:r>
              <a:rPr lang="en-US" dirty="0"/>
              <a:t>&lt;action&gt;</a:t>
            </a:r>
            <a:endParaRPr lang="en-CA" dirty="0"/>
          </a:p>
        </p:txBody>
      </p:sp>
      <p:sp>
        <p:nvSpPr>
          <p:cNvPr id="14" name="Content Placeholder 2">
            <a:extLst>
              <a:ext uri="{FF2B5EF4-FFF2-40B4-BE49-F238E27FC236}">
                <a16:creationId xmlns:a16="http://schemas.microsoft.com/office/drawing/2014/main" id="{4D110E7C-F46E-4743-96C6-B6CCFDAC0725}"/>
              </a:ext>
            </a:extLst>
          </p:cNvPr>
          <p:cNvSpPr>
            <a:spLocks noGrp="1"/>
          </p:cNvSpPr>
          <p:nvPr>
            <p:ph idx="13" hasCustomPrompt="1"/>
          </p:nvPr>
        </p:nvSpPr>
        <p:spPr>
          <a:xfrm>
            <a:off x="9805358" y="4630942"/>
            <a:ext cx="2335514" cy="2180915"/>
          </a:xfrm>
          <a:ln>
            <a:solidFill>
              <a:schemeClr val="bg2">
                <a:lumMod val="50000"/>
              </a:schemeClr>
            </a:solidFill>
          </a:ln>
        </p:spPr>
        <p:txBody>
          <a:bodyPr>
            <a:normAutofit/>
          </a:bodyPr>
          <a:lstStyle>
            <a:lvl1pPr marL="0" indent="0">
              <a:buNone/>
              <a:defRPr sz="1600"/>
            </a:lvl1pPr>
          </a:lstStyle>
          <a:p>
            <a:pPr lvl="0"/>
            <a:r>
              <a:rPr lang="en-US" dirty="0"/>
              <a:t>&lt;audio&gt;</a:t>
            </a:r>
            <a:endParaRPr lang="en-CA" dirty="0"/>
          </a:p>
        </p:txBody>
      </p:sp>
    </p:spTree>
    <p:extLst>
      <p:ext uri="{BB962C8B-B14F-4D97-AF65-F5344CB8AC3E}">
        <p14:creationId xmlns:p14="http://schemas.microsoft.com/office/powerpoint/2010/main" val="8294092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6302D2-41DE-4CEA-8CBB-76E239E3AF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A7AD9A1-B18D-47B0-BC2F-3EA3BE2ED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58FF5FE-C651-4205-8700-33ECC843D4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60B288-8A3A-427C-9B7B-E1B26CAACB89}" type="datetimeFigureOut">
              <a:rPr lang="en-CA" smtClean="0"/>
              <a:t>08/06/2021</a:t>
            </a:fld>
            <a:endParaRPr lang="en-CA"/>
          </a:p>
        </p:txBody>
      </p:sp>
      <p:sp>
        <p:nvSpPr>
          <p:cNvPr id="5" name="Footer Placeholder 4">
            <a:extLst>
              <a:ext uri="{FF2B5EF4-FFF2-40B4-BE49-F238E27FC236}">
                <a16:creationId xmlns:a16="http://schemas.microsoft.com/office/drawing/2014/main" id="{72690643-9B9A-4B0D-8235-271B112A4B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068512B6-1277-4CC8-B2D2-449A221727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B0E7C9-B129-4460-9A31-26E3E793BCB2}" type="slidenum">
              <a:rPr lang="en-CA" smtClean="0"/>
              <a:t>‹#›</a:t>
            </a:fld>
            <a:endParaRPr lang="en-CA"/>
          </a:p>
        </p:txBody>
      </p:sp>
    </p:spTree>
    <p:extLst>
      <p:ext uri="{BB962C8B-B14F-4D97-AF65-F5344CB8AC3E}">
        <p14:creationId xmlns:p14="http://schemas.microsoft.com/office/powerpoint/2010/main" val="1325963514"/>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C0807-8929-43E9-AAC9-9BB4EA55C690}"/>
              </a:ext>
            </a:extLst>
          </p:cNvPr>
          <p:cNvSpPr>
            <a:spLocks noGrp="1"/>
          </p:cNvSpPr>
          <p:nvPr>
            <p:ph type="ctrTitle"/>
          </p:nvPr>
        </p:nvSpPr>
        <p:spPr/>
        <p:txBody>
          <a:bodyPr/>
          <a:lstStyle/>
          <a:p>
            <a:r>
              <a:rPr lang="en-US" dirty="0"/>
              <a:t>Okta/Sentry Support</a:t>
            </a:r>
            <a:br>
              <a:rPr lang="en-US" dirty="0"/>
            </a:br>
            <a:r>
              <a:rPr lang="en-US" dirty="0"/>
              <a:t>R1 Learning Suite</a:t>
            </a:r>
            <a:endParaRPr lang="en-CA" dirty="0"/>
          </a:p>
        </p:txBody>
      </p:sp>
      <p:sp>
        <p:nvSpPr>
          <p:cNvPr id="3" name="Subtitle 2">
            <a:extLst>
              <a:ext uri="{FF2B5EF4-FFF2-40B4-BE49-F238E27FC236}">
                <a16:creationId xmlns:a16="http://schemas.microsoft.com/office/drawing/2014/main" id="{BAEE3C71-A269-4280-A134-D07EDEF7512B}"/>
              </a:ext>
            </a:extLst>
          </p:cNvPr>
          <p:cNvSpPr>
            <a:spLocks noGrp="1"/>
          </p:cNvSpPr>
          <p:nvPr>
            <p:ph type="subTitle" idx="1"/>
          </p:nvPr>
        </p:nvSpPr>
        <p:spPr/>
        <p:txBody>
          <a:bodyPr/>
          <a:lstStyle/>
          <a:p>
            <a:pPr algn="l"/>
            <a:endParaRPr lang="en-CA" sz="2000" dirty="0">
              <a:effectLst/>
            </a:endParaRPr>
          </a:p>
          <a:p>
            <a:pPr marL="742950" lvl="1" indent="-285750" algn="l">
              <a:buFont typeface="+mj-lt"/>
              <a:buAutoNum type="alphaLcPeriod"/>
            </a:pPr>
            <a:r>
              <a:rPr lang="en-CA" dirty="0">
                <a:effectLst/>
                <a:latin typeface="Calibri" panose="020F0502020204030204" pitchFamily="34" charset="0"/>
                <a:ea typeface="Times New Roman" panose="02020603050405020304" pitchFamily="18" charset="0"/>
              </a:rPr>
              <a:t>Password reset </a:t>
            </a:r>
            <a:endParaRPr lang="en-CA" dirty="0">
              <a:effectLst/>
              <a:latin typeface="Calibri" panose="020F0502020204030204" pitchFamily="34" charset="0"/>
              <a:ea typeface="Calibri" panose="020F0502020204030204" pitchFamily="34" charset="0"/>
            </a:endParaRPr>
          </a:p>
          <a:p>
            <a:pPr marL="742950" lvl="1" indent="-285750" algn="l">
              <a:buFont typeface="+mj-lt"/>
              <a:buAutoNum type="alphaLcPeriod"/>
            </a:pPr>
            <a:r>
              <a:rPr lang="en-CA" dirty="0">
                <a:effectLst/>
                <a:latin typeface="Calibri" panose="020F0502020204030204" pitchFamily="34" charset="0"/>
                <a:ea typeface="Times New Roman" panose="02020603050405020304" pitchFamily="18" charset="0"/>
              </a:rPr>
              <a:t>MFA Factor reset </a:t>
            </a:r>
            <a:endParaRPr lang="en-CA" dirty="0">
              <a:effectLst/>
              <a:latin typeface="Calibri" panose="020F0502020204030204" pitchFamily="34" charset="0"/>
              <a:ea typeface="Calibri" panose="020F0502020204030204" pitchFamily="34" charset="0"/>
            </a:endParaRPr>
          </a:p>
          <a:p>
            <a:pPr marL="742950" lvl="1" indent="-285750" algn="l">
              <a:buFont typeface="+mj-lt"/>
              <a:buAutoNum type="alphaLcPeriod"/>
            </a:pPr>
            <a:r>
              <a:rPr lang="en-CA" dirty="0">
                <a:effectLst/>
                <a:latin typeface="Calibri" panose="020F0502020204030204" pitchFamily="34" charset="0"/>
                <a:ea typeface="Times New Roman" panose="02020603050405020304" pitchFamily="18" charset="0"/>
              </a:rPr>
              <a:t>Unlock my OLB profile </a:t>
            </a:r>
            <a:endParaRPr lang="en-CA" dirty="0">
              <a:effectLst/>
              <a:latin typeface="Calibri" panose="020F0502020204030204" pitchFamily="34" charset="0"/>
              <a:ea typeface="Calibri" panose="020F0502020204030204" pitchFamily="34" charset="0"/>
            </a:endParaRPr>
          </a:p>
          <a:p>
            <a:endParaRPr lang="en-CA" dirty="0"/>
          </a:p>
        </p:txBody>
      </p:sp>
    </p:spTree>
    <p:extLst>
      <p:ext uri="{BB962C8B-B14F-4D97-AF65-F5344CB8AC3E}">
        <p14:creationId xmlns:p14="http://schemas.microsoft.com/office/powerpoint/2010/main" val="969545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F9A0244-8E8B-4AA2-9AEB-2082B6A61379}"/>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86831" y="1858962"/>
            <a:ext cx="4762500" cy="1905000"/>
          </a:xfrm>
        </p:spPr>
      </p:pic>
      <p:sp>
        <p:nvSpPr>
          <p:cNvPr id="3" name="Content Placeholder 2">
            <a:extLst>
              <a:ext uri="{FF2B5EF4-FFF2-40B4-BE49-F238E27FC236}">
                <a16:creationId xmlns:a16="http://schemas.microsoft.com/office/drawing/2014/main" id="{BE91C43E-4355-41BA-BFD4-CA1DA59523F2}"/>
              </a:ext>
            </a:extLst>
          </p:cNvPr>
          <p:cNvSpPr>
            <a:spLocks noGrp="1"/>
          </p:cNvSpPr>
          <p:nvPr>
            <p:ph idx="10"/>
          </p:nvPr>
        </p:nvSpPr>
        <p:spPr/>
        <p:txBody>
          <a:bodyPr/>
          <a:lstStyle/>
          <a:p>
            <a:r>
              <a:rPr lang="en-US" dirty="0"/>
              <a:t>Intro slide with the digital program branding</a:t>
            </a:r>
            <a:endParaRPr lang="en-CA" dirty="0"/>
          </a:p>
        </p:txBody>
      </p:sp>
      <p:sp>
        <p:nvSpPr>
          <p:cNvPr id="4" name="Content Placeholder 3">
            <a:extLst>
              <a:ext uri="{FF2B5EF4-FFF2-40B4-BE49-F238E27FC236}">
                <a16:creationId xmlns:a16="http://schemas.microsoft.com/office/drawing/2014/main" id="{D1EB2949-7B4A-4965-8D3C-E64D03FFD393}"/>
              </a:ext>
            </a:extLst>
          </p:cNvPr>
          <p:cNvSpPr>
            <a:spLocks noGrp="1"/>
          </p:cNvSpPr>
          <p:nvPr>
            <p:ph idx="11"/>
          </p:nvPr>
        </p:nvSpPr>
        <p:spPr/>
        <p:txBody>
          <a:bodyPr/>
          <a:lstStyle/>
          <a:p>
            <a:r>
              <a:rPr lang="en-US" dirty="0"/>
              <a:t>Topic: (</a:t>
            </a:r>
            <a:r>
              <a:rPr lang="en-US" dirty="0" err="1"/>
              <a:t>ToS</a:t>
            </a:r>
            <a:r>
              <a:rPr lang="en-US" dirty="0"/>
              <a:t>) How to reset a password in Okta/Sentry</a:t>
            </a:r>
            <a:endParaRPr lang="en-CA" dirty="0"/>
          </a:p>
        </p:txBody>
      </p:sp>
      <p:sp>
        <p:nvSpPr>
          <p:cNvPr id="5" name="Content Placeholder 4">
            <a:extLst>
              <a:ext uri="{FF2B5EF4-FFF2-40B4-BE49-F238E27FC236}">
                <a16:creationId xmlns:a16="http://schemas.microsoft.com/office/drawing/2014/main" id="{0F6B1661-213F-4C58-B6D7-4F407489DF48}"/>
              </a:ext>
            </a:extLst>
          </p:cNvPr>
          <p:cNvSpPr>
            <a:spLocks noGrp="1"/>
          </p:cNvSpPr>
          <p:nvPr>
            <p:ph idx="12"/>
          </p:nvPr>
        </p:nvSpPr>
        <p:spPr/>
        <p:txBody>
          <a:bodyPr/>
          <a:lstStyle/>
          <a:p>
            <a:r>
              <a:rPr lang="en-US" dirty="0"/>
              <a:t>The digital program brand image appears</a:t>
            </a:r>
            <a:endParaRPr lang="en-CA" dirty="0"/>
          </a:p>
        </p:txBody>
      </p:sp>
      <p:sp>
        <p:nvSpPr>
          <p:cNvPr id="6" name="Content Placeholder 5">
            <a:extLst>
              <a:ext uri="{FF2B5EF4-FFF2-40B4-BE49-F238E27FC236}">
                <a16:creationId xmlns:a16="http://schemas.microsoft.com/office/drawing/2014/main" id="{1D5EC07F-DE0E-461A-98FB-F880F4936229}"/>
              </a:ext>
            </a:extLst>
          </p:cNvPr>
          <p:cNvSpPr>
            <a:spLocks noGrp="1"/>
          </p:cNvSpPr>
          <p:nvPr>
            <p:ph idx="13"/>
          </p:nvPr>
        </p:nvSpPr>
        <p:spPr/>
        <p:txBody>
          <a:bodyPr/>
          <a:lstStyle/>
          <a:p>
            <a:r>
              <a:rPr lang="en-US" dirty="0"/>
              <a:t>If there is a digital program brand chime it should sound as the intro image appears</a:t>
            </a:r>
            <a:endParaRPr lang="en-CA" dirty="0"/>
          </a:p>
        </p:txBody>
      </p:sp>
      <p:sp>
        <p:nvSpPr>
          <p:cNvPr id="9" name="TextBox 8">
            <a:extLst>
              <a:ext uri="{FF2B5EF4-FFF2-40B4-BE49-F238E27FC236}">
                <a16:creationId xmlns:a16="http://schemas.microsoft.com/office/drawing/2014/main" id="{6A49BE2F-8958-4C07-95BF-523B59E2CC18}"/>
              </a:ext>
            </a:extLst>
          </p:cNvPr>
          <p:cNvSpPr txBox="1"/>
          <p:nvPr/>
        </p:nvSpPr>
        <p:spPr>
          <a:xfrm>
            <a:off x="1699260" y="3901440"/>
            <a:ext cx="7040880" cy="369332"/>
          </a:xfrm>
          <a:prstGeom prst="rect">
            <a:avLst/>
          </a:prstGeom>
          <a:noFill/>
        </p:spPr>
        <p:txBody>
          <a:bodyPr wrap="square" rtlCol="0">
            <a:spAutoFit/>
          </a:bodyPr>
          <a:lstStyle/>
          <a:p>
            <a:pPr algn="ctr"/>
            <a:r>
              <a:rPr lang="en-US" dirty="0"/>
              <a:t>How to reset a password in Okta/Sentry</a:t>
            </a:r>
            <a:endParaRPr lang="en-CA" dirty="0"/>
          </a:p>
        </p:txBody>
      </p:sp>
    </p:spTree>
    <p:extLst>
      <p:ext uri="{BB962C8B-B14F-4D97-AF65-F5344CB8AC3E}">
        <p14:creationId xmlns:p14="http://schemas.microsoft.com/office/powerpoint/2010/main" val="1546610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314DA0-3F90-4A0B-B6A6-7ADE67B664C0}"/>
              </a:ext>
            </a:extLst>
          </p:cNvPr>
          <p:cNvSpPr>
            <a:spLocks noGrp="1"/>
          </p:cNvSpPr>
          <p:nvPr>
            <p:ph idx="10"/>
          </p:nvPr>
        </p:nvSpPr>
        <p:spPr/>
        <p:txBody>
          <a:bodyPr/>
          <a:lstStyle/>
          <a:p>
            <a:r>
              <a:rPr lang="en-US" dirty="0"/>
              <a:t>Module title</a:t>
            </a:r>
            <a:endParaRPr lang="en-CA" dirty="0"/>
          </a:p>
        </p:txBody>
      </p:sp>
      <p:sp>
        <p:nvSpPr>
          <p:cNvPr id="5" name="Content Placeholder 4">
            <a:extLst>
              <a:ext uri="{FF2B5EF4-FFF2-40B4-BE49-F238E27FC236}">
                <a16:creationId xmlns:a16="http://schemas.microsoft.com/office/drawing/2014/main" id="{70E82BE4-2D4D-494D-8670-6421AF197094}"/>
              </a:ext>
            </a:extLst>
          </p:cNvPr>
          <p:cNvSpPr>
            <a:spLocks noGrp="1"/>
          </p:cNvSpPr>
          <p:nvPr>
            <p:ph idx="11"/>
          </p:nvPr>
        </p:nvSpPr>
        <p:spPr/>
        <p:txBody>
          <a:bodyPr/>
          <a:lstStyle/>
          <a:p>
            <a:r>
              <a:rPr lang="en-US" dirty="0"/>
              <a:t>Voice over: Welcome to how to reset a password. There are five steps to resetting a user’s password.</a:t>
            </a:r>
            <a:endParaRPr lang="en-CA" dirty="0"/>
          </a:p>
        </p:txBody>
      </p:sp>
      <p:sp>
        <p:nvSpPr>
          <p:cNvPr id="6" name="Content Placeholder 5">
            <a:extLst>
              <a:ext uri="{FF2B5EF4-FFF2-40B4-BE49-F238E27FC236}">
                <a16:creationId xmlns:a16="http://schemas.microsoft.com/office/drawing/2014/main" id="{E7C1651A-2E75-4CFD-83B5-9B9D400A8198}"/>
              </a:ext>
            </a:extLst>
          </p:cNvPr>
          <p:cNvSpPr>
            <a:spLocks noGrp="1"/>
          </p:cNvSpPr>
          <p:nvPr>
            <p:ph idx="12"/>
          </p:nvPr>
        </p:nvSpPr>
        <p:spPr/>
        <p:txBody>
          <a:bodyPr/>
          <a:lstStyle/>
          <a:p>
            <a:r>
              <a:rPr lang="en-US" dirty="0"/>
              <a:t>Title appears</a:t>
            </a:r>
            <a:endParaRPr lang="en-CA" dirty="0"/>
          </a:p>
        </p:txBody>
      </p:sp>
      <p:sp>
        <p:nvSpPr>
          <p:cNvPr id="7" name="Content Placeholder 6">
            <a:extLst>
              <a:ext uri="{FF2B5EF4-FFF2-40B4-BE49-F238E27FC236}">
                <a16:creationId xmlns:a16="http://schemas.microsoft.com/office/drawing/2014/main" id="{C4433AAF-4CCA-43D8-A2F8-71688B4934CB}"/>
              </a:ext>
            </a:extLst>
          </p:cNvPr>
          <p:cNvSpPr>
            <a:spLocks noGrp="1"/>
          </p:cNvSpPr>
          <p:nvPr>
            <p:ph idx="13"/>
          </p:nvPr>
        </p:nvSpPr>
        <p:spPr/>
        <p:txBody>
          <a:bodyPr/>
          <a:lstStyle/>
          <a:p>
            <a:r>
              <a:rPr lang="en-US" dirty="0"/>
              <a:t>Voice over script</a:t>
            </a:r>
            <a:endParaRPr lang="en-CA" dirty="0"/>
          </a:p>
        </p:txBody>
      </p:sp>
      <p:pic>
        <p:nvPicPr>
          <p:cNvPr id="8" name="Content Placeholder 7">
            <a:extLst>
              <a:ext uri="{FF2B5EF4-FFF2-40B4-BE49-F238E27FC236}">
                <a16:creationId xmlns:a16="http://schemas.microsoft.com/office/drawing/2014/main" id="{6B489AEF-F068-4DCD-867D-20A63E3A4CD5}"/>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4066" y="554539"/>
            <a:ext cx="3781487" cy="4277033"/>
          </a:xfrm>
          <a:prstGeom prst="rect">
            <a:avLst/>
          </a:prstGeom>
          <a:noFill/>
          <a:ln>
            <a:noFill/>
          </a:ln>
        </p:spPr>
      </p:pic>
      <p:sp>
        <p:nvSpPr>
          <p:cNvPr id="9" name="TextBox 8">
            <a:extLst>
              <a:ext uri="{FF2B5EF4-FFF2-40B4-BE49-F238E27FC236}">
                <a16:creationId xmlns:a16="http://schemas.microsoft.com/office/drawing/2014/main" id="{FC6CFD8A-E4D5-4AA6-B048-3FECBDD0967C}"/>
              </a:ext>
            </a:extLst>
          </p:cNvPr>
          <p:cNvSpPr txBox="1"/>
          <p:nvPr/>
        </p:nvSpPr>
        <p:spPr>
          <a:xfrm>
            <a:off x="3964366" y="1993982"/>
            <a:ext cx="2131634" cy="1569660"/>
          </a:xfrm>
          <a:prstGeom prst="rect">
            <a:avLst/>
          </a:prstGeom>
          <a:solidFill>
            <a:schemeClr val="bg1"/>
          </a:solidFill>
        </p:spPr>
        <p:txBody>
          <a:bodyPr wrap="square" rtlCol="0">
            <a:spAutoFit/>
          </a:bodyPr>
          <a:lstStyle/>
          <a:p>
            <a:r>
              <a:rPr lang="en-US" sz="3200" dirty="0"/>
              <a:t>How to Reset a Password</a:t>
            </a:r>
            <a:endParaRPr lang="en-CA" sz="3200" dirty="0"/>
          </a:p>
        </p:txBody>
      </p:sp>
    </p:spTree>
    <p:extLst>
      <p:ext uri="{BB962C8B-B14F-4D97-AF65-F5344CB8AC3E}">
        <p14:creationId xmlns:p14="http://schemas.microsoft.com/office/powerpoint/2010/main" val="3903466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BCE56-FBB4-4A48-83A9-47BFBE047B4B}"/>
              </a:ext>
            </a:extLst>
          </p:cNvPr>
          <p:cNvSpPr>
            <a:spLocks noGrp="1"/>
          </p:cNvSpPr>
          <p:nvPr>
            <p:ph idx="10"/>
          </p:nvPr>
        </p:nvSpPr>
        <p:spPr/>
        <p:txBody>
          <a:bodyPr/>
          <a:lstStyle/>
          <a:p>
            <a:r>
              <a:rPr lang="en-US" dirty="0"/>
              <a:t>Step 1 in how to reset a password</a:t>
            </a:r>
            <a:endParaRPr lang="en-CA" dirty="0"/>
          </a:p>
        </p:txBody>
      </p:sp>
      <p:sp>
        <p:nvSpPr>
          <p:cNvPr id="4" name="Content Placeholder 3">
            <a:extLst>
              <a:ext uri="{FF2B5EF4-FFF2-40B4-BE49-F238E27FC236}">
                <a16:creationId xmlns:a16="http://schemas.microsoft.com/office/drawing/2014/main" id="{B6E0BD25-99DB-4728-B5E6-D4509B4ED0DB}"/>
              </a:ext>
            </a:extLst>
          </p:cNvPr>
          <p:cNvSpPr>
            <a:spLocks noGrp="1"/>
          </p:cNvSpPr>
          <p:nvPr>
            <p:ph idx="11"/>
          </p:nvPr>
        </p:nvSpPr>
        <p:spPr/>
        <p:txBody>
          <a:bodyPr/>
          <a:lstStyle/>
          <a:p>
            <a:r>
              <a:rPr lang="en-US" dirty="0"/>
              <a:t>Voice over: To reset a user’s password first sign into the Okta Administration portal then go to the directory  and select “people”  from the menu on the left side of the window</a:t>
            </a:r>
            <a:endParaRPr lang="en-CA" dirty="0"/>
          </a:p>
        </p:txBody>
      </p:sp>
      <p:sp>
        <p:nvSpPr>
          <p:cNvPr id="5" name="Content Placeholder 4">
            <a:extLst>
              <a:ext uri="{FF2B5EF4-FFF2-40B4-BE49-F238E27FC236}">
                <a16:creationId xmlns:a16="http://schemas.microsoft.com/office/drawing/2014/main" id="{2B71DBF1-167B-4CC0-A55C-B753FF069FE6}"/>
              </a:ext>
            </a:extLst>
          </p:cNvPr>
          <p:cNvSpPr>
            <a:spLocks noGrp="1"/>
          </p:cNvSpPr>
          <p:nvPr>
            <p:ph idx="12"/>
          </p:nvPr>
        </p:nvSpPr>
        <p:spPr/>
        <p:txBody>
          <a:bodyPr/>
          <a:lstStyle/>
          <a:p>
            <a:r>
              <a:rPr lang="en-US" dirty="0"/>
              <a:t>Either a static image with arrow animations, text on screen and voiceover or motion graphic</a:t>
            </a:r>
            <a:endParaRPr lang="en-CA" dirty="0"/>
          </a:p>
        </p:txBody>
      </p:sp>
      <p:sp>
        <p:nvSpPr>
          <p:cNvPr id="6" name="Content Placeholder 5">
            <a:extLst>
              <a:ext uri="{FF2B5EF4-FFF2-40B4-BE49-F238E27FC236}">
                <a16:creationId xmlns:a16="http://schemas.microsoft.com/office/drawing/2014/main" id="{7FDB027F-B9E7-4088-877A-4E66DE008284}"/>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2C510C1E-47FB-492D-B27F-E89D438A8594}"/>
              </a:ext>
            </a:extLst>
          </p:cNvPr>
          <p:cNvPicPr>
            <a:picLocks noGrp="1"/>
          </p:cNvPicPr>
          <p:nvPr>
            <p:ph idx="1"/>
          </p:nvPr>
        </p:nvPicPr>
        <p:blipFill>
          <a:blip r:embed="rId2"/>
          <a:stretch>
            <a:fillRect/>
          </a:stretch>
        </p:blipFill>
        <p:spPr>
          <a:xfrm>
            <a:off x="3481974" y="1153881"/>
            <a:ext cx="2972215" cy="3315163"/>
          </a:xfrm>
          <a:prstGeom prst="rect">
            <a:avLst/>
          </a:prstGeom>
        </p:spPr>
      </p:pic>
    </p:spTree>
    <p:extLst>
      <p:ext uri="{BB962C8B-B14F-4D97-AF65-F5344CB8AC3E}">
        <p14:creationId xmlns:p14="http://schemas.microsoft.com/office/powerpoint/2010/main" val="422745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9E94C-1CF5-4965-9803-DE53D373CA0F}"/>
              </a:ext>
            </a:extLst>
          </p:cNvPr>
          <p:cNvSpPr>
            <a:spLocks noGrp="1"/>
          </p:cNvSpPr>
          <p:nvPr>
            <p:ph idx="10"/>
          </p:nvPr>
        </p:nvSpPr>
        <p:spPr/>
        <p:txBody>
          <a:bodyPr/>
          <a:lstStyle/>
          <a:p>
            <a:r>
              <a:rPr lang="en-US" dirty="0"/>
              <a:t>Step 2 in how to reset a user’s password</a:t>
            </a:r>
            <a:endParaRPr lang="en-CA" dirty="0"/>
          </a:p>
        </p:txBody>
      </p:sp>
      <p:sp>
        <p:nvSpPr>
          <p:cNvPr id="4" name="Content Placeholder 3">
            <a:extLst>
              <a:ext uri="{FF2B5EF4-FFF2-40B4-BE49-F238E27FC236}">
                <a16:creationId xmlns:a16="http://schemas.microsoft.com/office/drawing/2014/main" id="{E9861893-3444-4923-9F13-22FB5B896DA6}"/>
              </a:ext>
            </a:extLst>
          </p:cNvPr>
          <p:cNvSpPr>
            <a:spLocks noGrp="1"/>
          </p:cNvSpPr>
          <p:nvPr>
            <p:ph idx="11"/>
          </p:nvPr>
        </p:nvSpPr>
        <p:spPr/>
        <p:txBody>
          <a:bodyPr/>
          <a:lstStyle/>
          <a:p>
            <a:r>
              <a:rPr lang="en-US" dirty="0"/>
              <a:t>Voice over: Search for the name of the user whose password you are going to reset </a:t>
            </a:r>
            <a:endParaRPr lang="en-CA" dirty="0"/>
          </a:p>
        </p:txBody>
      </p:sp>
      <p:sp>
        <p:nvSpPr>
          <p:cNvPr id="5" name="Content Placeholder 4">
            <a:extLst>
              <a:ext uri="{FF2B5EF4-FFF2-40B4-BE49-F238E27FC236}">
                <a16:creationId xmlns:a16="http://schemas.microsoft.com/office/drawing/2014/main" id="{413E7AF1-957F-4884-8617-A3BE8D5190B3}"/>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7FACF9C6-F63D-414E-A433-043F139CCCBB}"/>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723DF10D-B115-478C-A74F-4B8A0561507F}"/>
              </a:ext>
            </a:extLst>
          </p:cNvPr>
          <p:cNvPicPr>
            <a:picLocks noGrp="1"/>
          </p:cNvPicPr>
          <p:nvPr>
            <p:ph idx="1"/>
          </p:nvPr>
        </p:nvPicPr>
        <p:blipFill>
          <a:blip r:embed="rId2"/>
          <a:stretch>
            <a:fillRect/>
          </a:stretch>
        </p:blipFill>
        <p:spPr>
          <a:xfrm>
            <a:off x="130175" y="1209015"/>
            <a:ext cx="9675813" cy="3204894"/>
          </a:xfrm>
          <a:prstGeom prst="rect">
            <a:avLst/>
          </a:prstGeom>
        </p:spPr>
      </p:pic>
    </p:spTree>
    <p:extLst>
      <p:ext uri="{BB962C8B-B14F-4D97-AF65-F5344CB8AC3E}">
        <p14:creationId xmlns:p14="http://schemas.microsoft.com/office/powerpoint/2010/main" val="5264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64BA2-22BF-4815-A2AD-D782710B3A1F}"/>
              </a:ext>
            </a:extLst>
          </p:cNvPr>
          <p:cNvSpPr>
            <a:spLocks noGrp="1"/>
          </p:cNvSpPr>
          <p:nvPr>
            <p:ph idx="10"/>
          </p:nvPr>
        </p:nvSpPr>
        <p:spPr/>
        <p:txBody>
          <a:bodyPr/>
          <a:lstStyle/>
          <a:p>
            <a:r>
              <a:rPr lang="en-US" dirty="0"/>
              <a:t>Step 3 in how to reset a user’s password</a:t>
            </a:r>
            <a:endParaRPr lang="en-CA" dirty="0"/>
          </a:p>
          <a:p>
            <a:endParaRPr lang="en-CA" dirty="0"/>
          </a:p>
        </p:txBody>
      </p:sp>
      <p:sp>
        <p:nvSpPr>
          <p:cNvPr id="4" name="Content Placeholder 3">
            <a:extLst>
              <a:ext uri="{FF2B5EF4-FFF2-40B4-BE49-F238E27FC236}">
                <a16:creationId xmlns:a16="http://schemas.microsoft.com/office/drawing/2014/main" id="{B5B6EC5F-E23B-4219-98C9-61EBD76C4579}"/>
              </a:ext>
            </a:extLst>
          </p:cNvPr>
          <p:cNvSpPr>
            <a:spLocks noGrp="1"/>
          </p:cNvSpPr>
          <p:nvPr>
            <p:ph idx="11"/>
          </p:nvPr>
        </p:nvSpPr>
        <p:spPr/>
        <p:txBody>
          <a:bodyPr/>
          <a:lstStyle/>
          <a:p>
            <a:r>
              <a:rPr lang="en-US" dirty="0"/>
              <a:t>Voice over: Select the user’s name from the search results</a:t>
            </a:r>
            <a:endParaRPr lang="en-CA" dirty="0"/>
          </a:p>
        </p:txBody>
      </p:sp>
      <p:sp>
        <p:nvSpPr>
          <p:cNvPr id="5" name="Content Placeholder 4">
            <a:extLst>
              <a:ext uri="{FF2B5EF4-FFF2-40B4-BE49-F238E27FC236}">
                <a16:creationId xmlns:a16="http://schemas.microsoft.com/office/drawing/2014/main" id="{EF3C91E2-4342-44C0-8D4A-F9D13D60F4D5}"/>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D60B63BF-F728-41DE-AA50-09D7DA1B40C9}"/>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3D087B6E-36E0-4932-B15F-D618F1362E37}"/>
              </a:ext>
            </a:extLst>
          </p:cNvPr>
          <p:cNvPicPr>
            <a:picLocks noGrp="1"/>
          </p:cNvPicPr>
          <p:nvPr>
            <p:ph idx="1"/>
          </p:nvPr>
        </p:nvPicPr>
        <p:blipFill>
          <a:blip r:embed="rId2"/>
          <a:stretch>
            <a:fillRect/>
          </a:stretch>
        </p:blipFill>
        <p:spPr>
          <a:xfrm>
            <a:off x="130175" y="1209015"/>
            <a:ext cx="9675813" cy="3204894"/>
          </a:xfrm>
          <a:prstGeom prst="rect">
            <a:avLst/>
          </a:prstGeom>
        </p:spPr>
      </p:pic>
    </p:spTree>
    <p:extLst>
      <p:ext uri="{BB962C8B-B14F-4D97-AF65-F5344CB8AC3E}">
        <p14:creationId xmlns:p14="http://schemas.microsoft.com/office/powerpoint/2010/main" val="699475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2918BD-8076-4FDE-9F04-8CF814AA1AFC}"/>
              </a:ext>
            </a:extLst>
          </p:cNvPr>
          <p:cNvSpPr>
            <a:spLocks noGrp="1"/>
          </p:cNvSpPr>
          <p:nvPr>
            <p:ph idx="10"/>
          </p:nvPr>
        </p:nvSpPr>
        <p:spPr/>
        <p:txBody>
          <a:bodyPr/>
          <a:lstStyle/>
          <a:p>
            <a:r>
              <a:rPr lang="en-US" dirty="0"/>
              <a:t>Step 4 in how to reset a user’s password</a:t>
            </a:r>
            <a:endParaRPr lang="en-CA" dirty="0"/>
          </a:p>
          <a:p>
            <a:endParaRPr lang="en-CA" dirty="0"/>
          </a:p>
        </p:txBody>
      </p:sp>
      <p:sp>
        <p:nvSpPr>
          <p:cNvPr id="4" name="Content Placeholder 3">
            <a:extLst>
              <a:ext uri="{FF2B5EF4-FFF2-40B4-BE49-F238E27FC236}">
                <a16:creationId xmlns:a16="http://schemas.microsoft.com/office/drawing/2014/main" id="{043E6F8C-90E1-4925-AB41-E71FDB12EA77}"/>
              </a:ext>
            </a:extLst>
          </p:cNvPr>
          <p:cNvSpPr>
            <a:spLocks noGrp="1"/>
          </p:cNvSpPr>
          <p:nvPr>
            <p:ph idx="11"/>
          </p:nvPr>
        </p:nvSpPr>
        <p:spPr/>
        <p:txBody>
          <a:bodyPr/>
          <a:lstStyle/>
          <a:p>
            <a:r>
              <a:rPr lang="en-US" dirty="0"/>
              <a:t>Voice over: Select the “reset password” button on the user’s profile</a:t>
            </a:r>
            <a:endParaRPr lang="en-CA" dirty="0"/>
          </a:p>
        </p:txBody>
      </p:sp>
      <p:sp>
        <p:nvSpPr>
          <p:cNvPr id="5" name="Content Placeholder 4">
            <a:extLst>
              <a:ext uri="{FF2B5EF4-FFF2-40B4-BE49-F238E27FC236}">
                <a16:creationId xmlns:a16="http://schemas.microsoft.com/office/drawing/2014/main" id="{CAF7B8CC-EBBC-4008-8D55-E6AD12BBAE19}"/>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70AD86D8-7A27-4A87-B875-3537D5448062}"/>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6B73E10B-6953-4120-A638-E59D1E2E9B06}"/>
              </a:ext>
            </a:extLst>
          </p:cNvPr>
          <p:cNvPicPr>
            <a:picLocks noGrp="1"/>
          </p:cNvPicPr>
          <p:nvPr>
            <p:ph idx="1"/>
          </p:nvPr>
        </p:nvPicPr>
        <p:blipFill>
          <a:blip r:embed="rId2"/>
          <a:stretch>
            <a:fillRect/>
          </a:stretch>
        </p:blipFill>
        <p:spPr>
          <a:xfrm>
            <a:off x="3072342" y="1420618"/>
            <a:ext cx="3791479" cy="2781688"/>
          </a:xfrm>
          <a:prstGeom prst="rect">
            <a:avLst/>
          </a:prstGeom>
        </p:spPr>
      </p:pic>
    </p:spTree>
    <p:extLst>
      <p:ext uri="{BB962C8B-B14F-4D97-AF65-F5344CB8AC3E}">
        <p14:creationId xmlns:p14="http://schemas.microsoft.com/office/powerpoint/2010/main" val="634695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5E7D2D-AE10-4665-A289-5938917911FD}"/>
              </a:ext>
            </a:extLst>
          </p:cNvPr>
          <p:cNvSpPr>
            <a:spLocks noGrp="1"/>
          </p:cNvSpPr>
          <p:nvPr>
            <p:ph idx="10"/>
          </p:nvPr>
        </p:nvSpPr>
        <p:spPr/>
        <p:txBody>
          <a:bodyPr/>
          <a:lstStyle/>
          <a:p>
            <a:r>
              <a:rPr lang="en-US" dirty="0"/>
              <a:t>Step 5 in how to reset a user’s password</a:t>
            </a:r>
            <a:endParaRPr lang="en-CA" dirty="0"/>
          </a:p>
          <a:p>
            <a:endParaRPr lang="en-CA" dirty="0"/>
          </a:p>
        </p:txBody>
      </p:sp>
      <p:sp>
        <p:nvSpPr>
          <p:cNvPr id="4" name="Content Placeholder 3">
            <a:extLst>
              <a:ext uri="{FF2B5EF4-FFF2-40B4-BE49-F238E27FC236}">
                <a16:creationId xmlns:a16="http://schemas.microsoft.com/office/drawing/2014/main" id="{4DA79688-8B11-46C2-B1B7-C591626A5BDE}"/>
              </a:ext>
            </a:extLst>
          </p:cNvPr>
          <p:cNvSpPr>
            <a:spLocks noGrp="1"/>
          </p:cNvSpPr>
          <p:nvPr>
            <p:ph idx="11"/>
          </p:nvPr>
        </p:nvSpPr>
        <p:spPr/>
        <p:txBody>
          <a:bodyPr>
            <a:normAutofit/>
          </a:bodyPr>
          <a:lstStyle/>
          <a:p>
            <a:r>
              <a:rPr lang="en-US" dirty="0"/>
              <a:t>Voice over: A pop up with two options will appear. Options one is to send a reset password link to the user, option two is to create a temporary password for the user. Choose the option that works best for the person calling in for help.  To send a rest password link first select the reset password button a password reset link will be automatically sent to the user’s primary e-mail address. To create a temporary password, select the temporary password button; a temporary password will be created and shown to the support person to then share with the user.</a:t>
            </a:r>
          </a:p>
          <a:p>
            <a:endParaRPr lang="en-CA" dirty="0"/>
          </a:p>
        </p:txBody>
      </p:sp>
      <p:sp>
        <p:nvSpPr>
          <p:cNvPr id="5" name="Content Placeholder 4">
            <a:extLst>
              <a:ext uri="{FF2B5EF4-FFF2-40B4-BE49-F238E27FC236}">
                <a16:creationId xmlns:a16="http://schemas.microsoft.com/office/drawing/2014/main" id="{849600A4-B986-40C5-9845-6BF574473817}"/>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3AEC017F-D103-4156-B05F-263AAF1E25AD}"/>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FE1E5D96-46E1-40C6-96AD-946B9CC6590B}"/>
              </a:ext>
            </a:extLst>
          </p:cNvPr>
          <p:cNvPicPr>
            <a:picLocks noGrp="1"/>
          </p:cNvPicPr>
          <p:nvPr>
            <p:ph idx="1"/>
          </p:nvPr>
        </p:nvPicPr>
        <p:blipFill>
          <a:blip r:embed="rId2"/>
          <a:stretch>
            <a:fillRect/>
          </a:stretch>
        </p:blipFill>
        <p:spPr>
          <a:xfrm>
            <a:off x="2424592" y="111125"/>
            <a:ext cx="5086978" cy="5400675"/>
          </a:xfrm>
          <a:prstGeom prst="rect">
            <a:avLst/>
          </a:prstGeom>
        </p:spPr>
      </p:pic>
    </p:spTree>
    <p:extLst>
      <p:ext uri="{BB962C8B-B14F-4D97-AF65-F5344CB8AC3E}">
        <p14:creationId xmlns:p14="http://schemas.microsoft.com/office/powerpoint/2010/main" val="4255021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314DA0-3F90-4A0B-B6A6-7ADE67B664C0}"/>
              </a:ext>
            </a:extLst>
          </p:cNvPr>
          <p:cNvSpPr>
            <a:spLocks noGrp="1"/>
          </p:cNvSpPr>
          <p:nvPr>
            <p:ph idx="10"/>
          </p:nvPr>
        </p:nvSpPr>
        <p:spPr/>
        <p:txBody>
          <a:bodyPr/>
          <a:lstStyle/>
          <a:p>
            <a:r>
              <a:rPr lang="en-US" dirty="0"/>
              <a:t>Title slide</a:t>
            </a:r>
            <a:endParaRPr lang="en-CA" dirty="0"/>
          </a:p>
        </p:txBody>
      </p:sp>
      <p:sp>
        <p:nvSpPr>
          <p:cNvPr id="5" name="Content Placeholder 4">
            <a:extLst>
              <a:ext uri="{FF2B5EF4-FFF2-40B4-BE49-F238E27FC236}">
                <a16:creationId xmlns:a16="http://schemas.microsoft.com/office/drawing/2014/main" id="{70E82BE4-2D4D-494D-8670-6421AF197094}"/>
              </a:ext>
            </a:extLst>
          </p:cNvPr>
          <p:cNvSpPr>
            <a:spLocks noGrp="1"/>
          </p:cNvSpPr>
          <p:nvPr>
            <p:ph idx="11"/>
          </p:nvPr>
        </p:nvSpPr>
        <p:spPr/>
        <p:txBody>
          <a:bodyPr/>
          <a:lstStyle/>
          <a:p>
            <a:r>
              <a:rPr lang="en-US" dirty="0"/>
              <a:t>Voice over: Welcome to how to reset a user’s multi-factor authentication. If a user has replaced their mobile device, they may need to reset their multi-factor authentication. There are five steps to rest a user’s multi-factor authentication.</a:t>
            </a:r>
            <a:endParaRPr lang="en-CA" dirty="0"/>
          </a:p>
        </p:txBody>
      </p:sp>
      <p:sp>
        <p:nvSpPr>
          <p:cNvPr id="6" name="Content Placeholder 5">
            <a:extLst>
              <a:ext uri="{FF2B5EF4-FFF2-40B4-BE49-F238E27FC236}">
                <a16:creationId xmlns:a16="http://schemas.microsoft.com/office/drawing/2014/main" id="{E7C1651A-2E75-4CFD-83B5-9B9D400A8198}"/>
              </a:ext>
            </a:extLst>
          </p:cNvPr>
          <p:cNvSpPr>
            <a:spLocks noGrp="1"/>
          </p:cNvSpPr>
          <p:nvPr>
            <p:ph idx="12"/>
          </p:nvPr>
        </p:nvSpPr>
        <p:spPr/>
        <p:txBody>
          <a:bodyPr/>
          <a:lstStyle/>
          <a:p>
            <a:r>
              <a:rPr lang="en-US" dirty="0"/>
              <a:t>Title appears</a:t>
            </a:r>
            <a:endParaRPr lang="en-CA" dirty="0"/>
          </a:p>
          <a:p>
            <a:endParaRPr lang="en-CA" dirty="0"/>
          </a:p>
        </p:txBody>
      </p:sp>
      <p:sp>
        <p:nvSpPr>
          <p:cNvPr id="7" name="Content Placeholder 6">
            <a:extLst>
              <a:ext uri="{FF2B5EF4-FFF2-40B4-BE49-F238E27FC236}">
                <a16:creationId xmlns:a16="http://schemas.microsoft.com/office/drawing/2014/main" id="{C4433AAF-4CCA-43D8-A2F8-71688B4934CB}"/>
              </a:ext>
            </a:extLst>
          </p:cNvPr>
          <p:cNvSpPr>
            <a:spLocks noGrp="1"/>
          </p:cNvSpPr>
          <p:nvPr>
            <p:ph idx="13"/>
          </p:nvPr>
        </p:nvSpPr>
        <p:spPr/>
        <p:txBody>
          <a:bodyPr/>
          <a:lstStyle/>
          <a:p>
            <a:r>
              <a:rPr lang="en-US" dirty="0"/>
              <a:t>Voice over script</a:t>
            </a:r>
            <a:endParaRPr lang="en-CA" dirty="0"/>
          </a:p>
        </p:txBody>
      </p:sp>
      <p:pic>
        <p:nvPicPr>
          <p:cNvPr id="8" name="Content Placeholder 7">
            <a:extLst>
              <a:ext uri="{FF2B5EF4-FFF2-40B4-BE49-F238E27FC236}">
                <a16:creationId xmlns:a16="http://schemas.microsoft.com/office/drawing/2014/main" id="{6B489AEF-F068-4DCD-867D-20A63E3A4CD5}"/>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4066" y="554539"/>
            <a:ext cx="3781487" cy="4277033"/>
          </a:xfrm>
          <a:prstGeom prst="rect">
            <a:avLst/>
          </a:prstGeom>
          <a:noFill/>
          <a:ln>
            <a:noFill/>
          </a:ln>
        </p:spPr>
      </p:pic>
      <p:sp>
        <p:nvSpPr>
          <p:cNvPr id="9" name="TextBox 8">
            <a:extLst>
              <a:ext uri="{FF2B5EF4-FFF2-40B4-BE49-F238E27FC236}">
                <a16:creationId xmlns:a16="http://schemas.microsoft.com/office/drawing/2014/main" id="{FC6CFD8A-E4D5-4AA6-B048-3FECBDD0967C}"/>
              </a:ext>
            </a:extLst>
          </p:cNvPr>
          <p:cNvSpPr txBox="1"/>
          <p:nvPr/>
        </p:nvSpPr>
        <p:spPr>
          <a:xfrm>
            <a:off x="3964366" y="1993982"/>
            <a:ext cx="2131634" cy="1569660"/>
          </a:xfrm>
          <a:prstGeom prst="rect">
            <a:avLst/>
          </a:prstGeom>
          <a:solidFill>
            <a:schemeClr val="bg1"/>
          </a:solidFill>
        </p:spPr>
        <p:txBody>
          <a:bodyPr wrap="square" rtlCol="0">
            <a:spAutoFit/>
          </a:bodyPr>
          <a:lstStyle/>
          <a:p>
            <a:r>
              <a:rPr lang="en-US" sz="3200" dirty="0"/>
              <a:t>How to Reset a User’s MFA</a:t>
            </a:r>
            <a:endParaRPr lang="en-CA" sz="3200" dirty="0"/>
          </a:p>
        </p:txBody>
      </p:sp>
    </p:spTree>
    <p:extLst>
      <p:ext uri="{BB962C8B-B14F-4D97-AF65-F5344CB8AC3E}">
        <p14:creationId xmlns:p14="http://schemas.microsoft.com/office/powerpoint/2010/main" val="1655800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BCE56-FBB4-4A48-83A9-47BFBE047B4B}"/>
              </a:ext>
            </a:extLst>
          </p:cNvPr>
          <p:cNvSpPr>
            <a:spLocks noGrp="1"/>
          </p:cNvSpPr>
          <p:nvPr>
            <p:ph idx="10"/>
          </p:nvPr>
        </p:nvSpPr>
        <p:spPr/>
        <p:txBody>
          <a:bodyPr/>
          <a:lstStyle/>
          <a:p>
            <a:r>
              <a:rPr lang="en-US" dirty="0"/>
              <a:t>Step 1 in how to reset a user’s MFA</a:t>
            </a:r>
            <a:endParaRPr lang="en-CA" dirty="0"/>
          </a:p>
        </p:txBody>
      </p:sp>
      <p:sp>
        <p:nvSpPr>
          <p:cNvPr id="4" name="Content Placeholder 3">
            <a:extLst>
              <a:ext uri="{FF2B5EF4-FFF2-40B4-BE49-F238E27FC236}">
                <a16:creationId xmlns:a16="http://schemas.microsoft.com/office/drawing/2014/main" id="{B6E0BD25-99DB-4728-B5E6-D4509B4ED0DB}"/>
              </a:ext>
            </a:extLst>
          </p:cNvPr>
          <p:cNvSpPr>
            <a:spLocks noGrp="1"/>
          </p:cNvSpPr>
          <p:nvPr>
            <p:ph idx="11"/>
          </p:nvPr>
        </p:nvSpPr>
        <p:spPr/>
        <p:txBody>
          <a:bodyPr/>
          <a:lstStyle/>
          <a:p>
            <a:r>
              <a:rPr lang="en-US" dirty="0"/>
              <a:t>Voice over: To rest a user’s multi-factor </a:t>
            </a:r>
            <a:r>
              <a:rPr lang="en-US" dirty="0" err="1"/>
              <a:t>authenitication</a:t>
            </a:r>
            <a:r>
              <a:rPr lang="en-US" dirty="0"/>
              <a:t> first sign into the Okta Administration portal then go to the directory  and select “people”  from the menu on the left side of the window</a:t>
            </a:r>
            <a:endParaRPr lang="en-CA" dirty="0"/>
          </a:p>
        </p:txBody>
      </p:sp>
      <p:sp>
        <p:nvSpPr>
          <p:cNvPr id="5" name="Content Placeholder 4">
            <a:extLst>
              <a:ext uri="{FF2B5EF4-FFF2-40B4-BE49-F238E27FC236}">
                <a16:creationId xmlns:a16="http://schemas.microsoft.com/office/drawing/2014/main" id="{2B71DBF1-167B-4CC0-A55C-B753FF069FE6}"/>
              </a:ext>
            </a:extLst>
          </p:cNvPr>
          <p:cNvSpPr>
            <a:spLocks noGrp="1"/>
          </p:cNvSpPr>
          <p:nvPr>
            <p:ph idx="12"/>
          </p:nvPr>
        </p:nvSpPr>
        <p:spPr/>
        <p:txBody>
          <a:bodyPr/>
          <a:lstStyle/>
          <a:p>
            <a:r>
              <a:rPr lang="en-US" dirty="0"/>
              <a:t>Either a static image with arrow animations, text on screen and voiceover or motion graphic</a:t>
            </a:r>
            <a:endParaRPr lang="en-CA" dirty="0"/>
          </a:p>
        </p:txBody>
      </p:sp>
      <p:sp>
        <p:nvSpPr>
          <p:cNvPr id="6" name="Content Placeholder 5">
            <a:extLst>
              <a:ext uri="{FF2B5EF4-FFF2-40B4-BE49-F238E27FC236}">
                <a16:creationId xmlns:a16="http://schemas.microsoft.com/office/drawing/2014/main" id="{7FDB027F-B9E7-4088-877A-4E66DE008284}"/>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2C510C1E-47FB-492D-B27F-E89D438A8594}"/>
              </a:ext>
            </a:extLst>
          </p:cNvPr>
          <p:cNvPicPr>
            <a:picLocks noGrp="1"/>
          </p:cNvPicPr>
          <p:nvPr>
            <p:ph idx="1"/>
          </p:nvPr>
        </p:nvPicPr>
        <p:blipFill>
          <a:blip r:embed="rId2"/>
          <a:stretch>
            <a:fillRect/>
          </a:stretch>
        </p:blipFill>
        <p:spPr>
          <a:xfrm>
            <a:off x="3481974" y="1153881"/>
            <a:ext cx="2972215" cy="3315163"/>
          </a:xfrm>
          <a:prstGeom prst="rect">
            <a:avLst/>
          </a:prstGeom>
        </p:spPr>
      </p:pic>
    </p:spTree>
    <p:extLst>
      <p:ext uri="{BB962C8B-B14F-4D97-AF65-F5344CB8AC3E}">
        <p14:creationId xmlns:p14="http://schemas.microsoft.com/office/powerpoint/2010/main" val="3120101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9E94C-1CF5-4965-9803-DE53D373CA0F}"/>
              </a:ext>
            </a:extLst>
          </p:cNvPr>
          <p:cNvSpPr>
            <a:spLocks noGrp="1"/>
          </p:cNvSpPr>
          <p:nvPr>
            <p:ph idx="10"/>
          </p:nvPr>
        </p:nvSpPr>
        <p:spPr/>
        <p:txBody>
          <a:bodyPr/>
          <a:lstStyle/>
          <a:p>
            <a:r>
              <a:rPr lang="en-US" dirty="0"/>
              <a:t>Step 2 in how to reset a user’s MFA</a:t>
            </a:r>
            <a:endParaRPr lang="en-CA" dirty="0"/>
          </a:p>
        </p:txBody>
      </p:sp>
      <p:sp>
        <p:nvSpPr>
          <p:cNvPr id="4" name="Content Placeholder 3">
            <a:extLst>
              <a:ext uri="{FF2B5EF4-FFF2-40B4-BE49-F238E27FC236}">
                <a16:creationId xmlns:a16="http://schemas.microsoft.com/office/drawing/2014/main" id="{E9861893-3444-4923-9F13-22FB5B896DA6}"/>
              </a:ext>
            </a:extLst>
          </p:cNvPr>
          <p:cNvSpPr>
            <a:spLocks noGrp="1"/>
          </p:cNvSpPr>
          <p:nvPr>
            <p:ph idx="11"/>
          </p:nvPr>
        </p:nvSpPr>
        <p:spPr/>
        <p:txBody>
          <a:bodyPr/>
          <a:lstStyle/>
          <a:p>
            <a:r>
              <a:rPr lang="en-US" dirty="0"/>
              <a:t>Voice over: Search for the name of the user who needs their multi-factor authentication reset. </a:t>
            </a:r>
            <a:endParaRPr lang="en-CA" dirty="0"/>
          </a:p>
        </p:txBody>
      </p:sp>
      <p:sp>
        <p:nvSpPr>
          <p:cNvPr id="5" name="Content Placeholder 4">
            <a:extLst>
              <a:ext uri="{FF2B5EF4-FFF2-40B4-BE49-F238E27FC236}">
                <a16:creationId xmlns:a16="http://schemas.microsoft.com/office/drawing/2014/main" id="{413E7AF1-957F-4884-8617-A3BE8D5190B3}"/>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7FACF9C6-F63D-414E-A433-043F139CCCBB}"/>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723DF10D-B115-478C-A74F-4B8A0561507F}"/>
              </a:ext>
            </a:extLst>
          </p:cNvPr>
          <p:cNvPicPr>
            <a:picLocks noGrp="1"/>
          </p:cNvPicPr>
          <p:nvPr>
            <p:ph idx="1"/>
          </p:nvPr>
        </p:nvPicPr>
        <p:blipFill>
          <a:blip r:embed="rId2"/>
          <a:stretch>
            <a:fillRect/>
          </a:stretch>
        </p:blipFill>
        <p:spPr>
          <a:xfrm>
            <a:off x="130175" y="1209015"/>
            <a:ext cx="9675813" cy="3204894"/>
          </a:xfrm>
          <a:prstGeom prst="rect">
            <a:avLst/>
          </a:prstGeom>
        </p:spPr>
      </p:pic>
    </p:spTree>
    <p:extLst>
      <p:ext uri="{BB962C8B-B14F-4D97-AF65-F5344CB8AC3E}">
        <p14:creationId xmlns:p14="http://schemas.microsoft.com/office/powerpoint/2010/main" val="2812475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64BA2-22BF-4815-A2AD-D782710B3A1F}"/>
              </a:ext>
            </a:extLst>
          </p:cNvPr>
          <p:cNvSpPr>
            <a:spLocks noGrp="1"/>
          </p:cNvSpPr>
          <p:nvPr>
            <p:ph idx="10"/>
          </p:nvPr>
        </p:nvSpPr>
        <p:spPr/>
        <p:txBody>
          <a:bodyPr/>
          <a:lstStyle/>
          <a:p>
            <a:r>
              <a:rPr lang="en-US" dirty="0"/>
              <a:t>Step 3 in how to reset a user’s MFA</a:t>
            </a:r>
            <a:endParaRPr lang="en-CA" dirty="0"/>
          </a:p>
          <a:p>
            <a:endParaRPr lang="en-CA" dirty="0"/>
          </a:p>
        </p:txBody>
      </p:sp>
      <p:sp>
        <p:nvSpPr>
          <p:cNvPr id="4" name="Content Placeholder 3">
            <a:extLst>
              <a:ext uri="{FF2B5EF4-FFF2-40B4-BE49-F238E27FC236}">
                <a16:creationId xmlns:a16="http://schemas.microsoft.com/office/drawing/2014/main" id="{B5B6EC5F-E23B-4219-98C9-61EBD76C4579}"/>
              </a:ext>
            </a:extLst>
          </p:cNvPr>
          <p:cNvSpPr>
            <a:spLocks noGrp="1"/>
          </p:cNvSpPr>
          <p:nvPr>
            <p:ph idx="11"/>
          </p:nvPr>
        </p:nvSpPr>
        <p:spPr/>
        <p:txBody>
          <a:bodyPr/>
          <a:lstStyle/>
          <a:p>
            <a:r>
              <a:rPr lang="en-US" dirty="0"/>
              <a:t>Voice over: Select the user’s name from the search results</a:t>
            </a:r>
            <a:endParaRPr lang="en-CA" dirty="0"/>
          </a:p>
        </p:txBody>
      </p:sp>
      <p:sp>
        <p:nvSpPr>
          <p:cNvPr id="5" name="Content Placeholder 4">
            <a:extLst>
              <a:ext uri="{FF2B5EF4-FFF2-40B4-BE49-F238E27FC236}">
                <a16:creationId xmlns:a16="http://schemas.microsoft.com/office/drawing/2014/main" id="{EF3C91E2-4342-44C0-8D4A-F9D13D60F4D5}"/>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D60B63BF-F728-41DE-AA50-09D7DA1B40C9}"/>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3D087B6E-36E0-4932-B15F-D618F1362E37}"/>
              </a:ext>
            </a:extLst>
          </p:cNvPr>
          <p:cNvPicPr>
            <a:picLocks noGrp="1"/>
          </p:cNvPicPr>
          <p:nvPr>
            <p:ph idx="1"/>
          </p:nvPr>
        </p:nvPicPr>
        <p:blipFill>
          <a:blip r:embed="rId2"/>
          <a:stretch>
            <a:fillRect/>
          </a:stretch>
        </p:blipFill>
        <p:spPr>
          <a:xfrm>
            <a:off x="130175" y="1209015"/>
            <a:ext cx="9675813" cy="3204894"/>
          </a:xfrm>
          <a:prstGeom prst="rect">
            <a:avLst/>
          </a:prstGeom>
        </p:spPr>
      </p:pic>
    </p:spTree>
    <p:extLst>
      <p:ext uri="{BB962C8B-B14F-4D97-AF65-F5344CB8AC3E}">
        <p14:creationId xmlns:p14="http://schemas.microsoft.com/office/powerpoint/2010/main" val="328677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BDEDF-A1F5-4940-955B-B766FC374115}"/>
              </a:ext>
            </a:extLst>
          </p:cNvPr>
          <p:cNvSpPr>
            <a:spLocks noGrp="1"/>
          </p:cNvSpPr>
          <p:nvPr>
            <p:ph idx="10"/>
          </p:nvPr>
        </p:nvSpPr>
        <p:spPr/>
        <p:txBody>
          <a:bodyPr/>
          <a:lstStyle/>
          <a:p>
            <a:r>
              <a:rPr lang="en-US" dirty="0"/>
              <a:t>Step 4 in how to reset a user’s MFA</a:t>
            </a:r>
            <a:endParaRPr lang="en-CA" dirty="0"/>
          </a:p>
          <a:p>
            <a:endParaRPr lang="en-CA" dirty="0"/>
          </a:p>
        </p:txBody>
      </p:sp>
      <p:sp>
        <p:nvSpPr>
          <p:cNvPr id="4" name="Content Placeholder 3">
            <a:extLst>
              <a:ext uri="{FF2B5EF4-FFF2-40B4-BE49-F238E27FC236}">
                <a16:creationId xmlns:a16="http://schemas.microsoft.com/office/drawing/2014/main" id="{EB2424A1-EEFE-4BC0-92B2-FCAFA91D07D9}"/>
              </a:ext>
            </a:extLst>
          </p:cNvPr>
          <p:cNvSpPr>
            <a:spLocks noGrp="1"/>
          </p:cNvSpPr>
          <p:nvPr>
            <p:ph idx="11"/>
          </p:nvPr>
        </p:nvSpPr>
        <p:spPr/>
        <p:txBody>
          <a:bodyPr/>
          <a:lstStyle/>
          <a:p>
            <a:r>
              <a:rPr lang="en-US" dirty="0"/>
              <a:t>Voice over: Select the “more actions” button and then select the “ reset multifactor” button from the user menu. Then select one ore more MFA factors to reset.</a:t>
            </a:r>
            <a:endParaRPr lang="en-CA" dirty="0"/>
          </a:p>
        </p:txBody>
      </p:sp>
      <p:sp>
        <p:nvSpPr>
          <p:cNvPr id="5" name="Content Placeholder 4">
            <a:extLst>
              <a:ext uri="{FF2B5EF4-FFF2-40B4-BE49-F238E27FC236}">
                <a16:creationId xmlns:a16="http://schemas.microsoft.com/office/drawing/2014/main" id="{1D3BDF47-A6A6-4F93-8862-C6BFB280EF66}"/>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0C55F6BD-617E-4E64-B9F0-1275A4D0D39C}"/>
              </a:ext>
            </a:extLst>
          </p:cNvPr>
          <p:cNvSpPr>
            <a:spLocks noGrp="1"/>
          </p:cNvSpPr>
          <p:nvPr>
            <p:ph idx="13"/>
          </p:nvPr>
        </p:nvSpPr>
        <p:spPr/>
        <p:txBody>
          <a:bodyPr/>
          <a:lstStyle/>
          <a:p>
            <a:r>
              <a:rPr lang="en-US" dirty="0"/>
              <a:t>Voice over</a:t>
            </a:r>
            <a:endParaRPr lang="en-CA" dirty="0"/>
          </a:p>
        </p:txBody>
      </p:sp>
      <p:pic>
        <p:nvPicPr>
          <p:cNvPr id="10" name="Content Placeholder 9">
            <a:extLst>
              <a:ext uri="{FF2B5EF4-FFF2-40B4-BE49-F238E27FC236}">
                <a16:creationId xmlns:a16="http://schemas.microsoft.com/office/drawing/2014/main" id="{21A9710F-D84A-4D0B-AAE9-5C5B1E8E24F4}"/>
              </a:ext>
            </a:extLst>
          </p:cNvPr>
          <p:cNvPicPr>
            <a:picLocks noGrp="1"/>
          </p:cNvPicPr>
          <p:nvPr>
            <p:ph idx="1"/>
          </p:nvPr>
        </p:nvPicPr>
        <p:blipFill>
          <a:blip r:embed="rId2"/>
          <a:stretch>
            <a:fillRect/>
          </a:stretch>
        </p:blipFill>
        <p:spPr>
          <a:xfrm>
            <a:off x="2743683" y="1396802"/>
            <a:ext cx="4448796" cy="2829320"/>
          </a:xfrm>
          <a:prstGeom prst="rect">
            <a:avLst/>
          </a:prstGeom>
        </p:spPr>
      </p:pic>
    </p:spTree>
    <p:extLst>
      <p:ext uri="{BB962C8B-B14F-4D97-AF65-F5344CB8AC3E}">
        <p14:creationId xmlns:p14="http://schemas.microsoft.com/office/powerpoint/2010/main" val="1093500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BDEDF-A1F5-4940-955B-B766FC374115}"/>
              </a:ext>
            </a:extLst>
          </p:cNvPr>
          <p:cNvSpPr>
            <a:spLocks noGrp="1"/>
          </p:cNvSpPr>
          <p:nvPr>
            <p:ph idx="10"/>
          </p:nvPr>
        </p:nvSpPr>
        <p:spPr/>
        <p:txBody>
          <a:bodyPr/>
          <a:lstStyle/>
          <a:p>
            <a:r>
              <a:rPr lang="en-US" dirty="0"/>
              <a:t>Step 5 in how to rest a user’s MFA</a:t>
            </a:r>
            <a:endParaRPr lang="en-CA" dirty="0"/>
          </a:p>
          <a:p>
            <a:endParaRPr lang="en-CA" dirty="0"/>
          </a:p>
        </p:txBody>
      </p:sp>
      <p:sp>
        <p:nvSpPr>
          <p:cNvPr id="4" name="Content Placeholder 3">
            <a:extLst>
              <a:ext uri="{FF2B5EF4-FFF2-40B4-BE49-F238E27FC236}">
                <a16:creationId xmlns:a16="http://schemas.microsoft.com/office/drawing/2014/main" id="{EB2424A1-EEFE-4BC0-92B2-FCAFA91D07D9}"/>
              </a:ext>
            </a:extLst>
          </p:cNvPr>
          <p:cNvSpPr>
            <a:spLocks noGrp="1"/>
          </p:cNvSpPr>
          <p:nvPr>
            <p:ph idx="11"/>
          </p:nvPr>
        </p:nvSpPr>
        <p:spPr/>
        <p:txBody>
          <a:bodyPr/>
          <a:lstStyle/>
          <a:p>
            <a:r>
              <a:rPr lang="en-US" dirty="0"/>
              <a:t>Voice over: Select the “reset selected factors” button to reset the chosen factors. Optionally you may use the “reset all” button if you are resetting all the user’s factors in one single operation</a:t>
            </a:r>
            <a:endParaRPr lang="en-CA" dirty="0"/>
          </a:p>
        </p:txBody>
      </p:sp>
      <p:sp>
        <p:nvSpPr>
          <p:cNvPr id="5" name="Content Placeholder 4">
            <a:extLst>
              <a:ext uri="{FF2B5EF4-FFF2-40B4-BE49-F238E27FC236}">
                <a16:creationId xmlns:a16="http://schemas.microsoft.com/office/drawing/2014/main" id="{1D3BDF47-A6A6-4F93-8862-C6BFB280EF66}"/>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0C55F6BD-617E-4E64-B9F0-1275A4D0D39C}"/>
              </a:ext>
            </a:extLst>
          </p:cNvPr>
          <p:cNvSpPr>
            <a:spLocks noGrp="1"/>
          </p:cNvSpPr>
          <p:nvPr>
            <p:ph idx="13"/>
          </p:nvPr>
        </p:nvSpPr>
        <p:spPr/>
        <p:txBody>
          <a:bodyPr/>
          <a:lstStyle/>
          <a:p>
            <a:r>
              <a:rPr lang="en-US" dirty="0"/>
              <a:t>Voice over</a:t>
            </a:r>
            <a:endParaRPr lang="en-CA" dirty="0"/>
          </a:p>
        </p:txBody>
      </p:sp>
      <p:pic>
        <p:nvPicPr>
          <p:cNvPr id="10" name="Content Placeholder 9">
            <a:extLst>
              <a:ext uri="{FF2B5EF4-FFF2-40B4-BE49-F238E27FC236}">
                <a16:creationId xmlns:a16="http://schemas.microsoft.com/office/drawing/2014/main" id="{B75289B3-1879-42E7-8CB0-FEB5A378E074}"/>
              </a:ext>
            </a:extLst>
          </p:cNvPr>
          <p:cNvPicPr>
            <a:picLocks noGrp="1"/>
          </p:cNvPicPr>
          <p:nvPr>
            <p:ph idx="1"/>
          </p:nvPr>
        </p:nvPicPr>
        <p:blipFill>
          <a:blip r:embed="rId2"/>
          <a:stretch>
            <a:fillRect/>
          </a:stretch>
        </p:blipFill>
        <p:spPr>
          <a:xfrm>
            <a:off x="2312281" y="1790294"/>
            <a:ext cx="5311600" cy="2042337"/>
          </a:xfrm>
          <a:prstGeom prst="rect">
            <a:avLst/>
          </a:prstGeom>
        </p:spPr>
      </p:pic>
    </p:spTree>
    <p:extLst>
      <p:ext uri="{BB962C8B-B14F-4D97-AF65-F5344CB8AC3E}">
        <p14:creationId xmlns:p14="http://schemas.microsoft.com/office/powerpoint/2010/main" val="314053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314DA0-3F90-4A0B-B6A6-7ADE67B664C0}"/>
              </a:ext>
            </a:extLst>
          </p:cNvPr>
          <p:cNvSpPr>
            <a:spLocks noGrp="1"/>
          </p:cNvSpPr>
          <p:nvPr>
            <p:ph idx="10"/>
          </p:nvPr>
        </p:nvSpPr>
        <p:spPr/>
        <p:txBody>
          <a:bodyPr/>
          <a:lstStyle/>
          <a:p>
            <a:r>
              <a:rPr lang="en-US" dirty="0"/>
              <a:t>Title slide</a:t>
            </a:r>
            <a:endParaRPr lang="en-CA" dirty="0"/>
          </a:p>
        </p:txBody>
      </p:sp>
      <p:sp>
        <p:nvSpPr>
          <p:cNvPr id="5" name="Content Placeholder 4">
            <a:extLst>
              <a:ext uri="{FF2B5EF4-FFF2-40B4-BE49-F238E27FC236}">
                <a16:creationId xmlns:a16="http://schemas.microsoft.com/office/drawing/2014/main" id="{70E82BE4-2D4D-494D-8670-6421AF197094}"/>
              </a:ext>
            </a:extLst>
          </p:cNvPr>
          <p:cNvSpPr>
            <a:spLocks noGrp="1"/>
          </p:cNvSpPr>
          <p:nvPr>
            <p:ph idx="11"/>
          </p:nvPr>
        </p:nvSpPr>
        <p:spPr/>
        <p:txBody>
          <a:bodyPr/>
          <a:lstStyle/>
          <a:p>
            <a:r>
              <a:rPr lang="en-US" dirty="0"/>
              <a:t>Voice over: Welcome to how to unlock a user’s account. A user may be locked out of their account if they have entered the wrong password too many times. There are 5 steps in unlocking a user’s account.</a:t>
            </a:r>
            <a:endParaRPr lang="en-CA" dirty="0"/>
          </a:p>
        </p:txBody>
      </p:sp>
      <p:sp>
        <p:nvSpPr>
          <p:cNvPr id="6" name="Content Placeholder 5">
            <a:extLst>
              <a:ext uri="{FF2B5EF4-FFF2-40B4-BE49-F238E27FC236}">
                <a16:creationId xmlns:a16="http://schemas.microsoft.com/office/drawing/2014/main" id="{E7C1651A-2E75-4CFD-83B5-9B9D400A8198}"/>
              </a:ext>
            </a:extLst>
          </p:cNvPr>
          <p:cNvSpPr>
            <a:spLocks noGrp="1"/>
          </p:cNvSpPr>
          <p:nvPr>
            <p:ph idx="12"/>
          </p:nvPr>
        </p:nvSpPr>
        <p:spPr/>
        <p:txBody>
          <a:bodyPr/>
          <a:lstStyle/>
          <a:p>
            <a:r>
              <a:rPr lang="en-US" dirty="0"/>
              <a:t>Title appears</a:t>
            </a:r>
            <a:endParaRPr lang="en-CA" dirty="0"/>
          </a:p>
          <a:p>
            <a:endParaRPr lang="en-CA" dirty="0"/>
          </a:p>
        </p:txBody>
      </p:sp>
      <p:sp>
        <p:nvSpPr>
          <p:cNvPr id="7" name="Content Placeholder 6">
            <a:extLst>
              <a:ext uri="{FF2B5EF4-FFF2-40B4-BE49-F238E27FC236}">
                <a16:creationId xmlns:a16="http://schemas.microsoft.com/office/drawing/2014/main" id="{C4433AAF-4CCA-43D8-A2F8-71688B4934CB}"/>
              </a:ext>
            </a:extLst>
          </p:cNvPr>
          <p:cNvSpPr>
            <a:spLocks noGrp="1"/>
          </p:cNvSpPr>
          <p:nvPr>
            <p:ph idx="13"/>
          </p:nvPr>
        </p:nvSpPr>
        <p:spPr/>
        <p:txBody>
          <a:bodyPr/>
          <a:lstStyle/>
          <a:p>
            <a:r>
              <a:rPr lang="en-US" dirty="0"/>
              <a:t>Voice over script</a:t>
            </a:r>
            <a:endParaRPr lang="en-CA" dirty="0"/>
          </a:p>
        </p:txBody>
      </p:sp>
      <p:pic>
        <p:nvPicPr>
          <p:cNvPr id="8" name="Content Placeholder 7">
            <a:extLst>
              <a:ext uri="{FF2B5EF4-FFF2-40B4-BE49-F238E27FC236}">
                <a16:creationId xmlns:a16="http://schemas.microsoft.com/office/drawing/2014/main" id="{6B489AEF-F068-4DCD-867D-20A63E3A4CD5}"/>
              </a:ext>
            </a:extLst>
          </p:cNvPr>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044066" y="554539"/>
            <a:ext cx="3781487" cy="4277033"/>
          </a:xfrm>
          <a:prstGeom prst="rect">
            <a:avLst/>
          </a:prstGeom>
          <a:noFill/>
          <a:ln>
            <a:noFill/>
          </a:ln>
        </p:spPr>
      </p:pic>
      <p:sp>
        <p:nvSpPr>
          <p:cNvPr id="9" name="TextBox 8">
            <a:extLst>
              <a:ext uri="{FF2B5EF4-FFF2-40B4-BE49-F238E27FC236}">
                <a16:creationId xmlns:a16="http://schemas.microsoft.com/office/drawing/2014/main" id="{FC6CFD8A-E4D5-4AA6-B048-3FECBDD0967C}"/>
              </a:ext>
            </a:extLst>
          </p:cNvPr>
          <p:cNvSpPr txBox="1"/>
          <p:nvPr/>
        </p:nvSpPr>
        <p:spPr>
          <a:xfrm>
            <a:off x="3964366" y="1993982"/>
            <a:ext cx="2131634" cy="2062103"/>
          </a:xfrm>
          <a:prstGeom prst="rect">
            <a:avLst/>
          </a:prstGeom>
          <a:solidFill>
            <a:schemeClr val="bg1"/>
          </a:solidFill>
        </p:spPr>
        <p:txBody>
          <a:bodyPr wrap="square" rtlCol="0">
            <a:spAutoFit/>
          </a:bodyPr>
          <a:lstStyle/>
          <a:p>
            <a:r>
              <a:rPr lang="en-US" sz="3200" dirty="0"/>
              <a:t>How to Unlock a User’s Account</a:t>
            </a:r>
            <a:endParaRPr lang="en-CA" sz="3200" dirty="0"/>
          </a:p>
        </p:txBody>
      </p:sp>
    </p:spTree>
    <p:extLst>
      <p:ext uri="{BB962C8B-B14F-4D97-AF65-F5344CB8AC3E}">
        <p14:creationId xmlns:p14="http://schemas.microsoft.com/office/powerpoint/2010/main" val="3687431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6BCE56-FBB4-4A48-83A9-47BFBE047B4B}"/>
              </a:ext>
            </a:extLst>
          </p:cNvPr>
          <p:cNvSpPr>
            <a:spLocks noGrp="1"/>
          </p:cNvSpPr>
          <p:nvPr>
            <p:ph idx="10"/>
          </p:nvPr>
        </p:nvSpPr>
        <p:spPr/>
        <p:txBody>
          <a:bodyPr/>
          <a:lstStyle/>
          <a:p>
            <a:r>
              <a:rPr lang="en-US" dirty="0"/>
              <a:t>Step 1 in how to unlock a user’s account</a:t>
            </a:r>
            <a:endParaRPr lang="en-CA" dirty="0"/>
          </a:p>
        </p:txBody>
      </p:sp>
      <p:sp>
        <p:nvSpPr>
          <p:cNvPr id="4" name="Content Placeholder 3">
            <a:extLst>
              <a:ext uri="{FF2B5EF4-FFF2-40B4-BE49-F238E27FC236}">
                <a16:creationId xmlns:a16="http://schemas.microsoft.com/office/drawing/2014/main" id="{B6E0BD25-99DB-4728-B5E6-D4509B4ED0DB}"/>
              </a:ext>
            </a:extLst>
          </p:cNvPr>
          <p:cNvSpPr>
            <a:spLocks noGrp="1"/>
          </p:cNvSpPr>
          <p:nvPr>
            <p:ph idx="11"/>
          </p:nvPr>
        </p:nvSpPr>
        <p:spPr/>
        <p:txBody>
          <a:bodyPr/>
          <a:lstStyle/>
          <a:p>
            <a:r>
              <a:rPr lang="en-US" dirty="0"/>
              <a:t>Voice over: To unlock a user’s account first sign into the Okta Administration portal then go to the directory  and select “people”  from the menu on the left side of the window</a:t>
            </a:r>
            <a:endParaRPr lang="en-CA" dirty="0"/>
          </a:p>
        </p:txBody>
      </p:sp>
      <p:sp>
        <p:nvSpPr>
          <p:cNvPr id="5" name="Content Placeholder 4">
            <a:extLst>
              <a:ext uri="{FF2B5EF4-FFF2-40B4-BE49-F238E27FC236}">
                <a16:creationId xmlns:a16="http://schemas.microsoft.com/office/drawing/2014/main" id="{2B71DBF1-167B-4CC0-A55C-B753FF069FE6}"/>
              </a:ext>
            </a:extLst>
          </p:cNvPr>
          <p:cNvSpPr>
            <a:spLocks noGrp="1"/>
          </p:cNvSpPr>
          <p:nvPr>
            <p:ph idx="12"/>
          </p:nvPr>
        </p:nvSpPr>
        <p:spPr/>
        <p:txBody>
          <a:bodyPr/>
          <a:lstStyle/>
          <a:p>
            <a:r>
              <a:rPr lang="en-US" dirty="0"/>
              <a:t>Either a static image with arrow animations, text on screen and voiceover or motion graphic</a:t>
            </a:r>
            <a:endParaRPr lang="en-CA" dirty="0"/>
          </a:p>
        </p:txBody>
      </p:sp>
      <p:sp>
        <p:nvSpPr>
          <p:cNvPr id="6" name="Content Placeholder 5">
            <a:extLst>
              <a:ext uri="{FF2B5EF4-FFF2-40B4-BE49-F238E27FC236}">
                <a16:creationId xmlns:a16="http://schemas.microsoft.com/office/drawing/2014/main" id="{7FDB027F-B9E7-4088-877A-4E66DE008284}"/>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2C510C1E-47FB-492D-B27F-E89D438A8594}"/>
              </a:ext>
            </a:extLst>
          </p:cNvPr>
          <p:cNvPicPr>
            <a:picLocks noGrp="1"/>
          </p:cNvPicPr>
          <p:nvPr>
            <p:ph idx="1"/>
          </p:nvPr>
        </p:nvPicPr>
        <p:blipFill>
          <a:blip r:embed="rId2"/>
          <a:stretch>
            <a:fillRect/>
          </a:stretch>
        </p:blipFill>
        <p:spPr>
          <a:xfrm>
            <a:off x="3481974" y="1153881"/>
            <a:ext cx="2972215" cy="3315163"/>
          </a:xfrm>
          <a:prstGeom prst="rect">
            <a:avLst/>
          </a:prstGeom>
        </p:spPr>
      </p:pic>
    </p:spTree>
    <p:extLst>
      <p:ext uri="{BB962C8B-B14F-4D97-AF65-F5344CB8AC3E}">
        <p14:creationId xmlns:p14="http://schemas.microsoft.com/office/powerpoint/2010/main" val="329489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9E94C-1CF5-4965-9803-DE53D373CA0F}"/>
              </a:ext>
            </a:extLst>
          </p:cNvPr>
          <p:cNvSpPr>
            <a:spLocks noGrp="1"/>
          </p:cNvSpPr>
          <p:nvPr>
            <p:ph idx="10"/>
          </p:nvPr>
        </p:nvSpPr>
        <p:spPr/>
        <p:txBody>
          <a:bodyPr/>
          <a:lstStyle/>
          <a:p>
            <a:r>
              <a:rPr lang="en-US" dirty="0"/>
              <a:t>Step 2 in how to unlock a users account</a:t>
            </a:r>
            <a:endParaRPr lang="en-CA" dirty="0"/>
          </a:p>
        </p:txBody>
      </p:sp>
      <p:sp>
        <p:nvSpPr>
          <p:cNvPr id="4" name="Content Placeholder 3">
            <a:extLst>
              <a:ext uri="{FF2B5EF4-FFF2-40B4-BE49-F238E27FC236}">
                <a16:creationId xmlns:a16="http://schemas.microsoft.com/office/drawing/2014/main" id="{E9861893-3444-4923-9F13-22FB5B896DA6}"/>
              </a:ext>
            </a:extLst>
          </p:cNvPr>
          <p:cNvSpPr>
            <a:spLocks noGrp="1"/>
          </p:cNvSpPr>
          <p:nvPr>
            <p:ph idx="11"/>
          </p:nvPr>
        </p:nvSpPr>
        <p:spPr/>
        <p:txBody>
          <a:bodyPr/>
          <a:lstStyle/>
          <a:p>
            <a:r>
              <a:rPr lang="en-US" dirty="0"/>
              <a:t>Voice over: Search for the name of the user whose has been locked out of their account </a:t>
            </a:r>
            <a:endParaRPr lang="en-CA" dirty="0"/>
          </a:p>
        </p:txBody>
      </p:sp>
      <p:sp>
        <p:nvSpPr>
          <p:cNvPr id="5" name="Content Placeholder 4">
            <a:extLst>
              <a:ext uri="{FF2B5EF4-FFF2-40B4-BE49-F238E27FC236}">
                <a16:creationId xmlns:a16="http://schemas.microsoft.com/office/drawing/2014/main" id="{413E7AF1-957F-4884-8617-A3BE8D5190B3}"/>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7FACF9C6-F63D-414E-A433-043F139CCCBB}"/>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723DF10D-B115-478C-A74F-4B8A0561507F}"/>
              </a:ext>
            </a:extLst>
          </p:cNvPr>
          <p:cNvPicPr>
            <a:picLocks noGrp="1"/>
          </p:cNvPicPr>
          <p:nvPr>
            <p:ph idx="1"/>
          </p:nvPr>
        </p:nvPicPr>
        <p:blipFill>
          <a:blip r:embed="rId2"/>
          <a:stretch>
            <a:fillRect/>
          </a:stretch>
        </p:blipFill>
        <p:spPr>
          <a:xfrm>
            <a:off x="130175" y="1209015"/>
            <a:ext cx="9675813" cy="3204894"/>
          </a:xfrm>
          <a:prstGeom prst="rect">
            <a:avLst/>
          </a:prstGeom>
        </p:spPr>
      </p:pic>
    </p:spTree>
    <p:extLst>
      <p:ext uri="{BB962C8B-B14F-4D97-AF65-F5344CB8AC3E}">
        <p14:creationId xmlns:p14="http://schemas.microsoft.com/office/powerpoint/2010/main" val="367549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64BA2-22BF-4815-A2AD-D782710B3A1F}"/>
              </a:ext>
            </a:extLst>
          </p:cNvPr>
          <p:cNvSpPr>
            <a:spLocks noGrp="1"/>
          </p:cNvSpPr>
          <p:nvPr>
            <p:ph idx="10"/>
          </p:nvPr>
        </p:nvSpPr>
        <p:spPr/>
        <p:txBody>
          <a:bodyPr/>
          <a:lstStyle/>
          <a:p>
            <a:r>
              <a:rPr lang="en-US" dirty="0"/>
              <a:t>Step 3 in how to unlock a users account</a:t>
            </a:r>
            <a:endParaRPr lang="en-CA" dirty="0"/>
          </a:p>
          <a:p>
            <a:endParaRPr lang="en-CA" dirty="0"/>
          </a:p>
        </p:txBody>
      </p:sp>
      <p:sp>
        <p:nvSpPr>
          <p:cNvPr id="4" name="Content Placeholder 3">
            <a:extLst>
              <a:ext uri="{FF2B5EF4-FFF2-40B4-BE49-F238E27FC236}">
                <a16:creationId xmlns:a16="http://schemas.microsoft.com/office/drawing/2014/main" id="{B5B6EC5F-E23B-4219-98C9-61EBD76C4579}"/>
              </a:ext>
            </a:extLst>
          </p:cNvPr>
          <p:cNvSpPr>
            <a:spLocks noGrp="1"/>
          </p:cNvSpPr>
          <p:nvPr>
            <p:ph idx="11"/>
          </p:nvPr>
        </p:nvSpPr>
        <p:spPr/>
        <p:txBody>
          <a:bodyPr/>
          <a:lstStyle/>
          <a:p>
            <a:r>
              <a:rPr lang="en-US" dirty="0"/>
              <a:t>Voice over: Select the user’s name from the search results</a:t>
            </a:r>
            <a:endParaRPr lang="en-CA" dirty="0"/>
          </a:p>
        </p:txBody>
      </p:sp>
      <p:sp>
        <p:nvSpPr>
          <p:cNvPr id="5" name="Content Placeholder 4">
            <a:extLst>
              <a:ext uri="{FF2B5EF4-FFF2-40B4-BE49-F238E27FC236}">
                <a16:creationId xmlns:a16="http://schemas.microsoft.com/office/drawing/2014/main" id="{EF3C91E2-4342-44C0-8D4A-F9D13D60F4D5}"/>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D60B63BF-F728-41DE-AA50-09D7DA1B40C9}"/>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3D087B6E-36E0-4932-B15F-D618F1362E37}"/>
              </a:ext>
            </a:extLst>
          </p:cNvPr>
          <p:cNvPicPr>
            <a:picLocks noGrp="1"/>
          </p:cNvPicPr>
          <p:nvPr>
            <p:ph idx="1"/>
          </p:nvPr>
        </p:nvPicPr>
        <p:blipFill>
          <a:blip r:embed="rId2"/>
          <a:stretch>
            <a:fillRect/>
          </a:stretch>
        </p:blipFill>
        <p:spPr>
          <a:xfrm>
            <a:off x="130175" y="1209015"/>
            <a:ext cx="9675813" cy="3204894"/>
          </a:xfrm>
          <a:prstGeom prst="rect">
            <a:avLst/>
          </a:prstGeom>
        </p:spPr>
      </p:pic>
    </p:spTree>
    <p:extLst>
      <p:ext uri="{BB962C8B-B14F-4D97-AF65-F5344CB8AC3E}">
        <p14:creationId xmlns:p14="http://schemas.microsoft.com/office/powerpoint/2010/main" val="511556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BDEDF-A1F5-4940-955B-B766FC374115}"/>
              </a:ext>
            </a:extLst>
          </p:cNvPr>
          <p:cNvSpPr>
            <a:spLocks noGrp="1"/>
          </p:cNvSpPr>
          <p:nvPr>
            <p:ph idx="10"/>
          </p:nvPr>
        </p:nvSpPr>
        <p:spPr/>
        <p:txBody>
          <a:bodyPr/>
          <a:lstStyle/>
          <a:p>
            <a:r>
              <a:rPr lang="en-US" dirty="0"/>
              <a:t>Step 4 in how to unlock a user’s account</a:t>
            </a:r>
            <a:endParaRPr lang="en-CA" dirty="0"/>
          </a:p>
          <a:p>
            <a:endParaRPr lang="en-CA" dirty="0"/>
          </a:p>
        </p:txBody>
      </p:sp>
      <p:sp>
        <p:nvSpPr>
          <p:cNvPr id="4" name="Content Placeholder 3">
            <a:extLst>
              <a:ext uri="{FF2B5EF4-FFF2-40B4-BE49-F238E27FC236}">
                <a16:creationId xmlns:a16="http://schemas.microsoft.com/office/drawing/2014/main" id="{EB2424A1-EEFE-4BC0-92B2-FCAFA91D07D9}"/>
              </a:ext>
            </a:extLst>
          </p:cNvPr>
          <p:cNvSpPr>
            <a:spLocks noGrp="1"/>
          </p:cNvSpPr>
          <p:nvPr>
            <p:ph idx="11"/>
          </p:nvPr>
        </p:nvSpPr>
        <p:spPr/>
        <p:txBody>
          <a:bodyPr/>
          <a:lstStyle/>
          <a:p>
            <a:r>
              <a:rPr lang="en-US" dirty="0"/>
              <a:t>Voice over: Select the “unlock account” button from the user’s profile</a:t>
            </a:r>
            <a:endParaRPr lang="en-CA" dirty="0"/>
          </a:p>
        </p:txBody>
      </p:sp>
      <p:sp>
        <p:nvSpPr>
          <p:cNvPr id="5" name="Content Placeholder 4">
            <a:extLst>
              <a:ext uri="{FF2B5EF4-FFF2-40B4-BE49-F238E27FC236}">
                <a16:creationId xmlns:a16="http://schemas.microsoft.com/office/drawing/2014/main" id="{1D3BDF47-A6A6-4F93-8862-C6BFB280EF66}"/>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0C55F6BD-617E-4E64-B9F0-1275A4D0D39C}"/>
              </a:ext>
            </a:extLst>
          </p:cNvPr>
          <p:cNvSpPr>
            <a:spLocks noGrp="1"/>
          </p:cNvSpPr>
          <p:nvPr>
            <p:ph idx="13"/>
          </p:nvPr>
        </p:nvSpPr>
        <p:spPr/>
        <p:txBody>
          <a:bodyPr/>
          <a:lstStyle/>
          <a:p>
            <a:r>
              <a:rPr lang="en-US" dirty="0"/>
              <a:t>Voice over</a:t>
            </a:r>
            <a:endParaRPr lang="en-CA" dirty="0"/>
          </a:p>
        </p:txBody>
      </p:sp>
      <p:pic>
        <p:nvPicPr>
          <p:cNvPr id="7" name="Content Placeholder 6">
            <a:extLst>
              <a:ext uri="{FF2B5EF4-FFF2-40B4-BE49-F238E27FC236}">
                <a16:creationId xmlns:a16="http://schemas.microsoft.com/office/drawing/2014/main" id="{F5CBD84B-DB89-487E-9B9B-6CBB5A1A49A2}"/>
              </a:ext>
            </a:extLst>
          </p:cNvPr>
          <p:cNvPicPr>
            <a:picLocks noGrp="1"/>
          </p:cNvPicPr>
          <p:nvPr>
            <p:ph idx="1"/>
          </p:nvPr>
        </p:nvPicPr>
        <p:blipFill>
          <a:blip r:embed="rId2"/>
          <a:stretch>
            <a:fillRect/>
          </a:stretch>
        </p:blipFill>
        <p:spPr>
          <a:xfrm>
            <a:off x="2938973" y="1272960"/>
            <a:ext cx="4058216" cy="3077004"/>
          </a:xfrm>
          <a:prstGeom prst="rect">
            <a:avLst/>
          </a:prstGeom>
        </p:spPr>
      </p:pic>
    </p:spTree>
    <p:extLst>
      <p:ext uri="{BB962C8B-B14F-4D97-AF65-F5344CB8AC3E}">
        <p14:creationId xmlns:p14="http://schemas.microsoft.com/office/powerpoint/2010/main" val="705149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BDEDF-A1F5-4940-955B-B766FC374115}"/>
              </a:ext>
            </a:extLst>
          </p:cNvPr>
          <p:cNvSpPr>
            <a:spLocks noGrp="1"/>
          </p:cNvSpPr>
          <p:nvPr>
            <p:ph idx="10"/>
          </p:nvPr>
        </p:nvSpPr>
        <p:spPr/>
        <p:txBody>
          <a:bodyPr/>
          <a:lstStyle/>
          <a:p>
            <a:r>
              <a:rPr lang="en-US" dirty="0"/>
              <a:t>Step 5 in how to unlock a user’s account</a:t>
            </a:r>
            <a:endParaRPr lang="en-CA" dirty="0"/>
          </a:p>
          <a:p>
            <a:endParaRPr lang="en-CA" dirty="0"/>
          </a:p>
        </p:txBody>
      </p:sp>
      <p:sp>
        <p:nvSpPr>
          <p:cNvPr id="4" name="Content Placeholder 3">
            <a:extLst>
              <a:ext uri="{FF2B5EF4-FFF2-40B4-BE49-F238E27FC236}">
                <a16:creationId xmlns:a16="http://schemas.microsoft.com/office/drawing/2014/main" id="{EB2424A1-EEFE-4BC0-92B2-FCAFA91D07D9}"/>
              </a:ext>
            </a:extLst>
          </p:cNvPr>
          <p:cNvSpPr>
            <a:spLocks noGrp="1"/>
          </p:cNvSpPr>
          <p:nvPr>
            <p:ph idx="11"/>
          </p:nvPr>
        </p:nvSpPr>
        <p:spPr/>
        <p:txBody>
          <a:bodyPr/>
          <a:lstStyle/>
          <a:p>
            <a:r>
              <a:rPr lang="en-US" dirty="0"/>
              <a:t>Voice over: A pop up will appear asking you to confirm the unlock operation. Select the “unlock” button to confirm the operation and unlock the user’s account</a:t>
            </a:r>
            <a:endParaRPr lang="en-CA" dirty="0"/>
          </a:p>
        </p:txBody>
      </p:sp>
      <p:sp>
        <p:nvSpPr>
          <p:cNvPr id="5" name="Content Placeholder 4">
            <a:extLst>
              <a:ext uri="{FF2B5EF4-FFF2-40B4-BE49-F238E27FC236}">
                <a16:creationId xmlns:a16="http://schemas.microsoft.com/office/drawing/2014/main" id="{1D3BDF47-A6A6-4F93-8862-C6BFB280EF66}"/>
              </a:ext>
            </a:extLst>
          </p:cNvPr>
          <p:cNvSpPr>
            <a:spLocks noGrp="1"/>
          </p:cNvSpPr>
          <p:nvPr>
            <p:ph idx="12"/>
          </p:nvPr>
        </p:nvSpPr>
        <p:spPr/>
        <p:txBody>
          <a:bodyPr/>
          <a:lstStyle/>
          <a:p>
            <a:r>
              <a:rPr lang="en-US" dirty="0"/>
              <a:t>Either a static image with arrow animations, text on screen and voiceover or motion graphic</a:t>
            </a:r>
            <a:endParaRPr lang="en-CA" dirty="0"/>
          </a:p>
          <a:p>
            <a:endParaRPr lang="en-CA" dirty="0"/>
          </a:p>
        </p:txBody>
      </p:sp>
      <p:sp>
        <p:nvSpPr>
          <p:cNvPr id="6" name="Content Placeholder 5">
            <a:extLst>
              <a:ext uri="{FF2B5EF4-FFF2-40B4-BE49-F238E27FC236}">
                <a16:creationId xmlns:a16="http://schemas.microsoft.com/office/drawing/2014/main" id="{0C55F6BD-617E-4E64-B9F0-1275A4D0D39C}"/>
              </a:ext>
            </a:extLst>
          </p:cNvPr>
          <p:cNvSpPr>
            <a:spLocks noGrp="1"/>
          </p:cNvSpPr>
          <p:nvPr>
            <p:ph idx="13"/>
          </p:nvPr>
        </p:nvSpPr>
        <p:spPr/>
        <p:txBody>
          <a:bodyPr/>
          <a:lstStyle/>
          <a:p>
            <a:r>
              <a:rPr lang="en-US" dirty="0"/>
              <a:t>Voice over</a:t>
            </a:r>
            <a:endParaRPr lang="en-CA" dirty="0"/>
          </a:p>
        </p:txBody>
      </p:sp>
      <p:pic>
        <p:nvPicPr>
          <p:cNvPr id="8" name="Picture 7">
            <a:extLst>
              <a:ext uri="{FF2B5EF4-FFF2-40B4-BE49-F238E27FC236}">
                <a16:creationId xmlns:a16="http://schemas.microsoft.com/office/drawing/2014/main" id="{DD0C2014-B602-4757-8C14-96974BA1B3C6}"/>
              </a:ext>
            </a:extLst>
          </p:cNvPr>
          <p:cNvPicPr/>
          <p:nvPr/>
        </p:nvPicPr>
        <p:blipFill>
          <a:blip r:embed="rId2"/>
          <a:stretch>
            <a:fillRect/>
          </a:stretch>
        </p:blipFill>
        <p:spPr>
          <a:xfrm>
            <a:off x="4462145" y="2712402"/>
            <a:ext cx="3267710" cy="1433195"/>
          </a:xfrm>
          <a:prstGeom prst="rect">
            <a:avLst/>
          </a:prstGeom>
        </p:spPr>
      </p:pic>
      <p:pic>
        <p:nvPicPr>
          <p:cNvPr id="10" name="Content Placeholder 9">
            <a:extLst>
              <a:ext uri="{FF2B5EF4-FFF2-40B4-BE49-F238E27FC236}">
                <a16:creationId xmlns:a16="http://schemas.microsoft.com/office/drawing/2014/main" id="{EAD158AC-9968-40AD-883C-F35C95D55E15}"/>
              </a:ext>
            </a:extLst>
          </p:cNvPr>
          <p:cNvPicPr>
            <a:picLocks noGrp="1"/>
          </p:cNvPicPr>
          <p:nvPr>
            <p:ph idx="1"/>
          </p:nvPr>
        </p:nvPicPr>
        <p:blipFill>
          <a:blip r:embed="rId2"/>
          <a:stretch>
            <a:fillRect/>
          </a:stretch>
        </p:blipFill>
        <p:spPr>
          <a:xfrm>
            <a:off x="2133998" y="1568276"/>
            <a:ext cx="5668166" cy="2486372"/>
          </a:xfrm>
          <a:prstGeom prst="rect">
            <a:avLst/>
          </a:prstGeom>
        </p:spPr>
      </p:pic>
    </p:spTree>
    <p:extLst>
      <p:ext uri="{BB962C8B-B14F-4D97-AF65-F5344CB8AC3E}">
        <p14:creationId xmlns:p14="http://schemas.microsoft.com/office/powerpoint/2010/main" val="2615083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oryboard Template" id="{D484569F-EF43-4F93-8B79-571513811214}" vid="{D148703A-3D67-43E9-9C8D-EFB1E49A48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6E2191C135504F9351B7DBCB2BE606" ma:contentTypeVersion="19" ma:contentTypeDescription="Create a new document." ma:contentTypeScope="" ma:versionID="144ddb5c3dec5e6553fff6a9e46bb08f">
  <xsd:schema xmlns:xsd="http://www.w3.org/2001/XMLSchema" xmlns:xs="http://www.w3.org/2001/XMLSchema" xmlns:p="http://schemas.microsoft.com/office/2006/metadata/properties" xmlns:ns2="6d778449-ff75-428e-914f-0c7c3a330bda" xmlns:ns3="9685b3f0-18b8-4ac0-8917-75cacc3928c8" xmlns:ns4="http://schemas.microsoft.com/sharepoint/v4" targetNamespace="http://schemas.microsoft.com/office/2006/metadata/properties" ma:root="true" ma:fieldsID="20e32d3dfd06a5d03c1eec57e40fefd4" ns2:_="" ns3:_="" ns4:_="">
    <xsd:import namespace="6d778449-ff75-428e-914f-0c7c3a330bda"/>
    <xsd:import namespace="9685b3f0-18b8-4ac0-8917-75cacc3928c8"/>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4:IconOverlay"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778449-ff75-428e-914f-0c7c3a330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104f31a-2814-4102-809d-73f760290a8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85b3f0-18b8-4ac0-8917-75cacc3928c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dc0967b-2da2-44e6-873a-f241ab05c942}" ma:internalName="TaxCatchAll" ma:showField="CatchAllData" ma:web="9685b3f0-18b8-4ac0-8917-75cacc3928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778449-ff75-428e-914f-0c7c3a330bda">
      <Terms xmlns="http://schemas.microsoft.com/office/infopath/2007/PartnerControls"/>
    </lcf76f155ced4ddcb4097134ff3c332f>
    <TaxCatchAll xmlns="9685b3f0-18b8-4ac0-8917-75cacc3928c8" xsi:nil="true"/>
    <IconOverlay xmlns="http://schemas.microsoft.com/sharepoint/v4" xsi:nil="true"/>
  </documentManagement>
</p:properties>
</file>

<file path=customXml/itemProps1.xml><?xml version="1.0" encoding="utf-8"?>
<ds:datastoreItem xmlns:ds="http://schemas.openxmlformats.org/officeDocument/2006/customXml" ds:itemID="{6FEB10E3-7BC3-4E86-94E6-FE7939C2E6DB}"/>
</file>

<file path=customXml/itemProps2.xml><?xml version="1.0" encoding="utf-8"?>
<ds:datastoreItem xmlns:ds="http://schemas.openxmlformats.org/officeDocument/2006/customXml" ds:itemID="{B2D5F16D-7A41-43D5-896A-0D2784B85F2C}"/>
</file>

<file path=customXml/itemProps3.xml><?xml version="1.0" encoding="utf-8"?>
<ds:datastoreItem xmlns:ds="http://schemas.openxmlformats.org/officeDocument/2006/customXml" ds:itemID="{3EB2FBA0-4526-4411-B5CB-5668324703F8}"/>
</file>

<file path=docMetadata/LabelInfo.xml><?xml version="1.0" encoding="utf-8"?>
<clbl:labelList xmlns:clbl="http://schemas.microsoft.com/office/2020/mipLabelMetadata">
  <clbl:label id="{4e1dbe9c-67f7-4be6-a2b7-0951d57be59d}" enabled="1" method="Standard" siteId="{bbf04c3f-b0e3-4b50-bd1b-10ce0b74385d}" removed="0"/>
</clbl:labelList>
</file>

<file path=docProps/app.xml><?xml version="1.0" encoding="utf-8"?>
<Properties xmlns="http://schemas.openxmlformats.org/officeDocument/2006/extended-properties" xmlns:vt="http://schemas.openxmlformats.org/officeDocument/2006/docPropsVTypes">
  <Template>Storyboard Template</Template>
  <TotalTime>127</TotalTime>
  <Words>1048</Words>
  <Application>Microsoft Office PowerPoint</Application>
  <PresentationFormat>Widescreen</PresentationFormat>
  <Paragraphs>85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Okta/Sentry Support R1 Learning Suite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Robert Johnstone</dc:creator>
  <cp:lastModifiedBy>Robert Johnstone</cp:lastModifiedBy>
  <cp:revision>19</cp:revision>
  <dcterms:created xsi:type="dcterms:W3CDTF">2021-08-06T15:23:34Z</dcterms:created>
  <dcterms:modified xsi:type="dcterms:W3CDTF">2021-08-06T17:32:30Z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0x010100CA6E2191C135504F9351B7DBCB2BE606</vt:lpwstr>
  </property>
  <property fmtid="{D5CDD505-2E9C-101B-9397-08002B2CF9AE}" pid="3" name="Order">
    <vt:r8>853600</vt:r8>
  </property>
  <property fmtid="{D5CDD505-2E9C-101B-9397-08002B2CF9AE}" pid="4" name="URL">
    <vt:lpwstr/>
  </property>
</Properties>
</file>