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Layouts/slideLayout5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Layouts/slideLayout5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Masters/slideMaster27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26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theme/theme24.xml" ContentType="application/vnd.openxmlformats-officedocument.theme+xml"/>
  <Override PartName="/ppt/theme/theme8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12.xml" ContentType="application/vnd.openxmlformats-officedocument.theme+xml"/>
  <Override PartName="/ppt/theme/theme22.xml" ContentType="application/vnd.openxmlformats-officedocument.theme+xml"/>
  <Override PartName="/ppt/theme/theme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3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1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9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  <p:sldMasterId id="2147483671" r:id="rId6"/>
    <p:sldMasterId id="2147483678" r:id="rId7"/>
    <p:sldMasterId id="2147483680" r:id="rId8"/>
    <p:sldMasterId id="2147483682" r:id="rId9"/>
    <p:sldMasterId id="2147483689" r:id="rId10"/>
    <p:sldMasterId id="2147483691" r:id="rId11"/>
    <p:sldMasterId id="2147483693" r:id="rId12"/>
    <p:sldMasterId id="2147483700" r:id="rId13"/>
    <p:sldMasterId id="2147483702" r:id="rId14"/>
    <p:sldMasterId id="2147483704" r:id="rId15"/>
    <p:sldMasterId id="2147483711" r:id="rId16"/>
    <p:sldMasterId id="2147483713" r:id="rId17"/>
    <p:sldMasterId id="2147483715" r:id="rId18"/>
    <p:sldMasterId id="2147483722" r:id="rId19"/>
    <p:sldMasterId id="2147483724" r:id="rId20"/>
    <p:sldMasterId id="2147483726" r:id="rId21"/>
    <p:sldMasterId id="2147483733" r:id="rId22"/>
    <p:sldMasterId id="2147483735" r:id="rId23"/>
    <p:sldMasterId id="2147483737" r:id="rId24"/>
    <p:sldMasterId id="2147483739" r:id="rId25"/>
    <p:sldMasterId id="2147483741" r:id="rId26"/>
    <p:sldMasterId id="2147483743" r:id="rId27"/>
  </p:sldMasterIdLst>
  <p:notesMasterIdLst>
    <p:notesMasterId r:id="rId42"/>
  </p:notesMasterIdLst>
  <p:sldIdLst>
    <p:sldId id="256" r:id="rId28"/>
    <p:sldId id="257" r:id="rId29"/>
    <p:sldId id="262" r:id="rId30"/>
    <p:sldId id="263" r:id="rId31"/>
    <p:sldId id="264" r:id="rId32"/>
    <p:sldId id="269" r:id="rId33"/>
    <p:sldId id="258" r:id="rId34"/>
    <p:sldId id="259" r:id="rId35"/>
    <p:sldId id="260" r:id="rId36"/>
    <p:sldId id="261" r:id="rId37"/>
    <p:sldId id="267" r:id="rId38"/>
    <p:sldId id="268" r:id="rId39"/>
    <p:sldId id="266" r:id="rId40"/>
    <p:sldId id="26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3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12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7.xml"/><Relationship Id="rId42" Type="http://schemas.openxmlformats.org/officeDocument/2006/relationships/notesMaster" Target="notesMasters/notesMaster1.xml"/><Relationship Id="rId47" Type="http://schemas.openxmlformats.org/officeDocument/2006/relationships/customXml" Target="../customXml/item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2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5.xml"/><Relationship Id="rId37" Type="http://schemas.openxmlformats.org/officeDocument/2006/relationships/slide" Target="slides/slide10.xml"/><Relationship Id="rId40" Type="http://schemas.openxmlformats.org/officeDocument/2006/relationships/slide" Target="slides/slide13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1.xml"/><Relationship Id="rId36" Type="http://schemas.openxmlformats.org/officeDocument/2006/relationships/slide" Target="slides/slide9.xml"/><Relationship Id="rId49" Type="http://schemas.openxmlformats.org/officeDocument/2006/relationships/customXml" Target="../customXml/item3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4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" Target="slides/slide3.xml"/><Relationship Id="rId35" Type="http://schemas.openxmlformats.org/officeDocument/2006/relationships/slide" Target="slides/slide8.xml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6.xml"/><Relationship Id="rId38" Type="http://schemas.openxmlformats.org/officeDocument/2006/relationships/slide" Target="slides/slide11.xml"/><Relationship Id="rId46" Type="http://schemas.openxmlformats.org/officeDocument/2006/relationships/tableStyles" Target="tableStyle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5AD26-FA9F-4CF0-B339-8B8705AF93D0}" type="datetimeFigureOut">
              <a:rPr lang="en-CA" smtClean="0"/>
              <a:t>02/17/2021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30C09-90DB-45F3-AA33-68C5EC4F6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095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Okta</a:t>
            </a:r>
            <a:r>
              <a:rPr lang="en-US" dirty="0" smtClean="0"/>
              <a:t> will fulfill most</a:t>
            </a:r>
            <a:r>
              <a:rPr lang="en-US" baseline="0" dirty="0" smtClean="0"/>
              <a:t> of these requirements for us in Infinity.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30C09-90DB-45F3-AA33-68C5EC4F6EB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725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03768" y="3802253"/>
            <a:ext cx="8483600" cy="53078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9170" rtl="0" eaLnBrk="1" fontAlgn="auto" latinLnBrk="0" hangingPunct="1">
              <a:lnSpc>
                <a:spcPts val="2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03769" y="2985645"/>
            <a:ext cx="11108268" cy="6095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9170" rtl="0" eaLnBrk="1" fontAlgn="auto" latinLnBrk="0" hangingPunct="1">
              <a:lnSpc>
                <a:spcPts val="5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67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ts val="5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03769" y="1990040"/>
            <a:ext cx="11133665" cy="7048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7733"/>
              </a:lnSpc>
              <a:spcBef>
                <a:spcPts val="0"/>
              </a:spcBef>
              <a:buNone/>
              <a:defRPr sz="640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031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68A34-601D-4EFF-A572-DD37ED208EB4}" type="datetimeFigureOut">
              <a:rPr lang="en-CA" smtClean="0"/>
              <a:t>02/16/2021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3C99-80B7-4868-9659-1957BCB6CB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020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557107" y="6395088"/>
            <a:ext cx="109157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7107" y="2845859"/>
            <a:ext cx="9787467" cy="70696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11" name="Rectangle 10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023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998721" y="2493470"/>
            <a:ext cx="6575479" cy="3381956"/>
          </a:xfrm>
          <a:prstGeom prst="rect">
            <a:avLst/>
          </a:prstGeom>
          <a:noFill/>
        </p:spPr>
        <p:txBody>
          <a:bodyPr/>
          <a:lstStyle>
            <a:lvl1pPr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1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867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533288"/>
            <a:ext cx="3776396" cy="1346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b="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2158137"/>
            <a:ext cx="3095676" cy="16112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667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541605" y="2001520"/>
            <a:ext cx="35020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67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57107" y="6395088"/>
            <a:ext cx="109157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7107" y="2845859"/>
            <a:ext cx="9787467" cy="70696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98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998721" y="2493470"/>
            <a:ext cx="6575479" cy="3381956"/>
          </a:xfrm>
          <a:prstGeom prst="rect">
            <a:avLst/>
          </a:prstGeom>
          <a:noFill/>
        </p:spPr>
        <p:txBody>
          <a:bodyPr/>
          <a:lstStyle>
            <a:lvl1pPr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1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867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533288"/>
            <a:ext cx="3776396" cy="1346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b="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2158137"/>
            <a:ext cx="3095676" cy="16112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667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541605" y="2001520"/>
            <a:ext cx="35020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195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924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755429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96478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2178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9021078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267679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57107" y="6395088"/>
            <a:ext cx="109157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7107" y="2845859"/>
            <a:ext cx="9787467" cy="70696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746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998721" y="2493470"/>
            <a:ext cx="6575479" cy="3381956"/>
          </a:xfrm>
          <a:prstGeom prst="rect">
            <a:avLst/>
          </a:prstGeom>
          <a:noFill/>
        </p:spPr>
        <p:txBody>
          <a:bodyPr/>
          <a:lstStyle>
            <a:lvl1pPr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1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867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533288"/>
            <a:ext cx="3776396" cy="1346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b="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2158137"/>
            <a:ext cx="3095676" cy="16112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667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541605" y="2001520"/>
            <a:ext cx="35020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60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753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863193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44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6209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805003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3249997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57107" y="6395088"/>
            <a:ext cx="109157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7107" y="2845859"/>
            <a:ext cx="9787467" cy="70696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34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998721" y="2493470"/>
            <a:ext cx="6575479" cy="3381956"/>
          </a:xfrm>
          <a:prstGeom prst="rect">
            <a:avLst/>
          </a:prstGeom>
          <a:noFill/>
        </p:spPr>
        <p:txBody>
          <a:bodyPr/>
          <a:lstStyle>
            <a:lvl1pPr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1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867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533288"/>
            <a:ext cx="3776396" cy="1346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b="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2158137"/>
            <a:ext cx="3095676" cy="16112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667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541605" y="2001520"/>
            <a:ext cx="35020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1460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427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32015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0941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1505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101213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44137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57107" y="6395088"/>
            <a:ext cx="109157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7107" y="2845859"/>
            <a:ext cx="9787467" cy="70696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727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998721" y="2493470"/>
            <a:ext cx="6575479" cy="3381956"/>
          </a:xfrm>
          <a:prstGeom prst="rect">
            <a:avLst/>
          </a:prstGeom>
          <a:noFill/>
        </p:spPr>
        <p:txBody>
          <a:bodyPr/>
          <a:lstStyle>
            <a:lvl1pPr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1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867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533288"/>
            <a:ext cx="3776396" cy="1346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b="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2158137"/>
            <a:ext cx="3095676" cy="16112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667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541605" y="2001520"/>
            <a:ext cx="35020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052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246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926483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16616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8663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537696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60285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57107" y="6395088"/>
            <a:ext cx="109157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7107" y="2845859"/>
            <a:ext cx="9787467" cy="70696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390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998721" y="2493470"/>
            <a:ext cx="6575479" cy="3381956"/>
          </a:xfrm>
          <a:prstGeom prst="rect">
            <a:avLst/>
          </a:prstGeom>
          <a:noFill/>
        </p:spPr>
        <p:txBody>
          <a:bodyPr/>
          <a:lstStyle>
            <a:lvl1pPr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1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867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533288"/>
            <a:ext cx="3776396" cy="1346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b="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2158137"/>
            <a:ext cx="3095676" cy="16112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667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541605" y="2001520"/>
            <a:ext cx="35020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279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576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429696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36733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0944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630019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581678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57107" y="6395088"/>
            <a:ext cx="109157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57107" y="2845859"/>
            <a:ext cx="9787467" cy="70696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661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998721" y="2493470"/>
            <a:ext cx="6575479" cy="3381956"/>
          </a:xfrm>
          <a:prstGeom prst="rect">
            <a:avLst/>
          </a:prstGeom>
          <a:noFill/>
        </p:spPr>
        <p:txBody>
          <a:bodyPr/>
          <a:lstStyle>
            <a:lvl1pPr>
              <a:defRPr sz="24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1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867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533288"/>
            <a:ext cx="3776396" cy="1346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b="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2158137"/>
            <a:ext cx="3095676" cy="16112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667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541605" y="2001520"/>
            <a:ext cx="350207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722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8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27478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02288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465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5543881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73383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991880" y="3163172"/>
            <a:ext cx="10515600" cy="822280"/>
          </a:xfrm>
          <a:prstGeom prst="rect">
            <a:avLst/>
          </a:prstGeom>
        </p:spPr>
        <p:txBody>
          <a:bodyPr/>
          <a:lstStyle>
            <a:lvl1pPr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937799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91880" y="3163172"/>
            <a:ext cx="10515600" cy="822280"/>
          </a:xfrm>
          <a:prstGeom prst="rect">
            <a:avLst/>
          </a:prstGeom>
        </p:spPr>
        <p:txBody>
          <a:bodyPr/>
          <a:lstStyle>
            <a:lvl1pPr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1863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91880" y="3163172"/>
            <a:ext cx="10515600" cy="822280"/>
          </a:xfrm>
          <a:prstGeom prst="rect">
            <a:avLst/>
          </a:prstGeom>
        </p:spPr>
        <p:txBody>
          <a:bodyPr/>
          <a:lstStyle>
            <a:lvl1pPr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7972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91880" y="3163172"/>
            <a:ext cx="10515600" cy="822280"/>
          </a:xfrm>
          <a:prstGeom prst="rect">
            <a:avLst/>
          </a:prstGeom>
        </p:spPr>
        <p:txBody>
          <a:bodyPr/>
          <a:lstStyle>
            <a:lvl1pPr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833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91880" y="3163172"/>
            <a:ext cx="10515600" cy="822280"/>
          </a:xfrm>
          <a:prstGeom prst="rect">
            <a:avLst/>
          </a:prstGeom>
        </p:spPr>
        <p:txBody>
          <a:bodyPr/>
          <a:lstStyle>
            <a:lvl1pPr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05420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91880" y="3163172"/>
            <a:ext cx="10515600" cy="822280"/>
          </a:xfrm>
          <a:prstGeom prst="rect">
            <a:avLst/>
          </a:prstGeom>
        </p:spPr>
        <p:txBody>
          <a:bodyPr/>
          <a:lstStyle>
            <a:lvl1pPr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0590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1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9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30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15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3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8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slideLayout" Target="../slideLayouts/slideLayout41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45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46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21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53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54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55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56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57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79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56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8900000">
            <a:off x="-3157367" y="-730251"/>
            <a:ext cx="9734328" cy="4869869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242098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32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8900000">
            <a:off x="-3157367" y="-730251"/>
            <a:ext cx="9734328" cy="4869869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342815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707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15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iming>
    <p:tnLst>
      <p:par>
        <p:cTn id="1" dur="indefinite" restart="never" nodeType="tmRoot"/>
      </p:par>
    </p:tnLst>
  </p:timing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0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8900000">
            <a:off x="-3157367" y="-730251"/>
            <a:ext cx="9734328" cy="4869869"/>
          </a:xfrm>
          <a:prstGeom prst="triangle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2654933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174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2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35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8900000">
            <a:off x="-3157367" y="-730251"/>
            <a:ext cx="9734328" cy="4869869"/>
          </a:xfrm>
          <a:prstGeom prst="triangle">
            <a:avLst/>
          </a:prstGeom>
          <a:solidFill>
            <a:srgbClr val="2DC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139953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174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923" y="6513347"/>
            <a:ext cx="5222068" cy="4102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 smtClean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algn="l"/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5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</p:sldLayoutIdLst>
  <p:timing>
    <p:tnLst>
      <p:par>
        <p:cTn id="1" dur="indefinite" restart="never" nodeType="tmRoot"/>
      </p:par>
    </p:tnLst>
  </p:timing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81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8900000">
            <a:off x="-3157367" y="-730251"/>
            <a:ext cx="9734328" cy="4869869"/>
          </a:xfrm>
          <a:prstGeom prst="triangle">
            <a:avLst/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395992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707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29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iming>
    <p:tnLst>
      <p:par>
        <p:cTn id="1" dur="indefinite" restart="never" nodeType="tmRoot"/>
      </p:par>
    </p:tnLst>
  </p:timing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07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8900000">
            <a:off x="-3157367" y="-730251"/>
            <a:ext cx="9734328" cy="4869869"/>
          </a:xfrm>
          <a:prstGeom prst="triangl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424996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707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84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</p:sldLayoutIdLst>
  <p:timing>
    <p:tnLst>
      <p:par>
        <p:cTn id="1" dur="indefinite" restart="never" nodeType="tmRoot"/>
      </p:par>
    </p:tnLst>
  </p:timing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05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/>
        </p:nvSpPr>
        <p:spPr>
          <a:xfrm rot="18900000">
            <a:off x="-3157367" y="-730251"/>
            <a:ext cx="9734328" cy="4869869"/>
          </a:xfrm>
          <a:prstGeom prst="triangle">
            <a:avLst/>
          </a:prstGeom>
          <a:solidFill>
            <a:srgbClr val="BA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</p:spTree>
    <p:extLst>
      <p:ext uri="{BB962C8B-B14F-4D97-AF65-F5344CB8AC3E}">
        <p14:creationId xmlns:p14="http://schemas.microsoft.com/office/powerpoint/2010/main" val="259928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707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923" y="6513347"/>
            <a:ext cx="5222068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333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</p:sldLayoutIdLst>
  <p:timing>
    <p:tnLst>
      <p:par>
        <p:cTn id="1" dur="indefinite" restart="never" nodeType="tmRoot"/>
      </p:par>
    </p:tnLst>
  </p:timing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89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72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1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29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77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40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sp.cwb.local/projects/pmo2/Digital%20Program/Digital%20Program%20SharePoint/3%20Digital%20Online%20Banking/1%20R1_Small_Business_and_Personal/7%20Fraud/2%20Planning/Requirements/Current%20State%20Process%20Maps/CyberSecurityServices_Product%20Sheet.pdf" TargetMode="External"/><Relationship Id="rId3" Type="http://schemas.openxmlformats.org/officeDocument/2006/relationships/hyperlink" Target="https://sp.cwb.local/projects/pmo2/Digital%20Program/Digital%20Program%20SharePoint/3%20Digital%20Online%20Banking/1%20R1_Small_Business_and_Personal/7%20Fraud/2%20Planning/Requirements/Current%20State%20Process%20Maps/Fraud%20Business%20Process%20for%20Digital%20MVP%20-%20Outgoing%20e-Transfers.pdf" TargetMode="External"/><Relationship Id="rId7" Type="http://schemas.openxmlformats.org/officeDocument/2006/relationships/hyperlink" Target="https://sp.cwb.local/projects/pmo2/Digital%20Program/Digital%20Program%20SharePoint/3%20Digital%20Online%20Banking/1%20R1_Small_Business_and_Personal/7%20Fraud/2%20Planning/Requirements/Current%20State%20Process%20Maps/Interac%20FAS%20_%20OAS%20Screenshots.pdf" TargetMode="External"/><Relationship Id="rId2" Type="http://schemas.openxmlformats.org/officeDocument/2006/relationships/hyperlink" Target="https://sp.cwb.local/projects/pmo2/Digital%20Program/Digital%20Program%20SharePoint/3%20Digital%20Online%20Banking/1%20R1_Small_Business_and_Personal/7%20Fraud/2%20Planning/Requirements/Current%20State%20Process%20Maps/FSIS%20e-transfers%20Current%20State.pdf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sp.cwb.local/projects/pmo2/Digital%20Program/_layouts/xlviewer.aspx?id=/projects/pmo2/Digital%20Program/Digital%20Program%20SharePoint/3%20Digital%20Online%20Banking/5%20Fraud/Requirements-%20FSIS/Digital%20MVP%20Fraud%20Scope%20and%20Requirements.xlsx&amp;Source=https%3A%2F%2Fsp%2Ecwb%2Elocal%2Fprojects%2Fpmo2%2FDigital%2520Program%2FSitePages%2FHome%2Easpx%3FRootFolder%3D%252Fprojects%252Fpmo2%252FDigital%2520Program%252FDigital%2520Program%2520SharePoint%252F3%2520Digital%2520Online%2520Banking%252F5%2520Fraud%252FRequirements%252D%2520FSIS%26FolderCTID%3D0x0120000EE3FC2186448C45940CA2A92BDE78D3%26View%3D%7B1F9A4661%2DF399%2D4CC3%2D891A%2D167602AE1583%7D&amp;DefaultItemOpen=1&amp;DefaultItemOpen=1" TargetMode="External"/><Relationship Id="rId5" Type="http://schemas.openxmlformats.org/officeDocument/2006/relationships/hyperlink" Target="https://sp.cwb.local/projects/pmo2/Digital%20Program/Digital%20Program%20SharePoint/3%20Digital%20Online%20Banking/1%20R1_Small_Business_and_Personal/7%20Fraud/2%20Planning/Requirements/Current%20State%20Process%20Maps/Fraud%20Business%20Process%20for%20Digital%20MVP%20-%20Bill%20Payments.pdf" TargetMode="External"/><Relationship Id="rId4" Type="http://schemas.openxmlformats.org/officeDocument/2006/relationships/hyperlink" Target="https://sp.cwb.local/projects/pmo2/Digital%20Program/Digital%20Program%20SharePoint/3%20Digital%20Online%20Banking/1%20R1_Small_Business_and_Personal/7%20Fraud/2%20Planning/Requirements/Current%20State%20Process%20Maps/Fraud%20Business%20Process%20for%20Digital%20MVP%20-%20Incoming%20e-Transfers.pdf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  <a:latin typeface="+mn-lt"/>
              </a:rPr>
              <a:t>Digital Fraud for MVP</a:t>
            </a:r>
            <a:endParaRPr lang="en-CA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2705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chemeClr val="bg1"/>
                </a:solidFill>
              </a:rPr>
              <a:t>What we know</a:t>
            </a:r>
            <a:endParaRPr lang="en-CA" sz="3200" dirty="0">
              <a:solidFill>
                <a:schemeClr val="bg1"/>
              </a:solidFill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524000" y="4273295"/>
            <a:ext cx="6362700" cy="398089"/>
          </a:xfrm>
          <a:prstGeom prst="rect">
            <a:avLst/>
          </a:prstGeom>
        </p:spPr>
        <p:txBody>
          <a:bodyPr/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smtClean="0"/>
              <a:t>16</a:t>
            </a:r>
            <a:r>
              <a:rPr lang="en-US" sz="1600" baseline="30000" dirty="0" smtClean="0"/>
              <a:t>th</a:t>
            </a:r>
            <a:r>
              <a:rPr lang="en-US" sz="1600" dirty="0" smtClean="0"/>
              <a:t> Feb 2021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139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C1’s Roles in CWB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wrap="square" numCol="1"/>
          <a:lstStyle/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Member Direct for the internet banking</a:t>
            </a:r>
          </a:p>
          <a:p>
            <a:pPr marL="1066785" lvl="1" indent="-457200">
              <a:buFont typeface="+mj-lt"/>
              <a:buAutoNum type="arabicPeriod"/>
            </a:pPr>
            <a:r>
              <a:rPr lang="en-US" sz="1800" dirty="0" smtClean="0"/>
              <a:t>User authentication</a:t>
            </a:r>
          </a:p>
          <a:p>
            <a:pPr marL="1066785" lvl="1" indent="-457200">
              <a:buFont typeface="+mj-lt"/>
              <a:buAutoNum type="arabicPeriod"/>
            </a:pPr>
            <a:r>
              <a:rPr lang="en-US" sz="1800" dirty="0"/>
              <a:t>RSA risk scoring</a:t>
            </a:r>
          </a:p>
          <a:p>
            <a:pPr marL="1066785" lvl="1" indent="-457200">
              <a:buFont typeface="+mj-lt"/>
              <a:buAutoNum type="arabicPeriod"/>
            </a:pPr>
            <a:r>
              <a:rPr lang="en-US" sz="1800" dirty="0" smtClean="0"/>
              <a:t>Integration with T24 and other CWB systems</a:t>
            </a:r>
          </a:p>
          <a:p>
            <a:pPr marL="609585" lvl="1" indent="0">
              <a:buNone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Payment Gateway (Direct Clearer for </a:t>
            </a:r>
            <a:r>
              <a:rPr lang="en-US" sz="1800" dirty="0" err="1" smtClean="0"/>
              <a:t>Interac</a:t>
            </a:r>
            <a:r>
              <a:rPr lang="en-US" sz="1800" dirty="0" smtClean="0"/>
              <a:t> and Bill Payments)</a:t>
            </a:r>
          </a:p>
          <a:p>
            <a:pPr lvl="1"/>
            <a:r>
              <a:rPr lang="en-US" sz="1800" dirty="0" smtClean="0"/>
              <a:t>Transaction processing </a:t>
            </a:r>
          </a:p>
          <a:p>
            <a:pPr lvl="1"/>
            <a:r>
              <a:rPr lang="en-US" sz="1800" dirty="0" smtClean="0"/>
              <a:t>Reconciliation of payments and transfers</a:t>
            </a:r>
          </a:p>
          <a:p>
            <a:pPr lvl="1"/>
            <a:r>
              <a:rPr lang="en-US" sz="1800" dirty="0" smtClean="0"/>
              <a:t>Dispute resolutions and reversals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FAS for Fraud management</a:t>
            </a:r>
          </a:p>
          <a:p>
            <a:pPr lvl="1"/>
            <a:r>
              <a:rPr lang="en-US" sz="1800" dirty="0" smtClean="0"/>
              <a:t>Fraud alert and case management</a:t>
            </a:r>
            <a:endParaRPr lang="en-US" sz="1800" dirty="0"/>
          </a:p>
          <a:p>
            <a:endParaRPr lang="en-CA" sz="1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Multi-layered </a:t>
            </a:r>
            <a:r>
              <a:rPr lang="en-US" dirty="0" smtClean="0"/>
              <a:t>responsibilities for Cybersecurity </a:t>
            </a:r>
            <a:r>
              <a:rPr lang="en-US" dirty="0" smtClean="0"/>
              <a:t>and Fraud </a:t>
            </a:r>
            <a:r>
              <a:rPr lang="en-US" dirty="0" smtClean="0"/>
              <a:t>Operations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0248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C1 Member Direct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numCol="1"/>
          <a:lstStyle/>
          <a:p>
            <a:r>
              <a:rPr lang="en-US" dirty="0" smtClean="0"/>
              <a:t>C1 Member Direct do have a number of other features for fraud identification </a:t>
            </a:r>
          </a:p>
          <a:p>
            <a:pPr lvl="1"/>
            <a:r>
              <a:rPr lang="en-US" dirty="0"/>
              <a:t>PAC Blocker – locks an account after 3 invalid login attempts</a:t>
            </a:r>
          </a:p>
          <a:p>
            <a:pPr lvl="1"/>
            <a:r>
              <a:rPr lang="en-US" dirty="0"/>
              <a:t>Umpire – blocks a PAC if it is being used for brute for </a:t>
            </a:r>
            <a:r>
              <a:rPr lang="en-US" dirty="0" smtClean="0"/>
              <a:t>attacks</a:t>
            </a:r>
          </a:p>
          <a:p>
            <a:pPr lvl="1"/>
            <a:r>
              <a:rPr lang="en-US" dirty="0" smtClean="0"/>
              <a:t>Extended PAC – allows for alphanumeric passwords up to 30 characters long</a:t>
            </a:r>
          </a:p>
          <a:p>
            <a:pPr lvl="1"/>
            <a:r>
              <a:rPr lang="en-US" dirty="0" smtClean="0"/>
              <a:t>Mobile Alerts – used to SMS/Email alerts to clients on different triggers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RSA Increased Authentication – </a:t>
            </a:r>
            <a:r>
              <a:rPr lang="en-US" dirty="0" smtClean="0"/>
              <a:t>Supports risk scoring user activities such as login, payments and transfers. C1 do not monitor the cases/scores it generates</a:t>
            </a:r>
          </a:p>
          <a:p>
            <a:r>
              <a:rPr lang="en-US" dirty="0" smtClean="0"/>
              <a:t>Provide </a:t>
            </a:r>
            <a:r>
              <a:rPr lang="en-US" dirty="0"/>
              <a:t>summary and detailed reports about the number and types of transactions processed</a:t>
            </a:r>
          </a:p>
          <a:p>
            <a:pPr marL="609585" lvl="1" indent="0">
              <a:buNone/>
            </a:pPr>
            <a:endParaRPr lang="en-US" dirty="0"/>
          </a:p>
          <a:p>
            <a:pPr marL="76199" indent="0">
              <a:buNone/>
            </a:pPr>
            <a:r>
              <a:rPr lang="en-US" b="1" u="sng" dirty="0" smtClean="0"/>
              <a:t>ACTION:</a:t>
            </a:r>
            <a:endParaRPr lang="en-US" b="1" u="sng" dirty="0"/>
          </a:p>
          <a:p>
            <a:r>
              <a:rPr lang="en-US" dirty="0" smtClean="0"/>
              <a:t>We have to find solutions for these within Infinity (not </a:t>
            </a:r>
            <a:r>
              <a:rPr lang="en-US" dirty="0" err="1" smtClean="0"/>
              <a:t>Navaera</a:t>
            </a:r>
            <a:r>
              <a:rPr lang="en-US" dirty="0" smtClean="0"/>
              <a:t>) as they are tightly coupled with online banking</a:t>
            </a:r>
            <a:endParaRPr lang="en-US" dirty="0"/>
          </a:p>
          <a:p>
            <a:pPr marL="609585" lvl="1" indent="0">
              <a:buNone/>
            </a:pP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Role in Cybersecurity and Fraud Operations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228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C1 Direct Clearer/Payment Gateway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numCol="1"/>
          <a:lstStyle/>
          <a:p>
            <a:r>
              <a:rPr lang="en-US" dirty="0"/>
              <a:t>D</a:t>
            </a:r>
            <a:r>
              <a:rPr lang="en-US" dirty="0" smtClean="0"/>
              <a:t>uring the investigation of issues</a:t>
            </a:r>
          </a:p>
          <a:p>
            <a:pPr lvl="1"/>
            <a:r>
              <a:rPr lang="en-US" dirty="0"/>
              <a:t>We rely on their services to connect us with other </a:t>
            </a:r>
            <a:r>
              <a:rPr lang="en-US" dirty="0" smtClean="0"/>
              <a:t>FIs</a:t>
            </a:r>
            <a:endParaRPr lang="en-US" dirty="0" smtClean="0"/>
          </a:p>
          <a:p>
            <a:pPr lvl="1"/>
            <a:r>
              <a:rPr lang="en-US" strike="sngStrike" dirty="0" smtClean="0"/>
              <a:t>To help recover funds from other </a:t>
            </a:r>
            <a:r>
              <a:rPr lang="en-US" strike="sngStrike" dirty="0" smtClean="0"/>
              <a:t>FIs</a:t>
            </a:r>
            <a:endParaRPr lang="en-US" strike="sngStrike" dirty="0" smtClean="0"/>
          </a:p>
          <a:p>
            <a:r>
              <a:rPr lang="en-US" dirty="0" smtClean="0"/>
              <a:t>Provide summary and detailed reports about the number and types of transactions processed</a:t>
            </a:r>
          </a:p>
          <a:p>
            <a:pPr marL="76199" indent="0">
              <a:buNone/>
            </a:pPr>
            <a:endParaRPr lang="en-US" b="1" u="sng" dirty="0" smtClean="0"/>
          </a:p>
          <a:p>
            <a:pPr marL="76199" indent="0">
              <a:buNone/>
            </a:pPr>
            <a:r>
              <a:rPr lang="en-US" b="1" u="sng" dirty="0" smtClean="0"/>
              <a:t>ACTION:</a:t>
            </a:r>
            <a:endParaRPr lang="en-US" dirty="0"/>
          </a:p>
          <a:p>
            <a:r>
              <a:rPr lang="en-US" dirty="0" smtClean="0"/>
              <a:t>We will continue to use this system as it is so no change required here or in our business processes.</a:t>
            </a:r>
            <a:endParaRPr lang="en-US" dirty="0"/>
          </a:p>
          <a:p>
            <a:pPr marL="609585" lvl="1" indent="0">
              <a:buNone/>
            </a:pP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Role in Fraud Operations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207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C1 FAS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numCol="1"/>
          <a:lstStyle/>
          <a:p>
            <a:r>
              <a:rPr lang="en-US" dirty="0" smtClean="0"/>
              <a:t>Do not do any fraud analysis of its own</a:t>
            </a:r>
          </a:p>
          <a:p>
            <a:r>
              <a:rPr lang="en-US" dirty="0" smtClean="0"/>
              <a:t>C1 </a:t>
            </a:r>
            <a:r>
              <a:rPr lang="en-US" dirty="0"/>
              <a:t>FAS generates alerts for </a:t>
            </a:r>
            <a:r>
              <a:rPr lang="en-US" dirty="0" smtClean="0"/>
              <a:t>us</a:t>
            </a:r>
          </a:p>
          <a:p>
            <a:r>
              <a:rPr lang="en-US" dirty="0" smtClean="0"/>
              <a:t>Provides information about the alert and workflow functionality to keep track of all the cases</a:t>
            </a:r>
            <a:endParaRPr lang="en-US" dirty="0"/>
          </a:p>
          <a:p>
            <a:pPr marL="76199" indent="0">
              <a:buNone/>
            </a:pPr>
            <a:endParaRPr lang="en-US" b="1" u="sng" dirty="0" smtClean="0"/>
          </a:p>
          <a:p>
            <a:pPr marL="76199" indent="0">
              <a:buNone/>
            </a:pPr>
            <a:r>
              <a:rPr lang="en-US" b="1" u="sng" dirty="0" smtClean="0"/>
              <a:t>ACTION:</a:t>
            </a:r>
            <a:endParaRPr lang="en-US" dirty="0"/>
          </a:p>
          <a:p>
            <a:r>
              <a:rPr lang="en-US" dirty="0" smtClean="0"/>
              <a:t>These are the responsibilities that have to be fulfilled by </a:t>
            </a:r>
            <a:r>
              <a:rPr lang="en-US" dirty="0" err="1" smtClean="0"/>
              <a:t>Navaera</a:t>
            </a:r>
            <a:r>
              <a:rPr lang="en-US" dirty="0" smtClean="0"/>
              <a:t> either Like-for-Like or better.</a:t>
            </a:r>
            <a:endParaRPr lang="en-US" dirty="0"/>
          </a:p>
          <a:p>
            <a:pPr marL="609585" lvl="1" indent="0">
              <a:buNone/>
            </a:pP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Role in Fraud Operations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487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Future State for CWB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60137" y="4858100"/>
            <a:ext cx="11040535" cy="2210078"/>
          </a:xfrm>
        </p:spPr>
        <p:txBody>
          <a:bodyPr numCol="1"/>
          <a:lstStyle/>
          <a:p>
            <a:r>
              <a:rPr lang="en-US" sz="1800" dirty="0"/>
              <a:t>R</a:t>
            </a:r>
            <a:r>
              <a:rPr lang="en-US" sz="1800" dirty="0" smtClean="0"/>
              <a:t>eplace C1 Member </a:t>
            </a:r>
            <a:r>
              <a:rPr lang="en-US" sz="1800" dirty="0" err="1" smtClean="0"/>
              <a:t>Direct’s</a:t>
            </a:r>
            <a:r>
              <a:rPr lang="en-US" sz="1800" dirty="0" smtClean="0"/>
              <a:t> Cybersecurity capabilities with Like-for-Like or better capabilities in Infinity</a:t>
            </a:r>
          </a:p>
          <a:p>
            <a:r>
              <a:rPr lang="en-US" sz="1800" dirty="0" smtClean="0"/>
              <a:t>C1 will continue to be CWB’s Direct </a:t>
            </a:r>
            <a:r>
              <a:rPr lang="en-US" sz="1800" dirty="0"/>
              <a:t>C</a:t>
            </a:r>
            <a:r>
              <a:rPr lang="en-US" sz="1800" dirty="0" smtClean="0"/>
              <a:t>learer for </a:t>
            </a:r>
            <a:r>
              <a:rPr lang="en-US" sz="1800" dirty="0" err="1" smtClean="0"/>
              <a:t>Interac</a:t>
            </a:r>
            <a:r>
              <a:rPr lang="en-US" sz="1800" dirty="0" smtClean="0"/>
              <a:t> and Bill Payment transactions</a:t>
            </a:r>
          </a:p>
          <a:p>
            <a:r>
              <a:rPr lang="en-US" sz="1800" dirty="0" smtClean="0"/>
              <a:t>We may decide to replace FAS with </a:t>
            </a:r>
            <a:r>
              <a:rPr lang="en-US" sz="1800" dirty="0" err="1" smtClean="0"/>
              <a:t>Navaera</a:t>
            </a:r>
            <a:r>
              <a:rPr lang="en-US" sz="1800" dirty="0" smtClean="0"/>
              <a:t> Like-for-Like or better</a:t>
            </a:r>
            <a:endParaRPr lang="en-US" sz="1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Cybersecurity and Fraud Operations</a:t>
            </a:r>
            <a:endParaRPr lang="en-C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094" y="1861180"/>
            <a:ext cx="5431553" cy="282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Fraud </a:t>
            </a:r>
            <a:r>
              <a:rPr lang="en-US" dirty="0" smtClean="0"/>
              <a:t>Coverage Today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Like-for-Like Replacement or No Replacement of FAS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790975"/>
              </p:ext>
            </p:extLst>
          </p:nvPr>
        </p:nvGraphicFramePr>
        <p:xfrm>
          <a:off x="443177" y="2305635"/>
          <a:ext cx="10910623" cy="2672198"/>
        </p:xfrm>
        <a:graphic>
          <a:graphicData uri="http://schemas.openxmlformats.org/drawingml/2006/table">
            <a:tbl>
              <a:tblPr/>
              <a:tblGrid>
                <a:gridCol w="667196">
                  <a:extLst>
                    <a:ext uri="{9D8B030D-6E8A-4147-A177-3AD203B41FA5}">
                      <a16:colId xmlns:a16="http://schemas.microsoft.com/office/drawing/2014/main" val="30371539"/>
                    </a:ext>
                  </a:extLst>
                </a:gridCol>
                <a:gridCol w="1896931">
                  <a:extLst>
                    <a:ext uri="{9D8B030D-6E8A-4147-A177-3AD203B41FA5}">
                      <a16:colId xmlns:a16="http://schemas.microsoft.com/office/drawing/2014/main" val="3356214817"/>
                    </a:ext>
                  </a:extLst>
                </a:gridCol>
                <a:gridCol w="667196">
                  <a:extLst>
                    <a:ext uri="{9D8B030D-6E8A-4147-A177-3AD203B41FA5}">
                      <a16:colId xmlns:a16="http://schemas.microsoft.com/office/drawing/2014/main" val="2096162519"/>
                    </a:ext>
                  </a:extLst>
                </a:gridCol>
                <a:gridCol w="3165913">
                  <a:extLst>
                    <a:ext uri="{9D8B030D-6E8A-4147-A177-3AD203B41FA5}">
                      <a16:colId xmlns:a16="http://schemas.microsoft.com/office/drawing/2014/main" val="544892023"/>
                    </a:ext>
                  </a:extLst>
                </a:gridCol>
                <a:gridCol w="667196">
                  <a:extLst>
                    <a:ext uri="{9D8B030D-6E8A-4147-A177-3AD203B41FA5}">
                      <a16:colId xmlns:a16="http://schemas.microsoft.com/office/drawing/2014/main" val="1315080258"/>
                    </a:ext>
                  </a:extLst>
                </a:gridCol>
                <a:gridCol w="3846191">
                  <a:extLst>
                    <a:ext uri="{9D8B030D-6E8A-4147-A177-3AD203B41FA5}">
                      <a16:colId xmlns:a16="http://schemas.microsoft.com/office/drawing/2014/main" val="2853325249"/>
                    </a:ext>
                  </a:extLst>
                </a:gridCol>
              </a:tblGrid>
              <a:tr h="459742">
                <a:tc>
                  <a:txBody>
                    <a:bodyPr/>
                    <a:lstStyle/>
                    <a:p>
                      <a:pPr algn="r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S.No.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Transaction/Service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CURRENT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Additional Details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FUTURE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Additional Details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35913"/>
                  </a:ext>
                </a:extLst>
              </a:tr>
              <a:tr h="491657">
                <a:tc>
                  <a:txBody>
                    <a:bodyPr/>
                    <a:lstStyle/>
                    <a:p>
                      <a:pPr algn="r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Interac e-transfers outgoing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Done in real time by Interac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We should do our own risk scoring as well – as we rely only on interac today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208358"/>
                  </a:ext>
                </a:extLst>
              </a:tr>
              <a:tr h="491657">
                <a:tc>
                  <a:txBody>
                    <a:bodyPr/>
                    <a:lstStyle/>
                    <a:p>
                      <a:pPr algn="r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Interac e-transfers incoming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Done in real time by Interac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We should do our own risk scoring as well – as we rely only on interac today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003888"/>
                  </a:ext>
                </a:extLst>
              </a:tr>
              <a:tr h="491657">
                <a:tc>
                  <a:txBody>
                    <a:bodyPr/>
                    <a:lstStyle/>
                    <a:p>
                      <a:pPr algn="r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3.a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Bill payments – Case management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Cases are identified manually through EDW reports and FAS is only being used to log them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Same functionality will be provisioned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356494"/>
                  </a:ext>
                </a:extLst>
              </a:tr>
              <a:tr h="737485">
                <a:tc>
                  <a:txBody>
                    <a:bodyPr/>
                    <a:lstStyle/>
                    <a:p>
                      <a:pPr algn="r" fontAlgn="ctr"/>
                      <a:r>
                        <a:rPr lang="en-CA" sz="1000" b="1" i="1" u="none" strike="noStrike">
                          <a:solidFill>
                            <a:srgbClr val="1F4E79"/>
                          </a:solidFill>
                          <a:effectLst/>
                          <a:latin typeface="Calibri" panose="020F0502020204030204" pitchFamily="34" charset="0"/>
                        </a:rPr>
                        <a:t>3.b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Bill payments – fraud analysis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Will continue to do manual analysis and use the new system for case/alert management – out of scope for fraud analysis by </a:t>
                      </a:r>
                      <a:r>
                        <a:rPr lang="en-US" sz="1100" b="0" i="0" u="none" strike="noStrike" dirty="0" err="1">
                          <a:solidFill>
                            <a:srgbClr val="9C6500"/>
                          </a:solidFill>
                          <a:effectLst/>
                          <a:latin typeface="Calibri" panose="020F0502020204030204" pitchFamily="34" charset="0"/>
                        </a:rPr>
                        <a:t>Navaera</a:t>
                      </a:r>
                      <a:endParaRPr lang="en-US" sz="1100" b="0" i="0" u="none" strike="noStrike" dirty="0">
                        <a:solidFill>
                          <a:srgbClr val="9C65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428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56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Business Process Today</a:t>
            </a:r>
            <a:endParaRPr lang="en-CA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Outgoing e-Transfers</a:t>
            </a:r>
            <a:endParaRPr lang="en-CA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 smtClean="0"/>
              <a:t>Interac</a:t>
            </a:r>
            <a:r>
              <a:rPr lang="en-US" dirty="0" smtClean="0"/>
              <a:t> analyzes the fraud for us</a:t>
            </a:r>
          </a:p>
          <a:p>
            <a:r>
              <a:rPr lang="en-US" dirty="0" err="1" smtClean="0"/>
              <a:t>Interac</a:t>
            </a:r>
            <a:r>
              <a:rPr lang="en-US" dirty="0" smtClean="0"/>
              <a:t> may or may not block transactions in real time</a:t>
            </a:r>
          </a:p>
          <a:p>
            <a:r>
              <a:rPr lang="en-US" dirty="0" smtClean="0"/>
              <a:t>C1 FAS generates alerts for us</a:t>
            </a:r>
          </a:p>
          <a:p>
            <a:r>
              <a:rPr lang="en-US" dirty="0" smtClean="0"/>
              <a:t>FSIS perform their own investigation(all manual)</a:t>
            </a:r>
          </a:p>
          <a:p>
            <a:r>
              <a:rPr lang="en-US" dirty="0" smtClean="0"/>
              <a:t>FSIS uses C1’s clearing operations for connecting with other FIs for investigation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870" y="314149"/>
            <a:ext cx="6015724" cy="605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7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Business Process Today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Incoming e-Transfers</a:t>
            </a:r>
            <a:endParaRPr lang="en-C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170" y="299868"/>
            <a:ext cx="6856862" cy="5930504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605" y="2326641"/>
            <a:ext cx="4954321" cy="3226433"/>
          </a:xfrm>
        </p:spPr>
        <p:txBody>
          <a:bodyPr numCol="1"/>
          <a:lstStyle/>
          <a:p>
            <a:r>
              <a:rPr lang="en-US" dirty="0" err="1" smtClean="0"/>
              <a:t>Interac</a:t>
            </a:r>
            <a:r>
              <a:rPr lang="en-US" dirty="0" smtClean="0"/>
              <a:t> analyzes the fraud for us</a:t>
            </a:r>
          </a:p>
          <a:p>
            <a:r>
              <a:rPr lang="en-US" dirty="0" err="1" smtClean="0"/>
              <a:t>Interac</a:t>
            </a:r>
            <a:r>
              <a:rPr lang="en-US" dirty="0" smtClean="0"/>
              <a:t> may or may not block transactions in real time</a:t>
            </a:r>
          </a:p>
          <a:p>
            <a:r>
              <a:rPr lang="en-US" dirty="0" smtClean="0"/>
              <a:t>C1 FAS generates alerts for us</a:t>
            </a:r>
          </a:p>
          <a:p>
            <a:r>
              <a:rPr lang="en-US" dirty="0" smtClean="0"/>
              <a:t>FSIS perform their own investigation(all manual)</a:t>
            </a:r>
          </a:p>
          <a:p>
            <a:r>
              <a:rPr lang="en-US" dirty="0" smtClean="0"/>
              <a:t>FSIS uses C1’s clearing operations for connecting with other FIs for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201523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Business Process Today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Bill Payments</a:t>
            </a:r>
            <a:endParaRPr lang="en-C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139" y="3357342"/>
            <a:ext cx="7191375" cy="2800350"/>
          </a:xfrm>
          <a:prstGeom prst="rect">
            <a:avLst/>
          </a:prstGeom>
        </p:spPr>
      </p:pic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605" y="2326641"/>
            <a:ext cx="4954321" cy="3226433"/>
          </a:xfrm>
        </p:spPr>
        <p:txBody>
          <a:bodyPr numCol="1"/>
          <a:lstStyle/>
          <a:p>
            <a:r>
              <a:rPr lang="en-US" dirty="0" smtClean="0"/>
              <a:t>No role of C1’s FAS in this </a:t>
            </a:r>
          </a:p>
          <a:p>
            <a:r>
              <a:rPr lang="en-US" dirty="0" smtClean="0"/>
              <a:t>RSA risk score do get generated for these transactions but is not being used by FSIS team today to investigate </a:t>
            </a:r>
          </a:p>
        </p:txBody>
      </p:sp>
    </p:spTree>
    <p:extLst>
      <p:ext uri="{BB962C8B-B14F-4D97-AF65-F5344CB8AC3E}">
        <p14:creationId xmlns:p14="http://schemas.microsoft.com/office/powerpoint/2010/main" val="212847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numCol="1"/>
          <a:lstStyle/>
          <a:p>
            <a:r>
              <a:rPr lang="en-US" dirty="0" smtClean="0"/>
              <a:t>An SDK tightly coupled with C1 Member Direct that does the following:</a:t>
            </a:r>
          </a:p>
          <a:p>
            <a:pPr lvl="1"/>
            <a:r>
              <a:rPr lang="en-US" dirty="0" smtClean="0"/>
              <a:t>Assign scores to user activities on online banking. Activities include login, e-transfers and bill payments</a:t>
            </a:r>
          </a:p>
          <a:p>
            <a:pPr lvl="1"/>
            <a:r>
              <a:rPr lang="en-US" dirty="0" smtClean="0"/>
              <a:t>Provides step-up authentication for high risk login operations only</a:t>
            </a:r>
          </a:p>
          <a:p>
            <a:pPr lvl="1"/>
            <a:r>
              <a:rPr lang="en-US" dirty="0" smtClean="0"/>
              <a:t>Assign scores to bill payments and e-transfers but never blocks transactions or pass additional data to other systems down the line</a:t>
            </a:r>
          </a:p>
          <a:p>
            <a:pPr lvl="1"/>
            <a:r>
              <a:rPr lang="en-US" dirty="0" smtClean="0"/>
              <a:t>Based on policies defined at the bank, the SDK generates alerts. In CWB those alerts are getting generated (but not used) for bill payments</a:t>
            </a:r>
          </a:p>
          <a:p>
            <a:pPr lvl="1"/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Special Mention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RSA Increased Authentication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876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numCol="1"/>
          <a:lstStyle/>
          <a:p>
            <a:r>
              <a:rPr lang="en-US" dirty="0" smtClean="0"/>
              <a:t>C1 Member direct does capture device information and share it with RSA SDK for its analysis</a:t>
            </a:r>
          </a:p>
          <a:p>
            <a:endParaRPr lang="en-US" dirty="0" smtClean="0"/>
          </a:p>
          <a:p>
            <a:r>
              <a:rPr lang="en-US" dirty="0" smtClean="0"/>
              <a:t>None of this information is passed onto FAS or </a:t>
            </a:r>
            <a:r>
              <a:rPr lang="en-US" dirty="0" err="1" smtClean="0"/>
              <a:t>Interac</a:t>
            </a:r>
            <a:r>
              <a:rPr lang="en-US" dirty="0" smtClean="0"/>
              <a:t> for aiding the fraud analysis/scoring it does</a:t>
            </a:r>
          </a:p>
          <a:p>
            <a:endParaRPr lang="en-US" dirty="0" smtClean="0"/>
          </a:p>
          <a:p>
            <a:r>
              <a:rPr lang="en-US" dirty="0" err="1" smtClean="0"/>
              <a:t>Interac</a:t>
            </a:r>
            <a:r>
              <a:rPr lang="en-US" dirty="0" smtClean="0"/>
              <a:t> do utilize data from </a:t>
            </a:r>
            <a:r>
              <a:rPr lang="en-US" dirty="0" err="1" smtClean="0"/>
              <a:t>Threatmatrix</a:t>
            </a:r>
            <a:r>
              <a:rPr lang="en-US" dirty="0" smtClean="0"/>
              <a:t> but it fetches that on its own</a:t>
            </a:r>
          </a:p>
          <a:p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Special Mention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Additional Visibility for Fraud Analysis/Scoring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74088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numCol="1"/>
          <a:lstStyle/>
          <a:p>
            <a:r>
              <a:rPr lang="en-US" dirty="0" smtClean="0">
                <a:hlinkClick r:id="rId2"/>
              </a:rPr>
              <a:t>Detailed current state of business process</a:t>
            </a:r>
            <a:endParaRPr lang="en-US" dirty="0" smtClean="0"/>
          </a:p>
          <a:p>
            <a:r>
              <a:rPr lang="en-US" dirty="0" smtClean="0"/>
              <a:t>Current state of business process for Digital MVP(</a:t>
            </a:r>
            <a:r>
              <a:rPr lang="en-US" dirty="0" smtClean="0">
                <a:hlinkClick r:id="rId3"/>
              </a:rPr>
              <a:t>Outgoing e-Transfer</a:t>
            </a:r>
            <a:r>
              <a:rPr lang="en-US" dirty="0" smtClean="0"/>
              <a:t>, </a:t>
            </a:r>
            <a:r>
              <a:rPr lang="en-US" dirty="0" smtClean="0">
                <a:hlinkClick r:id="rId4"/>
              </a:rPr>
              <a:t>Incoming e-Transfer</a:t>
            </a:r>
            <a:r>
              <a:rPr lang="en-US" dirty="0" smtClean="0"/>
              <a:t>, </a:t>
            </a:r>
            <a:r>
              <a:rPr lang="en-US" dirty="0" smtClean="0">
                <a:hlinkClick r:id="rId5"/>
              </a:rPr>
              <a:t>Bill payments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6"/>
              </a:rPr>
              <a:t>Business requirements for Digital MVP </a:t>
            </a:r>
            <a:endParaRPr lang="en-US" dirty="0" smtClean="0"/>
          </a:p>
          <a:p>
            <a:r>
              <a:rPr lang="en-US" dirty="0" smtClean="0">
                <a:hlinkClick r:id="rId7"/>
              </a:rPr>
              <a:t>Screenshots of the systems being used by CWB FSIS today</a:t>
            </a:r>
            <a:endParaRPr lang="en-US" dirty="0" smtClean="0"/>
          </a:p>
          <a:p>
            <a:r>
              <a:rPr lang="en-US" dirty="0" smtClean="0">
                <a:hlinkClick r:id="rId8"/>
              </a:rPr>
              <a:t>C1’s Cybersecurity services product sheet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62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2468894"/>
            <a:ext cx="11521280" cy="1609977"/>
          </a:xfrm>
        </p:spPr>
        <p:txBody>
          <a:bodyPr/>
          <a:lstStyle/>
          <a:p>
            <a:pPr algn="ctr"/>
            <a:r>
              <a:rPr lang="en-US" sz="10666" dirty="0"/>
              <a:t>Thank You</a:t>
            </a:r>
            <a:endParaRPr lang="en-CA" sz="10666" dirty="0"/>
          </a:p>
        </p:txBody>
      </p:sp>
    </p:spTree>
    <p:extLst>
      <p:ext uri="{BB962C8B-B14F-4D97-AF65-F5344CB8AC3E}">
        <p14:creationId xmlns:p14="http://schemas.microsoft.com/office/powerpoint/2010/main" val="79559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WB Powerpoi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 Powerpoint" id="{BD5E605E-DC50-4AD2-A743-CC5E88BA6291}" vid="{1CDF8BEA-4F44-4079-997A-6BA5969EDC21}"/>
    </a:ext>
  </a:extLst>
</a:theme>
</file>

<file path=ppt/theme/theme2.xml><?xml version="1.0" encoding="utf-8"?>
<a:theme xmlns:a="http://schemas.openxmlformats.org/drawingml/2006/main" name="1 Primary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6F595E1B-48F7-4866-8CD3-2FF272826443}"/>
    </a:ext>
  </a:extLst>
</a:theme>
</file>

<file path=ppt/theme/theme3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30561B8F-A223-4C90-AF26-CAC113BC1661}"/>
    </a:ext>
  </a:extLst>
</a:theme>
</file>

<file path=ppt/theme/theme4.xml><?xml version="1.0" encoding="utf-8"?>
<a:theme xmlns:a="http://schemas.openxmlformats.org/drawingml/2006/main" name="2 Primary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A1EC64B9-2DCC-44E8-88E6-2E2C1FD5F64D}"/>
    </a:ext>
  </a:extLst>
</a:theme>
</file>

<file path=ppt/theme/theme5.xml><?xml version="1.0" encoding="utf-8"?>
<a:theme xmlns:a="http://schemas.openxmlformats.org/drawingml/2006/main" name="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9CE1E473-DF07-47CB-8773-FAE2A69A5346}"/>
    </a:ext>
  </a:extLst>
</a:theme>
</file>

<file path=ppt/theme/theme6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835D080A-3A1C-4C94-B807-05181462BCF2}"/>
    </a:ext>
  </a:extLst>
</a:theme>
</file>

<file path=ppt/theme/theme7.xml><?xml version="1.0" encoding="utf-8"?>
<a:theme xmlns:a="http://schemas.openxmlformats.org/drawingml/2006/main" name="3 Nav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D7D753B9-3033-4AE9-977A-3630F1EEA671}"/>
    </a:ext>
  </a:extLst>
</a:theme>
</file>

<file path=ppt/theme/theme8.xml><?xml version="1.0" encoding="utf-8"?>
<a:theme xmlns:a="http://schemas.openxmlformats.org/drawingml/2006/main" name="3 Nav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45E4F62F-B122-4274-AA1B-3B94A3A42C46}"/>
    </a:ext>
  </a:extLst>
</a:theme>
</file>

<file path=ppt/theme/theme9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B998A1DF-8287-4BA4-A893-BA211001F5EF}"/>
    </a:ext>
  </a:extLst>
</a:theme>
</file>

<file path=ppt/theme/theme10.xml><?xml version="1.0" encoding="utf-8"?>
<a:theme xmlns:a="http://schemas.openxmlformats.org/drawingml/2006/main" name="4 Light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E65D8729-05C8-479E-8AF6-9BDB5B865786}"/>
    </a:ext>
  </a:extLst>
</a:theme>
</file>

<file path=ppt/theme/theme11.xml><?xml version="1.0" encoding="utf-8"?>
<a:theme xmlns:a="http://schemas.openxmlformats.org/drawingml/2006/main" name="4 Light Teal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F511EBDF-FDE9-4C2B-A29C-BCBA3A7F7DF4}"/>
    </a:ext>
  </a:extLst>
</a:theme>
</file>

<file path=ppt/theme/theme12.xml><?xml version="1.0" encoding="utf-8"?>
<a:theme xmlns:a="http://schemas.openxmlformats.org/drawingml/2006/main" name="4 Light Teal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21F07EE1-9923-4B74-8B9F-DFBDAF8BAFD3}"/>
    </a:ext>
  </a:extLst>
</a:theme>
</file>

<file path=ppt/theme/theme13.xml><?xml version="1.0" encoding="utf-8"?>
<a:theme xmlns:a="http://schemas.openxmlformats.org/drawingml/2006/main" name="6 Dark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E5A06807-39A0-4E57-89E0-9DBC6D67A921}"/>
    </a:ext>
  </a:extLst>
</a:theme>
</file>

<file path=ppt/theme/theme14.xml><?xml version="1.0" encoding="utf-8"?>
<a:theme xmlns:a="http://schemas.openxmlformats.org/drawingml/2006/main" name="6 Dark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54647542-15F9-4F78-83A8-29E066D45CB4}"/>
    </a:ext>
  </a:extLst>
</a:theme>
</file>

<file path=ppt/theme/theme15.xml><?xml version="1.0" encoding="utf-8"?>
<a:theme xmlns:a="http://schemas.openxmlformats.org/drawingml/2006/main" name="6 Dark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719C9F3D-ED5E-4AF4-B0AF-C95002611559}"/>
    </a:ext>
  </a:extLst>
</a:theme>
</file>

<file path=ppt/theme/theme16.xml><?xml version="1.0" encoding="utf-8"?>
<a:theme xmlns:a="http://schemas.openxmlformats.org/drawingml/2006/main" name="7 Orange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0560C50E-6632-4FE7-9D78-599FAA257B74}"/>
    </a:ext>
  </a:extLst>
</a:theme>
</file>

<file path=ppt/theme/theme17.xml><?xml version="1.0" encoding="utf-8"?>
<a:theme xmlns:a="http://schemas.openxmlformats.org/drawingml/2006/main" name="7 Orange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89CEFB3A-4A5C-4B1D-91EB-D62E9BFAA955}"/>
    </a:ext>
  </a:extLst>
</a:theme>
</file>

<file path=ppt/theme/theme18.xml><?xml version="1.0" encoding="utf-8"?>
<a:theme xmlns:a="http://schemas.openxmlformats.org/drawingml/2006/main" name="7 Orange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C11D73AD-5315-4486-94D2-E64FA5E1DB9A}"/>
    </a:ext>
  </a:extLst>
</a:theme>
</file>

<file path=ppt/theme/theme19.xml><?xml version="1.0" encoding="utf-8"?>
<a:theme xmlns:a="http://schemas.openxmlformats.org/drawingml/2006/main" name="8 Gre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BFEFCC51-2D2A-469B-89F5-0C692C1A4DC2}"/>
    </a:ext>
  </a:extLst>
</a:theme>
</file>

<file path=ppt/theme/theme20.xml><?xml version="1.0" encoding="utf-8"?>
<a:theme xmlns:a="http://schemas.openxmlformats.org/drawingml/2006/main" name="8 Gre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148D378B-638E-400B-947E-5A5843F4BDC0}"/>
    </a:ext>
  </a:extLst>
</a:theme>
</file>

<file path=ppt/theme/theme21.xml><?xml version="1.0" encoding="utf-8"?>
<a:theme xmlns:a="http://schemas.openxmlformats.org/drawingml/2006/main" name="8 Gre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B11517A5-955C-407B-946D-F82AE420A6A6}"/>
    </a:ext>
  </a:extLst>
</a:theme>
</file>

<file path=ppt/theme/theme22.xml><?xml version="1.0" encoding="utf-8"?>
<a:theme xmlns:a="http://schemas.openxmlformats.org/drawingml/2006/main" name="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50B547C6-07E2-4AC4-BD59-A67AAD8A2944}"/>
    </a:ext>
  </a:extLst>
</a:theme>
</file>

<file path=ppt/theme/theme23.xml><?xml version="1.0" encoding="utf-8"?>
<a:theme xmlns:a="http://schemas.openxmlformats.org/drawingml/2006/main" name="1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23F58467-4976-428F-B5D9-3C9112269D62}"/>
    </a:ext>
  </a:extLst>
</a:theme>
</file>

<file path=ppt/theme/theme24.xml><?xml version="1.0" encoding="utf-8"?>
<a:theme xmlns:a="http://schemas.openxmlformats.org/drawingml/2006/main" name="2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79267145-6C3F-45DC-9F13-5264C553C788}"/>
    </a:ext>
  </a:extLst>
</a:theme>
</file>

<file path=ppt/theme/theme25.xml><?xml version="1.0" encoding="utf-8"?>
<a:theme xmlns:a="http://schemas.openxmlformats.org/drawingml/2006/main" name="Quote - Teal Lad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F9EC8069-171E-4ADE-B526-D208324FBB58}"/>
    </a:ext>
  </a:extLst>
</a:theme>
</file>

<file path=ppt/theme/theme26.xml><?xml version="1.0" encoding="utf-8"?>
<a:theme xmlns:a="http://schemas.openxmlformats.org/drawingml/2006/main" name="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6120AEB7-75A6-4DFE-886D-C65605ABADA7}"/>
    </a:ext>
  </a:extLst>
</a:theme>
</file>

<file path=ppt/theme/theme27.xml><?xml version="1.0" encoding="utf-8"?>
<a:theme xmlns:a="http://schemas.openxmlformats.org/drawingml/2006/main" name="1_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1E2EC6B8-1999-467C-BD83-E30657CD27A6}"/>
    </a:ext>
  </a:extLst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22698AF9-7B1C-44BB-BCB6-00888CB74AE8}"/>
</file>

<file path=customXml/itemProps2.xml><?xml version="1.0" encoding="utf-8"?>
<ds:datastoreItem xmlns:ds="http://schemas.openxmlformats.org/officeDocument/2006/customXml" ds:itemID="{0F7C4F37-3C3C-4221-8D99-04355B92AB03}"/>
</file>

<file path=customXml/itemProps3.xml><?xml version="1.0" encoding="utf-8"?>
<ds:datastoreItem xmlns:ds="http://schemas.openxmlformats.org/officeDocument/2006/customXml" ds:itemID="{60D2D59F-83B7-44D0-AE47-A3B32A41F793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 Powerpoint</Template>
  <TotalTime>7507</TotalTime>
  <Words>835</Words>
  <Application>Microsoft Office PowerPoint</Application>
  <PresentationFormat>Widescreen</PresentationFormat>
  <Paragraphs>124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27</vt:i4>
      </vt:variant>
      <vt:variant>
        <vt:lpstr>Slide Titles</vt:lpstr>
      </vt:variant>
      <vt:variant>
        <vt:i4>14</vt:i4>
      </vt:variant>
    </vt:vector>
  </HeadingPairs>
  <TitlesOfParts>
    <vt:vector size="45" baseType="lpstr">
      <vt:lpstr>Arial</vt:lpstr>
      <vt:lpstr>Calibri</vt:lpstr>
      <vt:lpstr>Calibri Light</vt:lpstr>
      <vt:lpstr>Wingdings</vt:lpstr>
      <vt:lpstr>CWB Powerpoint</vt:lpstr>
      <vt:lpstr>1 Primary Gold - Section Title</vt:lpstr>
      <vt:lpstr>1 Primary Gold - Section Content</vt:lpstr>
      <vt:lpstr>2 Primary Teal - Section Title</vt:lpstr>
      <vt:lpstr>2 Primary Gold - Section Content</vt:lpstr>
      <vt:lpstr>2 Primary Gold - Content</vt:lpstr>
      <vt:lpstr>3 Navy - Section Title</vt:lpstr>
      <vt:lpstr>3 Navy - Section Content</vt:lpstr>
      <vt:lpstr>3 Navy - Content</vt:lpstr>
      <vt:lpstr>4 Light Teal - Section Title</vt:lpstr>
      <vt:lpstr>4 Light Teal - Section Content</vt:lpstr>
      <vt:lpstr>4 Light Teal - Content</vt:lpstr>
      <vt:lpstr>6 Dark Gold - Section Title</vt:lpstr>
      <vt:lpstr>6 Dark Gold - Section Content</vt:lpstr>
      <vt:lpstr>6 Dark Gold - Content</vt:lpstr>
      <vt:lpstr>7 Orange - Section Title</vt:lpstr>
      <vt:lpstr>7 Orange - Section Content</vt:lpstr>
      <vt:lpstr>7 Orange - Content</vt:lpstr>
      <vt:lpstr>8 Grey - Section Title</vt:lpstr>
      <vt:lpstr>8 Grey - Section Content</vt:lpstr>
      <vt:lpstr>8 Grey - Content</vt:lpstr>
      <vt:lpstr>Section Title - Photo</vt:lpstr>
      <vt:lpstr>1_Section Title - Photo</vt:lpstr>
      <vt:lpstr>2_Section Title - Photo</vt:lpstr>
      <vt:lpstr>Quote - Teal Ladder</vt:lpstr>
      <vt:lpstr>Quote - Navy Path</vt:lpstr>
      <vt:lpstr>1_Quote - Navy Path</vt:lpstr>
      <vt:lpstr>Digital Fraud for MVP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Fraud</dc:title>
  <dc:creator>Faizan Ahmed</dc:creator>
  <cp:lastModifiedBy>Faizan Ahmed</cp:lastModifiedBy>
  <cp:revision>19</cp:revision>
  <dcterms:created xsi:type="dcterms:W3CDTF">2021-02-12T21:18:03Z</dcterms:created>
  <dcterms:modified xsi:type="dcterms:W3CDTF">2021-02-18T17:03:54Z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562300</vt:r8>
  </property>
  <property fmtid="{D5CDD505-2E9C-101B-9397-08002B2CF9AE}" pid="4" name="URL">
    <vt:lpwstr/>
  </property>
</Properties>
</file>