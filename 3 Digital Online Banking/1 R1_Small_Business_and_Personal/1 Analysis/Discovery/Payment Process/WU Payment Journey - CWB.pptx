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0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06" autoAdjust="0"/>
    <p:restoredTop sz="94660"/>
  </p:normalViewPr>
  <p:slideViewPr>
    <p:cSldViewPr snapToGrid="0">
      <p:cViewPr>
        <p:scale>
          <a:sx n="100" d="100"/>
          <a:sy n="100" d="100"/>
        </p:scale>
        <p:origin x="139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37FE8-0505-4C19-A6FE-645B7BD41AA1}" type="datetimeFigureOut">
              <a:rPr lang="en-US" smtClean="0"/>
              <a:t>4/17/2019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6DFE9-28AC-4CF5-BFDB-74FE83DEC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34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-14515" y="0"/>
            <a:ext cx="6110515" cy="6870245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5" y="2661426"/>
            <a:ext cx="5270000" cy="21512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5733"/>
              </a:lnSpc>
              <a:spcBef>
                <a:spcPts val="0"/>
              </a:spcBef>
              <a:buNone/>
              <a:defRPr sz="5333" b="1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54295" y="4922905"/>
            <a:ext cx="5270000" cy="774995"/>
          </a:xfrm>
          <a:prstGeom prst="rect">
            <a:avLst/>
          </a:prstGeom>
        </p:spPr>
        <p:txBody>
          <a:bodyPr lIns="90000" rIns="9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175" y="2846148"/>
            <a:ext cx="4986728" cy="116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82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12192000" cy="3441245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64288" y="1012663"/>
            <a:ext cx="7030793" cy="162649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733" b="1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692" y="4720482"/>
            <a:ext cx="3632616" cy="84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36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  <p:sp>
        <p:nvSpPr>
          <p:cNvPr id="51" name="Text Placehold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454293" y="484621"/>
            <a:ext cx="8809628" cy="69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067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54293" y="1465966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54293" y="2342542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454293" y="3219118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4293" y="4095694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454293" y="4972270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454293" y="5848843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5215467" y="1465966"/>
            <a:ext cx="560741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5215467" y="2342542"/>
            <a:ext cx="560741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36" hasCustomPrompt="1"/>
          </p:nvPr>
        </p:nvSpPr>
        <p:spPr>
          <a:xfrm>
            <a:off x="5215467" y="3219118"/>
            <a:ext cx="560741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5215467" y="4093576"/>
            <a:ext cx="560741" cy="479123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/>
              <a:t>4</a:t>
            </a:r>
            <a:endParaRPr lang="en-US" dirty="0"/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38" hasCustomPrompt="1"/>
          </p:nvPr>
        </p:nvSpPr>
        <p:spPr>
          <a:xfrm>
            <a:off x="5215467" y="4972269"/>
            <a:ext cx="560741" cy="479123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5215467" y="5849485"/>
            <a:ext cx="560741" cy="479123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40" hasCustomPrompt="1"/>
          </p:nvPr>
        </p:nvSpPr>
        <p:spPr>
          <a:xfrm>
            <a:off x="6294351" y="1465966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6294351" y="2342542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42" hasCustomPrompt="1"/>
          </p:nvPr>
        </p:nvSpPr>
        <p:spPr>
          <a:xfrm>
            <a:off x="6294351" y="3219118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43" hasCustomPrompt="1"/>
          </p:nvPr>
        </p:nvSpPr>
        <p:spPr>
          <a:xfrm>
            <a:off x="6294351" y="4095694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4351" y="4972270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45" hasCustomPrompt="1"/>
          </p:nvPr>
        </p:nvSpPr>
        <p:spPr>
          <a:xfrm>
            <a:off x="6294351" y="5848843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46" hasCustomPrompt="1"/>
          </p:nvPr>
        </p:nvSpPr>
        <p:spPr>
          <a:xfrm>
            <a:off x="11055526" y="1465966"/>
            <a:ext cx="560741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47" hasCustomPrompt="1"/>
          </p:nvPr>
        </p:nvSpPr>
        <p:spPr>
          <a:xfrm>
            <a:off x="11055526" y="2342542"/>
            <a:ext cx="560741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48" hasCustomPrompt="1"/>
          </p:nvPr>
        </p:nvSpPr>
        <p:spPr>
          <a:xfrm>
            <a:off x="11055526" y="3219118"/>
            <a:ext cx="560741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49" hasCustomPrompt="1"/>
          </p:nvPr>
        </p:nvSpPr>
        <p:spPr>
          <a:xfrm>
            <a:off x="11055526" y="4093576"/>
            <a:ext cx="560741" cy="479123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10</a:t>
            </a: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50" hasCustomPrompt="1"/>
          </p:nvPr>
        </p:nvSpPr>
        <p:spPr>
          <a:xfrm>
            <a:off x="11055526" y="4972269"/>
            <a:ext cx="560741" cy="479123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11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51" hasCustomPrompt="1"/>
          </p:nvPr>
        </p:nvSpPr>
        <p:spPr>
          <a:xfrm>
            <a:off x="11055526" y="5849485"/>
            <a:ext cx="560741" cy="479123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505909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6081485" y="0"/>
            <a:ext cx="6110515" cy="6870245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54294" y="484621"/>
            <a:ext cx="5321917" cy="69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067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6460353" y="1466851"/>
            <a:ext cx="5155913" cy="485899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endParaRPr lang="en-US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54293" y="1465966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54293" y="2342542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454293" y="3219118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4293" y="4095694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454293" y="4972270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454293" y="5848843"/>
            <a:ext cx="4761175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5215467" y="1465966"/>
            <a:ext cx="560741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rgbClr val="FFDC00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5215467" y="2342542"/>
            <a:ext cx="560741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rgbClr val="FFDC00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36" hasCustomPrompt="1"/>
          </p:nvPr>
        </p:nvSpPr>
        <p:spPr>
          <a:xfrm>
            <a:off x="5215467" y="3219118"/>
            <a:ext cx="560741" cy="477005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rgbClr val="FFDC00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5215467" y="4093576"/>
            <a:ext cx="560741" cy="479123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rgbClr val="FFDC00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/>
              <a:t>4</a:t>
            </a:r>
            <a:endParaRPr lang="en-US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38" hasCustomPrompt="1"/>
          </p:nvPr>
        </p:nvSpPr>
        <p:spPr>
          <a:xfrm>
            <a:off x="5215467" y="4972269"/>
            <a:ext cx="560741" cy="479123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rgbClr val="FFDC00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5215467" y="5849485"/>
            <a:ext cx="560741" cy="479123"/>
          </a:xfrm>
          <a:prstGeom prst="rect">
            <a:avLst/>
          </a:prstGeom>
        </p:spPr>
        <p:txBody>
          <a:bodyPr lIns="90000" anchor="ctr"/>
          <a:lstStyle>
            <a:lvl1pPr marL="0" marR="0" indent="0" algn="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1">
                <a:solidFill>
                  <a:srgbClr val="FFDC00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CF1E13-1D70-A34F-B9DC-2E3303E73AC4}"/>
              </a:ext>
            </a:extLst>
          </p:cNvPr>
          <p:cNvSpPr txBox="1"/>
          <p:nvPr userDrawn="1"/>
        </p:nvSpPr>
        <p:spPr>
          <a:xfrm>
            <a:off x="6662282" y="6533073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606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2">
          <p15:clr>
            <a:srgbClr val="FBAE40"/>
          </p15:clr>
        </p15:guide>
        <p15:guide id="3" pos="54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 flipH="1">
            <a:off x="6096000" y="0"/>
            <a:ext cx="6096001" cy="6870245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3" y="6478590"/>
            <a:ext cx="5346960" cy="271887"/>
          </a:xfrm>
          <a:prstGeom prst="rect">
            <a:avLst/>
          </a:prstGeom>
        </p:spPr>
        <p:txBody>
          <a:bodyPr lIns="90000"/>
          <a:lstStyle>
            <a:lvl1pPr marL="0" indent="0">
              <a:buNone/>
              <a:defRPr sz="800" b="0" i="0">
                <a:solidFill>
                  <a:schemeClr val="tx1">
                    <a:alpha val="7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54293" y="1465965"/>
            <a:ext cx="5346960" cy="4859884"/>
          </a:xfrm>
          <a:prstGeom prst="rect">
            <a:avLst/>
          </a:prstGeom>
        </p:spPr>
        <p:txBody>
          <a:bodyPr lIns="90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54294" y="484620"/>
            <a:ext cx="5346959" cy="8286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460352" y="1465965"/>
            <a:ext cx="5155915" cy="4859883"/>
          </a:xfrm>
          <a:prstGeom prst="rect">
            <a:avLst/>
          </a:prstGeom>
        </p:spPr>
        <p:txBody>
          <a:bodyPr lIns="90000" anchor="ctr"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 b="1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DA7C9-CA2B-4B4A-9B2C-B27CA7669860}"/>
              </a:ext>
            </a:extLst>
          </p:cNvPr>
          <p:cNvSpPr txBox="1"/>
          <p:nvPr userDrawn="1"/>
        </p:nvSpPr>
        <p:spPr>
          <a:xfrm>
            <a:off x="6662282" y="6533073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96257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8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6095997" y="0"/>
            <a:ext cx="6096003" cy="6858000"/>
          </a:xfrm>
          <a:prstGeom prst="rect">
            <a:avLst/>
          </a:prstGeom>
          <a:solidFill>
            <a:srgbClr val="DDD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6460353" y="1465964"/>
            <a:ext cx="5155913" cy="48598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3" y="6478590"/>
            <a:ext cx="5346960" cy="271887"/>
          </a:xfrm>
          <a:prstGeom prst="rect">
            <a:avLst/>
          </a:prstGeom>
        </p:spPr>
        <p:txBody>
          <a:bodyPr lIns="90000"/>
          <a:lstStyle>
            <a:lvl1pPr marL="0" indent="0">
              <a:buNone/>
              <a:defRPr sz="800" b="0" i="0">
                <a:solidFill>
                  <a:schemeClr val="tx1">
                    <a:alpha val="7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  <p:sp>
        <p:nvSpPr>
          <p:cNvPr id="40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54294" y="484621"/>
            <a:ext cx="5346959" cy="69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067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54293" y="1465965"/>
            <a:ext cx="5346960" cy="4859884"/>
          </a:xfrm>
          <a:prstGeom prst="rect">
            <a:avLst/>
          </a:prstGeom>
        </p:spPr>
        <p:txBody>
          <a:bodyPr lIns="90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CBDEFA-F7EB-6747-AC80-6B2B7ADC5793}"/>
              </a:ext>
            </a:extLst>
          </p:cNvPr>
          <p:cNvSpPr txBox="1"/>
          <p:nvPr userDrawn="1"/>
        </p:nvSpPr>
        <p:spPr>
          <a:xfrm>
            <a:off x="6662282" y="6533073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052692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8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3429000"/>
            <a:ext cx="12192000" cy="3441245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1" y="6478590"/>
            <a:ext cx="11161975" cy="271887"/>
          </a:xfrm>
          <a:prstGeom prst="rect">
            <a:avLst/>
          </a:prstGeom>
        </p:spPr>
        <p:txBody>
          <a:bodyPr lIns="90000"/>
          <a:lstStyle>
            <a:lvl1pPr marL="0" indent="0">
              <a:buNone/>
              <a:defRPr sz="800" b="0" i="0">
                <a:solidFill>
                  <a:schemeClr val="tx1">
                    <a:alpha val="7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54293" y="484621"/>
            <a:ext cx="8809628" cy="69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067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54293" y="3757536"/>
            <a:ext cx="5346960" cy="2568313"/>
          </a:xfrm>
          <a:prstGeom prst="rect">
            <a:avLst/>
          </a:prstGeom>
        </p:spPr>
        <p:txBody>
          <a:bodyPr lIns="90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6269305" y="3757536"/>
            <a:ext cx="5346960" cy="2568313"/>
          </a:xfrm>
          <a:prstGeom prst="rect">
            <a:avLst/>
          </a:prstGeom>
        </p:spPr>
        <p:txBody>
          <a:bodyPr lIns="90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54293" y="1465965"/>
            <a:ext cx="11161972" cy="1711951"/>
          </a:xfrm>
          <a:prstGeom prst="rect">
            <a:avLst/>
          </a:prstGeom>
        </p:spPr>
        <p:txBody>
          <a:bodyPr lIns="90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B0DE02-C5AB-5848-9190-6EF3A5DD7F0A}"/>
              </a:ext>
            </a:extLst>
          </p:cNvPr>
          <p:cNvSpPr txBox="1"/>
          <p:nvPr userDrawn="1"/>
        </p:nvSpPr>
        <p:spPr>
          <a:xfrm>
            <a:off x="6662282" y="6533073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5173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3429000"/>
            <a:ext cx="12192000" cy="3441245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1" y="6478590"/>
            <a:ext cx="11161975" cy="271887"/>
          </a:xfrm>
          <a:prstGeom prst="rect">
            <a:avLst/>
          </a:prstGeom>
        </p:spPr>
        <p:txBody>
          <a:bodyPr lIns="90000"/>
          <a:lstStyle>
            <a:lvl1pPr marL="0" indent="0">
              <a:buNone/>
              <a:defRPr sz="800" b="0" i="0">
                <a:solidFill>
                  <a:schemeClr val="tx1">
                    <a:alpha val="7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54293" y="1465965"/>
            <a:ext cx="8809628" cy="931796"/>
          </a:xfrm>
          <a:prstGeom prst="rect">
            <a:avLst/>
          </a:prstGeom>
        </p:spPr>
        <p:txBody>
          <a:bodyPr lIns="90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54293" y="484621"/>
            <a:ext cx="8809628" cy="69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067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454291" y="4131733"/>
            <a:ext cx="3609709" cy="2194115"/>
          </a:xfrm>
          <a:prstGeom prst="rect">
            <a:avLst/>
          </a:prstGeom>
        </p:spPr>
        <p:txBody>
          <a:bodyPr lIns="90000"/>
          <a:lstStyle>
            <a:lvl1pPr marL="0" marR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Oval 1"/>
          <p:cNvSpPr/>
          <p:nvPr userDrawn="1"/>
        </p:nvSpPr>
        <p:spPr>
          <a:xfrm>
            <a:off x="1791785" y="2898987"/>
            <a:ext cx="934720" cy="934720"/>
          </a:xfrm>
          <a:prstGeom prst="ellipse">
            <a:avLst/>
          </a:prstGeom>
          <a:solidFill>
            <a:srgbClr val="FFDC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 dirty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rPr>
              <a:t>1</a:t>
            </a:r>
          </a:p>
        </p:txBody>
      </p:sp>
      <p:sp>
        <p:nvSpPr>
          <p:cNvPr id="13" name="Oval 12"/>
          <p:cNvSpPr/>
          <p:nvPr userDrawn="1"/>
        </p:nvSpPr>
        <p:spPr>
          <a:xfrm>
            <a:off x="5557759" y="2898987"/>
            <a:ext cx="934720" cy="934720"/>
          </a:xfrm>
          <a:prstGeom prst="ellipse">
            <a:avLst/>
          </a:prstGeom>
          <a:solidFill>
            <a:srgbClr val="FFDC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 dirty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rPr>
              <a:t>2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9344051" y="2898987"/>
            <a:ext cx="934720" cy="934720"/>
          </a:xfrm>
          <a:prstGeom prst="ellipse">
            <a:avLst/>
          </a:prstGeom>
          <a:solidFill>
            <a:srgbClr val="FFDC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 dirty="0">
                <a:latin typeface="Century Gothic" charset="0"/>
                <a:ea typeface="Century Gothic" charset="0"/>
                <a:cs typeface="Century Gothic" charset="0"/>
              </a:rPr>
              <a:t>3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220264" y="4131733"/>
            <a:ext cx="3609709" cy="2194115"/>
          </a:xfrm>
          <a:prstGeom prst="rect">
            <a:avLst/>
          </a:prstGeom>
        </p:spPr>
        <p:txBody>
          <a:bodyPr lIns="90000"/>
          <a:lstStyle>
            <a:lvl1pPr marL="0" marR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8006556" y="4131733"/>
            <a:ext cx="3609709" cy="2194115"/>
          </a:xfrm>
          <a:prstGeom prst="rect">
            <a:avLst/>
          </a:prstGeom>
        </p:spPr>
        <p:txBody>
          <a:bodyPr lIns="90000"/>
          <a:lstStyle>
            <a:lvl1pPr marL="0" marR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F15BAF-5849-8F46-9C50-10AEAA20D71C}"/>
              </a:ext>
            </a:extLst>
          </p:cNvPr>
          <p:cNvSpPr txBox="1"/>
          <p:nvPr userDrawn="1"/>
        </p:nvSpPr>
        <p:spPr>
          <a:xfrm>
            <a:off x="6662282" y="6533073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5255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DDD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1" y="6478590"/>
            <a:ext cx="11161975" cy="271887"/>
          </a:xfrm>
          <a:prstGeom prst="rect">
            <a:avLst/>
          </a:prstGeom>
        </p:spPr>
        <p:txBody>
          <a:bodyPr lIns="90000"/>
          <a:lstStyle>
            <a:lvl1pPr marL="0" indent="0">
              <a:buNone/>
              <a:defRPr sz="800" b="0" i="0">
                <a:solidFill>
                  <a:schemeClr val="tx1">
                    <a:alpha val="7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54293" y="1465965"/>
            <a:ext cx="5346961" cy="1711951"/>
          </a:xfrm>
          <a:prstGeom prst="rect">
            <a:avLst/>
          </a:prstGeom>
        </p:spPr>
        <p:txBody>
          <a:bodyPr lIns="90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54293" y="484621"/>
            <a:ext cx="8809628" cy="69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067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6269306" y="1465965"/>
            <a:ext cx="5346961" cy="1711951"/>
          </a:xfrm>
          <a:prstGeom prst="rect">
            <a:avLst/>
          </a:prstGeom>
        </p:spPr>
        <p:txBody>
          <a:bodyPr lIns="90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575734" y="3737549"/>
            <a:ext cx="11040532" cy="2588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27155B-38C9-684F-8FAC-53D7DB60C4BF}"/>
              </a:ext>
            </a:extLst>
          </p:cNvPr>
          <p:cNvSpPr txBox="1"/>
          <p:nvPr userDrawn="1"/>
        </p:nvSpPr>
        <p:spPr>
          <a:xfrm>
            <a:off x="6662282" y="6533073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8271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1" y="6478590"/>
            <a:ext cx="11161975" cy="271887"/>
          </a:xfrm>
          <a:prstGeom prst="rect">
            <a:avLst/>
          </a:prstGeom>
        </p:spPr>
        <p:txBody>
          <a:bodyPr lIns="90000"/>
          <a:lstStyle>
            <a:lvl1pPr marL="0" indent="0">
              <a:buNone/>
              <a:defRPr sz="800" b="0" i="0">
                <a:solidFill>
                  <a:schemeClr val="tx1">
                    <a:alpha val="7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54293" y="1465965"/>
            <a:ext cx="11161975" cy="4859884"/>
          </a:xfrm>
          <a:prstGeom prst="rect">
            <a:avLst/>
          </a:prstGeom>
        </p:spPr>
        <p:txBody>
          <a:bodyPr lIns="90000"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54293" y="484621"/>
            <a:ext cx="8809628" cy="69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067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1719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8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D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3" y="484621"/>
            <a:ext cx="8809628" cy="69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067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1465965"/>
            <a:ext cx="11135783" cy="4859884"/>
          </a:xfrm>
          <a:prstGeom prst="rect">
            <a:avLst/>
          </a:prstGeom>
        </p:spPr>
        <p:txBody>
          <a:bodyPr lIns="90000" rIns="9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  <a:defRPr sz="1600" b="0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54291" y="6478590"/>
            <a:ext cx="11161975" cy="271887"/>
          </a:xfrm>
          <a:prstGeom prst="rect">
            <a:avLst/>
          </a:prstGeom>
        </p:spPr>
        <p:txBody>
          <a:bodyPr lIns="90000"/>
          <a:lstStyle>
            <a:lvl1pPr marL="0" indent="0">
              <a:buNone/>
              <a:defRPr sz="800" b="0" i="0">
                <a:solidFill>
                  <a:schemeClr val="tx1">
                    <a:alpha val="7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3F14ED-1DC1-9C43-B3B5-E019094DE76F}"/>
              </a:ext>
            </a:extLst>
          </p:cNvPr>
          <p:cNvSpPr txBox="1"/>
          <p:nvPr userDrawn="1"/>
        </p:nvSpPr>
        <p:spPr>
          <a:xfrm>
            <a:off x="6662282" y="6533073"/>
            <a:ext cx="4979248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485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935">
          <p15:clr>
            <a:srgbClr val="FBAE40"/>
          </p15:clr>
        </p15:guide>
        <p15:guide id="2" pos="204">
          <p15:clr>
            <a:srgbClr val="FBAE40"/>
          </p15:clr>
        </p15:guide>
        <p15:guide id="3" orient="horz" pos="305">
          <p15:clr>
            <a:srgbClr val="FBAE40"/>
          </p15:clr>
        </p15:guide>
        <p15:guide id="4" pos="5465">
          <p15:clr>
            <a:srgbClr val="FBAE40"/>
          </p15:clr>
        </p15:guide>
        <p15:guide id="5" orient="horz" pos="2142">
          <p15:clr>
            <a:srgbClr val="FBAE40"/>
          </p15:clr>
        </p15:guide>
        <p15:guide id="6" orient="horz" pos="259">
          <p15:clr>
            <a:srgbClr val="FBAE40"/>
          </p15:clr>
        </p15:guide>
        <p15:guide id="7" orient="horz" pos="311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-14515" y="0"/>
            <a:ext cx="6110515" cy="6870245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6935449" y="2661426"/>
            <a:ext cx="4477688" cy="2151220"/>
          </a:xfrm>
          <a:prstGeom prst="rect">
            <a:avLst/>
          </a:prstGeom>
        </p:spPr>
        <p:txBody>
          <a:bodyPr lIns="90000" rIns="900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  <a:defRPr sz="1333" b="1" i="0">
                <a:solidFill>
                  <a:srgbClr val="FFDC00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Contact Information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64" y="5112410"/>
            <a:ext cx="2276869" cy="532245"/>
          </a:xfrm>
          <a:prstGeom prst="rect">
            <a:avLst/>
          </a:prstGeom>
        </p:spPr>
      </p:pic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64288" y="2621875"/>
            <a:ext cx="5291936" cy="162649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67" b="1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341674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2">
          <p15:clr>
            <a:srgbClr val="FBAE40"/>
          </p15:clr>
        </p15:guide>
        <p15:guide id="3" pos="43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-14515" y="0"/>
            <a:ext cx="6110515" cy="6870245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64288" y="2621875"/>
            <a:ext cx="5291936" cy="162649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67" b="1" i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418139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4" y="504609"/>
            <a:ext cx="6955367" cy="15510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733" b="1" i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67179-D971-8247-B375-FEB0EE503D07}"/>
              </a:ext>
            </a:extLst>
          </p:cNvPr>
          <p:cNvSpPr txBox="1"/>
          <p:nvPr userDrawn="1"/>
        </p:nvSpPr>
        <p:spPr>
          <a:xfrm>
            <a:off x="126932" y="6575871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8186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5D755C-6131-4340-9476-470604CE49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5" y="0"/>
            <a:ext cx="12160251" cy="6858000"/>
          </a:xfrm>
          <a:prstGeom prst="rect">
            <a:avLst/>
          </a:prstGeom>
        </p:spPr>
      </p:pic>
      <p:sp>
        <p:nvSpPr>
          <p:cNvPr id="4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4" y="504609"/>
            <a:ext cx="6955367" cy="15510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733" b="1" i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FBCACD-E565-4142-86D6-ADBE49F2D136}"/>
              </a:ext>
            </a:extLst>
          </p:cNvPr>
          <p:cNvSpPr txBox="1"/>
          <p:nvPr userDrawn="1"/>
        </p:nvSpPr>
        <p:spPr>
          <a:xfrm>
            <a:off x="1" y="6575871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6351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260B3D-EAB4-B14B-8EF5-88B1133DB9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00" r="9307"/>
          <a:stretch/>
        </p:blipFill>
        <p:spPr>
          <a:xfrm rot="16200000">
            <a:off x="2628557" y="-2705445"/>
            <a:ext cx="6934889" cy="12192000"/>
          </a:xfrm>
          <a:prstGeom prst="rect">
            <a:avLst/>
          </a:prstGeom>
        </p:spPr>
      </p:pic>
      <p:sp>
        <p:nvSpPr>
          <p:cNvPr id="4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4" y="504609"/>
            <a:ext cx="6955367" cy="15510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733" b="1" i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79BFE-12EF-4F44-91B5-6827A7DB4656}"/>
              </a:ext>
            </a:extLst>
          </p:cNvPr>
          <p:cNvSpPr txBox="1"/>
          <p:nvPr userDrawn="1"/>
        </p:nvSpPr>
        <p:spPr>
          <a:xfrm>
            <a:off x="6662282" y="6533073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201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4" y="504609"/>
            <a:ext cx="6955367" cy="15510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733" b="1" i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837635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" y="1"/>
            <a:ext cx="12188388" cy="6857999"/>
          </a:xfrm>
          <a:prstGeom prst="rect">
            <a:avLst/>
          </a:prstGeom>
        </p:spPr>
      </p:pic>
      <p:sp>
        <p:nvSpPr>
          <p:cNvPr id="4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54294" y="504609"/>
            <a:ext cx="6955367" cy="15510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733" b="1" i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8C7CE-9E98-464E-9459-D22D554E2352}"/>
              </a:ext>
            </a:extLst>
          </p:cNvPr>
          <p:cNvSpPr txBox="1"/>
          <p:nvPr userDrawn="1"/>
        </p:nvSpPr>
        <p:spPr>
          <a:xfrm>
            <a:off x="115948" y="6575870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2948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54293" y="484621"/>
            <a:ext cx="8809627" cy="69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067"/>
              </a:lnSpc>
              <a:spcBef>
                <a:spcPts val="0"/>
              </a:spcBef>
              <a:buNone/>
              <a:defRPr sz="2667" b="1" i="0" baseline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805" y="543769"/>
            <a:ext cx="2258712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0467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935">
          <p15:clr>
            <a:srgbClr val="FBAE40"/>
          </p15:clr>
        </p15:guide>
        <p15:guide id="2" pos="204">
          <p15:clr>
            <a:srgbClr val="FBAE40"/>
          </p15:clr>
        </p15:guide>
        <p15:guide id="3" orient="horz" pos="327">
          <p15:clr>
            <a:srgbClr val="FBAE40"/>
          </p15:clr>
        </p15:guide>
        <p15:guide id="4" pos="5465">
          <p15:clr>
            <a:srgbClr val="FBAE40"/>
          </p15:clr>
        </p15:guide>
        <p15:guide id="5" orient="horz" pos="2142">
          <p15:clr>
            <a:srgbClr val="FBAE40"/>
          </p15:clr>
        </p15:guide>
        <p15:guide id="6" orient="horz" pos="259">
          <p15:clr>
            <a:srgbClr val="FBAE40"/>
          </p15:clr>
        </p15:guide>
        <p15:guide id="7" orient="horz" pos="311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3467" y="6478590"/>
            <a:ext cx="552756" cy="271887"/>
          </a:xfrm>
          <a:prstGeom prst="rect">
            <a:avLst/>
          </a:prstGeom>
        </p:spPr>
        <p:txBody>
          <a:bodyPr lIns="90000" rIns="90000"/>
          <a:lstStyle>
            <a:lvl1pPr algn="l">
              <a:defRPr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fld id="{E53632A8-E6E4-0848-BE06-7951E57DA7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4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A37803-9BD1-7041-B94C-53681E33BF2B}"/>
              </a:ext>
            </a:extLst>
          </p:cNvPr>
          <p:cNvSpPr txBox="1"/>
          <p:nvPr userDrawn="1"/>
        </p:nvSpPr>
        <p:spPr>
          <a:xfrm>
            <a:off x="6662282" y="6533073"/>
            <a:ext cx="5003293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uclid WU" panose="020B0500030000000000" pitchFamily="34" charset="0"/>
                <a:ea typeface="+mn-ea"/>
                <a:cs typeface="+mn-cs"/>
              </a:rPr>
              <a:t>Western Union Confidential | ©2019 Western Union Holdings, Inc.  All rights reserved.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1218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0" i="0" kern="1200" baseline="0">
          <a:solidFill>
            <a:srgbClr val="63656A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B4183E-80BD-484B-8256-53EEDD0C9F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640" y="71766"/>
            <a:ext cx="8809628" cy="696481"/>
          </a:xfrm>
        </p:spPr>
        <p:txBody>
          <a:bodyPr/>
          <a:lstStyle/>
          <a:p>
            <a:r>
              <a:rPr lang="en-US" dirty="0"/>
              <a:t>Payment Journey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CD72B-4E74-4C18-BC76-F3C653CAD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3632A8-E6E4-0848-BE06-7951E57DA7A4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9121261-0ADA-4251-929A-9ED251C14262}"/>
              </a:ext>
            </a:extLst>
          </p:cNvPr>
          <p:cNvGrpSpPr/>
          <p:nvPr/>
        </p:nvGrpSpPr>
        <p:grpSpPr>
          <a:xfrm>
            <a:off x="126224" y="3845692"/>
            <a:ext cx="9080303" cy="2662116"/>
            <a:chOff x="295106" y="898552"/>
            <a:chExt cx="8894932" cy="2662116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3872355-9EAF-4E92-9A37-3EFD9D62B496}"/>
                </a:ext>
              </a:extLst>
            </p:cNvPr>
            <p:cNvSpPr/>
            <p:nvPr/>
          </p:nvSpPr>
          <p:spPr>
            <a:xfrm>
              <a:off x="295106" y="898552"/>
              <a:ext cx="8894932" cy="266211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52A2046-0F8F-4E26-AC82-3532C1D9C26A}"/>
                </a:ext>
              </a:extLst>
            </p:cNvPr>
            <p:cNvGrpSpPr/>
            <p:nvPr/>
          </p:nvGrpSpPr>
          <p:grpSpPr>
            <a:xfrm>
              <a:off x="429937" y="1381557"/>
              <a:ext cx="1091100" cy="1650777"/>
              <a:chOff x="722" y="1883944"/>
              <a:chExt cx="1410426" cy="1650777"/>
            </a:xfrm>
          </p:grpSpPr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BEDEAF9C-B915-4C3A-A645-D943D76BCF02}"/>
                  </a:ext>
                </a:extLst>
              </p:cNvPr>
              <p:cNvSpPr/>
              <p:nvPr/>
            </p:nvSpPr>
            <p:spPr>
              <a:xfrm>
                <a:off x="722" y="1883944"/>
                <a:ext cx="1410426" cy="165077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9" name="Rectangle: Rounded Corners 4">
                <a:extLst>
                  <a:ext uri="{FF2B5EF4-FFF2-40B4-BE49-F238E27FC236}">
                    <a16:creationId xmlns:a16="http://schemas.microsoft.com/office/drawing/2014/main" id="{2BF21ABC-0895-488E-BA2D-1AC571F23A32}"/>
                  </a:ext>
                </a:extLst>
              </p:cNvPr>
              <p:cNvSpPr txBox="1"/>
              <p:nvPr/>
            </p:nvSpPr>
            <p:spPr>
              <a:xfrm>
                <a:off x="42032" y="1915526"/>
                <a:ext cx="1327805" cy="156815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770" tIns="64770" rIns="64770" bIns="64770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/>
                  <a:t>WUBS extract transactions file</a:t>
                </a:r>
                <a:r>
                  <a:rPr lang="en-US" sz="1100" kern="1200" dirty="0"/>
                  <a:t>*</a:t>
                </a:r>
                <a:endParaRPr lang="en-US" sz="1200" kern="1200" dirty="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219E2C5-36A2-42EC-8EA3-25CFD1BBD030}"/>
                </a:ext>
              </a:extLst>
            </p:cNvPr>
            <p:cNvGrpSpPr/>
            <p:nvPr/>
          </p:nvGrpSpPr>
          <p:grpSpPr>
            <a:xfrm>
              <a:off x="1577564" y="2032053"/>
              <a:ext cx="252463" cy="349785"/>
              <a:chOff x="1552011" y="2534440"/>
              <a:chExt cx="298627" cy="349785"/>
            </a:xfrm>
          </p:grpSpPr>
          <p:sp>
            <p:nvSpPr>
              <p:cNvPr id="96" name="Arrow: Right 95">
                <a:extLst>
                  <a:ext uri="{FF2B5EF4-FFF2-40B4-BE49-F238E27FC236}">
                    <a16:creationId xmlns:a16="http://schemas.microsoft.com/office/drawing/2014/main" id="{54267367-D65F-4896-B4C3-D9C10B257CE2}"/>
                  </a:ext>
                </a:extLst>
              </p:cNvPr>
              <p:cNvSpPr/>
              <p:nvPr/>
            </p:nvSpPr>
            <p:spPr>
              <a:xfrm>
                <a:off x="1552011" y="2534440"/>
                <a:ext cx="298627" cy="349785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7" name="Arrow: Right 6">
                <a:extLst>
                  <a:ext uri="{FF2B5EF4-FFF2-40B4-BE49-F238E27FC236}">
                    <a16:creationId xmlns:a16="http://schemas.microsoft.com/office/drawing/2014/main" id="{9231EB37-5CD5-4698-8870-2ED560260E5E}"/>
                  </a:ext>
                </a:extLst>
              </p:cNvPr>
              <p:cNvSpPr txBox="1"/>
              <p:nvPr/>
            </p:nvSpPr>
            <p:spPr>
              <a:xfrm>
                <a:off x="1552011" y="2594669"/>
                <a:ext cx="209039" cy="20987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kern="120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0F18786-AFDE-4F43-A163-A5C0E0D0E916}"/>
                </a:ext>
              </a:extLst>
            </p:cNvPr>
            <p:cNvGrpSpPr/>
            <p:nvPr/>
          </p:nvGrpSpPr>
          <p:grpSpPr>
            <a:xfrm>
              <a:off x="1851868" y="1381557"/>
              <a:ext cx="1091100" cy="1650777"/>
              <a:chOff x="1974597" y="1883944"/>
              <a:chExt cx="1410426" cy="1650777"/>
            </a:xfrm>
          </p:grpSpPr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89A6EDED-6F08-4964-A07B-10E1D770C4E0}"/>
                  </a:ext>
                </a:extLst>
              </p:cNvPr>
              <p:cNvSpPr/>
              <p:nvPr/>
            </p:nvSpPr>
            <p:spPr>
              <a:xfrm>
                <a:off x="1974597" y="1883944"/>
                <a:ext cx="1410426" cy="165077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5" name="Rectangle: Rounded Corners 8">
                <a:extLst>
                  <a:ext uri="{FF2B5EF4-FFF2-40B4-BE49-F238E27FC236}">
                    <a16:creationId xmlns:a16="http://schemas.microsoft.com/office/drawing/2014/main" id="{4184C4EA-0D60-4B0E-9397-51D591D9EB4E}"/>
                  </a:ext>
                </a:extLst>
              </p:cNvPr>
              <p:cNvSpPr txBox="1"/>
              <p:nvPr/>
            </p:nvSpPr>
            <p:spPr>
              <a:xfrm>
                <a:off x="2015907" y="1915526"/>
                <a:ext cx="1327805" cy="156815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770" tIns="64770" rIns="64770" bIns="64770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/>
                  <a:t>WUBS runs macro to format the file to meet WUBS standards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85A3510-B2E7-4433-854F-30ECB370F32B}"/>
                </a:ext>
              </a:extLst>
            </p:cNvPr>
            <p:cNvGrpSpPr/>
            <p:nvPr/>
          </p:nvGrpSpPr>
          <p:grpSpPr>
            <a:xfrm>
              <a:off x="3007914" y="2032053"/>
              <a:ext cx="252787" cy="349785"/>
              <a:chOff x="3526066" y="2534440"/>
              <a:chExt cx="299010" cy="349785"/>
            </a:xfrm>
          </p:grpSpPr>
          <p:sp>
            <p:nvSpPr>
              <p:cNvPr id="92" name="Arrow: Right 91">
                <a:extLst>
                  <a:ext uri="{FF2B5EF4-FFF2-40B4-BE49-F238E27FC236}">
                    <a16:creationId xmlns:a16="http://schemas.microsoft.com/office/drawing/2014/main" id="{94BE9F21-35DC-455A-98F9-EF6FE68CAA36}"/>
                  </a:ext>
                </a:extLst>
              </p:cNvPr>
              <p:cNvSpPr/>
              <p:nvPr/>
            </p:nvSpPr>
            <p:spPr>
              <a:xfrm>
                <a:off x="3526066" y="2534440"/>
                <a:ext cx="299010" cy="349785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3" name="Arrow: Right 10">
                <a:extLst>
                  <a:ext uri="{FF2B5EF4-FFF2-40B4-BE49-F238E27FC236}">
                    <a16:creationId xmlns:a16="http://schemas.microsoft.com/office/drawing/2014/main" id="{A0B2CA7D-AB9E-46A8-B957-C95C00326E32}"/>
                  </a:ext>
                </a:extLst>
              </p:cNvPr>
              <p:cNvSpPr txBox="1"/>
              <p:nvPr/>
            </p:nvSpPr>
            <p:spPr>
              <a:xfrm>
                <a:off x="3526066" y="2594669"/>
                <a:ext cx="209308" cy="20987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kern="120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12A886C-5E12-4393-AC87-5D86E71384D5}"/>
                </a:ext>
              </a:extLst>
            </p:cNvPr>
            <p:cNvGrpSpPr/>
            <p:nvPr/>
          </p:nvGrpSpPr>
          <p:grpSpPr>
            <a:xfrm>
              <a:off x="3373375" y="1371829"/>
              <a:ext cx="1091100" cy="1650777"/>
              <a:chOff x="3949194" y="1874216"/>
              <a:chExt cx="1410426" cy="1650777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21F5FB3C-EBEA-458C-B480-4BED4D115F6B}"/>
                  </a:ext>
                </a:extLst>
              </p:cNvPr>
              <p:cNvSpPr/>
              <p:nvPr/>
            </p:nvSpPr>
            <p:spPr>
              <a:xfrm>
                <a:off x="3949194" y="1874216"/>
                <a:ext cx="1410426" cy="1650777"/>
              </a:xfrm>
              <a:prstGeom prst="roundRect">
                <a:avLst>
                  <a:gd name="adj" fmla="val 10000"/>
                </a:avLst>
              </a:prstGeom>
              <a:solidFill>
                <a:schemeClr val="tx2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1" name="Rectangle: Rounded Corners 12">
                <a:extLst>
                  <a:ext uri="{FF2B5EF4-FFF2-40B4-BE49-F238E27FC236}">
                    <a16:creationId xmlns:a16="http://schemas.microsoft.com/office/drawing/2014/main" id="{B0EFD49B-BB30-4AB9-82F9-0DF2F1C107EA}"/>
                  </a:ext>
                </a:extLst>
              </p:cNvPr>
              <p:cNvSpPr txBox="1"/>
              <p:nvPr/>
            </p:nvSpPr>
            <p:spPr>
              <a:xfrm>
                <a:off x="3990504" y="1925254"/>
                <a:ext cx="1327806" cy="1568157"/>
              </a:xfrm>
              <a:prstGeom prst="rect">
                <a:avLst/>
              </a:prstGeom>
              <a:solidFill>
                <a:schemeClr val="tx2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8580" tIns="68580" rIns="68580" bIns="6858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/>
                  <a:t>Entries feed in to </a:t>
                </a:r>
                <a:r>
                  <a:rPr lang="en-US" sz="1200" kern="1200" dirty="0" err="1"/>
                  <a:t>Intellimatch</a:t>
                </a:r>
                <a:endParaRPr lang="en-US" sz="1200" i="1" kern="1200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A0E9BD1-6AEB-43C5-991B-6FFB2CD876EA}"/>
                </a:ext>
              </a:extLst>
            </p:cNvPr>
            <p:cNvGrpSpPr/>
            <p:nvPr/>
          </p:nvGrpSpPr>
          <p:grpSpPr>
            <a:xfrm>
              <a:off x="4816074" y="1381557"/>
              <a:ext cx="1091100" cy="1650777"/>
              <a:chOff x="6100355" y="1883944"/>
              <a:chExt cx="1410426" cy="1650777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3EDA8625-A2C8-4321-9F70-90C7B3337D3B}"/>
                  </a:ext>
                </a:extLst>
              </p:cNvPr>
              <p:cNvSpPr/>
              <p:nvPr/>
            </p:nvSpPr>
            <p:spPr>
              <a:xfrm>
                <a:off x="6100355" y="1883944"/>
                <a:ext cx="1410426" cy="165077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9" name="Rectangle: Rounded Corners 18">
                <a:extLst>
                  <a:ext uri="{FF2B5EF4-FFF2-40B4-BE49-F238E27FC236}">
                    <a16:creationId xmlns:a16="http://schemas.microsoft.com/office/drawing/2014/main" id="{685396D2-21C5-434B-BFBE-5815A8650971}"/>
                  </a:ext>
                </a:extLst>
              </p:cNvPr>
              <p:cNvSpPr txBox="1"/>
              <p:nvPr/>
            </p:nvSpPr>
            <p:spPr>
              <a:xfrm>
                <a:off x="6141665" y="1915526"/>
                <a:ext cx="1327805" cy="156815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770" tIns="64770" rIns="64770" bIns="64770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/>
                  <a:t>Account Receivables team reviews transactions and match them against deals</a:t>
                </a:r>
                <a:r>
                  <a:rPr lang="en-US" sz="1050" kern="1200" dirty="0"/>
                  <a:t>^</a:t>
                </a:r>
                <a:r>
                  <a:rPr lang="en-US" sz="1200" kern="1200" dirty="0"/>
                  <a:t> 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0DA754E-C78F-4DDF-91EE-67A7E4B5C36D}"/>
                </a:ext>
              </a:extLst>
            </p:cNvPr>
            <p:cNvGrpSpPr/>
            <p:nvPr/>
          </p:nvGrpSpPr>
          <p:grpSpPr>
            <a:xfrm>
              <a:off x="5943221" y="2032053"/>
              <a:ext cx="239252" cy="349785"/>
              <a:chOff x="7803158" y="2534440"/>
              <a:chExt cx="503078" cy="349785"/>
            </a:xfrm>
          </p:grpSpPr>
          <p:sp>
            <p:nvSpPr>
              <p:cNvPr id="86" name="Arrow: Right 85">
                <a:extLst>
                  <a:ext uri="{FF2B5EF4-FFF2-40B4-BE49-F238E27FC236}">
                    <a16:creationId xmlns:a16="http://schemas.microsoft.com/office/drawing/2014/main" id="{C461F9E6-4F8F-49AB-A69F-3521D849F3BF}"/>
                  </a:ext>
                </a:extLst>
              </p:cNvPr>
              <p:cNvSpPr/>
              <p:nvPr/>
            </p:nvSpPr>
            <p:spPr>
              <a:xfrm>
                <a:off x="7803158" y="2534440"/>
                <a:ext cx="503078" cy="349785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7" name="Arrow: Right 20">
                <a:extLst>
                  <a:ext uri="{FF2B5EF4-FFF2-40B4-BE49-F238E27FC236}">
                    <a16:creationId xmlns:a16="http://schemas.microsoft.com/office/drawing/2014/main" id="{0503B93D-B389-4D4B-8CED-F455FC2F63DC}"/>
                  </a:ext>
                </a:extLst>
              </p:cNvPr>
              <p:cNvSpPr txBox="1"/>
              <p:nvPr/>
            </p:nvSpPr>
            <p:spPr>
              <a:xfrm>
                <a:off x="7803158" y="2604397"/>
                <a:ext cx="398143" cy="20987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kern="1200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FABA007-4EA7-4D85-9EBD-DF799C95131D}"/>
                </a:ext>
              </a:extLst>
            </p:cNvPr>
            <p:cNvGrpSpPr/>
            <p:nvPr/>
          </p:nvGrpSpPr>
          <p:grpSpPr>
            <a:xfrm>
              <a:off x="6240911" y="1381557"/>
              <a:ext cx="1197853" cy="1650777"/>
              <a:chOff x="9872987" y="1883944"/>
              <a:chExt cx="1410426" cy="1650777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4ECEA5E7-7F69-48E6-8C59-0BAC062A00FA}"/>
                  </a:ext>
                </a:extLst>
              </p:cNvPr>
              <p:cNvSpPr/>
              <p:nvPr/>
            </p:nvSpPr>
            <p:spPr>
              <a:xfrm>
                <a:off x="9872987" y="1883944"/>
                <a:ext cx="1410426" cy="165077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5" name="Rectangle: Rounded Corners 22">
                <a:extLst>
                  <a:ext uri="{FF2B5EF4-FFF2-40B4-BE49-F238E27FC236}">
                    <a16:creationId xmlns:a16="http://schemas.microsoft.com/office/drawing/2014/main" id="{C8260E58-CCF7-40DE-9952-F538B14623F0}"/>
                  </a:ext>
                </a:extLst>
              </p:cNvPr>
              <p:cNvSpPr txBox="1"/>
              <p:nvPr/>
            </p:nvSpPr>
            <p:spPr>
              <a:xfrm>
                <a:off x="9914297" y="1915526"/>
                <a:ext cx="1327806" cy="156815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770" tIns="64770" rIns="64770" bIns="64770" numCol="1" spcCol="1270" anchor="ctr" anchorCtr="0">
                <a:noAutofit/>
              </a:bodyPr>
              <a:lstStyle/>
              <a:p>
                <a:pPr marL="0" lvl="1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200" dirty="0"/>
                  <a:t>Deal Matched and Trade Credit limit is replenished</a:t>
                </a:r>
                <a:endParaRPr lang="en-US" sz="1200" kern="1200" dirty="0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9107078-9E1F-446F-A5A3-1A8F2A5D2B99}"/>
                </a:ext>
              </a:extLst>
            </p:cNvPr>
            <p:cNvGrpSpPr/>
            <p:nvPr/>
          </p:nvGrpSpPr>
          <p:grpSpPr>
            <a:xfrm>
              <a:off x="4519556" y="2044407"/>
              <a:ext cx="263086" cy="349785"/>
              <a:chOff x="3526066" y="2534440"/>
              <a:chExt cx="299010" cy="349785"/>
            </a:xfrm>
            <a:solidFill>
              <a:schemeClr val="accent4"/>
            </a:solidFill>
          </p:grpSpPr>
          <p:sp>
            <p:nvSpPr>
              <p:cNvPr id="82" name="Arrow: Right 81">
                <a:extLst>
                  <a:ext uri="{FF2B5EF4-FFF2-40B4-BE49-F238E27FC236}">
                    <a16:creationId xmlns:a16="http://schemas.microsoft.com/office/drawing/2014/main" id="{C9FCCAB6-5C24-44D1-8D78-A908F244473F}"/>
                  </a:ext>
                </a:extLst>
              </p:cNvPr>
              <p:cNvSpPr/>
              <p:nvPr/>
            </p:nvSpPr>
            <p:spPr>
              <a:xfrm>
                <a:off x="3526066" y="2534440"/>
                <a:ext cx="299010" cy="349785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tx2"/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3" name="Arrow: Right 10">
                <a:extLst>
                  <a:ext uri="{FF2B5EF4-FFF2-40B4-BE49-F238E27FC236}">
                    <a16:creationId xmlns:a16="http://schemas.microsoft.com/office/drawing/2014/main" id="{678B72B8-7BA4-4168-8E98-A62E552645EB}"/>
                  </a:ext>
                </a:extLst>
              </p:cNvPr>
              <p:cNvSpPr txBox="1"/>
              <p:nvPr/>
            </p:nvSpPr>
            <p:spPr>
              <a:xfrm>
                <a:off x="3526066" y="2594669"/>
                <a:ext cx="209307" cy="209871"/>
              </a:xfrm>
              <a:prstGeom prst="rect">
                <a:avLst/>
              </a:prstGeom>
              <a:solidFill>
                <a:schemeClr val="tx2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kern="1200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2216EBF-69C5-482D-8929-70FE7E1E5125}"/>
                </a:ext>
              </a:extLst>
            </p:cNvPr>
            <p:cNvGrpSpPr/>
            <p:nvPr/>
          </p:nvGrpSpPr>
          <p:grpSpPr>
            <a:xfrm>
              <a:off x="7785499" y="1377435"/>
              <a:ext cx="1197853" cy="1650777"/>
              <a:chOff x="9872987" y="1883944"/>
              <a:chExt cx="1410426" cy="1650777"/>
            </a:xfrm>
            <a:solidFill>
              <a:schemeClr val="accent1"/>
            </a:solidFill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B4A3B581-85FE-4D59-AD96-C984892830C1}"/>
                  </a:ext>
                </a:extLst>
              </p:cNvPr>
              <p:cNvSpPr/>
              <p:nvPr/>
            </p:nvSpPr>
            <p:spPr>
              <a:xfrm>
                <a:off x="9872987" y="1883944"/>
                <a:ext cx="1410426" cy="1650777"/>
              </a:xfrm>
              <a:prstGeom prst="roundRect">
                <a:avLst>
                  <a:gd name="adj" fmla="val 10000"/>
                </a:avLst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1" name="Rectangle: Rounded Corners 22">
                <a:extLst>
                  <a:ext uri="{FF2B5EF4-FFF2-40B4-BE49-F238E27FC236}">
                    <a16:creationId xmlns:a16="http://schemas.microsoft.com/office/drawing/2014/main" id="{0BFCD9F7-3809-4B3C-BFAE-3CBA6BA436DA}"/>
                  </a:ext>
                </a:extLst>
              </p:cNvPr>
              <p:cNvSpPr txBox="1"/>
              <p:nvPr/>
            </p:nvSpPr>
            <p:spPr>
              <a:xfrm>
                <a:off x="9914297" y="1915526"/>
                <a:ext cx="1327806" cy="156815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770" tIns="64770" rIns="64770" bIns="64770" numCol="1" spcCol="1270" anchor="ctr" anchorCtr="0">
                <a:noAutofit/>
              </a:bodyPr>
              <a:lstStyle/>
              <a:p>
                <a:pPr marL="0" lvl="1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200" kern="1200" dirty="0"/>
                  <a:t>System generated reports showing outstanding deals are sent to CWB 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A78631C9-1620-4650-BE55-62E08C599D3A}"/>
                </a:ext>
              </a:extLst>
            </p:cNvPr>
            <p:cNvSpPr/>
            <p:nvPr/>
          </p:nvSpPr>
          <p:spPr>
            <a:xfrm>
              <a:off x="7454868" y="2026441"/>
              <a:ext cx="261462" cy="34978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2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0ACF8881-FE3F-486D-8740-583E8C910BDC}"/>
              </a:ext>
            </a:extLst>
          </p:cNvPr>
          <p:cNvSpPr/>
          <p:nvPr/>
        </p:nvSpPr>
        <p:spPr>
          <a:xfrm rot="5400000">
            <a:off x="979212" y="3165959"/>
            <a:ext cx="250548" cy="174045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US" sz="1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SETTLEMENT FLOW</a:t>
            </a:r>
          </a:p>
        </p:txBody>
      </p:sp>
      <p:sp>
        <p:nvSpPr>
          <p:cNvPr id="101" name="Text Placeholder 3">
            <a:extLst>
              <a:ext uri="{FF2B5EF4-FFF2-40B4-BE49-F238E27FC236}">
                <a16:creationId xmlns:a16="http://schemas.microsoft.com/office/drawing/2014/main" id="{CB0FBFB1-C5E4-44CC-AAA0-AC38A9B7A589}"/>
              </a:ext>
            </a:extLst>
          </p:cNvPr>
          <p:cNvSpPr txBox="1">
            <a:spLocks/>
          </p:cNvSpPr>
          <p:nvPr/>
        </p:nvSpPr>
        <p:spPr>
          <a:xfrm>
            <a:off x="9451171" y="3936948"/>
            <a:ext cx="2653279" cy="1784882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Trade Credit</a:t>
            </a:r>
          </a:p>
          <a:p>
            <a:pPr marL="342900" indent="-342900"/>
            <a:r>
              <a:rPr lang="en-US" sz="1400" dirty="0"/>
              <a:t>Payment released prior to settlement being received and matched </a:t>
            </a:r>
          </a:p>
          <a:p>
            <a:pPr marL="342900" indent="-342900"/>
            <a:r>
              <a:rPr lang="en-GB" sz="1400" dirty="0"/>
              <a:t>D</a:t>
            </a:r>
            <a:r>
              <a:rPr lang="en-US" sz="1400" dirty="0" err="1"/>
              <a:t>eal</a:t>
            </a:r>
            <a:r>
              <a:rPr lang="en-US" sz="1400" dirty="0"/>
              <a:t> must be value dated for same day value to allow trade credit to pull through </a:t>
            </a:r>
          </a:p>
          <a:p>
            <a:pPr marL="342900" indent="-342900"/>
            <a:r>
              <a:rPr lang="en-GB" sz="1400" dirty="0"/>
              <a:t>T</a:t>
            </a:r>
            <a:r>
              <a:rPr lang="en-US" sz="1400" dirty="0" err="1"/>
              <a:t>rade</a:t>
            </a:r>
            <a:r>
              <a:rPr lang="en-US" sz="1400" dirty="0"/>
              <a:t> credit reinstates as deals released are settled for</a:t>
            </a:r>
          </a:p>
          <a:p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524DCF-3E51-41CD-92BB-4C087490C3AB}"/>
              </a:ext>
            </a:extLst>
          </p:cNvPr>
          <p:cNvSpPr txBox="1"/>
          <p:nvPr/>
        </p:nvSpPr>
        <p:spPr>
          <a:xfrm>
            <a:off x="263865" y="6460620"/>
            <a:ext cx="57785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*3 manual extracts: 11:30 am / 2:00 pm / 4:00 pm EST</a:t>
            </a:r>
          </a:p>
          <a:p>
            <a:r>
              <a:rPr lang="en-US" sz="1000" dirty="0"/>
              <a:t>^Matching of transactions is done 3 times per day: 12pm / 2:30pm and 4:30pm EST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8DD0EBA-BFC1-4024-9E50-DAC483340F70}"/>
              </a:ext>
            </a:extLst>
          </p:cNvPr>
          <p:cNvGrpSpPr/>
          <p:nvPr/>
        </p:nvGrpSpPr>
        <p:grpSpPr>
          <a:xfrm>
            <a:off x="155060" y="760918"/>
            <a:ext cx="11921609" cy="2943825"/>
            <a:chOff x="155060" y="760918"/>
            <a:chExt cx="11921609" cy="294382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395E30-635B-4391-B831-17E7220C41DF}"/>
                </a:ext>
              </a:extLst>
            </p:cNvPr>
            <p:cNvGrpSpPr/>
            <p:nvPr/>
          </p:nvGrpSpPr>
          <p:grpSpPr>
            <a:xfrm>
              <a:off x="155060" y="760918"/>
              <a:ext cx="11921609" cy="2943825"/>
              <a:chOff x="295106" y="809557"/>
              <a:chExt cx="11921609" cy="2943825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17445D1-7D0F-4A3C-8FFF-44ADAD00CCBE}"/>
                  </a:ext>
                </a:extLst>
              </p:cNvPr>
              <p:cNvSpPr/>
              <p:nvPr/>
            </p:nvSpPr>
            <p:spPr>
              <a:xfrm>
                <a:off x="295106" y="809557"/>
                <a:ext cx="11921609" cy="294382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E2CF706-B23A-4D0C-886E-383C2AE98524}"/>
                  </a:ext>
                </a:extLst>
              </p:cNvPr>
              <p:cNvGrpSpPr/>
              <p:nvPr/>
            </p:nvGrpSpPr>
            <p:grpSpPr>
              <a:xfrm>
                <a:off x="429937" y="1381557"/>
                <a:ext cx="1091100" cy="1650777"/>
                <a:chOff x="722" y="1883944"/>
                <a:chExt cx="1410426" cy="1650777"/>
              </a:xfrm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CA6342A-AC4C-4E83-83F7-353A56466A59}"/>
                    </a:ext>
                  </a:extLst>
                </p:cNvPr>
                <p:cNvSpPr/>
                <p:nvPr/>
              </p:nvSpPr>
              <p:spPr>
                <a:xfrm>
                  <a:off x="722" y="1883944"/>
                  <a:ext cx="1410426" cy="1650777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36" name="Rectangle: Rounded Corners 4">
                  <a:extLst>
                    <a:ext uri="{FF2B5EF4-FFF2-40B4-BE49-F238E27FC236}">
                      <a16:creationId xmlns:a16="http://schemas.microsoft.com/office/drawing/2014/main" id="{8C76BB44-D147-43AB-815D-1683E5FC1CC2}"/>
                    </a:ext>
                  </a:extLst>
                </p:cNvPr>
                <p:cNvSpPr txBox="1"/>
                <p:nvPr/>
              </p:nvSpPr>
              <p:spPr>
                <a:xfrm>
                  <a:off x="42032" y="1925254"/>
                  <a:ext cx="1327806" cy="1568157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kern="1200" dirty="0"/>
                    <a:t>Payment booked in the system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C2B9E69-1DAE-4982-8BDB-7B48B8535776}"/>
                  </a:ext>
                </a:extLst>
              </p:cNvPr>
              <p:cNvGrpSpPr/>
              <p:nvPr/>
            </p:nvGrpSpPr>
            <p:grpSpPr>
              <a:xfrm>
                <a:off x="1577564" y="2032053"/>
                <a:ext cx="252463" cy="349785"/>
                <a:chOff x="1552011" y="2534440"/>
                <a:chExt cx="298627" cy="349785"/>
              </a:xfrm>
            </p:grpSpPr>
            <p:sp>
              <p:nvSpPr>
                <p:cNvPr id="33" name="Arrow: Right 32">
                  <a:extLst>
                    <a:ext uri="{FF2B5EF4-FFF2-40B4-BE49-F238E27FC236}">
                      <a16:creationId xmlns:a16="http://schemas.microsoft.com/office/drawing/2014/main" id="{3A67D4DD-902A-4A99-BFEF-4997E6FBA87A}"/>
                    </a:ext>
                  </a:extLst>
                </p:cNvPr>
                <p:cNvSpPr/>
                <p:nvPr/>
              </p:nvSpPr>
              <p:spPr>
                <a:xfrm>
                  <a:off x="1552011" y="2534440"/>
                  <a:ext cx="298627" cy="349785"/>
                </a:xfrm>
                <a:prstGeom prst="rightArrow">
                  <a:avLst>
                    <a:gd name="adj1" fmla="val 60000"/>
                    <a:gd name="adj2" fmla="val 50000"/>
                  </a:avLst>
                </a:prstGeom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34" name="Arrow: Right 6">
                  <a:extLst>
                    <a:ext uri="{FF2B5EF4-FFF2-40B4-BE49-F238E27FC236}">
                      <a16:creationId xmlns:a16="http://schemas.microsoft.com/office/drawing/2014/main" id="{F4A186ED-4FE7-42C6-99FF-A03BEE2F340A}"/>
                    </a:ext>
                  </a:extLst>
                </p:cNvPr>
                <p:cNvSpPr txBox="1"/>
                <p:nvPr/>
              </p:nvSpPr>
              <p:spPr>
                <a:xfrm>
                  <a:off x="1552011" y="2604397"/>
                  <a:ext cx="209039" cy="209871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0" rIns="0" bIns="0" numCol="1" spcCol="1270" anchor="ctr" anchorCtr="0">
                  <a:noAutofit/>
                </a:bodyPr>
                <a:lstStyle/>
                <a:p>
                  <a:pPr marL="0" lvl="0" indent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US" sz="1200" kern="120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3E7DF69-C1E0-485E-B1E6-EB3349733FB0}"/>
                  </a:ext>
                </a:extLst>
              </p:cNvPr>
              <p:cNvGrpSpPr/>
              <p:nvPr/>
            </p:nvGrpSpPr>
            <p:grpSpPr>
              <a:xfrm>
                <a:off x="1851868" y="1381557"/>
                <a:ext cx="1091100" cy="1650777"/>
                <a:chOff x="1974597" y="1883944"/>
                <a:chExt cx="1410426" cy="1650777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EFEB9394-688D-49A7-82E7-A60E49F306AC}"/>
                    </a:ext>
                  </a:extLst>
                </p:cNvPr>
                <p:cNvSpPr/>
                <p:nvPr/>
              </p:nvSpPr>
              <p:spPr>
                <a:xfrm>
                  <a:off x="1974597" y="1883944"/>
                  <a:ext cx="1410426" cy="1650777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32" name="Rectangle: Rounded Corners 8">
                  <a:extLst>
                    <a:ext uri="{FF2B5EF4-FFF2-40B4-BE49-F238E27FC236}">
                      <a16:creationId xmlns:a16="http://schemas.microsoft.com/office/drawing/2014/main" id="{CE6D705C-F2F7-45AE-8473-CB50849AAB4A}"/>
                    </a:ext>
                  </a:extLst>
                </p:cNvPr>
                <p:cNvSpPr txBox="1"/>
                <p:nvPr/>
              </p:nvSpPr>
              <p:spPr>
                <a:xfrm>
                  <a:off x="2015907" y="1925254"/>
                  <a:ext cx="1327806" cy="1568157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kern="1200" dirty="0"/>
                    <a:t>Payment committed in WUBS system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A896486-DFD7-4A83-9E05-758EC825524E}"/>
                  </a:ext>
                </a:extLst>
              </p:cNvPr>
              <p:cNvGrpSpPr/>
              <p:nvPr/>
            </p:nvGrpSpPr>
            <p:grpSpPr>
              <a:xfrm>
                <a:off x="3007914" y="2032053"/>
                <a:ext cx="252787" cy="349785"/>
                <a:chOff x="3526066" y="2534440"/>
                <a:chExt cx="299010" cy="349785"/>
              </a:xfrm>
            </p:grpSpPr>
            <p:sp>
              <p:nvSpPr>
                <p:cNvPr id="29" name="Arrow: Right 28">
                  <a:extLst>
                    <a:ext uri="{FF2B5EF4-FFF2-40B4-BE49-F238E27FC236}">
                      <a16:creationId xmlns:a16="http://schemas.microsoft.com/office/drawing/2014/main" id="{83170348-E8B2-4A46-BBAF-DB9A6222655F}"/>
                    </a:ext>
                  </a:extLst>
                </p:cNvPr>
                <p:cNvSpPr/>
                <p:nvPr/>
              </p:nvSpPr>
              <p:spPr>
                <a:xfrm>
                  <a:off x="3526066" y="2534440"/>
                  <a:ext cx="299010" cy="349785"/>
                </a:xfrm>
                <a:prstGeom prst="rightArrow">
                  <a:avLst>
                    <a:gd name="adj1" fmla="val 60000"/>
                    <a:gd name="adj2" fmla="val 50000"/>
                  </a:avLst>
                </a:prstGeom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30" name="Arrow: Right 10">
                  <a:extLst>
                    <a:ext uri="{FF2B5EF4-FFF2-40B4-BE49-F238E27FC236}">
                      <a16:creationId xmlns:a16="http://schemas.microsoft.com/office/drawing/2014/main" id="{793767E5-E567-47FB-8734-92A6BC023360}"/>
                    </a:ext>
                  </a:extLst>
                </p:cNvPr>
                <p:cNvSpPr txBox="1"/>
                <p:nvPr/>
              </p:nvSpPr>
              <p:spPr>
                <a:xfrm>
                  <a:off x="3526066" y="2604397"/>
                  <a:ext cx="209307" cy="209871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0" rIns="0" bIns="0" numCol="1" spcCol="1270" anchor="ctr" anchorCtr="0">
                  <a:noAutofit/>
                </a:bodyPr>
                <a:lstStyle/>
                <a:p>
                  <a:pPr marL="0" lvl="0" indent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US" sz="1200" kern="120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E4EE1DA-9297-46B3-83BF-140635373D94}"/>
                  </a:ext>
                </a:extLst>
              </p:cNvPr>
              <p:cNvGrpSpPr/>
              <p:nvPr/>
            </p:nvGrpSpPr>
            <p:grpSpPr>
              <a:xfrm>
                <a:off x="3373375" y="1381557"/>
                <a:ext cx="1091100" cy="1650777"/>
                <a:chOff x="3949194" y="1883944"/>
                <a:chExt cx="1410426" cy="1650777"/>
              </a:xfrm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D366186D-04D4-423A-B0B9-06775E5A6FB6}"/>
                    </a:ext>
                  </a:extLst>
                </p:cNvPr>
                <p:cNvSpPr/>
                <p:nvPr/>
              </p:nvSpPr>
              <p:spPr>
                <a:xfrm>
                  <a:off x="3949194" y="1883944"/>
                  <a:ext cx="1410426" cy="1650777"/>
                </a:xfrm>
                <a:prstGeom prst="roundRect">
                  <a:avLst>
                    <a:gd name="adj" fmla="val 10000"/>
                  </a:avLst>
                </a:prstGeom>
                <a:solidFill>
                  <a:schemeClr val="tx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8" name="Rectangle: Rounded Corners 12">
                  <a:extLst>
                    <a:ext uri="{FF2B5EF4-FFF2-40B4-BE49-F238E27FC236}">
                      <a16:creationId xmlns:a16="http://schemas.microsoft.com/office/drawing/2014/main" id="{B408F358-C08D-426A-B53D-D7B235C41595}"/>
                    </a:ext>
                  </a:extLst>
                </p:cNvPr>
                <p:cNvSpPr txBox="1"/>
                <p:nvPr/>
              </p:nvSpPr>
              <p:spPr>
                <a:xfrm>
                  <a:off x="3990504" y="1925254"/>
                  <a:ext cx="1327806" cy="1568157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8580" tIns="68580" rIns="68580" bIns="68580" numCol="1" spcCol="1270" anchor="ctr" anchorCtr="0">
                  <a:noAutofit/>
                </a:bodyPr>
                <a:lstStyle/>
                <a:p>
                  <a:pPr marL="0" lvl="0" indent="0" algn="ctr" defTabSz="8001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kern="1200" dirty="0"/>
                    <a:t>VMS Workflow</a:t>
                  </a:r>
                </a:p>
                <a:p>
                  <a:pPr marL="0" lvl="0" indent="0" algn="ctr" defTabSz="8001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kern="1200" dirty="0"/>
                    <a:t>  </a:t>
                  </a:r>
                  <a:r>
                    <a:rPr lang="en-US" sz="1000" i="1" kern="1200" dirty="0"/>
                    <a:t>Validation of payment information</a:t>
                  </a:r>
                </a:p>
                <a:p>
                  <a:pPr lvl="0"/>
                  <a:endParaRPr lang="en-US" sz="800" i="1" dirty="0">
                    <a:solidFill>
                      <a:prstClr val="black"/>
                    </a:solidFill>
                  </a:endParaRPr>
                </a:p>
                <a:p>
                  <a:pPr lvl="0" algn="ctr"/>
                  <a:r>
                    <a:rPr lang="en-US" sz="800" i="1" dirty="0">
                      <a:solidFill>
                        <a:schemeClr val="bg1"/>
                      </a:solidFill>
                    </a:rPr>
                    <a:t>CWB Contacted if information required</a:t>
                  </a:r>
                  <a:endParaRPr lang="en-US" sz="1200" i="1" kern="1200" dirty="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D1D268C-BF89-49E0-8D56-349120ED7E7F}"/>
                  </a:ext>
                </a:extLst>
              </p:cNvPr>
              <p:cNvGrpSpPr/>
              <p:nvPr/>
            </p:nvGrpSpPr>
            <p:grpSpPr>
              <a:xfrm>
                <a:off x="4816074" y="1381557"/>
                <a:ext cx="1091100" cy="1650777"/>
                <a:chOff x="6100355" y="1883944"/>
                <a:chExt cx="1410426" cy="1650777"/>
              </a:xfrm>
            </p:grpSpPr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4E22A114-A8DE-4A64-A557-B2E903C470E3}"/>
                    </a:ext>
                  </a:extLst>
                </p:cNvPr>
                <p:cNvSpPr/>
                <p:nvPr/>
              </p:nvSpPr>
              <p:spPr>
                <a:xfrm>
                  <a:off x="6100355" y="1883944"/>
                  <a:ext cx="1410426" cy="1650777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6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6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2" name="Rectangle: Rounded Corners 18">
                  <a:extLst>
                    <a:ext uri="{FF2B5EF4-FFF2-40B4-BE49-F238E27FC236}">
                      <a16:creationId xmlns:a16="http://schemas.microsoft.com/office/drawing/2014/main" id="{CE1BE866-B425-4C3C-B1F8-A998132445BF}"/>
                    </a:ext>
                  </a:extLst>
                </p:cNvPr>
                <p:cNvSpPr txBox="1"/>
                <p:nvPr/>
              </p:nvSpPr>
              <p:spPr>
                <a:xfrm>
                  <a:off x="6141665" y="1925254"/>
                  <a:ext cx="1327806" cy="1568157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kern="1200" dirty="0"/>
                    <a:t>Payment Completes</a:t>
                  </a:r>
                </a:p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dirty="0"/>
                    <a:t>Verification</a:t>
                  </a:r>
                  <a:r>
                    <a:rPr lang="en-US" sz="1200" kern="1200" dirty="0"/>
                    <a:t> Workflow 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49500C1-8ECC-4E44-AE62-77CD88CE8A6F}"/>
                  </a:ext>
                </a:extLst>
              </p:cNvPr>
              <p:cNvGrpSpPr/>
              <p:nvPr/>
            </p:nvGrpSpPr>
            <p:grpSpPr>
              <a:xfrm>
                <a:off x="5943221" y="2032053"/>
                <a:ext cx="239252" cy="349785"/>
                <a:chOff x="7803158" y="2534440"/>
                <a:chExt cx="503078" cy="349785"/>
              </a:xfrm>
            </p:grpSpPr>
            <p:sp>
              <p:nvSpPr>
                <p:cNvPr id="19" name="Arrow: Right 18">
                  <a:extLst>
                    <a:ext uri="{FF2B5EF4-FFF2-40B4-BE49-F238E27FC236}">
                      <a16:creationId xmlns:a16="http://schemas.microsoft.com/office/drawing/2014/main" id="{266C3EB6-85B6-47CB-B370-EDC687133E6A}"/>
                    </a:ext>
                  </a:extLst>
                </p:cNvPr>
                <p:cNvSpPr/>
                <p:nvPr/>
              </p:nvSpPr>
              <p:spPr>
                <a:xfrm>
                  <a:off x="7803158" y="2534440"/>
                  <a:ext cx="503078" cy="349785"/>
                </a:xfrm>
                <a:prstGeom prst="rightArrow">
                  <a:avLst>
                    <a:gd name="adj1" fmla="val 60000"/>
                    <a:gd name="adj2" fmla="val 50000"/>
                  </a:avLst>
                </a:prstGeom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6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6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0" name="Arrow: Right 20">
                  <a:extLst>
                    <a:ext uri="{FF2B5EF4-FFF2-40B4-BE49-F238E27FC236}">
                      <a16:creationId xmlns:a16="http://schemas.microsoft.com/office/drawing/2014/main" id="{EFCA1D04-63B0-4E1B-9319-5A474D415CA0}"/>
                    </a:ext>
                  </a:extLst>
                </p:cNvPr>
                <p:cNvSpPr txBox="1"/>
                <p:nvPr/>
              </p:nvSpPr>
              <p:spPr>
                <a:xfrm>
                  <a:off x="7803158" y="2604397"/>
                  <a:ext cx="398143" cy="209871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0" rIns="0" bIns="0" numCol="1" spcCol="1270" anchor="ctr" anchorCtr="0">
                  <a:noAutofit/>
                </a:bodyPr>
                <a:lstStyle/>
                <a:p>
                  <a:pPr marL="0" lvl="0" indent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US" sz="1200" kern="1200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A107687-2FCD-44BA-9176-10E0C4E574C0}"/>
                  </a:ext>
                </a:extLst>
              </p:cNvPr>
              <p:cNvGrpSpPr/>
              <p:nvPr/>
            </p:nvGrpSpPr>
            <p:grpSpPr>
              <a:xfrm>
                <a:off x="6240911" y="1381557"/>
                <a:ext cx="1197853" cy="1650777"/>
                <a:chOff x="9872987" y="1883944"/>
                <a:chExt cx="1410426" cy="1650777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5A1F657A-F8C7-418F-B137-641BC71DCE36}"/>
                    </a:ext>
                  </a:extLst>
                </p:cNvPr>
                <p:cNvSpPr/>
                <p:nvPr/>
              </p:nvSpPr>
              <p:spPr>
                <a:xfrm>
                  <a:off x="9872987" y="1883944"/>
                  <a:ext cx="1410426" cy="1650777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8" name="Rectangle: Rounded Corners 22">
                  <a:extLst>
                    <a:ext uri="{FF2B5EF4-FFF2-40B4-BE49-F238E27FC236}">
                      <a16:creationId xmlns:a16="http://schemas.microsoft.com/office/drawing/2014/main" id="{E208D12E-DA81-4AE7-8A2E-F04A95177B58}"/>
                    </a:ext>
                  </a:extLst>
                </p:cNvPr>
                <p:cNvSpPr txBox="1"/>
                <p:nvPr/>
              </p:nvSpPr>
              <p:spPr>
                <a:xfrm>
                  <a:off x="9914297" y="1925254"/>
                  <a:ext cx="1327806" cy="1568157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marL="0" lvl="1"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n-US" sz="1200" kern="1200" dirty="0"/>
                    <a:t>Payment in OFAC stage</a:t>
                  </a:r>
                </a:p>
                <a:p>
                  <a:pPr marL="0" lvl="1"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endParaRPr lang="en-US" sz="1000" i="1" dirty="0"/>
                </a:p>
                <a:p>
                  <a:pPr marL="0" lvl="1"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n-US" sz="800" i="1" dirty="0"/>
                    <a:t>Held for Compliance review</a:t>
                  </a:r>
                </a:p>
                <a:p>
                  <a:pPr marL="0" lvl="1"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endParaRPr lang="en-US" sz="800" i="1" dirty="0"/>
                </a:p>
                <a:p>
                  <a:pPr marL="0" lvl="1"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n-US" sz="800" i="1" dirty="0">
                      <a:solidFill>
                        <a:schemeClr val="bg1"/>
                      </a:solidFill>
                    </a:rPr>
                    <a:t>CWB Contacted if information required</a:t>
                  </a:r>
                  <a:endParaRPr lang="en-US" sz="1200" i="1" dirty="0"/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7F57E061-7D29-4B15-A7AB-025ED91A301A}"/>
                  </a:ext>
                </a:extLst>
              </p:cNvPr>
              <p:cNvGrpSpPr/>
              <p:nvPr/>
            </p:nvGrpSpPr>
            <p:grpSpPr>
              <a:xfrm>
                <a:off x="4519556" y="2044407"/>
                <a:ext cx="263086" cy="349785"/>
                <a:chOff x="3526066" y="2534440"/>
                <a:chExt cx="299010" cy="349785"/>
              </a:xfrm>
              <a:solidFill>
                <a:schemeClr val="accent4"/>
              </a:solidFill>
            </p:grpSpPr>
            <p:sp>
              <p:nvSpPr>
                <p:cNvPr id="38" name="Arrow: Right 37">
                  <a:extLst>
                    <a:ext uri="{FF2B5EF4-FFF2-40B4-BE49-F238E27FC236}">
                      <a16:creationId xmlns:a16="http://schemas.microsoft.com/office/drawing/2014/main" id="{DD23C1A1-B973-49DD-BC6D-7A99A6DA3330}"/>
                    </a:ext>
                  </a:extLst>
                </p:cNvPr>
                <p:cNvSpPr/>
                <p:nvPr/>
              </p:nvSpPr>
              <p:spPr>
                <a:xfrm>
                  <a:off x="3526066" y="2534440"/>
                  <a:ext cx="299010" cy="349785"/>
                </a:xfrm>
                <a:prstGeom prst="rightArrow">
                  <a:avLst>
                    <a:gd name="adj1" fmla="val 60000"/>
                    <a:gd name="adj2" fmla="val 50000"/>
                  </a:avLst>
                </a:prstGeom>
                <a:solidFill>
                  <a:schemeClr val="tx2"/>
                </a:solidFill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39" name="Arrow: Right 10">
                  <a:extLst>
                    <a:ext uri="{FF2B5EF4-FFF2-40B4-BE49-F238E27FC236}">
                      <a16:creationId xmlns:a16="http://schemas.microsoft.com/office/drawing/2014/main" id="{B2BB6F4C-6BBD-4AD3-8AF1-8CB925F18EC9}"/>
                    </a:ext>
                  </a:extLst>
                </p:cNvPr>
                <p:cNvSpPr txBox="1"/>
                <p:nvPr/>
              </p:nvSpPr>
              <p:spPr>
                <a:xfrm>
                  <a:off x="3526066" y="2604397"/>
                  <a:ext cx="209307" cy="209871"/>
                </a:xfrm>
                <a:prstGeom prst="rect">
                  <a:avLst/>
                </a:prstGeom>
                <a:solidFill>
                  <a:schemeClr val="tx2"/>
                </a:solidFill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0" rIns="0" bIns="0" numCol="1" spcCol="1270" anchor="ctr" anchorCtr="0">
                  <a:noAutofit/>
                </a:bodyPr>
                <a:lstStyle/>
                <a:p>
                  <a:pPr marL="0" lvl="0" indent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US" sz="1200" kern="1200"/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01AD2E7-D092-4894-BFF7-BE76CC2C48A2}"/>
                  </a:ext>
                </a:extLst>
              </p:cNvPr>
              <p:cNvGrpSpPr/>
              <p:nvPr/>
            </p:nvGrpSpPr>
            <p:grpSpPr>
              <a:xfrm>
                <a:off x="7785499" y="1377435"/>
                <a:ext cx="1197853" cy="1650777"/>
                <a:chOff x="9872987" y="1883944"/>
                <a:chExt cx="1410426" cy="1650777"/>
              </a:xfrm>
              <a:solidFill>
                <a:schemeClr val="accent1"/>
              </a:solidFill>
            </p:grpSpPr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164AC493-81F9-4DEF-97F8-8A81C6FCCD73}"/>
                    </a:ext>
                  </a:extLst>
                </p:cNvPr>
                <p:cNvSpPr/>
                <p:nvPr/>
              </p:nvSpPr>
              <p:spPr>
                <a:xfrm>
                  <a:off x="9872987" y="1883944"/>
                  <a:ext cx="1410426" cy="1650777"/>
                </a:xfrm>
                <a:prstGeom prst="roundRect">
                  <a:avLst>
                    <a:gd name="adj" fmla="val 10000"/>
                  </a:avLst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46" name="Rectangle: Rounded Corners 22">
                  <a:extLst>
                    <a:ext uri="{FF2B5EF4-FFF2-40B4-BE49-F238E27FC236}">
                      <a16:creationId xmlns:a16="http://schemas.microsoft.com/office/drawing/2014/main" id="{029F1215-574B-4D65-BA01-D70B38733DB6}"/>
                    </a:ext>
                  </a:extLst>
                </p:cNvPr>
                <p:cNvSpPr txBox="1"/>
                <p:nvPr/>
              </p:nvSpPr>
              <p:spPr>
                <a:xfrm>
                  <a:off x="9914297" y="1925254"/>
                  <a:ext cx="1327806" cy="1568157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kern="1200" dirty="0"/>
                    <a:t>Compliance Hold removed and Payment Released</a:t>
                  </a:r>
                </a:p>
              </p:txBody>
            </p:sp>
          </p:grpSp>
          <p:sp>
            <p:nvSpPr>
              <p:cNvPr id="48" name="Arrow: Right 47">
                <a:extLst>
                  <a:ext uri="{FF2B5EF4-FFF2-40B4-BE49-F238E27FC236}">
                    <a16:creationId xmlns:a16="http://schemas.microsoft.com/office/drawing/2014/main" id="{3BD38A04-1060-4FDD-A755-45AC30C34E67}"/>
                  </a:ext>
                </a:extLst>
              </p:cNvPr>
              <p:cNvSpPr/>
              <p:nvPr/>
            </p:nvSpPr>
            <p:spPr>
              <a:xfrm>
                <a:off x="7454868" y="2036169"/>
                <a:ext cx="261462" cy="349785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2"/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6F082B6D-009E-479A-BCFC-AA11A6DCCD7E}"/>
                  </a:ext>
                </a:extLst>
              </p:cNvPr>
              <p:cNvGrpSpPr/>
              <p:nvPr/>
            </p:nvGrpSpPr>
            <p:grpSpPr>
              <a:xfrm>
                <a:off x="9346574" y="1365076"/>
                <a:ext cx="1197853" cy="1650777"/>
                <a:chOff x="9872987" y="1883944"/>
                <a:chExt cx="1410426" cy="1650777"/>
              </a:xfrm>
              <a:solidFill>
                <a:schemeClr val="accent2">
                  <a:lumMod val="50000"/>
                </a:schemeClr>
              </a:solidFill>
            </p:grpSpPr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9032A131-28CE-477D-AC69-01DB9AC3CA01}"/>
                    </a:ext>
                  </a:extLst>
                </p:cNvPr>
                <p:cNvSpPr/>
                <p:nvPr/>
              </p:nvSpPr>
              <p:spPr>
                <a:xfrm>
                  <a:off x="9872987" y="1883944"/>
                  <a:ext cx="1410426" cy="1650777"/>
                </a:xfrm>
                <a:prstGeom prst="roundRect">
                  <a:avLst>
                    <a:gd name="adj" fmla="val 10000"/>
                  </a:avLst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56" name="Rectangle: Rounded Corners 22">
                  <a:extLst>
                    <a:ext uri="{FF2B5EF4-FFF2-40B4-BE49-F238E27FC236}">
                      <a16:creationId xmlns:a16="http://schemas.microsoft.com/office/drawing/2014/main" id="{2B7BF28C-997A-44BA-A6D3-D72275FDB175}"/>
                    </a:ext>
                  </a:extLst>
                </p:cNvPr>
                <p:cNvSpPr txBox="1"/>
                <p:nvPr/>
              </p:nvSpPr>
              <p:spPr>
                <a:xfrm>
                  <a:off x="9914297" y="1925254"/>
                  <a:ext cx="1327806" cy="1568157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kern="1200" dirty="0"/>
                    <a:t>Payment is matched for Funding</a:t>
                  </a:r>
                </a:p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US" sz="1200" kern="1200" dirty="0"/>
                </a:p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000" i="1" kern="1200" dirty="0"/>
                    <a:t>Trade Credit Limit of $19M is used</a:t>
                  </a:r>
                  <a:endParaRPr lang="en-US" sz="1200" kern="1200" dirty="0"/>
                </a:p>
              </p:txBody>
            </p:sp>
          </p:grpSp>
          <p:sp>
            <p:nvSpPr>
              <p:cNvPr id="57" name="Arrow: Right 56">
                <a:extLst>
                  <a:ext uri="{FF2B5EF4-FFF2-40B4-BE49-F238E27FC236}">
                    <a16:creationId xmlns:a16="http://schemas.microsoft.com/office/drawing/2014/main" id="{C4459413-CD8C-4B7E-B799-017BA9EBE208}"/>
                  </a:ext>
                </a:extLst>
              </p:cNvPr>
              <p:cNvSpPr/>
              <p:nvPr/>
            </p:nvSpPr>
            <p:spPr>
              <a:xfrm>
                <a:off x="8994148" y="2044407"/>
                <a:ext cx="261462" cy="349785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1"/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BEA289D0-2F0C-44A5-A477-CE5A14B0C832}"/>
                  </a:ext>
                </a:extLst>
              </p:cNvPr>
              <p:cNvGrpSpPr/>
              <p:nvPr/>
            </p:nvGrpSpPr>
            <p:grpSpPr>
              <a:xfrm>
                <a:off x="10899416" y="1360954"/>
                <a:ext cx="1197853" cy="1650777"/>
                <a:chOff x="9872987" y="1883944"/>
                <a:chExt cx="1410426" cy="1650777"/>
              </a:xfrm>
              <a:solidFill>
                <a:schemeClr val="accent6">
                  <a:lumMod val="50000"/>
                </a:schemeClr>
              </a:solidFill>
            </p:grpSpPr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A43CDD46-7B57-4823-B35F-9D7A203654F1}"/>
                    </a:ext>
                  </a:extLst>
                </p:cNvPr>
                <p:cNvSpPr/>
                <p:nvPr/>
              </p:nvSpPr>
              <p:spPr>
                <a:xfrm>
                  <a:off x="9872987" y="1883944"/>
                  <a:ext cx="1410426" cy="1650777"/>
                </a:xfrm>
                <a:prstGeom prst="roundRect">
                  <a:avLst>
                    <a:gd name="adj" fmla="val 10000"/>
                  </a:avLst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60" name="Rectangle: Rounded Corners 22">
                  <a:extLst>
                    <a:ext uri="{FF2B5EF4-FFF2-40B4-BE49-F238E27FC236}">
                      <a16:creationId xmlns:a16="http://schemas.microsoft.com/office/drawing/2014/main" id="{A7CF8029-F52E-4581-B062-598660BD813A}"/>
                    </a:ext>
                  </a:extLst>
                </p:cNvPr>
                <p:cNvSpPr txBox="1"/>
                <p:nvPr/>
              </p:nvSpPr>
              <p:spPr>
                <a:xfrm>
                  <a:off x="9914297" y="1925254"/>
                  <a:ext cx="1327806" cy="1568157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200" kern="1200" dirty="0"/>
                    <a:t>Payment is Released</a:t>
                  </a:r>
                </a:p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US" sz="1200" dirty="0"/>
                </a:p>
                <a:p>
                  <a:pPr marL="0" lvl="0" indent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000" i="1" kern="1200" dirty="0"/>
                    <a:t>According to cut offs</a:t>
                  </a:r>
                  <a:endParaRPr lang="en-US" sz="900" i="1" kern="1200" dirty="0"/>
                </a:p>
              </p:txBody>
            </p:sp>
          </p:grpSp>
          <p:sp>
            <p:nvSpPr>
              <p:cNvPr id="61" name="Arrow: Right 60">
                <a:extLst>
                  <a:ext uri="{FF2B5EF4-FFF2-40B4-BE49-F238E27FC236}">
                    <a16:creationId xmlns:a16="http://schemas.microsoft.com/office/drawing/2014/main" id="{013133FB-BC4F-4FCF-8A95-A6226B32A93F}"/>
                  </a:ext>
                </a:extLst>
              </p:cNvPr>
              <p:cNvSpPr/>
              <p:nvPr/>
            </p:nvSpPr>
            <p:spPr>
              <a:xfrm>
                <a:off x="10588174" y="2040285"/>
                <a:ext cx="261462" cy="349785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2A835C8-71F0-44D2-9C07-FAF1727D08C7}"/>
                </a:ext>
              </a:extLst>
            </p:cNvPr>
            <p:cNvSpPr/>
            <p:nvPr/>
          </p:nvSpPr>
          <p:spPr>
            <a:xfrm rot="5400000">
              <a:off x="950027" y="253064"/>
              <a:ext cx="250548" cy="147791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r>
                <a:rPr lang="en-US" sz="14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PAYMENT FLOW</a:t>
              </a: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AF8BD5B4-97BC-479C-870D-4EAC2FA15DB4}"/>
                </a:ext>
              </a:extLst>
            </p:cNvPr>
            <p:cNvSpPr/>
            <p:nvPr/>
          </p:nvSpPr>
          <p:spPr>
            <a:xfrm>
              <a:off x="3979431" y="844982"/>
              <a:ext cx="1409691" cy="385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Ins="91440" bIns="0" rtlCol="0" anchor="t"/>
            <a:lstStyle/>
            <a:p>
              <a:r>
                <a:rPr lang="en-US" sz="900" b="1" i="1" dirty="0">
                  <a:solidFill>
                    <a:schemeClr val="tx1"/>
                  </a:solidFill>
                </a:rPr>
                <a:t>Primary OFAC check runs in parallel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B0B139-75A5-4864-B9E6-18540237B7E3}"/>
                </a:ext>
              </a:extLst>
            </p:cNvPr>
            <p:cNvCxnSpPr/>
            <p:nvPr/>
          </p:nvCxnSpPr>
          <p:spPr>
            <a:xfrm>
              <a:off x="4448440" y="1230126"/>
              <a:ext cx="0" cy="823245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51A5666C-6BDA-400E-B9A0-B74336B1E494}"/>
              </a:ext>
            </a:extLst>
          </p:cNvPr>
          <p:cNvSpPr/>
          <p:nvPr/>
        </p:nvSpPr>
        <p:spPr>
          <a:xfrm>
            <a:off x="3210648" y="3119844"/>
            <a:ext cx="1081823" cy="22880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 anchorCtr="1"/>
          <a:lstStyle/>
          <a:p>
            <a:pPr algn="ctr"/>
            <a:r>
              <a:rPr lang="en-US" sz="900" b="1" i="1" dirty="0">
                <a:solidFill>
                  <a:schemeClr val="tx1"/>
                </a:solidFill>
              </a:rPr>
              <a:t>2 Hour SLA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98EF979A-59A4-4697-90C4-31C9002E6B50}"/>
              </a:ext>
            </a:extLst>
          </p:cNvPr>
          <p:cNvSpPr/>
          <p:nvPr/>
        </p:nvSpPr>
        <p:spPr>
          <a:xfrm>
            <a:off x="9248297" y="3116602"/>
            <a:ext cx="1081823" cy="22880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i="1" dirty="0">
                <a:solidFill>
                  <a:schemeClr val="tx1"/>
                </a:solidFill>
              </a:rPr>
              <a:t>2 Hour SLA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54219E7A-5E47-4408-9E36-2DBAA6869ED7}"/>
              </a:ext>
            </a:extLst>
          </p:cNvPr>
          <p:cNvSpPr/>
          <p:nvPr/>
        </p:nvSpPr>
        <p:spPr>
          <a:xfrm>
            <a:off x="3265286" y="6079347"/>
            <a:ext cx="1081823" cy="2553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 anchorCtr="1"/>
          <a:lstStyle/>
          <a:p>
            <a:pPr algn="ctr"/>
            <a:r>
              <a:rPr lang="en-US" sz="900" b="1" i="1" dirty="0">
                <a:solidFill>
                  <a:schemeClr val="tx1"/>
                </a:solidFill>
              </a:rPr>
              <a:t>Every 30 minutes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F8CEEE8D-D3FC-4C8E-B109-60C8242CF904}"/>
              </a:ext>
            </a:extLst>
          </p:cNvPr>
          <p:cNvSpPr/>
          <p:nvPr/>
        </p:nvSpPr>
        <p:spPr>
          <a:xfrm>
            <a:off x="4740801" y="6089075"/>
            <a:ext cx="1081823" cy="2553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 anchorCtr="1"/>
          <a:lstStyle/>
          <a:p>
            <a:pPr algn="ctr"/>
            <a:r>
              <a:rPr lang="en-US" sz="900" b="1" i="1" dirty="0">
                <a:solidFill>
                  <a:schemeClr val="tx1"/>
                </a:solidFill>
              </a:rPr>
              <a:t>3 times per day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1FAB3BEE-7D3A-496C-BF02-7DB76344CE35}"/>
              </a:ext>
            </a:extLst>
          </p:cNvPr>
          <p:cNvSpPr/>
          <p:nvPr/>
        </p:nvSpPr>
        <p:spPr>
          <a:xfrm>
            <a:off x="6274529" y="6085832"/>
            <a:ext cx="1081823" cy="2553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 anchorCtr="1"/>
          <a:lstStyle/>
          <a:p>
            <a:pPr algn="ctr"/>
            <a:r>
              <a:rPr lang="en-US" sz="900" b="1" i="1" dirty="0">
                <a:solidFill>
                  <a:schemeClr val="tx1"/>
                </a:solidFill>
              </a:rPr>
              <a:t>1 hour SLA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93A96F0C-ED28-4C84-AA18-9E7711B236D1}"/>
              </a:ext>
            </a:extLst>
          </p:cNvPr>
          <p:cNvSpPr/>
          <p:nvPr/>
        </p:nvSpPr>
        <p:spPr>
          <a:xfrm>
            <a:off x="301774" y="6118522"/>
            <a:ext cx="1081823" cy="2553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 anchorCtr="1"/>
          <a:lstStyle/>
          <a:p>
            <a:pPr algn="ctr"/>
            <a:r>
              <a:rPr lang="en-US" sz="900" b="1" i="1" dirty="0">
                <a:solidFill>
                  <a:schemeClr val="tx1"/>
                </a:solidFill>
              </a:rPr>
              <a:t>3 manual extracts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AD2D8DF1-57C4-4AF5-8090-4863DD1F8862}"/>
              </a:ext>
            </a:extLst>
          </p:cNvPr>
          <p:cNvSpPr/>
          <p:nvPr/>
        </p:nvSpPr>
        <p:spPr>
          <a:xfrm>
            <a:off x="7803389" y="6065263"/>
            <a:ext cx="1192144" cy="2553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 anchorCtr="1"/>
          <a:lstStyle/>
          <a:p>
            <a:pPr algn="ctr"/>
            <a:r>
              <a:rPr lang="en-US" sz="900" b="1" i="1" dirty="0">
                <a:solidFill>
                  <a:schemeClr val="tx1"/>
                </a:solidFill>
              </a:rPr>
              <a:t>Every 1 hour</a:t>
            </a:r>
          </a:p>
        </p:txBody>
      </p:sp>
    </p:spTree>
    <p:extLst>
      <p:ext uri="{BB962C8B-B14F-4D97-AF65-F5344CB8AC3E}">
        <p14:creationId xmlns:p14="http://schemas.microsoft.com/office/powerpoint/2010/main" val="13656640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68B9B66D-2C99-4E1D-868A-58AC89109FCD}"/>
</file>

<file path=customXml/itemProps2.xml><?xml version="1.0" encoding="utf-8"?>
<ds:datastoreItem xmlns:ds="http://schemas.openxmlformats.org/officeDocument/2006/customXml" ds:itemID="{0198B31A-3AA3-4D43-BFF8-345E48EF2DB9}"/>
</file>

<file path=customXml/itemProps3.xml><?xml version="1.0" encoding="utf-8"?>
<ds:datastoreItem xmlns:ds="http://schemas.openxmlformats.org/officeDocument/2006/customXml" ds:itemID="{CA253265-F799-4C30-96D2-AB9B0C89A8B1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219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Century Gothic</vt:lpstr>
      <vt:lpstr>Euclid WU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Suri</dc:creator>
  <cp:lastModifiedBy>Amit Suri</cp:lastModifiedBy>
  <cp:revision>19</cp:revision>
  <dcterms:created xsi:type="dcterms:W3CDTF">2019-04-03T20:26:14Z</dcterms:created>
  <dcterms:modified xsi:type="dcterms:W3CDTF">2019-04-17T17:30:23Z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113600</vt:r8>
  </property>
  <property fmtid="{D5CDD505-2E9C-101B-9397-08002B2CF9AE}" pid="4" name="URL">
    <vt:lpwstr/>
  </property>
</Properties>
</file>