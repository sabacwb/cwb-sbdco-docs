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slideLayouts/slideLayout13.xml" ContentType="application/vnd.openxmlformats-officedocument.presentationml.slideLayout+xml"/>
  <Override PartName="/ppt/theme/theme7.xml" ContentType="application/vnd.openxmlformats-officedocument.theme+xml"/>
  <Override PartName="/ppt/slideLayouts/slideLayout14.xml" ContentType="application/vnd.openxmlformats-officedocument.presentationml.slideLayout+xml"/>
  <Override PartName="/ppt/theme/theme8.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9.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10.xml" ContentType="application/vnd.openxmlformats-officedocument.theme+xml"/>
  <Override PartName="/ppt/slideLayouts/slideLayout23.xml" ContentType="application/vnd.openxmlformats-officedocument.presentationml.slideLayout+xml"/>
  <Override PartName="/ppt/theme/theme11.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12.xml" ContentType="application/vnd.openxmlformats-officedocument.theme+xml"/>
  <Override PartName="/ppt/slideLayouts/slideLayout30.xml" ContentType="application/vnd.openxmlformats-officedocument.presentationml.slideLayout+xml"/>
  <Override PartName="/ppt/theme/theme13.xml" ContentType="application/vnd.openxmlformats-officedocument.theme+xml"/>
  <Override PartName="/ppt/slideLayouts/slideLayout31.xml" ContentType="application/vnd.openxmlformats-officedocument.presentationml.slideLayout+xml"/>
  <Override PartName="/ppt/theme/theme14.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15.xml" ContentType="application/vnd.openxmlformats-officedocument.theme+xml"/>
  <Override PartName="/ppt/slideLayouts/slideLayout38.xml" ContentType="application/vnd.openxmlformats-officedocument.presentationml.slideLayout+xml"/>
  <Override PartName="/ppt/theme/theme16.xml" ContentType="application/vnd.openxmlformats-officedocument.theme+xml"/>
  <Override PartName="/ppt/slideLayouts/slideLayout39.xml" ContentType="application/vnd.openxmlformats-officedocument.presentationml.slideLayout+xml"/>
  <Override PartName="/ppt/theme/theme17.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18.xml" ContentType="application/vnd.openxmlformats-officedocument.theme+xml"/>
  <Override PartName="/ppt/slideLayouts/slideLayout46.xml" ContentType="application/vnd.openxmlformats-officedocument.presentationml.slideLayout+xml"/>
  <Override PartName="/ppt/theme/theme19.xml" ContentType="application/vnd.openxmlformats-officedocument.theme+xml"/>
  <Override PartName="/ppt/slideLayouts/slideLayout47.xml" ContentType="application/vnd.openxmlformats-officedocument.presentationml.slideLayout+xml"/>
  <Override PartName="/ppt/theme/theme20.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1.xml" ContentType="application/vnd.openxmlformats-officedocument.theme+xml"/>
  <Override PartName="/ppt/slideLayouts/slideLayout54.xml" ContentType="application/vnd.openxmlformats-officedocument.presentationml.slideLayout+xml"/>
  <Override PartName="/ppt/theme/theme22.xml" ContentType="application/vnd.openxmlformats-officedocument.theme+xml"/>
  <Override PartName="/ppt/slideLayouts/slideLayout55.xml" ContentType="application/vnd.openxmlformats-officedocument.presentationml.slideLayout+xml"/>
  <Override PartName="/ppt/theme/theme23.xml" ContentType="application/vnd.openxmlformats-officedocument.theme+xml"/>
  <Override PartName="/ppt/slideLayouts/slideLayout56.xml" ContentType="application/vnd.openxmlformats-officedocument.presentationml.slideLayout+xml"/>
  <Override PartName="/ppt/theme/theme24.xml" ContentType="application/vnd.openxmlformats-officedocument.theme+xml"/>
  <Override PartName="/ppt/slideLayouts/slideLayout57.xml" ContentType="application/vnd.openxmlformats-officedocument.presentationml.slideLayout+xml"/>
  <Override PartName="/ppt/theme/theme25.xml" ContentType="application/vnd.openxmlformats-officedocument.theme+xml"/>
  <Override PartName="/ppt/slideLayouts/slideLayout58.xml" ContentType="application/vnd.openxmlformats-officedocument.presentationml.slideLayout+xml"/>
  <Override PartName="/ppt/theme/theme26.xml" ContentType="application/vnd.openxmlformats-officedocument.theme+xml"/>
  <Override PartName="/ppt/slideLayouts/slideLayout59.xml" ContentType="application/vnd.openxmlformats-officedocument.presentationml.slideLayout+xml"/>
  <Override PartName="/ppt/theme/theme27.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8.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9.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0.xml" ContentType="application/vnd.openxmlformats-officedocument.theme+xml"/>
  <Override PartName="/ppt/slideLayouts/slideLayout79.xml" ContentType="application/vnd.openxmlformats-officedocument.presentationml.slideLayout+xml"/>
  <Override PartName="/ppt/theme/theme31.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32.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4" r:id="rId4"/>
    <p:sldMasterId id="2147483701" r:id="rId5"/>
    <p:sldMasterId id="2147483709" r:id="rId6"/>
    <p:sldMasterId id="2147483699" r:id="rId7"/>
    <p:sldMasterId id="2147483711" r:id="rId8"/>
    <p:sldMasterId id="2147483800" r:id="rId9"/>
    <p:sldMasterId id="2147483758" r:id="rId10"/>
    <p:sldMasterId id="2147483715" r:id="rId11"/>
    <p:sldMasterId id="2147483808" r:id="rId12"/>
    <p:sldMasterId id="2147483785" r:id="rId13"/>
    <p:sldMasterId id="2147483707" r:id="rId14"/>
    <p:sldMasterId id="2147483816" r:id="rId15"/>
    <p:sldMasterId id="2147483783" r:id="rId16"/>
    <p:sldMasterId id="2147483713" r:id="rId17"/>
    <p:sldMasterId id="2147483823" r:id="rId18"/>
    <p:sldMasterId id="2147483763" r:id="rId19"/>
    <p:sldMasterId id="2147483717" r:id="rId20"/>
    <p:sldMasterId id="2147483830" r:id="rId21"/>
    <p:sldMasterId id="2147483773" r:id="rId22"/>
    <p:sldMasterId id="2147483719" r:id="rId23"/>
    <p:sldMasterId id="2147483837" r:id="rId24"/>
    <p:sldMasterId id="2147483729" r:id="rId25"/>
    <p:sldMasterId id="2147483796" r:id="rId26"/>
    <p:sldMasterId id="2147483846" r:id="rId27"/>
    <p:sldMasterId id="2147483727" r:id="rId28"/>
    <p:sldMasterId id="2147483725" r:id="rId29"/>
    <p:sldMasterId id="2147483798" r:id="rId30"/>
    <p:sldMasterId id="2147483848" r:id="rId31"/>
    <p:sldMasterId id="2147483856" r:id="rId32"/>
    <p:sldMasterId id="2147483863" r:id="rId33"/>
    <p:sldMasterId id="2147483871" r:id="rId34"/>
    <p:sldMasterId id="2147483880" r:id="rId35"/>
    <p:sldMasterId id="2147483897" r:id="rId36"/>
  </p:sldMasterIdLst>
  <p:notesMasterIdLst>
    <p:notesMasterId r:id="rId43"/>
  </p:notesMasterIdLst>
  <p:handoutMasterIdLst>
    <p:handoutMasterId r:id="rId44"/>
  </p:handoutMasterIdLst>
  <p:sldIdLst>
    <p:sldId id="452" r:id="rId37"/>
    <p:sldId id="498" r:id="rId38"/>
    <p:sldId id="496" r:id="rId39"/>
    <p:sldId id="499" r:id="rId40"/>
    <p:sldId id="495" r:id="rId41"/>
    <p:sldId id="497" r:id="rId42"/>
  </p:sldIdLst>
  <p:sldSz cx="9144000" cy="5143500" type="screen16x9"/>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7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Jeff Wright" initials="JW" lastIdx="5" clrIdx="0">
    <p:extLst>
      <p:ext uri="{19B8F6BF-5375-455C-9EA6-DF929625EA0E}">
        <p15:presenceInfo xmlns:p15="http://schemas.microsoft.com/office/powerpoint/2012/main" userId="S-1-5-21-3727158924-2375465911-1683840438-27511" providerId="AD"/>
      </p:ext>
    </p:extLst>
  </p:cmAuthor>
  <p:cmAuthor id="6" name="Christina Mullin" initials="CM" lastIdx="3" clrIdx="1">
    <p:extLst>
      <p:ext uri="{19B8F6BF-5375-455C-9EA6-DF929625EA0E}">
        <p15:presenceInfo xmlns:p15="http://schemas.microsoft.com/office/powerpoint/2012/main" userId="S-1-5-21-3727158924-2375465911-1683840438-3470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7A9"/>
    <a:srgbClr val="209AB7"/>
    <a:srgbClr val="BAC5B9"/>
    <a:srgbClr val="A9ACA0"/>
    <a:srgbClr val="2DCCD3"/>
    <a:srgbClr val="FF8200"/>
    <a:srgbClr val="003B5C"/>
    <a:srgbClr val="84754E"/>
    <a:srgbClr val="DAAA00"/>
    <a:srgbClr val="FFD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84106" autoAdjust="0"/>
  </p:normalViewPr>
  <p:slideViewPr>
    <p:cSldViewPr snapToGrid="0">
      <p:cViewPr varScale="1">
        <p:scale>
          <a:sx n="128" d="100"/>
          <a:sy n="128" d="100"/>
        </p:scale>
        <p:origin x="1218" y="114"/>
      </p:cViewPr>
      <p:guideLst>
        <p:guide orient="horz" pos="1620"/>
        <p:guide pos="2879"/>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63" d="100"/>
          <a:sy n="63" d="100"/>
        </p:scale>
        <p:origin x="2550" y="66"/>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Master" Target="slideMasters/slideMaster23.xml"/><Relationship Id="rId39" Type="http://schemas.openxmlformats.org/officeDocument/2006/relationships/slide" Target="slides/slide3.xml"/><Relationship Id="rId3" Type="http://schemas.openxmlformats.org/officeDocument/2006/relationships/customXml" Target="../customXml/item3.xml"/><Relationship Id="rId21" Type="http://schemas.openxmlformats.org/officeDocument/2006/relationships/slideMaster" Target="slideMasters/slideMaster18.xml"/><Relationship Id="rId34" Type="http://schemas.openxmlformats.org/officeDocument/2006/relationships/slideMaster" Target="slideMasters/slideMaster31.xml"/><Relationship Id="rId42" Type="http://schemas.openxmlformats.org/officeDocument/2006/relationships/slide" Target="slides/slide6.xml"/><Relationship Id="rId47"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Master" Target="slideMasters/slideMaster22.xml"/><Relationship Id="rId33" Type="http://schemas.openxmlformats.org/officeDocument/2006/relationships/slideMaster" Target="slideMasters/slideMaster30.xml"/><Relationship Id="rId38" Type="http://schemas.openxmlformats.org/officeDocument/2006/relationships/slide" Target="slides/slide2.xml"/><Relationship Id="rId46"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Master" Target="slideMasters/slideMaster17.xml"/><Relationship Id="rId29" Type="http://schemas.openxmlformats.org/officeDocument/2006/relationships/slideMaster" Target="slideMasters/slideMaster26.xml"/><Relationship Id="rId41" Type="http://schemas.openxmlformats.org/officeDocument/2006/relationships/slide" Target="slides/slide5.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Master" Target="slideMasters/slideMaster21.xml"/><Relationship Id="rId32" Type="http://schemas.openxmlformats.org/officeDocument/2006/relationships/slideMaster" Target="slideMasters/slideMaster29.xml"/><Relationship Id="rId37" Type="http://schemas.openxmlformats.org/officeDocument/2006/relationships/slide" Target="slides/slide1.xml"/><Relationship Id="rId40" Type="http://schemas.openxmlformats.org/officeDocument/2006/relationships/slide" Target="slides/slide4.xml"/><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Master" Target="slideMasters/slideMaster20.xml"/><Relationship Id="rId28" Type="http://schemas.openxmlformats.org/officeDocument/2006/relationships/slideMaster" Target="slideMasters/slideMaster25.xml"/><Relationship Id="rId36" Type="http://schemas.openxmlformats.org/officeDocument/2006/relationships/slideMaster" Target="slideMasters/slideMaster33.xml"/><Relationship Id="rId49"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Master" Target="slideMasters/slideMaster16.xml"/><Relationship Id="rId31" Type="http://schemas.openxmlformats.org/officeDocument/2006/relationships/slideMaster" Target="slideMasters/slideMaster28.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Master" Target="slideMasters/slideMaster19.xml"/><Relationship Id="rId27" Type="http://schemas.openxmlformats.org/officeDocument/2006/relationships/slideMaster" Target="slideMasters/slideMaster24.xml"/><Relationship Id="rId30" Type="http://schemas.openxmlformats.org/officeDocument/2006/relationships/slideMaster" Target="slideMasters/slideMaster27.xml"/><Relationship Id="rId35" Type="http://schemas.openxmlformats.org/officeDocument/2006/relationships/slideMaster" Target="slideMasters/slideMaster32.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Master" Target="slideMasters/slideMaster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dirty="0"/>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7F320C92-5B60-47CE-AF8E-33393E468A4F}" type="datetimeFigureOut">
              <a:rPr lang="en-CA" smtClean="0"/>
              <a:t>11/03/2020</a:t>
            </a:fld>
            <a:endParaRPr lang="en-CA" dirty="0"/>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dirty="0"/>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D932885D-FA4E-45F3-9C34-9BE667995CEE}" type="slidenum">
              <a:rPr lang="en-CA" smtClean="0"/>
              <a:t>‹#›</a:t>
            </a:fld>
            <a:endParaRPr lang="en-CA" dirty="0"/>
          </a:p>
        </p:txBody>
      </p:sp>
    </p:spTree>
    <p:extLst>
      <p:ext uri="{BB962C8B-B14F-4D97-AF65-F5344CB8AC3E}">
        <p14:creationId xmlns:p14="http://schemas.microsoft.com/office/powerpoint/2010/main" val="5429650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4143375" y="0"/>
            <a:ext cx="3170238" cy="479425"/>
          </a:xfrm>
          <a:prstGeom prst="rect">
            <a:avLst/>
          </a:prstGeom>
        </p:spPr>
        <p:txBody>
          <a:bodyPr vert="horz" lIns="91440" tIns="45720" rIns="91440" bIns="45720" rtlCol="0"/>
          <a:lstStyle>
            <a:lvl1pPr algn="r">
              <a:defRPr sz="1200"/>
            </a:lvl1pPr>
          </a:lstStyle>
          <a:p>
            <a:fld id="{B0CF9F78-B7FC-4D34-B5E9-CFFF0660210F}" type="datetimeFigureOut">
              <a:rPr lang="en-CA" smtClean="0"/>
              <a:t>11/03/2020</a:t>
            </a:fld>
            <a:endParaRPr lang="en-CA" dirty="0"/>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1440" tIns="45720" rIns="91440" bIns="45720" rtlCol="0" anchor="b"/>
          <a:lstStyle>
            <a:lvl1pPr algn="r">
              <a:defRPr sz="1200"/>
            </a:lvl1pPr>
          </a:lstStyle>
          <a:p>
            <a:fld id="{761EB8C7-5EFC-4FA9-BA9E-FFC3022A4650}" type="slidenum">
              <a:rPr lang="en-CA" smtClean="0"/>
              <a:t>‹#›</a:t>
            </a:fld>
            <a:endParaRPr lang="en-CA" dirty="0"/>
          </a:p>
        </p:txBody>
      </p:sp>
    </p:spTree>
    <p:extLst>
      <p:ext uri="{BB962C8B-B14F-4D97-AF65-F5344CB8AC3E}">
        <p14:creationId xmlns:p14="http://schemas.microsoft.com/office/powerpoint/2010/main" val="114102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761EB8C7-5EFC-4FA9-BA9E-FFC3022A4650}" type="slidenum">
              <a:rPr lang="en-CA" smtClean="0"/>
              <a:t>1</a:t>
            </a:fld>
            <a:endParaRPr lang="en-CA" dirty="0"/>
          </a:p>
        </p:txBody>
      </p:sp>
    </p:spTree>
    <p:extLst>
      <p:ext uri="{BB962C8B-B14F-4D97-AF65-F5344CB8AC3E}">
        <p14:creationId xmlns:p14="http://schemas.microsoft.com/office/powerpoint/2010/main" val="2561320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761EB8C7-5EFC-4FA9-BA9E-FFC3022A4650}" type="slidenum">
              <a:rPr lang="en-CA" smtClean="0"/>
              <a:t>3</a:t>
            </a:fld>
            <a:endParaRPr lang="en-CA" dirty="0"/>
          </a:p>
        </p:txBody>
      </p:sp>
    </p:spTree>
    <p:extLst>
      <p:ext uri="{BB962C8B-B14F-4D97-AF65-F5344CB8AC3E}">
        <p14:creationId xmlns:p14="http://schemas.microsoft.com/office/powerpoint/2010/main" val="3782378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761EB8C7-5EFC-4FA9-BA9E-FFC3022A4650}" type="slidenum">
              <a:rPr lang="en-CA" smtClean="0"/>
              <a:t>4</a:t>
            </a:fld>
            <a:endParaRPr lang="en-CA" dirty="0"/>
          </a:p>
        </p:txBody>
      </p:sp>
    </p:spTree>
    <p:extLst>
      <p:ext uri="{BB962C8B-B14F-4D97-AF65-F5344CB8AC3E}">
        <p14:creationId xmlns:p14="http://schemas.microsoft.com/office/powerpoint/2010/main" val="4076326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761EB8C7-5EFC-4FA9-BA9E-FFC3022A4650}" type="slidenum">
              <a:rPr lang="en-CA" smtClean="0"/>
              <a:t>5</a:t>
            </a:fld>
            <a:endParaRPr lang="en-CA" dirty="0"/>
          </a:p>
        </p:txBody>
      </p:sp>
    </p:spTree>
    <p:extLst>
      <p:ext uri="{BB962C8B-B14F-4D97-AF65-F5344CB8AC3E}">
        <p14:creationId xmlns:p14="http://schemas.microsoft.com/office/powerpoint/2010/main" val="2599901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761EB8C7-5EFC-4FA9-BA9E-FFC3022A4650}" type="slidenum">
              <a:rPr lang="en-CA" smtClean="0"/>
              <a:t>6</a:t>
            </a:fld>
            <a:endParaRPr lang="en-CA" dirty="0"/>
          </a:p>
        </p:txBody>
      </p:sp>
    </p:spTree>
    <p:extLst>
      <p:ext uri="{BB962C8B-B14F-4D97-AF65-F5344CB8AC3E}">
        <p14:creationId xmlns:p14="http://schemas.microsoft.com/office/powerpoint/2010/main" val="323565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2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2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30.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3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7826" y="2851689"/>
            <a:ext cx="6362700" cy="398089"/>
          </a:xfrm>
          <a:prstGeom prst="rect">
            <a:avLst/>
          </a:prstGeom>
        </p:spPr>
        <p:txBody>
          <a:bodyPr lIns="0" tIns="0" rIns="0" bIns="0"/>
          <a:lstStyle>
            <a:lvl1pPr marL="0" marR="0" indent="0" algn="l" defTabSz="914400" rtl="0" eaLnBrk="1" fontAlgn="auto" latinLnBrk="0" hangingPunct="1">
              <a:lnSpc>
                <a:spcPts val="2000"/>
              </a:lnSpc>
              <a:spcBef>
                <a:spcPts val="0"/>
              </a:spcBef>
              <a:spcAft>
                <a:spcPts val="0"/>
              </a:spcAft>
              <a:buClrTx/>
              <a:buSzTx/>
              <a:buFont typeface="Arial" panose="020B0604020202020204" pitchFamily="34" charset="0"/>
              <a:buNone/>
              <a:tabLst/>
              <a:defRPr sz="1400" baseline="0">
                <a:solidFill>
                  <a:schemeClr val="bg1"/>
                </a:solidFill>
                <a:latin typeface="+mn-lt"/>
                <a:cs typeface="Arial" panose="020B0604020202020204" pitchFamily="34" charset="0"/>
              </a:defRPr>
            </a:lvl1pPr>
          </a:lstStyle>
          <a:p>
            <a:r>
              <a:rPr lang="en-CA" dirty="0" smtClean="0"/>
              <a:t>Additional text…</a:t>
            </a:r>
            <a:endParaRPr lang="en-CA" dirty="0"/>
          </a:p>
        </p:txBody>
      </p:sp>
      <p:sp>
        <p:nvSpPr>
          <p:cNvPr id="8" name="Text Placeholder 9"/>
          <p:cNvSpPr>
            <a:spLocks noGrp="1"/>
          </p:cNvSpPr>
          <p:nvPr>
            <p:ph type="body" sz="quarter" idx="12" hasCustomPrompt="1"/>
          </p:nvPr>
        </p:nvSpPr>
        <p:spPr>
          <a:xfrm>
            <a:off x="377826" y="2239233"/>
            <a:ext cx="8331201" cy="457199"/>
          </a:xfrm>
          <a:prstGeom prst="rect">
            <a:avLst/>
          </a:prstGeom>
        </p:spPr>
        <p:txBody>
          <a:bodyPr lIns="0" tIns="0" rIns="0" bIns="0"/>
          <a:lstStyle>
            <a:lvl1pPr marL="0" marR="0" indent="0" algn="l" defTabSz="914400" rtl="0" eaLnBrk="1" fontAlgn="auto" latinLnBrk="0" hangingPunct="1">
              <a:lnSpc>
                <a:spcPts val="4000"/>
              </a:lnSpc>
              <a:spcBef>
                <a:spcPts val="0"/>
              </a:spcBef>
              <a:spcAft>
                <a:spcPts val="0"/>
              </a:spcAft>
              <a:buClrTx/>
              <a:buSzTx/>
              <a:buFont typeface="Arial" panose="020B0604020202020204" pitchFamily="34" charset="0"/>
              <a:buNone/>
              <a:tabLst/>
              <a:defRPr sz="3200" spc="-100" baseline="0">
                <a:solidFill>
                  <a:schemeClr val="bg1"/>
                </a:solidFill>
                <a:latin typeface="+mn-lt"/>
                <a:cs typeface="Arial" panose="020B0604020202020204" pitchFamily="34" charset="0"/>
              </a:defRPr>
            </a:lvl1pPr>
          </a:lstStyle>
          <a:p>
            <a:pPr marL="0" marR="0" lvl="0" indent="0" algn="l" defTabSz="914400" rtl="0" eaLnBrk="1" fontAlgn="auto" latinLnBrk="0" hangingPunct="1">
              <a:lnSpc>
                <a:spcPts val="4000"/>
              </a:lnSpc>
              <a:spcBef>
                <a:spcPts val="0"/>
              </a:spcBef>
              <a:spcAft>
                <a:spcPts val="0"/>
              </a:spcAft>
              <a:buClrTx/>
              <a:buSzTx/>
              <a:buFont typeface="Arial" panose="020B0604020202020204" pitchFamily="34" charset="0"/>
              <a:buNone/>
              <a:tabLst/>
              <a:defRPr/>
            </a:pPr>
            <a:r>
              <a:rPr lang="en-CA" dirty="0" smtClean="0"/>
              <a:t>Subtitle</a:t>
            </a:r>
            <a:endParaRPr lang="en-CA" dirty="0"/>
          </a:p>
        </p:txBody>
      </p:sp>
      <p:sp>
        <p:nvSpPr>
          <p:cNvPr id="9" name="Text Placeholder 4"/>
          <p:cNvSpPr>
            <a:spLocks noGrp="1"/>
          </p:cNvSpPr>
          <p:nvPr>
            <p:ph type="body" sz="quarter" idx="14" hasCustomPrompt="1"/>
          </p:nvPr>
        </p:nvSpPr>
        <p:spPr>
          <a:xfrm>
            <a:off x="377826" y="1492530"/>
            <a:ext cx="8350249" cy="528638"/>
          </a:xfrm>
          <a:prstGeom prst="rect">
            <a:avLst/>
          </a:prstGeom>
        </p:spPr>
        <p:txBody>
          <a:bodyPr lIns="0" tIns="0" rIns="0" bIns="0"/>
          <a:lstStyle>
            <a:lvl1pPr marL="0" indent="0">
              <a:lnSpc>
                <a:spcPts val="5800"/>
              </a:lnSpc>
              <a:spcBef>
                <a:spcPts val="0"/>
              </a:spcBef>
              <a:buNone/>
              <a:defRPr sz="4800" spc="-100" baseline="0">
                <a:solidFill>
                  <a:schemeClr val="bg1"/>
                </a:solidFill>
                <a:latin typeface="+mn-lt"/>
                <a:cs typeface="Arial" panose="020B0604020202020204" pitchFamily="34" charset="0"/>
              </a:defRPr>
            </a:lvl1pPr>
          </a:lstStyle>
          <a:p>
            <a:pPr lvl="0"/>
            <a:r>
              <a:rPr lang="en-US" dirty="0" smtClean="0"/>
              <a:t>Title</a:t>
            </a:r>
            <a:endParaRPr lang="en-CA" dirty="0"/>
          </a:p>
        </p:txBody>
      </p:sp>
    </p:spTree>
    <p:extLst>
      <p:ext uri="{BB962C8B-B14F-4D97-AF65-F5344CB8AC3E}">
        <p14:creationId xmlns:p14="http://schemas.microsoft.com/office/powerpoint/2010/main" val="551424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429373981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8" name="Straight Connector 7"/>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11" name="Rectangle 10"/>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4" name="TextBox 13"/>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3543919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8"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2" name="Straight Connector 11"/>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2"/>
                </a:solidFill>
                <a:latin typeface="+mn-lt"/>
              </a:rPr>
              <a:pPr/>
              <a:t>‹#›</a:t>
            </a:fld>
            <a:endParaRPr lang="en-CA" sz="900" dirty="0">
              <a:solidFill>
                <a:schemeClr val="bg2"/>
              </a:solidFill>
              <a:latin typeface="+mn-lt"/>
            </a:endParaRPr>
          </a:p>
        </p:txBody>
      </p:sp>
      <p:sp>
        <p:nvSpPr>
          <p:cNvPr id="11" name="TextBox 10"/>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2"/>
                </a:solidFill>
                <a:latin typeface="+mn-lt"/>
                <a:cs typeface="Arial" panose="020B0604020202020204" pitchFamily="34" charset="0"/>
              </a:rPr>
              <a:t>CWB Financial Group</a:t>
            </a:r>
            <a:endParaRPr lang="en-CA" sz="1000" b="1" i="0" dirty="0">
              <a:solidFill>
                <a:schemeClr val="bg2"/>
              </a:solidFill>
              <a:latin typeface="+mn-lt"/>
              <a:cs typeface="Arial" panose="020B0604020202020204" pitchFamily="34" charset="0"/>
            </a:endParaRPr>
          </a:p>
        </p:txBody>
      </p:sp>
    </p:spTree>
    <p:extLst>
      <p:ext uri="{BB962C8B-B14F-4D97-AF65-F5344CB8AC3E}">
        <p14:creationId xmlns:p14="http://schemas.microsoft.com/office/powerpoint/2010/main" val="155288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354960972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5"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6" name="Straight Connector 15"/>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8" name="TextBox 17"/>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65988588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669551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11919402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383015750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256648210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49995237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194867626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414932219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80493241"/>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551675"/>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6"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3"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4"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5"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70531984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578816839"/>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462974846"/>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3303480610"/>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65227931"/>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420550849"/>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Arial" panose="020B0604020202020204" pitchFamily="34" charset="0"/>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Arial" panose="020B0604020202020204" pitchFamily="34" charset="0"/>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3654969690"/>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4024506591"/>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521085"/>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516387069"/>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885126746"/>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4144683753"/>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2812960170"/>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2673295411"/>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3988545723"/>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3054247339"/>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284807"/>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894991171"/>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240499159"/>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800380593"/>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4284798816"/>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574599695"/>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863961546"/>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394877654"/>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529132"/>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3874632909"/>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2046336842"/>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659578247"/>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3986752294"/>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5"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3374922914"/>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302556131"/>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5"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6" name="Straight Connector 15"/>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8" name="TextBox 17"/>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903863610"/>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814675"/>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562267021"/>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438177066"/>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161849436"/>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1433022769"/>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1699153721"/>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450088395"/>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4055599425"/>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455608701"/>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3143298180"/>
      </p:ext>
    </p:extLst>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961612208"/>
      </p:ext>
    </p:extLst>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58253377"/>
      </p:ext>
    </p:extLst>
  </p:cSld>
  <p:clrMapOvr>
    <a:masterClrMapping/>
  </p:clrMapOvr>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3178618"/>
      </p:ext>
    </p:extLst>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3785626185"/>
      </p:ext>
    </p:extLst>
  </p:cSld>
  <p:clrMapOvr>
    <a:masterClrMapping/>
  </p:clrMapOvr>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589800667"/>
      </p:ext>
    </p:extLst>
  </p:cSld>
  <p:clrMapOvr>
    <a:masterClrMapping/>
  </p:clrMapOvr>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54471786"/>
      </p:ext>
    </p:extLst>
  </p:cSld>
  <p:clrMapOvr>
    <a:masterClrMapping/>
  </p:clrMapOvr>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2904837587"/>
      </p:ext>
    </p:extLst>
  </p:cSld>
  <p:clrMapOvr>
    <a:masterClrMapping/>
  </p:clrMapOvr>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4247146575"/>
      </p:ext>
    </p:extLst>
  </p:cSld>
  <p:clrMapOvr>
    <a:masterClrMapping/>
  </p:clrMapOvr>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361391"/>
      </p:ext>
    </p:extLst>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4"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4" y="701041"/>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4"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4" y="1744981"/>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2972" indent="-228594">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636195621"/>
      </p:ext>
    </p:extLst>
  </p:cSld>
  <p:clrMapOvr>
    <a:masterClrMapping/>
  </p:clrMapOvr>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4"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2972" indent="-228594">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4" y="701041"/>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4"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893339658"/>
      </p:ext>
    </p:extLst>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4" y="701041"/>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4"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1" y="1636713"/>
            <a:ext cx="8280400" cy="2743200"/>
          </a:xfrm>
          <a:prstGeom prst="rect">
            <a:avLst/>
          </a:prstGeom>
        </p:spPr>
        <p:txBody>
          <a:bodyPr lIns="0" rIns="0"/>
          <a:lstStyle>
            <a:lvl1pPr marL="0" marR="0" indent="0" algn="l" defTabSz="914378"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189" indent="0">
              <a:buNone/>
              <a:defRPr sz="1600">
                <a:solidFill>
                  <a:schemeClr val="tx1">
                    <a:lumMod val="50000"/>
                    <a:lumOff val="50000"/>
                  </a:schemeClr>
                </a:solidFill>
              </a:defRPr>
            </a:lvl2pPr>
            <a:lvl3pPr marL="914378" indent="0">
              <a:buNone/>
              <a:defRPr sz="1600">
                <a:solidFill>
                  <a:schemeClr val="tx1">
                    <a:lumMod val="50000"/>
                    <a:lumOff val="50000"/>
                  </a:schemeClr>
                </a:solidFill>
              </a:defRPr>
            </a:lvl3pPr>
            <a:lvl4pPr marL="1371566" indent="0">
              <a:buNone/>
              <a:defRPr sz="1600">
                <a:solidFill>
                  <a:schemeClr val="tx1">
                    <a:lumMod val="50000"/>
                    <a:lumOff val="50000"/>
                  </a:schemeClr>
                </a:solidFill>
              </a:defRPr>
            </a:lvl4pPr>
            <a:lvl5pPr marL="1828754" indent="0">
              <a:buNone/>
              <a:defRPr sz="1600">
                <a:solidFill>
                  <a:schemeClr val="tx1">
                    <a:lumMod val="50000"/>
                    <a:lumOff val="50000"/>
                  </a:schemeClr>
                </a:solidFill>
              </a:defRPr>
            </a:lvl5pPr>
          </a:lstStyle>
          <a:p>
            <a:pPr marL="0" marR="0" lvl="0" indent="0" algn="l" defTabSz="914378"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15492613"/>
      </p:ext>
    </p:extLst>
  </p:cSld>
  <p:clrMapOvr>
    <a:masterClrMapping/>
  </p:clrMapOvr>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4" y="701041"/>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4"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1" y="1636713"/>
            <a:ext cx="8280400" cy="2743200"/>
          </a:xfrm>
          <a:prstGeom prst="rect">
            <a:avLst/>
          </a:prstGeom>
        </p:spPr>
        <p:txBody>
          <a:bodyPr lIns="0" tIns="36000" rIns="0" numCol="2" spcCol="288000"/>
          <a:lstStyle>
            <a:lvl1pPr marL="0" marR="0" indent="0" algn="l" defTabSz="914378"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189" indent="0">
              <a:buNone/>
              <a:defRPr sz="1600">
                <a:solidFill>
                  <a:schemeClr val="tx1">
                    <a:lumMod val="50000"/>
                    <a:lumOff val="50000"/>
                  </a:schemeClr>
                </a:solidFill>
              </a:defRPr>
            </a:lvl2pPr>
            <a:lvl3pPr marL="914378" indent="0">
              <a:buNone/>
              <a:defRPr sz="1600">
                <a:solidFill>
                  <a:schemeClr val="tx1">
                    <a:lumMod val="50000"/>
                    <a:lumOff val="50000"/>
                  </a:schemeClr>
                </a:solidFill>
              </a:defRPr>
            </a:lvl3pPr>
            <a:lvl4pPr marL="1371566" indent="0">
              <a:buNone/>
              <a:defRPr sz="1600">
                <a:solidFill>
                  <a:schemeClr val="tx1">
                    <a:lumMod val="50000"/>
                    <a:lumOff val="50000"/>
                  </a:schemeClr>
                </a:solidFill>
              </a:defRPr>
            </a:lvl4pPr>
            <a:lvl5pPr marL="1828754" indent="0">
              <a:buNone/>
              <a:defRPr sz="1600">
                <a:solidFill>
                  <a:schemeClr val="tx1">
                    <a:lumMod val="50000"/>
                    <a:lumOff val="50000"/>
                  </a:schemeClr>
                </a:solidFill>
              </a:defRPr>
            </a:lvl5pPr>
          </a:lstStyle>
          <a:p>
            <a:pPr marL="0" marR="0" lvl="0" indent="0" algn="l" defTabSz="914378"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378"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378"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378"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378"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378"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701719323"/>
      </p:ext>
    </p:extLst>
  </p:cSld>
  <p:clrMapOvr>
    <a:masterClrMapping/>
  </p:clrMapOvr>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5" y="371476"/>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1669388160"/>
      </p:ext>
    </p:extLst>
  </p:cSld>
  <p:clrMapOvr>
    <a:masterClrMapping/>
  </p:clrMapOvr>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272715"/>
      </p:ext>
    </p:extLst>
  </p:cSld>
  <p:clrMapOvr>
    <a:masterClrMapping/>
  </p:clrMapOvr>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3611963085"/>
      </p:ext>
    </p:extLst>
  </p:cSld>
  <p:clrMapOvr>
    <a:masterClrMapping/>
  </p:clrMapOvr>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183122072"/>
      </p:ext>
    </p:extLst>
  </p:cSld>
  <p:clrMapOvr>
    <a:masterClrMapping/>
  </p:clrMapOvr>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1612362183"/>
      </p:ext>
    </p:extLst>
  </p:cSld>
  <p:clrMapOvr>
    <a:masterClrMapping/>
  </p:clrMapOvr>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786935663"/>
      </p:ext>
    </p:extLst>
  </p:cSld>
  <p:clrMapOvr>
    <a:masterClrMapping/>
  </p:clrMapOvr>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2678803131"/>
      </p:ext>
    </p:extLst>
  </p:cSld>
  <p:clrMapOvr>
    <a:masterClrMapping/>
  </p:clrMapOvr>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Title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77826" y="2851690"/>
            <a:ext cx="6362700" cy="398089"/>
          </a:xfrm>
          <a:prstGeom prst="rect">
            <a:avLst/>
          </a:prstGeom>
        </p:spPr>
        <p:txBody>
          <a:bodyPr lIns="0" tIns="0" rIns="0" bIns="0"/>
          <a:lstStyle>
            <a:lvl1pPr marL="0" marR="0" indent="0" algn="l" defTabSz="914378" rtl="0" eaLnBrk="1" fontAlgn="auto" latinLnBrk="0" hangingPunct="1">
              <a:lnSpc>
                <a:spcPts val="2000"/>
              </a:lnSpc>
              <a:spcBef>
                <a:spcPts val="0"/>
              </a:spcBef>
              <a:spcAft>
                <a:spcPts val="0"/>
              </a:spcAft>
              <a:buClrTx/>
              <a:buSzTx/>
              <a:buFont typeface="Arial" panose="020B0604020202020204" pitchFamily="34" charset="0"/>
              <a:buNone/>
              <a:tabLst/>
              <a:defRPr sz="1400" baseline="0">
                <a:solidFill>
                  <a:schemeClr val="bg1"/>
                </a:solidFill>
                <a:latin typeface="+mn-lt"/>
                <a:cs typeface="Arial" panose="020B0604020202020204" pitchFamily="34" charset="0"/>
              </a:defRPr>
            </a:lvl1pPr>
          </a:lstStyle>
          <a:p>
            <a:r>
              <a:rPr lang="en-CA" dirty="0" smtClean="0"/>
              <a:t>Additional text…</a:t>
            </a:r>
            <a:endParaRPr lang="en-CA" dirty="0"/>
          </a:p>
        </p:txBody>
      </p:sp>
      <p:sp>
        <p:nvSpPr>
          <p:cNvPr id="8" name="Text Placeholder 9"/>
          <p:cNvSpPr>
            <a:spLocks noGrp="1"/>
          </p:cNvSpPr>
          <p:nvPr>
            <p:ph type="body" sz="quarter" idx="12" hasCustomPrompt="1"/>
          </p:nvPr>
        </p:nvSpPr>
        <p:spPr>
          <a:xfrm>
            <a:off x="377827" y="2239234"/>
            <a:ext cx="8331201" cy="457199"/>
          </a:xfrm>
          <a:prstGeom prst="rect">
            <a:avLst/>
          </a:prstGeom>
        </p:spPr>
        <p:txBody>
          <a:bodyPr lIns="0" tIns="0" rIns="0" bIns="0"/>
          <a:lstStyle>
            <a:lvl1pPr marL="0" marR="0" indent="0" algn="l" defTabSz="914378" rtl="0" eaLnBrk="1" fontAlgn="auto" latinLnBrk="0" hangingPunct="1">
              <a:lnSpc>
                <a:spcPts val="4000"/>
              </a:lnSpc>
              <a:spcBef>
                <a:spcPts val="0"/>
              </a:spcBef>
              <a:spcAft>
                <a:spcPts val="0"/>
              </a:spcAft>
              <a:buClrTx/>
              <a:buSzTx/>
              <a:buFont typeface="Arial" panose="020B0604020202020204" pitchFamily="34" charset="0"/>
              <a:buNone/>
              <a:tabLst/>
              <a:defRPr sz="3200" spc="-100" baseline="0">
                <a:solidFill>
                  <a:schemeClr val="bg1"/>
                </a:solidFill>
                <a:latin typeface="+mn-lt"/>
                <a:cs typeface="Arial" panose="020B0604020202020204" pitchFamily="34" charset="0"/>
              </a:defRPr>
            </a:lvl1pPr>
          </a:lstStyle>
          <a:p>
            <a:pPr marL="0" marR="0" lvl="0" indent="0" algn="l" defTabSz="914378" rtl="0" eaLnBrk="1" fontAlgn="auto" latinLnBrk="0" hangingPunct="1">
              <a:lnSpc>
                <a:spcPts val="4000"/>
              </a:lnSpc>
              <a:spcBef>
                <a:spcPts val="0"/>
              </a:spcBef>
              <a:spcAft>
                <a:spcPts val="0"/>
              </a:spcAft>
              <a:buClrTx/>
              <a:buSzTx/>
              <a:buFont typeface="Arial" panose="020B0604020202020204" pitchFamily="34" charset="0"/>
              <a:buNone/>
              <a:tabLst/>
              <a:defRPr/>
            </a:pPr>
            <a:r>
              <a:rPr lang="en-CA" dirty="0" smtClean="0"/>
              <a:t>Subtitle</a:t>
            </a:r>
            <a:endParaRPr lang="en-CA" dirty="0"/>
          </a:p>
        </p:txBody>
      </p:sp>
      <p:sp>
        <p:nvSpPr>
          <p:cNvPr id="9" name="Text Placeholder 4"/>
          <p:cNvSpPr>
            <a:spLocks noGrp="1"/>
          </p:cNvSpPr>
          <p:nvPr>
            <p:ph type="body" sz="quarter" idx="14" hasCustomPrompt="1"/>
          </p:nvPr>
        </p:nvSpPr>
        <p:spPr>
          <a:xfrm>
            <a:off x="377827" y="1492531"/>
            <a:ext cx="8350249" cy="528638"/>
          </a:xfrm>
          <a:prstGeom prst="rect">
            <a:avLst/>
          </a:prstGeom>
        </p:spPr>
        <p:txBody>
          <a:bodyPr lIns="0" tIns="0" rIns="0" bIns="0"/>
          <a:lstStyle>
            <a:lvl1pPr marL="0" indent="0">
              <a:lnSpc>
                <a:spcPts val="5800"/>
              </a:lnSpc>
              <a:spcBef>
                <a:spcPts val="0"/>
              </a:spcBef>
              <a:buNone/>
              <a:defRPr sz="4800" spc="-100" baseline="0">
                <a:solidFill>
                  <a:schemeClr val="bg1"/>
                </a:solidFill>
                <a:latin typeface="+mn-lt"/>
                <a:cs typeface="Arial" panose="020B0604020202020204" pitchFamily="34" charset="0"/>
              </a:defRPr>
            </a:lvl1pPr>
          </a:lstStyle>
          <a:p>
            <a:pPr lvl="0"/>
            <a:r>
              <a:rPr lang="en-US" dirty="0" smtClean="0"/>
              <a:t>Title</a:t>
            </a:r>
            <a:endParaRPr lang="en-CA" dirty="0"/>
          </a:p>
        </p:txBody>
      </p:sp>
    </p:spTree>
    <p:extLst>
      <p:ext uri="{BB962C8B-B14F-4D97-AF65-F5344CB8AC3E}">
        <p14:creationId xmlns:p14="http://schemas.microsoft.com/office/powerpoint/2010/main" val="39560043"/>
      </p:ext>
    </p:extLst>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177221030"/>
      </p:ext>
    </p:extLst>
  </p:cSld>
  <p:clrMapOvr>
    <a:masterClrMapping/>
  </p:clrMapOvr>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p>
            <a:fld id="{4E2FF190-20FE-4F1F-A3D3-5B6D79E86298}" type="datetimeFigureOut">
              <a:rPr lang="en-CA" smtClean="0"/>
              <a:t>11/03/2020</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65C6F16E-37CC-4B28-B38D-015BBEDBC69B}" type="slidenum">
              <a:rPr lang="en-CA" smtClean="0"/>
              <a:t>‹#›</a:t>
            </a:fld>
            <a:endParaRPr lang="en-CA" dirty="0"/>
          </a:p>
        </p:txBody>
      </p:sp>
    </p:spTree>
    <p:extLst>
      <p:ext uri="{BB962C8B-B14F-4D97-AF65-F5344CB8AC3E}">
        <p14:creationId xmlns:p14="http://schemas.microsoft.com/office/powerpoint/2010/main" val="342589529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4E2FF190-20FE-4F1F-A3D3-5B6D79E86298}" type="datetimeFigureOut">
              <a:rPr lang="en-CA" smtClean="0"/>
              <a:t>11/03/2020</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65C6F16E-37CC-4B28-B38D-015BBEDBC69B}" type="slidenum">
              <a:rPr lang="en-CA" smtClean="0"/>
              <a:t>‹#›</a:t>
            </a:fld>
            <a:endParaRPr lang="en-CA" dirty="0"/>
          </a:p>
        </p:txBody>
      </p:sp>
    </p:spTree>
    <p:extLst>
      <p:ext uri="{BB962C8B-B14F-4D97-AF65-F5344CB8AC3E}">
        <p14:creationId xmlns:p14="http://schemas.microsoft.com/office/powerpoint/2010/main" val="143877255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smtClean="0"/>
              <a:t>Click to edit Master title style</a:t>
            </a:r>
            <a:endParaRPr lang="en-CA"/>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E2FF190-20FE-4F1F-A3D3-5B6D79E86298}" type="datetimeFigureOut">
              <a:rPr lang="en-CA" smtClean="0"/>
              <a:t>11/03/2020</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65C6F16E-37CC-4B28-B38D-015BBEDBC69B}" type="slidenum">
              <a:rPr lang="en-CA" smtClean="0"/>
              <a:t>‹#›</a:t>
            </a:fld>
            <a:endParaRPr lang="en-CA" dirty="0"/>
          </a:p>
        </p:txBody>
      </p:sp>
    </p:spTree>
    <p:extLst>
      <p:ext uri="{BB962C8B-B14F-4D97-AF65-F5344CB8AC3E}">
        <p14:creationId xmlns:p14="http://schemas.microsoft.com/office/powerpoint/2010/main" val="386383953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4"/>
          <p:cNvSpPr>
            <a:spLocks noGrp="1"/>
          </p:cNvSpPr>
          <p:nvPr>
            <p:ph type="dt" sz="half" idx="10"/>
          </p:nvPr>
        </p:nvSpPr>
        <p:spPr/>
        <p:txBody>
          <a:bodyPr/>
          <a:lstStyle/>
          <a:p>
            <a:fld id="{4E2FF190-20FE-4F1F-A3D3-5B6D79E86298}" type="datetimeFigureOut">
              <a:rPr lang="en-CA" smtClean="0"/>
              <a:t>11/03/2020</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65C6F16E-37CC-4B28-B38D-015BBEDBC69B}" type="slidenum">
              <a:rPr lang="en-CA" smtClean="0"/>
              <a:t>‹#›</a:t>
            </a:fld>
            <a:endParaRPr lang="en-CA" dirty="0"/>
          </a:p>
        </p:txBody>
      </p:sp>
    </p:spTree>
    <p:extLst>
      <p:ext uri="{BB962C8B-B14F-4D97-AF65-F5344CB8AC3E}">
        <p14:creationId xmlns:p14="http://schemas.microsoft.com/office/powerpoint/2010/main" val="264515426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6"/>
          <p:cNvSpPr>
            <a:spLocks noGrp="1"/>
          </p:cNvSpPr>
          <p:nvPr>
            <p:ph type="dt" sz="half" idx="10"/>
          </p:nvPr>
        </p:nvSpPr>
        <p:spPr/>
        <p:txBody>
          <a:bodyPr/>
          <a:lstStyle/>
          <a:p>
            <a:fld id="{4E2FF190-20FE-4F1F-A3D3-5B6D79E86298}" type="datetimeFigureOut">
              <a:rPr lang="en-CA" smtClean="0"/>
              <a:t>11/03/2020</a:t>
            </a:fld>
            <a:endParaRPr lang="en-CA" dirty="0"/>
          </a:p>
        </p:txBody>
      </p:sp>
      <p:sp>
        <p:nvSpPr>
          <p:cNvPr id="8" name="Footer Placeholder 7"/>
          <p:cNvSpPr>
            <a:spLocks noGrp="1"/>
          </p:cNvSpPr>
          <p:nvPr>
            <p:ph type="ftr" sz="quarter" idx="11"/>
          </p:nvPr>
        </p:nvSpPr>
        <p:spPr/>
        <p:txBody>
          <a:bodyPr/>
          <a:lstStyle/>
          <a:p>
            <a:endParaRPr lang="en-CA" dirty="0"/>
          </a:p>
        </p:txBody>
      </p:sp>
      <p:sp>
        <p:nvSpPr>
          <p:cNvPr id="9" name="Slide Number Placeholder 8"/>
          <p:cNvSpPr>
            <a:spLocks noGrp="1"/>
          </p:cNvSpPr>
          <p:nvPr>
            <p:ph type="sldNum" sz="quarter" idx="12"/>
          </p:nvPr>
        </p:nvSpPr>
        <p:spPr/>
        <p:txBody>
          <a:bodyPr/>
          <a:lstStyle/>
          <a:p>
            <a:fld id="{65C6F16E-37CC-4B28-B38D-015BBEDBC69B}" type="slidenum">
              <a:rPr lang="en-CA" smtClean="0"/>
              <a:t>‹#›</a:t>
            </a:fld>
            <a:endParaRPr lang="en-CA" dirty="0"/>
          </a:p>
        </p:txBody>
      </p:sp>
    </p:spTree>
    <p:extLst>
      <p:ext uri="{BB962C8B-B14F-4D97-AF65-F5344CB8AC3E}">
        <p14:creationId xmlns:p14="http://schemas.microsoft.com/office/powerpoint/2010/main" val="240331569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2"/>
          <p:cNvSpPr>
            <a:spLocks noGrp="1"/>
          </p:cNvSpPr>
          <p:nvPr>
            <p:ph type="dt" sz="half" idx="10"/>
          </p:nvPr>
        </p:nvSpPr>
        <p:spPr/>
        <p:txBody>
          <a:bodyPr/>
          <a:lstStyle/>
          <a:p>
            <a:fld id="{4E2FF190-20FE-4F1F-A3D3-5B6D79E86298}" type="datetimeFigureOut">
              <a:rPr lang="en-CA" smtClean="0"/>
              <a:t>11/03/2020</a:t>
            </a:fld>
            <a:endParaRPr lang="en-CA" dirty="0"/>
          </a:p>
        </p:txBody>
      </p:sp>
      <p:sp>
        <p:nvSpPr>
          <p:cNvPr id="4" name="Footer Placeholder 3"/>
          <p:cNvSpPr>
            <a:spLocks noGrp="1"/>
          </p:cNvSpPr>
          <p:nvPr>
            <p:ph type="ftr" sz="quarter" idx="11"/>
          </p:nvPr>
        </p:nvSpPr>
        <p:spPr/>
        <p:txBody>
          <a:bodyPr/>
          <a:lstStyle/>
          <a:p>
            <a:endParaRPr lang="en-CA" dirty="0"/>
          </a:p>
        </p:txBody>
      </p:sp>
      <p:sp>
        <p:nvSpPr>
          <p:cNvPr id="5" name="Slide Number Placeholder 4"/>
          <p:cNvSpPr>
            <a:spLocks noGrp="1"/>
          </p:cNvSpPr>
          <p:nvPr>
            <p:ph type="sldNum" sz="quarter" idx="12"/>
          </p:nvPr>
        </p:nvSpPr>
        <p:spPr/>
        <p:txBody>
          <a:bodyPr/>
          <a:lstStyle/>
          <a:p>
            <a:fld id="{65C6F16E-37CC-4B28-B38D-015BBEDBC69B}" type="slidenum">
              <a:rPr lang="en-CA" smtClean="0"/>
              <a:t>‹#›</a:t>
            </a:fld>
            <a:endParaRPr lang="en-CA" dirty="0"/>
          </a:p>
        </p:txBody>
      </p:sp>
    </p:spTree>
    <p:extLst>
      <p:ext uri="{BB962C8B-B14F-4D97-AF65-F5344CB8AC3E}">
        <p14:creationId xmlns:p14="http://schemas.microsoft.com/office/powerpoint/2010/main" val="250976733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2FF190-20FE-4F1F-A3D3-5B6D79E86298}" type="datetimeFigureOut">
              <a:rPr lang="en-CA" smtClean="0"/>
              <a:t>11/03/2020</a:t>
            </a:fld>
            <a:endParaRPr lang="en-CA" dirty="0"/>
          </a:p>
        </p:txBody>
      </p:sp>
      <p:sp>
        <p:nvSpPr>
          <p:cNvPr id="3" name="Footer Placeholder 2"/>
          <p:cNvSpPr>
            <a:spLocks noGrp="1"/>
          </p:cNvSpPr>
          <p:nvPr>
            <p:ph type="ftr" sz="quarter" idx="11"/>
          </p:nvPr>
        </p:nvSpPr>
        <p:spPr/>
        <p:txBody>
          <a:bodyPr/>
          <a:lstStyle/>
          <a:p>
            <a:endParaRPr lang="en-CA" dirty="0"/>
          </a:p>
        </p:txBody>
      </p:sp>
      <p:sp>
        <p:nvSpPr>
          <p:cNvPr id="4" name="Slide Number Placeholder 3"/>
          <p:cNvSpPr>
            <a:spLocks noGrp="1"/>
          </p:cNvSpPr>
          <p:nvPr>
            <p:ph type="sldNum" sz="quarter" idx="12"/>
          </p:nvPr>
        </p:nvSpPr>
        <p:spPr/>
        <p:txBody>
          <a:bodyPr/>
          <a:lstStyle/>
          <a:p>
            <a:fld id="{65C6F16E-37CC-4B28-B38D-015BBEDBC69B}" type="slidenum">
              <a:rPr lang="en-CA" smtClean="0"/>
              <a:t>‹#›</a:t>
            </a:fld>
            <a:endParaRPr lang="en-CA" dirty="0"/>
          </a:p>
        </p:txBody>
      </p:sp>
    </p:spTree>
    <p:extLst>
      <p:ext uri="{BB962C8B-B14F-4D97-AF65-F5344CB8AC3E}">
        <p14:creationId xmlns:p14="http://schemas.microsoft.com/office/powerpoint/2010/main" val="272265660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smtClean="0"/>
              <a:t>Click to edit Master title style</a:t>
            </a:r>
            <a:endParaRPr lang="en-CA"/>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2FF190-20FE-4F1F-A3D3-5B6D79E86298}" type="datetimeFigureOut">
              <a:rPr lang="en-CA" smtClean="0"/>
              <a:t>11/03/2020</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65C6F16E-37CC-4B28-B38D-015BBEDBC69B}" type="slidenum">
              <a:rPr lang="en-CA" smtClean="0"/>
              <a:t>‹#›</a:t>
            </a:fld>
            <a:endParaRPr lang="en-CA" dirty="0"/>
          </a:p>
        </p:txBody>
      </p:sp>
    </p:spTree>
    <p:extLst>
      <p:ext uri="{BB962C8B-B14F-4D97-AF65-F5344CB8AC3E}">
        <p14:creationId xmlns:p14="http://schemas.microsoft.com/office/powerpoint/2010/main" val="36446315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smtClean="0"/>
              <a:t>Click to edit Master title style</a:t>
            </a:r>
            <a:endParaRPr lang="en-CA"/>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CA"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2FF190-20FE-4F1F-A3D3-5B6D79E86298}" type="datetimeFigureOut">
              <a:rPr lang="en-CA" smtClean="0"/>
              <a:t>11/03/2020</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65C6F16E-37CC-4B28-B38D-015BBEDBC69B}" type="slidenum">
              <a:rPr lang="en-CA" smtClean="0"/>
              <a:t>‹#›</a:t>
            </a:fld>
            <a:endParaRPr lang="en-CA" dirty="0"/>
          </a:p>
        </p:txBody>
      </p:sp>
    </p:spTree>
    <p:extLst>
      <p:ext uri="{BB962C8B-B14F-4D97-AF65-F5344CB8AC3E}">
        <p14:creationId xmlns:p14="http://schemas.microsoft.com/office/powerpoint/2010/main" val="293399789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4E2FF190-20FE-4F1F-A3D3-5B6D79E86298}" type="datetimeFigureOut">
              <a:rPr lang="en-CA" smtClean="0"/>
              <a:t>11/03/2020</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65C6F16E-37CC-4B28-B38D-015BBEDBC69B}" type="slidenum">
              <a:rPr lang="en-CA" smtClean="0"/>
              <a:t>‹#›</a:t>
            </a:fld>
            <a:endParaRPr lang="en-CA" dirty="0"/>
          </a:p>
        </p:txBody>
      </p:sp>
    </p:spTree>
    <p:extLst>
      <p:ext uri="{BB962C8B-B14F-4D97-AF65-F5344CB8AC3E}">
        <p14:creationId xmlns:p14="http://schemas.microsoft.com/office/powerpoint/2010/main" val="80697296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4E2FF190-20FE-4F1F-A3D3-5B6D79E86298}" type="datetimeFigureOut">
              <a:rPr lang="en-CA" smtClean="0"/>
              <a:t>11/03/2020</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65C6F16E-37CC-4B28-B38D-015BBEDBC69B}" type="slidenum">
              <a:rPr lang="en-CA" smtClean="0"/>
              <a:t>‹#›</a:t>
            </a:fld>
            <a:endParaRPr lang="en-CA" dirty="0"/>
          </a:p>
        </p:txBody>
      </p:sp>
    </p:spTree>
    <p:extLst>
      <p:ext uri="{BB962C8B-B14F-4D97-AF65-F5344CB8AC3E}">
        <p14:creationId xmlns:p14="http://schemas.microsoft.com/office/powerpoint/2010/main" val="118791610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4562291"/>
      </p:ext>
    </p:extLst>
  </p:cSld>
  <p:clrMapOvr>
    <a:masterClrMapping/>
  </p:clrMapOvr>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2396608300"/>
      </p:ext>
    </p:extLst>
  </p:cSld>
  <p:clrMapOvr>
    <a:masterClrMapping/>
  </p:clrMapOvr>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883888093"/>
      </p:ext>
    </p:extLst>
  </p:cSld>
  <p:clrMapOvr>
    <a:masterClrMapping/>
  </p:clrMapOvr>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561173227"/>
      </p:ext>
    </p:extLst>
  </p:cSld>
  <p:clrMapOvr>
    <a:masterClrMapping/>
  </p:clrMapOvr>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604756334"/>
      </p:ext>
    </p:extLst>
  </p:cSld>
  <p:clrMapOvr>
    <a:masterClrMapping/>
  </p:clrMapOvr>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5"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4197444813"/>
      </p:ext>
    </p:extLst>
  </p:cSld>
  <p:clrMapOvr>
    <a:masterClrMapping/>
  </p:clrMapOvr>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99501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slideLayout" Target="../slideLayouts/slideLayout9.xml"/><Relationship Id="rId7" Type="http://schemas.openxmlformats.org/officeDocument/2006/relationships/theme" Target="../theme/theme6.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theme" Target="../theme/theme7.xml"/><Relationship Id="rId1" Type="http://schemas.openxmlformats.org/officeDocument/2006/relationships/slideLayout" Target="../slideLayouts/slideLayout13.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4.xml"/></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slideLayout" Target="../slideLayouts/slideLayout17.xml"/><Relationship Id="rId7" Type="http://schemas.openxmlformats.org/officeDocument/2006/relationships/theme" Target="../theme/theme9.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_rels/slideMaster10.xml.rels><?xml version="1.0" encoding="UTF-8" standalone="yes"?>
<Relationships xmlns="http://schemas.openxmlformats.org/package/2006/relationships"><Relationship Id="rId3" Type="http://schemas.openxmlformats.org/officeDocument/2006/relationships/theme" Target="../theme/theme10.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image" Target="../media/image7.jpg"/></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3.xml"/></Relationships>
</file>

<file path=ppt/slideMasters/_rels/slideMaster1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slideLayout" Target="../slideLayouts/slideLayout26.xml"/><Relationship Id="rId7" Type="http://schemas.openxmlformats.org/officeDocument/2006/relationships/theme" Target="../theme/theme12.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theme" Target="../theme/theme13.xml"/><Relationship Id="rId1" Type="http://schemas.openxmlformats.org/officeDocument/2006/relationships/slideLayout" Target="../slideLayouts/slideLayout30.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31.xml"/></Relationships>
</file>

<file path=ppt/slideMasters/_rels/slideMaster15.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slideLayout" Target="../slideLayouts/slideLayout34.xml"/><Relationship Id="rId7" Type="http://schemas.openxmlformats.org/officeDocument/2006/relationships/theme" Target="../theme/theme15.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theme" Target="../theme/theme16.xml"/><Relationship Id="rId1" Type="http://schemas.openxmlformats.org/officeDocument/2006/relationships/slideLayout" Target="../slideLayouts/slideLayout38.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39.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slideLayout" Target="../slideLayouts/slideLayout42.xml"/><Relationship Id="rId7" Type="http://schemas.openxmlformats.org/officeDocument/2006/relationships/theme" Target="../theme/theme18.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5" Type="http://schemas.openxmlformats.org/officeDocument/2006/relationships/slideLayout" Target="../slideLayouts/slideLayout44.xml"/><Relationship Id="rId4" Type="http://schemas.openxmlformats.org/officeDocument/2006/relationships/slideLayout" Target="../slideLayouts/slideLayout43.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theme" Target="../theme/theme19.xml"/><Relationship Id="rId1" Type="http://schemas.openxmlformats.org/officeDocument/2006/relationships/slideLayout" Target="../slideLayouts/slideLayout46.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47.xml"/></Relationships>
</file>

<file path=ppt/slideMasters/_rels/slideMaster21.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slideLayout" Target="../slideLayouts/slideLayout50.xml"/><Relationship Id="rId7" Type="http://schemas.openxmlformats.org/officeDocument/2006/relationships/theme" Target="../theme/theme21.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5" Type="http://schemas.openxmlformats.org/officeDocument/2006/relationships/slideLayout" Target="../slideLayouts/slideLayout52.xml"/><Relationship Id="rId4" Type="http://schemas.openxmlformats.org/officeDocument/2006/relationships/slideLayout" Target="../slideLayouts/slideLayout51.xml"/></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theme" Target="../theme/theme22.xml"/><Relationship Id="rId1" Type="http://schemas.openxmlformats.org/officeDocument/2006/relationships/slideLayout" Target="../slideLayouts/slideLayout54.xml"/></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theme" Target="../theme/theme23.xml"/><Relationship Id="rId1" Type="http://schemas.openxmlformats.org/officeDocument/2006/relationships/slideLayout" Target="../slideLayouts/slideLayout55.xml"/></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theme" Target="../theme/theme24.xml"/><Relationship Id="rId1" Type="http://schemas.openxmlformats.org/officeDocument/2006/relationships/slideLayout" Target="../slideLayouts/slideLayout56.xml"/></Relationships>
</file>

<file path=ppt/slideMasters/_rels/slideMaster2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theme" Target="../theme/theme25.xml"/><Relationship Id="rId1" Type="http://schemas.openxmlformats.org/officeDocument/2006/relationships/slideLayout" Target="../slideLayouts/slideLayout57.xml"/></Relationships>
</file>

<file path=ppt/slideMasters/_rels/slideMaster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theme" Target="../theme/theme26.xml"/><Relationship Id="rId1" Type="http://schemas.openxmlformats.org/officeDocument/2006/relationships/slideLayout" Target="../slideLayouts/slideLayout58.xml"/></Relationships>
</file>

<file path=ppt/slideMasters/_rels/slideMaster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theme" Target="../theme/theme27.xml"/><Relationship Id="rId1" Type="http://schemas.openxmlformats.org/officeDocument/2006/relationships/slideLayout" Target="../slideLayouts/slideLayout59.xml"/></Relationships>
</file>

<file path=ppt/slideMasters/_rels/slideMaster28.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slideLayout" Target="../slideLayouts/slideLayout62.xml"/><Relationship Id="rId7" Type="http://schemas.openxmlformats.org/officeDocument/2006/relationships/theme" Target="../theme/theme28.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s>
</file>

<file path=ppt/slideMasters/_rels/slideMaster29.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slideLayout" Target="../slideLayouts/slideLayout68.xml"/><Relationship Id="rId7" Type="http://schemas.openxmlformats.org/officeDocument/2006/relationships/theme" Target="../theme/theme29.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5" Type="http://schemas.openxmlformats.org/officeDocument/2006/relationships/slideLayout" Target="../slideLayouts/slideLayout70.xml"/><Relationship Id="rId4" Type="http://schemas.openxmlformats.org/officeDocument/2006/relationships/slideLayout" Target="../slideLayouts/slideLayout69.xml"/></Relationships>
</file>

<file path=ppt/slideMasters/_rels/slideMaster30.xml.rels><?xml version="1.0" encoding="UTF-8" standalone="yes"?>
<Relationships xmlns="http://schemas.openxmlformats.org/package/2006/relationships"><Relationship Id="rId8" Type="http://schemas.openxmlformats.org/officeDocument/2006/relationships/theme" Target="../theme/theme30.xml"/><Relationship Id="rId3" Type="http://schemas.openxmlformats.org/officeDocument/2006/relationships/slideLayout" Target="../slideLayouts/slideLayout74.xml"/><Relationship Id="rId7" Type="http://schemas.openxmlformats.org/officeDocument/2006/relationships/slideLayout" Target="../slideLayouts/slideLayout78.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5" Type="http://schemas.openxmlformats.org/officeDocument/2006/relationships/slideLayout" Target="../slideLayouts/slideLayout76.xml"/><Relationship Id="rId4" Type="http://schemas.openxmlformats.org/officeDocument/2006/relationships/slideLayout" Target="../slideLayouts/slideLayout75.xml"/><Relationship Id="rId9" Type="http://schemas.openxmlformats.org/officeDocument/2006/relationships/image" Target="../media/image8.jpg"/></Relationships>
</file>

<file path=ppt/slideMasters/_rels/slideMaster3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theme" Target="../theme/theme31.xml"/><Relationship Id="rId1" Type="http://schemas.openxmlformats.org/officeDocument/2006/relationships/slideLayout" Target="../slideLayouts/slideLayout79.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87.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theme" Target="../theme/theme32.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_rels/slideMaster33.xml.rels><?xml version="1.0" encoding="UTF-8" standalone="yes"?>
<Relationships xmlns="http://schemas.openxmlformats.org/package/2006/relationships"><Relationship Id="rId8" Type="http://schemas.openxmlformats.org/officeDocument/2006/relationships/theme" Target="../theme/theme33.xml"/><Relationship Id="rId3" Type="http://schemas.openxmlformats.org/officeDocument/2006/relationships/slideLayout" Target="../slideLayouts/slideLayout93.xml"/><Relationship Id="rId7" Type="http://schemas.openxmlformats.org/officeDocument/2006/relationships/slideLayout" Target="../slideLayouts/slideLayout97.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5" Type="http://schemas.openxmlformats.org/officeDocument/2006/relationships/slideLayout" Target="../slideLayouts/slideLayout95.xml"/><Relationship Id="rId4" Type="http://schemas.openxmlformats.org/officeDocument/2006/relationships/slideLayout" Target="../slideLayouts/slideLayout94.xml"/><Relationship Id="rId9" Type="http://schemas.openxmlformats.org/officeDocument/2006/relationships/image" Target="../media/image12.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5142574"/>
      </p:ext>
    </p:extLst>
  </p:cSld>
  <p:clrMap bg1="lt1" tx1="dk1" bg2="lt2" tx2="dk2" accent1="accent1" accent2="accent2" accent3="accent3" accent4="accent4" accent5="accent5" accent6="accent6" hlink="hlink" folHlink="folHlink"/>
  <p:sldLayoutIdLst>
    <p:sldLayoutId id="2147483845" r:id="rId1"/>
    <p:sldLayoutId id="214748389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546065"/>
      </p:ext>
    </p:extLst>
  </p:cSld>
  <p:clrMap bg1="lt1" tx1="dk1" bg2="lt2" tx2="dk2" accent1="accent1" accent2="accent2" accent3="accent3" accent4="accent4" accent5="accent5" accent6="accent6" hlink="hlink" folHlink="folHlink"/>
  <p:sldLayoutIdLst>
    <p:sldLayoutId id="214748370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DA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573354188"/>
      </p:ext>
    </p:extLst>
  </p:cSld>
  <p:clrMap bg1="lt1" tx1="dk1" bg2="lt2" tx2="dk2" accent1="accent1" accent2="accent2" accent3="accent3" accent4="accent4" accent5="accent5" accent6="accent6" hlink="hlink" folHlink="folHlink"/>
  <p:sldLayoutIdLst>
    <p:sldLayoutId id="214748371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0278093"/>
      </p:ext>
    </p:extLst>
  </p:cSld>
  <p:clrMap bg1="lt1" tx1="dk1" bg2="lt2" tx2="dk2" accent1="accent1" accent2="accent2" accent3="accent3" accent4="accent4" accent5="accent5" accent6="accent6" hlink="hlink" folHlink="folHlink"/>
  <p:sldLayoutIdLst>
    <p:sldLayoutId id="214748370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0097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3332467499"/>
      </p:ext>
    </p:extLst>
  </p:cSld>
  <p:clrMap bg1="lt1" tx1="dk1" bg2="lt2" tx2="dk2" accent1="accent1" accent2="accent2" accent3="accent3" accent4="accent4" accent5="accent5" accent6="accent6" hlink="hlink" folHlink="folHlink"/>
  <p:sldLayoutIdLst>
    <p:sldLayoutId id="214748371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672272116"/>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8744423"/>
      </p:ext>
    </p:extLst>
  </p:cSld>
  <p:clrMap bg1="lt1" tx1="dk1" bg2="lt2" tx2="dk2" accent1="accent1" accent2="accent2" accent3="accent3" accent4="accent4" accent5="accent5" accent6="accent6" hlink="hlink" folHlink="folHlink"/>
  <p:sldLayoutIdLst>
    <p:sldLayoutId id="2147483759"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003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2153101462"/>
      </p:ext>
    </p:extLst>
  </p:cSld>
  <p:clrMap bg1="lt1" tx1="dk1" bg2="lt2" tx2="dk2" accent1="accent1" accent2="accent2" accent3="accent3" accent4="accent4" accent5="accent5" accent6="accent6" hlink="hlink" folHlink="folHlink"/>
  <p:sldLayoutIdLst>
    <p:sldLayoutId id="214748371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744586973"/>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460356"/>
      </p:ext>
    </p:extLst>
  </p:cSld>
  <p:clrMap bg1="lt1" tx1="dk1" bg2="lt2" tx2="dk2" accent1="accent1" accent2="accent2" accent3="accent3" accent4="accent4" accent5="accent5" accent6="accent6" hlink="hlink" folHlink="folHlink"/>
  <p:sldLayoutIdLst>
    <p:sldLayoutId id="2147483786" r:id="rId1"/>
    <p:sldLayoutId id="2147483895" r:id="rId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2DC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1897024473"/>
      </p:ext>
    </p:extLst>
  </p:cSld>
  <p:clrMap bg1="lt1" tx1="dk1" bg2="lt2" tx2="dk2" accent1="accent1" accent2="accent2" accent3="accent3" accent4="accent4" accent5="accent5" accent6="accent6" hlink="hlink" folHlink="folHlink"/>
  <p:sldLayoutIdLst>
    <p:sldLayoutId id="214748370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55959956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707009"/>
      </p:ext>
    </p:extLst>
  </p:cSld>
  <p:clrMap bg1="lt1" tx1="dk1" bg2="lt2" tx2="dk2" accent1="accent1" accent2="accent2" accent3="accent3" accent4="accent4" accent5="accent5" accent6="accent6" hlink="hlink" folHlink="folHlink"/>
  <p:sldLayoutIdLst>
    <p:sldLayoutId id="214748378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847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532821706"/>
      </p:ext>
    </p:extLst>
  </p:cSld>
  <p:clrMap bg1="lt1" tx1="dk1" bg2="lt2" tx2="dk2" accent1="accent1" accent2="accent2" accent3="accent3" accent4="accent4" accent5="accent5" accent6="accent6" hlink="hlink" folHlink="folHlink"/>
  <p:sldLayoutIdLst>
    <p:sldLayoutId id="214748371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2058317394"/>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2063736"/>
      </p:ext>
    </p:extLst>
  </p:cSld>
  <p:clrMap bg1="lt1" tx1="dk1" bg2="lt2" tx2="dk2" accent1="accent1" accent2="accent2" accent3="accent3" accent4="accent4" accent5="accent5" accent6="accent6" hlink="hlink" folHlink="folHlink"/>
  <p:sldLayoutIdLst>
    <p:sldLayoutId id="214748376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F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1887820131"/>
      </p:ext>
    </p:extLst>
  </p:cSld>
  <p:clrMap bg1="lt1" tx1="dk1" bg2="lt2" tx2="dk2" accent1="accent1" accent2="accent2" accent3="accent3" accent4="accent4" accent5="accent5" accent6="accent6" hlink="hlink" folHlink="folHlink"/>
  <p:sldLayoutIdLst>
    <p:sldLayoutId id="214748371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4036069523"/>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993187"/>
      </p:ext>
    </p:extLst>
  </p:cSld>
  <p:clrMap bg1="lt1" tx1="dk1" bg2="lt2" tx2="dk2" accent1="accent1" accent2="accent2" accent3="accent3" accent4="accent4" accent5="accent5" accent6="accent6" hlink="hlink" folHlink="folHlink"/>
  <p:sldLayoutIdLst>
    <p:sldLayoutId id="214748377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BAC5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935047417"/>
      </p:ext>
    </p:extLst>
  </p:cSld>
  <p:clrMap bg1="lt1" tx1="dk1" bg2="lt2" tx2="dk2" accent1="accent1" accent2="accent2" accent3="accent3" accent4="accent4" accent5="accent5" accent6="accent6" hlink="hlink" folHlink="folHlink"/>
  <p:sldLayoutIdLst>
    <p:sldLayoutId id="214748372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tx1"/>
                </a:solidFill>
                <a:latin typeface="+mn-lt"/>
              </a:rPr>
              <a:pPr/>
              <a:t>‹#›</a:t>
            </a:fld>
            <a:endParaRPr lang="en-CA" sz="900" dirty="0">
              <a:solidFill>
                <a:schemeClr val="tx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687765783"/>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0771605"/>
      </p:ext>
    </p:extLst>
  </p:cSld>
  <p:clrMap bg1="lt1" tx1="dk1" bg2="lt2" tx2="dk2" accent1="accent1" accent2="accent2" accent3="accent3" accent4="accent4" accent5="accent5" accent6="accent6" hlink="hlink" folHlink="folHlink"/>
  <p:sldLayoutIdLst>
    <p:sldLayoutId id="214748373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3352500"/>
      </p:ext>
    </p:extLst>
  </p:cSld>
  <p:clrMap bg1="lt1" tx1="dk1" bg2="lt2" tx2="dk2" accent1="accent1" accent2="accent2" accent3="accent3" accent4="accent4" accent5="accent5" accent6="accent6" hlink="hlink" folHlink="folHlink"/>
  <p:sldLayoutIdLst>
    <p:sldLayoutId id="2147483797"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9643481"/>
      </p:ext>
    </p:extLst>
  </p:cSld>
  <p:clrMap bg1="lt1" tx1="dk1" bg2="lt2" tx2="dk2" accent1="accent1" accent2="accent2" accent3="accent3" accent4="accent4" accent5="accent5" accent6="accent6" hlink="hlink" folHlink="folHlink"/>
  <p:sldLayoutIdLst>
    <p:sldLayoutId id="2147483847"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5127727"/>
      </p:ext>
    </p:extLst>
  </p:cSld>
  <p:clrMap bg1="lt1" tx1="dk1" bg2="lt2" tx2="dk2" accent1="accent1" accent2="accent2" accent3="accent3" accent4="accent4" accent5="accent5" accent6="accent6" hlink="hlink" folHlink="folHlink"/>
  <p:sldLayoutIdLst>
    <p:sldLayoutId id="214748372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766615"/>
      </p:ext>
    </p:extLst>
  </p:cSld>
  <p:clrMap bg1="lt1" tx1="dk1" bg2="lt2" tx2="dk2" accent1="accent1" accent2="accent2" accent3="accent3" accent4="accent4" accent5="accent5" accent6="accent6" hlink="hlink" folHlink="folHlink"/>
  <p:sldLayoutIdLst>
    <p:sldLayoutId id="214748372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60870"/>
      </p:ext>
    </p:extLst>
  </p:cSld>
  <p:clrMap bg1="lt1" tx1="dk1" bg2="lt2" tx2="dk2" accent1="accent1" accent2="accent2" accent3="accent3" accent4="accent4" accent5="accent5" accent6="accent6" hlink="hlink" folHlink="folHlink"/>
  <p:sldLayoutIdLst>
    <p:sldLayoutId id="2147483799"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813477564"/>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5" y="4847237"/>
            <a:ext cx="322524"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322364024"/>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Lst>
  <p:timing>
    <p:tnLst>
      <p:par>
        <p:cTn id="1" dur="indefinite" restart="never" nodeType="tmRoot"/>
      </p:par>
    </p:tnLst>
  </p:timing>
  <p:txStyles>
    <p:titleStyle>
      <a:lvl1pPr algn="ctr" defTabSz="914378" rtl="0" eaLnBrk="1" latinLnBrk="0" hangingPunct="1">
        <a:spcBef>
          <a:spcPct val="0"/>
        </a:spcBef>
        <a:buNone/>
        <a:defRPr sz="4400" kern="1200">
          <a:solidFill>
            <a:schemeClr val="tx1"/>
          </a:solidFill>
          <a:latin typeface="+mj-lt"/>
          <a:ea typeface="+mj-ea"/>
          <a:cs typeface="+mj-cs"/>
        </a:defRPr>
      </a:lvl1pPr>
    </p:titleStyle>
    <p:bodyStyle>
      <a:lvl1pPr marL="342892" indent="-342892" algn="l" defTabSz="91437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31" indent="-285743" algn="l" defTabSz="914378"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972" indent="-228594" algn="l" defTabSz="914378"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160"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348"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537"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2019724576"/>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93" r:id="rId7"/>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7410541"/>
      </p:ext>
    </p:extLst>
  </p:cSld>
  <p:clrMap bg1="lt1" tx1="dk1" bg2="lt2" tx2="dk2" accent1="accent1" accent2="accent2" accent3="accent3" accent4="accent4" accent5="accent5" accent6="accent6" hlink="hlink" folHlink="folHlink"/>
  <p:sldLayoutIdLst>
    <p:sldLayoutId id="214748387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CA"/>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E2FF190-20FE-4F1F-A3D3-5B6D79E86298}" type="datetimeFigureOut">
              <a:rPr lang="en-CA" smtClean="0"/>
              <a:t>11/03/2020</a:t>
            </a:fld>
            <a:endParaRPr lang="en-CA"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CA"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5C6F16E-37CC-4B28-B38D-015BBEDBC69B}" type="slidenum">
              <a:rPr lang="en-CA" smtClean="0"/>
              <a:t>‹#›</a:t>
            </a:fld>
            <a:endParaRPr lang="en-CA" dirty="0"/>
          </a:p>
        </p:txBody>
      </p:sp>
    </p:spTree>
    <p:extLst>
      <p:ext uri="{BB962C8B-B14F-4D97-AF65-F5344CB8AC3E}">
        <p14:creationId xmlns:p14="http://schemas.microsoft.com/office/powerpoint/2010/main" val="2465607548"/>
      </p:ext>
    </p:extLst>
  </p:cSld>
  <p:clrMap bg1="lt1" tx1="dk1" bg2="lt2" tx2="dk2" accent1="accent1" accent2="accent2" accent3="accent3" accent4="accent4" accent5="accent5" accent6="accent6" hlink="hlink" folHlink="folHlink"/>
  <p:sldLayoutIdLst>
    <p:sldLayoutId id="2147483881" r:id="rId1"/>
    <p:sldLayoutId id="2147483882" r:id="rId2"/>
    <p:sldLayoutId id="2147483883" r:id="rId3"/>
    <p:sldLayoutId id="2147483884" r:id="rId4"/>
    <p:sldLayoutId id="2147483885" r:id="rId5"/>
    <p:sldLayoutId id="2147483886" r:id="rId6"/>
    <p:sldLayoutId id="2147483887" r:id="rId7"/>
    <p:sldLayoutId id="2147483888" r:id="rId8"/>
    <p:sldLayoutId id="2147483889" r:id="rId9"/>
    <p:sldLayoutId id="2147483890" r:id="rId10"/>
    <p:sldLayoutId id="2147483891" r:id="rId11"/>
  </p:sldLayoutIdLs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978709892"/>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9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437092" y="3821122"/>
            <a:ext cx="6362700" cy="398089"/>
          </a:xfrm>
        </p:spPr>
        <p:txBody>
          <a:bodyPr/>
          <a:lstStyle/>
          <a:p>
            <a:r>
              <a:rPr lang="en-US" smtClean="0"/>
              <a:t>June 22, </a:t>
            </a:r>
            <a:r>
              <a:rPr lang="en-US" dirty="0" smtClean="0"/>
              <a:t>2020</a:t>
            </a:r>
            <a:endParaRPr lang="en-CA" dirty="0"/>
          </a:p>
        </p:txBody>
      </p:sp>
      <p:sp>
        <p:nvSpPr>
          <p:cNvPr id="3" name="Text Placeholder 2"/>
          <p:cNvSpPr>
            <a:spLocks noGrp="1"/>
          </p:cNvSpPr>
          <p:nvPr>
            <p:ph type="body" sz="quarter" idx="12"/>
          </p:nvPr>
        </p:nvSpPr>
        <p:spPr>
          <a:xfrm>
            <a:off x="428626" y="2319666"/>
            <a:ext cx="8331201" cy="457199"/>
          </a:xfrm>
        </p:spPr>
        <p:txBody>
          <a:bodyPr/>
          <a:lstStyle/>
          <a:p>
            <a:r>
              <a:rPr lang="en-US" sz="2800" dirty="0" smtClean="0"/>
              <a:t>Helping small businesses. </a:t>
            </a:r>
            <a:endParaRPr lang="en-US" sz="2800" dirty="0"/>
          </a:p>
        </p:txBody>
      </p:sp>
      <p:sp>
        <p:nvSpPr>
          <p:cNvPr id="5" name="Text Placeholder 4"/>
          <p:cNvSpPr>
            <a:spLocks noGrp="1"/>
          </p:cNvSpPr>
          <p:nvPr>
            <p:ph type="body" sz="quarter" idx="14"/>
          </p:nvPr>
        </p:nvSpPr>
        <p:spPr>
          <a:xfrm>
            <a:off x="415927" y="1640697"/>
            <a:ext cx="8350249" cy="528638"/>
          </a:xfrm>
        </p:spPr>
        <p:txBody>
          <a:bodyPr/>
          <a:lstStyle/>
          <a:p>
            <a:r>
              <a:rPr lang="en-US" sz="3600" dirty="0" smtClean="0"/>
              <a:t>SME Digital Platform Differentiators</a:t>
            </a:r>
            <a:endParaRPr lang="en-CA" sz="3600" dirty="0"/>
          </a:p>
        </p:txBody>
      </p:sp>
    </p:spTree>
    <p:extLst>
      <p:ext uri="{BB962C8B-B14F-4D97-AF65-F5344CB8AC3E}">
        <p14:creationId xmlns:p14="http://schemas.microsoft.com/office/powerpoint/2010/main" val="1610376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4278086" y="1732355"/>
            <a:ext cx="4500221" cy="2681022"/>
          </a:xfrm>
        </p:spPr>
        <p:txBody>
          <a:bodyPr numCol="1"/>
          <a:lstStyle/>
          <a:p>
            <a:pPr>
              <a:buFont typeface="+mj-lt"/>
              <a:buAutoNum type="arabicPeriod"/>
            </a:pPr>
            <a:r>
              <a:rPr lang="en-US" dirty="0" smtClean="0"/>
              <a:t>Integrated view of their business from one dashboard </a:t>
            </a:r>
          </a:p>
          <a:p>
            <a:pPr>
              <a:buFont typeface="+mj-lt"/>
              <a:buAutoNum type="arabicPeriod"/>
            </a:pPr>
            <a:r>
              <a:rPr lang="en-US" dirty="0" smtClean="0"/>
              <a:t>Intuitive user interface for all core banking and payment services</a:t>
            </a:r>
          </a:p>
          <a:p>
            <a:pPr>
              <a:buFont typeface="+mj-lt"/>
              <a:buAutoNum type="arabicPeriod"/>
            </a:pPr>
            <a:r>
              <a:rPr lang="en-US" dirty="0" smtClean="0"/>
              <a:t>Detailed view of cash flow based on banking and accounting data</a:t>
            </a:r>
          </a:p>
          <a:p>
            <a:pPr>
              <a:buFont typeface="+mj-lt"/>
              <a:buAutoNum type="arabicPeriod"/>
            </a:pPr>
            <a:r>
              <a:rPr lang="en-US" dirty="0" smtClean="0"/>
              <a:t>Actionable insights generated by an Explainable Artificial Intelligence (XAI) system to keep them in the know</a:t>
            </a:r>
          </a:p>
          <a:p>
            <a:pPr>
              <a:buFont typeface="+mj-lt"/>
              <a:buAutoNum type="arabicPeriod"/>
            </a:pPr>
            <a:r>
              <a:rPr lang="en-US" dirty="0" smtClean="0"/>
              <a:t>A trusted partner with CWB, augmenting the digital experience with a human partnership</a:t>
            </a:r>
          </a:p>
        </p:txBody>
      </p:sp>
      <p:sp>
        <p:nvSpPr>
          <p:cNvPr id="6" name="Text Placeholder 5"/>
          <p:cNvSpPr>
            <a:spLocks noGrp="1"/>
          </p:cNvSpPr>
          <p:nvPr>
            <p:ph type="body" sz="quarter" idx="12"/>
          </p:nvPr>
        </p:nvSpPr>
        <p:spPr/>
        <p:txBody>
          <a:bodyPr/>
          <a:lstStyle/>
          <a:p>
            <a:r>
              <a:rPr lang="en-US" dirty="0" smtClean="0"/>
              <a:t>Differentiation for SMEs - Going beyond banking….</a:t>
            </a:r>
            <a:endParaRPr lang="en-US" dirty="0"/>
          </a:p>
          <a:p>
            <a:endParaRPr lang="en-CA" dirty="0"/>
          </a:p>
        </p:txBody>
      </p:sp>
      <p:sp>
        <p:nvSpPr>
          <p:cNvPr id="8" name="Text Placeholder 7"/>
          <p:cNvSpPr>
            <a:spLocks noGrp="1"/>
          </p:cNvSpPr>
          <p:nvPr>
            <p:ph type="body" sz="quarter" idx="14"/>
          </p:nvPr>
        </p:nvSpPr>
        <p:spPr/>
        <p:txBody>
          <a:bodyPr/>
          <a:lstStyle/>
          <a:p>
            <a:r>
              <a:rPr lang="en-US" dirty="0" smtClean="0"/>
              <a:t>Help SMEs manage day to day activities and focus on what they value most! </a:t>
            </a:r>
            <a:endParaRPr lang="en-CA" dirty="0"/>
          </a:p>
        </p:txBody>
      </p:sp>
      <p:grpSp>
        <p:nvGrpSpPr>
          <p:cNvPr id="55" name="Group 54"/>
          <p:cNvGrpSpPr/>
          <p:nvPr/>
        </p:nvGrpSpPr>
        <p:grpSpPr>
          <a:xfrm>
            <a:off x="525781" y="1490607"/>
            <a:ext cx="3255918" cy="3120582"/>
            <a:chOff x="374752" y="1490607"/>
            <a:chExt cx="3264780" cy="3243182"/>
          </a:xfrm>
        </p:grpSpPr>
        <p:sp>
          <p:nvSpPr>
            <p:cNvPr id="9" name="Oval 8"/>
            <p:cNvSpPr/>
            <p:nvPr/>
          </p:nvSpPr>
          <p:spPr>
            <a:xfrm>
              <a:off x="1628950" y="3958833"/>
              <a:ext cx="774956" cy="77495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10" name="Oval 9"/>
            <p:cNvSpPr/>
            <p:nvPr/>
          </p:nvSpPr>
          <p:spPr>
            <a:xfrm>
              <a:off x="1695795" y="4025678"/>
              <a:ext cx="641266" cy="6412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11" name="Oval 10"/>
            <p:cNvSpPr/>
            <p:nvPr/>
          </p:nvSpPr>
          <p:spPr>
            <a:xfrm>
              <a:off x="2496567" y="1834810"/>
              <a:ext cx="774956" cy="77495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12" name="Oval 11"/>
            <p:cNvSpPr/>
            <p:nvPr/>
          </p:nvSpPr>
          <p:spPr>
            <a:xfrm>
              <a:off x="2563412" y="1901655"/>
              <a:ext cx="641266" cy="6412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13" name="Oval 12"/>
            <p:cNvSpPr/>
            <p:nvPr/>
          </p:nvSpPr>
          <p:spPr>
            <a:xfrm>
              <a:off x="2489195" y="3616082"/>
              <a:ext cx="774956" cy="77495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14" name="Oval 13"/>
            <p:cNvSpPr/>
            <p:nvPr/>
          </p:nvSpPr>
          <p:spPr>
            <a:xfrm>
              <a:off x="2563412" y="3682927"/>
              <a:ext cx="641266" cy="6412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15" name="Oval 14"/>
            <p:cNvSpPr/>
            <p:nvPr/>
          </p:nvSpPr>
          <p:spPr>
            <a:xfrm>
              <a:off x="1628950" y="1490607"/>
              <a:ext cx="774956" cy="77495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Oval 15"/>
            <p:cNvSpPr/>
            <p:nvPr/>
          </p:nvSpPr>
          <p:spPr>
            <a:xfrm>
              <a:off x="1695795" y="1557451"/>
              <a:ext cx="641266" cy="6412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Oval 16"/>
            <p:cNvSpPr/>
            <p:nvPr/>
          </p:nvSpPr>
          <p:spPr>
            <a:xfrm>
              <a:off x="741925" y="1849555"/>
              <a:ext cx="774956" cy="77495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18" name="Oval 17"/>
            <p:cNvSpPr/>
            <p:nvPr/>
          </p:nvSpPr>
          <p:spPr>
            <a:xfrm>
              <a:off x="808769" y="1916400"/>
              <a:ext cx="641266" cy="6412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19" name="Oval 18"/>
            <p:cNvSpPr/>
            <p:nvPr/>
          </p:nvSpPr>
          <p:spPr>
            <a:xfrm>
              <a:off x="764042" y="3616082"/>
              <a:ext cx="774956" cy="77495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Oval 19"/>
            <p:cNvSpPr/>
            <p:nvPr/>
          </p:nvSpPr>
          <p:spPr>
            <a:xfrm>
              <a:off x="830887" y="3682927"/>
              <a:ext cx="641266" cy="6412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Oval 20"/>
            <p:cNvSpPr/>
            <p:nvPr/>
          </p:nvSpPr>
          <p:spPr>
            <a:xfrm>
              <a:off x="2864576" y="2773606"/>
              <a:ext cx="774956" cy="77495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22" name="Oval 21"/>
            <p:cNvSpPr/>
            <p:nvPr/>
          </p:nvSpPr>
          <p:spPr>
            <a:xfrm>
              <a:off x="2931421" y="2840451"/>
              <a:ext cx="641266" cy="6412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Oval 22"/>
            <p:cNvSpPr/>
            <p:nvPr/>
          </p:nvSpPr>
          <p:spPr>
            <a:xfrm>
              <a:off x="387869" y="2773606"/>
              <a:ext cx="774956" cy="77495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Oval 23"/>
            <p:cNvSpPr/>
            <p:nvPr/>
          </p:nvSpPr>
          <p:spPr>
            <a:xfrm>
              <a:off x="454714" y="2840451"/>
              <a:ext cx="641266" cy="6412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75" b="0" i="0" u="none" strike="noStrike" kern="1200" cap="none" spc="0" normalizeH="0" baseline="0" noProof="0" dirty="0">
                <a:ln>
                  <a:noFill/>
                </a:ln>
                <a:solidFill>
                  <a:srgbClr val="FFFFFF"/>
                </a:solidFill>
                <a:effectLst/>
                <a:uLnTx/>
                <a:uFillTx/>
                <a:latin typeface="Calibri"/>
                <a:ea typeface="+mn-ea"/>
                <a:cs typeface="+mn-cs"/>
              </a:endParaRPr>
            </a:p>
          </p:txBody>
        </p:sp>
        <p:sp>
          <p:nvSpPr>
            <p:cNvPr id="31" name="Oval 30"/>
            <p:cNvSpPr/>
            <p:nvPr/>
          </p:nvSpPr>
          <p:spPr>
            <a:xfrm>
              <a:off x="1239450" y="2338023"/>
              <a:ext cx="1548500" cy="15485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w="0"/>
                  <a:solidFill>
                    <a:srgbClr val="0097A9"/>
                  </a:solidFill>
                  <a:effectLst>
                    <a:outerShdw blurRad="38100" dist="25400" dir="5400000" algn="ctr" rotWithShape="0">
                      <a:srgbClr val="6E747A">
                        <a:alpha val="43000"/>
                      </a:srgbClr>
                    </a:outerShdw>
                  </a:effectLst>
                  <a:uLnTx/>
                  <a:uFillTx/>
                  <a:latin typeface="Calibri"/>
                  <a:ea typeface="+mn-ea"/>
                  <a:cs typeface="+mn-cs"/>
                </a:rPr>
                <a:t>SME</a:t>
              </a:r>
            </a:p>
          </p:txBody>
        </p:sp>
        <p:pic>
          <p:nvPicPr>
            <p:cNvPr id="40" name="Picture 39"/>
            <p:cNvPicPr>
              <a:picLocks/>
            </p:cNvPicPr>
            <p:nvPr/>
          </p:nvPicPr>
          <p:blipFill rotWithShape="1">
            <a:blip r:embed="rId2">
              <a:duotone>
                <a:schemeClr val="accent3">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44637" t="5303" r="1619" b="-982"/>
            <a:stretch/>
          </p:blipFill>
          <p:spPr>
            <a:xfrm>
              <a:off x="1226953" y="2413352"/>
              <a:ext cx="1548000" cy="1414969"/>
            </a:xfrm>
            <a:prstGeom prst="ellipse">
              <a:avLst/>
            </a:prstGeom>
            <a:ln>
              <a:noFill/>
            </a:ln>
            <a:effectLst>
              <a:softEdge rad="112500"/>
            </a:effectLst>
          </p:spPr>
        </p:pic>
        <p:sp>
          <p:nvSpPr>
            <p:cNvPr id="47" name="TextBox 46"/>
            <p:cNvSpPr txBox="1"/>
            <p:nvPr/>
          </p:nvSpPr>
          <p:spPr>
            <a:xfrm>
              <a:off x="1599165" y="1739645"/>
              <a:ext cx="835483"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Dashboard</a:t>
              </a:r>
              <a:endParaRPr kumimoji="0" lang="en-CA"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8" name="TextBox 47"/>
            <p:cNvSpPr txBox="1"/>
            <p:nvPr/>
          </p:nvSpPr>
          <p:spPr>
            <a:xfrm>
              <a:off x="794159" y="2035769"/>
              <a:ext cx="702436"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3</a:t>
              </a:r>
              <a:r>
                <a:rPr kumimoji="0" lang="en-US" sz="1100" b="0" i="0" u="none" strike="noStrike" kern="1200" cap="none" spc="0" normalizeH="0" baseline="30000" noProof="0" dirty="0" smtClean="0">
                  <a:ln>
                    <a:noFill/>
                  </a:ln>
                  <a:solidFill>
                    <a:srgbClr val="FFFFFF"/>
                  </a:solidFill>
                  <a:effectLst/>
                  <a:uLnTx/>
                  <a:uFillTx/>
                  <a:latin typeface="Calibri"/>
                  <a:ea typeface="+mn-ea"/>
                  <a:cs typeface="+mn-cs"/>
                </a:rPr>
                <a:t>rd</a:t>
              </a: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 Party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Data</a:t>
              </a:r>
              <a:endParaRPr kumimoji="0" lang="en-CA"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9" name="TextBox 48"/>
            <p:cNvSpPr txBox="1"/>
            <p:nvPr/>
          </p:nvSpPr>
          <p:spPr>
            <a:xfrm>
              <a:off x="2894336" y="2945640"/>
              <a:ext cx="745196" cy="4478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Payment Services</a:t>
              </a:r>
              <a:endParaRPr kumimoji="0" lang="en-CA"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0" name="TextBox 49"/>
            <p:cNvSpPr txBox="1"/>
            <p:nvPr/>
          </p:nvSpPr>
          <p:spPr>
            <a:xfrm>
              <a:off x="831205" y="3778130"/>
              <a:ext cx="658613" cy="4478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Modern Security</a:t>
              </a:r>
              <a:endParaRPr kumimoji="0" lang="en-CA"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1" name="TextBox 50"/>
            <p:cNvSpPr txBox="1"/>
            <p:nvPr/>
          </p:nvSpPr>
          <p:spPr>
            <a:xfrm>
              <a:off x="374752" y="2945640"/>
              <a:ext cx="801189" cy="4478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Actionable</a:t>
              </a:r>
              <a:br>
                <a:rPr kumimoji="0" lang="en-US" sz="1100" b="0" i="0" u="none" strike="noStrike" kern="1200" cap="none" spc="0" normalizeH="0" baseline="0" noProof="0" dirty="0" smtClean="0">
                  <a:ln>
                    <a:noFill/>
                  </a:ln>
                  <a:solidFill>
                    <a:srgbClr val="FFFFFF"/>
                  </a:solidFill>
                  <a:effectLst/>
                  <a:uLnTx/>
                  <a:uFillTx/>
                  <a:latin typeface="Calibri"/>
                  <a:ea typeface="+mn-ea"/>
                  <a:cs typeface="+mn-cs"/>
                </a:rPr>
              </a:b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Insights</a:t>
              </a:r>
              <a:endParaRPr kumimoji="0" lang="en-CA"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2" name="TextBox 51"/>
            <p:cNvSpPr txBox="1"/>
            <p:nvPr/>
          </p:nvSpPr>
          <p:spPr>
            <a:xfrm>
              <a:off x="2497959" y="3792404"/>
              <a:ext cx="792753" cy="44781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Cash Flow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Forecast</a:t>
              </a:r>
              <a:endParaRPr kumimoji="0" lang="en-CA"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3" name="TextBox 52"/>
            <p:cNvSpPr txBox="1"/>
            <p:nvPr/>
          </p:nvSpPr>
          <p:spPr>
            <a:xfrm>
              <a:off x="1665783" y="4130867"/>
              <a:ext cx="702741" cy="44781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Intuitive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Interface</a:t>
              </a:r>
              <a:endParaRPr kumimoji="0" lang="en-CA"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4" name="TextBox 53"/>
            <p:cNvSpPr txBox="1"/>
            <p:nvPr/>
          </p:nvSpPr>
          <p:spPr>
            <a:xfrm>
              <a:off x="2554886" y="1894267"/>
              <a:ext cx="658317" cy="600164"/>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All</a:t>
              </a:r>
              <a:br>
                <a:rPr kumimoji="0" lang="en-US" sz="1100" b="0" i="0" u="none" strike="noStrike" kern="1200" cap="none" spc="0" normalizeH="0" baseline="0" noProof="0" dirty="0" smtClean="0">
                  <a:ln>
                    <a:noFill/>
                  </a:ln>
                  <a:solidFill>
                    <a:srgbClr val="FFFFFF"/>
                  </a:solidFill>
                  <a:effectLst/>
                  <a:uLnTx/>
                  <a:uFillTx/>
                  <a:latin typeface="Calibri"/>
                  <a:ea typeface="+mn-ea"/>
                  <a:cs typeface="+mn-cs"/>
                </a:rPr>
              </a:br>
              <a:r>
                <a:rPr kumimoji="0" lang="en-US" sz="1100" b="0" i="0" u="none" strike="noStrike" kern="1200" cap="none" spc="0" normalizeH="0" baseline="0" noProof="0" dirty="0" smtClean="0">
                  <a:ln>
                    <a:noFill/>
                  </a:ln>
                  <a:solidFill>
                    <a:srgbClr val="FFFFFF"/>
                  </a:solidFill>
                  <a:effectLst/>
                  <a:uLnTx/>
                  <a:uFillTx/>
                  <a:latin typeface="Calibri"/>
                  <a:ea typeface="+mn-ea"/>
                  <a:cs typeface="+mn-cs"/>
                </a:rPr>
                <a:t>Banking Services</a:t>
              </a:r>
              <a:endParaRPr kumimoji="0" lang="en-CA" sz="1100" b="0" i="0" u="none" strike="noStrike" kern="1200" cap="none" spc="0" normalizeH="0" baseline="0" noProof="0" dirty="0">
                <a:ln>
                  <a:noFill/>
                </a:ln>
                <a:solidFill>
                  <a:srgbClr val="FFFFFF"/>
                </a:solidFill>
                <a:effectLst/>
                <a:uLnTx/>
                <a:uFillTx/>
                <a:latin typeface="Calibri"/>
                <a:ea typeface="+mn-ea"/>
                <a:cs typeface="+mn-cs"/>
              </a:endParaRPr>
            </a:p>
          </p:txBody>
        </p:sp>
      </p:grpSp>
    </p:spTree>
    <p:extLst>
      <p:ext uri="{BB962C8B-B14F-4D97-AF65-F5344CB8AC3E}">
        <p14:creationId xmlns:p14="http://schemas.microsoft.com/office/powerpoint/2010/main" val="15093823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189595"/>
            <a:ext cx="8280401" cy="397483"/>
          </a:xfrm>
        </p:spPr>
        <p:txBody>
          <a:bodyPr/>
          <a:lstStyle/>
          <a:p>
            <a:r>
              <a:rPr lang="en-US" dirty="0" smtClean="0"/>
              <a:t>Cash Flow</a:t>
            </a:r>
            <a:endParaRPr lang="en-CA" dirty="0"/>
          </a:p>
        </p:txBody>
      </p:sp>
      <p:sp>
        <p:nvSpPr>
          <p:cNvPr id="3" name="Text Placeholder 2"/>
          <p:cNvSpPr>
            <a:spLocks noGrp="1"/>
          </p:cNvSpPr>
          <p:nvPr>
            <p:ph type="body" sz="quarter" idx="14"/>
          </p:nvPr>
        </p:nvSpPr>
        <p:spPr>
          <a:xfrm>
            <a:off x="406203" y="646231"/>
            <a:ext cx="8280401" cy="659107"/>
          </a:xfrm>
        </p:spPr>
        <p:txBody>
          <a:bodyPr/>
          <a:lstStyle/>
          <a:p>
            <a:r>
              <a:rPr lang="en-US" dirty="0" smtClean="0"/>
              <a:t>Differentiation: Leverage CWB and Accounting data to calculate cash flow to show historical trends and forecast based on past activity using AI capabilities</a:t>
            </a:r>
          </a:p>
          <a:p>
            <a:endParaRPr lang="en-US" dirty="0"/>
          </a:p>
          <a:p>
            <a:endParaRPr lang="en-CA" dirty="0"/>
          </a:p>
        </p:txBody>
      </p:sp>
      <p:sp>
        <p:nvSpPr>
          <p:cNvPr id="6" name="Text Placeholder 6"/>
          <p:cNvSpPr>
            <a:spLocks noGrp="1"/>
          </p:cNvSpPr>
          <p:nvPr>
            <p:ph type="body" sz="quarter" idx="13"/>
          </p:nvPr>
        </p:nvSpPr>
        <p:spPr>
          <a:xfrm>
            <a:off x="339942" y="3072661"/>
            <a:ext cx="1893049" cy="1198216"/>
          </a:xfrm>
        </p:spPr>
        <p:txBody>
          <a:bodyPr numCol="1"/>
          <a:lstStyle/>
          <a:p>
            <a:pPr marL="0" indent="0">
              <a:buNone/>
            </a:pPr>
            <a:r>
              <a:rPr lang="en-US" sz="1200" dirty="0" smtClean="0"/>
              <a:t>Data access and integration</a:t>
            </a:r>
          </a:p>
          <a:p>
            <a:pPr marL="0" indent="0">
              <a:buNone/>
            </a:pPr>
            <a:endParaRPr lang="en-US" sz="1200" dirty="0" smtClean="0"/>
          </a:p>
          <a:p>
            <a:pPr marL="0" indent="0">
              <a:buNone/>
            </a:pPr>
            <a:r>
              <a:rPr lang="en-US" sz="1200" dirty="0" smtClean="0"/>
              <a:t>CWB Data</a:t>
            </a:r>
          </a:p>
          <a:p>
            <a:pPr marL="0" indent="0">
              <a:buNone/>
            </a:pPr>
            <a:r>
              <a:rPr lang="en-US" sz="1200" dirty="0" smtClean="0"/>
              <a:t>Accounting</a:t>
            </a:r>
            <a:r>
              <a:rPr lang="en-US" sz="1200" dirty="0"/>
              <a:t> </a:t>
            </a:r>
            <a:r>
              <a:rPr lang="en-US" sz="1200" dirty="0" smtClean="0"/>
              <a:t>Data</a:t>
            </a:r>
          </a:p>
          <a:p>
            <a:pPr marL="0" indent="0">
              <a:buNone/>
            </a:pPr>
            <a:r>
              <a:rPr lang="en-US" sz="1200" dirty="0" smtClean="0"/>
              <a:t>Third Party Data</a:t>
            </a:r>
          </a:p>
        </p:txBody>
      </p:sp>
      <p:sp>
        <p:nvSpPr>
          <p:cNvPr id="8" name="Text Placeholder 6"/>
          <p:cNvSpPr txBox="1">
            <a:spLocks/>
          </p:cNvSpPr>
          <p:nvPr/>
        </p:nvSpPr>
        <p:spPr>
          <a:xfrm>
            <a:off x="2525249" y="1472096"/>
            <a:ext cx="1672674" cy="334984"/>
          </a:xfrm>
          <a:prstGeom prst="rect">
            <a:avLst/>
          </a:prstGeom>
          <a:noFill/>
        </p:spPr>
        <p:txBody>
          <a:bodyPr numCol="1" spcCol="144000"/>
          <a:lstStyle>
            <a:lvl1pPr marL="342900" indent="-342900" algn="l" defTabSz="914400" rtl="0" eaLnBrk="1" latinLnBrk="0" hangingPunct="1">
              <a:spcBef>
                <a:spcPct val="20000"/>
              </a:spcBef>
              <a:buFont typeface="Arial" panose="020B0604020202020204" pitchFamily="34" charset="0"/>
              <a:buChar char="•"/>
              <a:defRPr sz="1500" kern="1200" baseline="0">
                <a:solidFill>
                  <a:schemeClr val="tx1"/>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spcBef>
                <a:spcPct val="20000"/>
              </a:spcBef>
              <a:buFont typeface="Wingdings" panose="05000000000000000000" pitchFamily="2" charset="2"/>
              <a:buChar char="s"/>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dirty="0" smtClean="0"/>
              <a:t>Generate Insights</a:t>
            </a:r>
          </a:p>
          <a:p>
            <a:pPr marL="0" indent="0">
              <a:buFont typeface="Arial" panose="020B0604020202020204" pitchFamily="34" charset="0"/>
              <a:buNone/>
            </a:pPr>
            <a:r>
              <a:rPr lang="en-US" sz="1200" dirty="0" smtClean="0"/>
              <a:t>Why is this data important? </a:t>
            </a:r>
          </a:p>
        </p:txBody>
      </p:sp>
      <p:sp>
        <p:nvSpPr>
          <p:cNvPr id="9" name="Text Placeholder 6"/>
          <p:cNvSpPr txBox="1">
            <a:spLocks/>
          </p:cNvSpPr>
          <p:nvPr/>
        </p:nvSpPr>
        <p:spPr>
          <a:xfrm>
            <a:off x="4202654" y="1472095"/>
            <a:ext cx="1666757" cy="1012687"/>
          </a:xfrm>
          <a:prstGeom prst="rect">
            <a:avLst/>
          </a:prstGeom>
          <a:noFill/>
        </p:spPr>
        <p:txBody>
          <a:bodyPr numCol="1" spcCol="144000"/>
          <a:lstStyle>
            <a:lvl1pPr marL="342900" indent="-342900" algn="l" defTabSz="914400" rtl="0" eaLnBrk="1" latinLnBrk="0" hangingPunct="1">
              <a:spcBef>
                <a:spcPct val="20000"/>
              </a:spcBef>
              <a:buFont typeface="Arial" panose="020B0604020202020204" pitchFamily="34" charset="0"/>
              <a:buChar char="•"/>
              <a:defRPr sz="1500" kern="1200" baseline="0">
                <a:solidFill>
                  <a:schemeClr val="tx1"/>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spcBef>
                <a:spcPct val="20000"/>
              </a:spcBef>
              <a:buFont typeface="Wingdings" panose="05000000000000000000" pitchFamily="2" charset="2"/>
              <a:buChar char="s"/>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dirty="0" smtClean="0"/>
              <a:t>Create Actions</a:t>
            </a:r>
          </a:p>
          <a:p>
            <a:pPr marL="0" indent="0">
              <a:buFont typeface="Arial" panose="020B0604020202020204" pitchFamily="34" charset="0"/>
              <a:buNone/>
            </a:pPr>
            <a:r>
              <a:rPr lang="en-US" sz="1200" dirty="0" smtClean="0"/>
              <a:t>What should I do about it and what is your recommendation?</a:t>
            </a:r>
          </a:p>
        </p:txBody>
      </p:sp>
      <p:sp>
        <p:nvSpPr>
          <p:cNvPr id="10" name="Text Placeholder 6"/>
          <p:cNvSpPr txBox="1">
            <a:spLocks/>
          </p:cNvSpPr>
          <p:nvPr/>
        </p:nvSpPr>
        <p:spPr>
          <a:xfrm>
            <a:off x="7475036" y="1472097"/>
            <a:ext cx="1410547" cy="1184964"/>
          </a:xfrm>
          <a:prstGeom prst="rect">
            <a:avLst/>
          </a:prstGeom>
          <a:noFill/>
        </p:spPr>
        <p:txBody>
          <a:bodyPr numCol="1" spcCol="144000"/>
          <a:lstStyle>
            <a:lvl1pPr marL="342900" indent="-342900" algn="l" defTabSz="914400" rtl="0" eaLnBrk="1" latinLnBrk="0" hangingPunct="1">
              <a:spcBef>
                <a:spcPct val="20000"/>
              </a:spcBef>
              <a:buFont typeface="Arial" panose="020B0604020202020204" pitchFamily="34" charset="0"/>
              <a:buChar char="•"/>
              <a:defRPr sz="1500" kern="1200" baseline="0">
                <a:solidFill>
                  <a:schemeClr val="tx1"/>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spcBef>
                <a:spcPct val="20000"/>
              </a:spcBef>
              <a:buFont typeface="Wingdings" panose="05000000000000000000" pitchFamily="2" charset="2"/>
              <a:buChar char="s"/>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dirty="0" smtClean="0"/>
              <a:t>Automation</a:t>
            </a:r>
          </a:p>
          <a:p>
            <a:pPr marL="0" indent="0">
              <a:buFont typeface="Arial" panose="020B0604020202020204" pitchFamily="34" charset="0"/>
              <a:buNone/>
            </a:pPr>
            <a:r>
              <a:rPr lang="en-US" sz="1200" dirty="0" smtClean="0"/>
              <a:t>Automate future actions </a:t>
            </a:r>
          </a:p>
        </p:txBody>
      </p:sp>
      <p:sp>
        <p:nvSpPr>
          <p:cNvPr id="11" name="Text Placeholder 6"/>
          <p:cNvSpPr txBox="1">
            <a:spLocks/>
          </p:cNvSpPr>
          <p:nvPr/>
        </p:nvSpPr>
        <p:spPr>
          <a:xfrm>
            <a:off x="5869411" y="1472096"/>
            <a:ext cx="1439163" cy="1105451"/>
          </a:xfrm>
          <a:prstGeom prst="rect">
            <a:avLst/>
          </a:prstGeom>
          <a:noFill/>
        </p:spPr>
        <p:txBody>
          <a:bodyPr numCol="1" spcCol="144000"/>
          <a:lstStyle>
            <a:lvl1pPr marL="342900" indent="-342900" algn="l" defTabSz="914400" rtl="0" eaLnBrk="1" latinLnBrk="0" hangingPunct="1">
              <a:spcBef>
                <a:spcPct val="20000"/>
              </a:spcBef>
              <a:buFont typeface="Arial" panose="020B0604020202020204" pitchFamily="34" charset="0"/>
              <a:buChar char="•"/>
              <a:defRPr sz="1500" kern="1200" baseline="0">
                <a:solidFill>
                  <a:schemeClr val="tx1"/>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spcBef>
                <a:spcPct val="20000"/>
              </a:spcBef>
              <a:buFont typeface="Wingdings" panose="05000000000000000000" pitchFamily="2" charset="2"/>
              <a:buChar char="s"/>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dirty="0" smtClean="0"/>
              <a:t>Prediction</a:t>
            </a:r>
          </a:p>
          <a:p>
            <a:pPr marL="0" indent="0">
              <a:buFont typeface="Arial" panose="020B0604020202020204" pitchFamily="34" charset="0"/>
              <a:buNone/>
            </a:pPr>
            <a:r>
              <a:rPr lang="en-US" sz="1200" dirty="0" smtClean="0"/>
              <a:t>What is the user’s preference?</a:t>
            </a:r>
          </a:p>
        </p:txBody>
      </p:sp>
      <p:sp>
        <p:nvSpPr>
          <p:cNvPr id="12" name="Text Placeholder 6"/>
          <p:cNvSpPr txBox="1">
            <a:spLocks/>
          </p:cNvSpPr>
          <p:nvPr/>
        </p:nvSpPr>
        <p:spPr>
          <a:xfrm>
            <a:off x="335328" y="1472097"/>
            <a:ext cx="2195837" cy="334984"/>
          </a:xfrm>
          <a:prstGeom prst="rect">
            <a:avLst/>
          </a:prstGeom>
          <a:noFill/>
        </p:spPr>
        <p:txBody>
          <a:bodyPr numCol="1" spcCol="144000"/>
          <a:lstStyle>
            <a:lvl1pPr marL="342900" indent="-342900" algn="l" defTabSz="914400" rtl="0" eaLnBrk="1" latinLnBrk="0" hangingPunct="1">
              <a:spcBef>
                <a:spcPct val="20000"/>
              </a:spcBef>
              <a:buFont typeface="Arial" panose="020B0604020202020204" pitchFamily="34" charset="0"/>
              <a:buChar char="•"/>
              <a:defRPr sz="1500" kern="1200" baseline="0">
                <a:solidFill>
                  <a:schemeClr val="tx1"/>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spcBef>
                <a:spcPct val="20000"/>
              </a:spcBef>
              <a:buFont typeface="Wingdings" panose="05000000000000000000" pitchFamily="2" charset="2"/>
              <a:buChar char="s"/>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dirty="0" smtClean="0"/>
              <a:t>Gather and Analyze Data</a:t>
            </a:r>
          </a:p>
        </p:txBody>
      </p:sp>
      <p:sp>
        <p:nvSpPr>
          <p:cNvPr id="13" name="Text Placeholder 6"/>
          <p:cNvSpPr txBox="1">
            <a:spLocks/>
          </p:cNvSpPr>
          <p:nvPr/>
        </p:nvSpPr>
        <p:spPr>
          <a:xfrm>
            <a:off x="2525248" y="3072664"/>
            <a:ext cx="1390372" cy="359649"/>
          </a:xfrm>
          <a:prstGeom prst="rect">
            <a:avLst/>
          </a:prstGeom>
          <a:noFill/>
        </p:spPr>
        <p:txBody>
          <a:bodyPr numCol="1" spcCol="144000"/>
          <a:lstStyle>
            <a:lvl1pPr marL="342900" indent="-342900" algn="l" defTabSz="914400" rtl="0" eaLnBrk="1" latinLnBrk="0" hangingPunct="1">
              <a:spcBef>
                <a:spcPct val="20000"/>
              </a:spcBef>
              <a:buFont typeface="Arial" panose="020B0604020202020204" pitchFamily="34" charset="0"/>
              <a:buChar char="•"/>
              <a:defRPr sz="1500" kern="1200" baseline="0">
                <a:solidFill>
                  <a:schemeClr val="tx1"/>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spcBef>
                <a:spcPct val="20000"/>
              </a:spcBef>
              <a:buFont typeface="Wingdings" panose="05000000000000000000" pitchFamily="2" charset="2"/>
              <a:buChar char="s"/>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dirty="0" smtClean="0"/>
              <a:t>Dashboard &amp; Alerts</a:t>
            </a:r>
          </a:p>
          <a:p>
            <a:pPr marL="0" indent="0">
              <a:buFont typeface="Arial" panose="020B0604020202020204" pitchFamily="34" charset="0"/>
              <a:buNone/>
            </a:pPr>
            <a:endParaRPr lang="en-US" sz="1200" dirty="0"/>
          </a:p>
          <a:p>
            <a:pPr marL="0" indent="0">
              <a:buFont typeface="Arial" panose="020B0604020202020204" pitchFamily="34" charset="0"/>
              <a:buNone/>
            </a:pPr>
            <a:r>
              <a:rPr lang="en-US" sz="1200" dirty="0" smtClean="0"/>
              <a:t>Graphs and Charts</a:t>
            </a:r>
          </a:p>
          <a:p>
            <a:pPr marL="0" indent="0">
              <a:buFont typeface="Arial" panose="020B0604020202020204" pitchFamily="34" charset="0"/>
              <a:buNone/>
            </a:pPr>
            <a:r>
              <a:rPr lang="en-US" sz="1200" dirty="0" err="1" smtClean="0"/>
              <a:t>xAI</a:t>
            </a:r>
            <a:r>
              <a:rPr lang="en-US" sz="1200" dirty="0" smtClean="0"/>
              <a:t> models</a:t>
            </a:r>
          </a:p>
        </p:txBody>
      </p:sp>
      <p:sp>
        <p:nvSpPr>
          <p:cNvPr id="14" name="Text Placeholder 6"/>
          <p:cNvSpPr txBox="1">
            <a:spLocks/>
          </p:cNvSpPr>
          <p:nvPr/>
        </p:nvSpPr>
        <p:spPr>
          <a:xfrm>
            <a:off x="4214603" y="3072663"/>
            <a:ext cx="1523587" cy="359649"/>
          </a:xfrm>
          <a:prstGeom prst="rect">
            <a:avLst/>
          </a:prstGeom>
          <a:noFill/>
        </p:spPr>
        <p:txBody>
          <a:bodyPr numCol="1" spcCol="144000"/>
          <a:lstStyle>
            <a:lvl1pPr marL="342900" indent="-342900" algn="l" defTabSz="914400" rtl="0" eaLnBrk="1" latinLnBrk="0" hangingPunct="1">
              <a:spcBef>
                <a:spcPct val="20000"/>
              </a:spcBef>
              <a:buFont typeface="Arial" panose="020B0604020202020204" pitchFamily="34" charset="0"/>
              <a:buChar char="•"/>
              <a:defRPr sz="1500" kern="1200" baseline="0">
                <a:solidFill>
                  <a:schemeClr val="tx1"/>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spcBef>
                <a:spcPct val="20000"/>
              </a:spcBef>
              <a:buFont typeface="Wingdings" panose="05000000000000000000" pitchFamily="2" charset="2"/>
              <a:buChar char="s"/>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dirty="0" smtClean="0"/>
              <a:t>Tasks and Simulation</a:t>
            </a:r>
          </a:p>
        </p:txBody>
      </p:sp>
      <p:sp>
        <p:nvSpPr>
          <p:cNvPr id="15" name="Text Placeholder 6"/>
          <p:cNvSpPr txBox="1">
            <a:spLocks/>
          </p:cNvSpPr>
          <p:nvPr/>
        </p:nvSpPr>
        <p:spPr>
          <a:xfrm>
            <a:off x="5869114" y="3072662"/>
            <a:ext cx="1306938" cy="359649"/>
          </a:xfrm>
          <a:prstGeom prst="rect">
            <a:avLst/>
          </a:prstGeom>
          <a:noFill/>
        </p:spPr>
        <p:txBody>
          <a:bodyPr numCol="1" spcCol="144000"/>
          <a:lstStyle>
            <a:lvl1pPr marL="342900" indent="-342900" algn="l" defTabSz="914400" rtl="0" eaLnBrk="1" latinLnBrk="0" hangingPunct="1">
              <a:spcBef>
                <a:spcPct val="20000"/>
              </a:spcBef>
              <a:buFont typeface="Arial" panose="020B0604020202020204" pitchFamily="34" charset="0"/>
              <a:buChar char="•"/>
              <a:defRPr sz="1500" kern="1200" baseline="0">
                <a:solidFill>
                  <a:schemeClr val="tx1"/>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spcBef>
                <a:spcPct val="20000"/>
              </a:spcBef>
              <a:buFont typeface="Wingdings" panose="05000000000000000000" pitchFamily="2" charset="2"/>
              <a:buChar char="s"/>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dirty="0" smtClean="0"/>
              <a:t>Machine learning</a:t>
            </a:r>
          </a:p>
        </p:txBody>
      </p:sp>
      <p:sp>
        <p:nvSpPr>
          <p:cNvPr id="16" name="Text Placeholder 6"/>
          <p:cNvSpPr txBox="1">
            <a:spLocks/>
          </p:cNvSpPr>
          <p:nvPr/>
        </p:nvSpPr>
        <p:spPr>
          <a:xfrm>
            <a:off x="7475036" y="3072661"/>
            <a:ext cx="1005154" cy="359649"/>
          </a:xfrm>
          <a:prstGeom prst="rect">
            <a:avLst/>
          </a:prstGeom>
          <a:noFill/>
        </p:spPr>
        <p:txBody>
          <a:bodyPr numCol="1" spcCol="144000"/>
          <a:lstStyle>
            <a:lvl1pPr marL="342900" indent="-342900" algn="l" defTabSz="914400" rtl="0" eaLnBrk="1" latinLnBrk="0" hangingPunct="1">
              <a:spcBef>
                <a:spcPct val="20000"/>
              </a:spcBef>
              <a:buFont typeface="Arial" panose="020B0604020202020204" pitchFamily="34" charset="0"/>
              <a:buChar char="•"/>
              <a:defRPr sz="1500" kern="1200" baseline="0">
                <a:solidFill>
                  <a:schemeClr val="tx1"/>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spcBef>
                <a:spcPct val="20000"/>
              </a:spcBef>
              <a:buFont typeface="Wingdings" panose="05000000000000000000" pitchFamily="2" charset="2"/>
              <a:buChar char="s"/>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dirty="0" smtClean="0"/>
              <a:t>System</a:t>
            </a:r>
          </a:p>
        </p:txBody>
      </p:sp>
      <p:sp>
        <p:nvSpPr>
          <p:cNvPr id="17" name="Text Placeholder 6"/>
          <p:cNvSpPr txBox="1">
            <a:spLocks/>
          </p:cNvSpPr>
          <p:nvPr/>
        </p:nvSpPr>
        <p:spPr>
          <a:xfrm>
            <a:off x="351182" y="1738422"/>
            <a:ext cx="2007604" cy="359649"/>
          </a:xfrm>
          <a:prstGeom prst="rect">
            <a:avLst/>
          </a:prstGeom>
          <a:noFill/>
        </p:spPr>
        <p:txBody>
          <a:bodyPr numCol="1" spcCol="144000"/>
          <a:lstStyle>
            <a:lvl1pPr marL="342900" indent="-342900" algn="l" defTabSz="914400" rtl="0" eaLnBrk="1" latinLnBrk="0" hangingPunct="1">
              <a:spcBef>
                <a:spcPct val="20000"/>
              </a:spcBef>
              <a:buFont typeface="Arial" panose="020B0604020202020204" pitchFamily="34" charset="0"/>
              <a:buChar char="•"/>
              <a:defRPr sz="1500" kern="1200" baseline="0">
                <a:solidFill>
                  <a:schemeClr val="tx1"/>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Arial" panose="020B0604020202020204" pitchFamily="34" charset="0"/>
              </a:defRPr>
            </a:lvl2pPr>
            <a:lvl3pPr marL="1143000" indent="-228600" algn="l" defTabSz="914400" rtl="0" eaLnBrk="1" latinLnBrk="0" hangingPunct="1">
              <a:spcBef>
                <a:spcPct val="20000"/>
              </a:spcBef>
              <a:buFont typeface="Wingdings" panose="05000000000000000000" pitchFamily="2" charset="2"/>
              <a:buChar char="s"/>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dirty="0" smtClean="0"/>
              <a:t>What data do we have to drive the experience?</a:t>
            </a:r>
          </a:p>
        </p:txBody>
      </p:sp>
    </p:spTree>
    <p:extLst>
      <p:ext uri="{BB962C8B-B14F-4D97-AF65-F5344CB8AC3E}">
        <p14:creationId xmlns:p14="http://schemas.microsoft.com/office/powerpoint/2010/main" val="1252248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endParaRPr lang="en-CA" dirty="0"/>
          </a:p>
        </p:txBody>
      </p:sp>
      <p:sp>
        <p:nvSpPr>
          <p:cNvPr id="2" name="Text Placeholder 1"/>
          <p:cNvSpPr>
            <a:spLocks noGrp="1"/>
          </p:cNvSpPr>
          <p:nvPr>
            <p:ph type="body" sz="quarter" idx="12"/>
          </p:nvPr>
        </p:nvSpPr>
        <p:spPr>
          <a:xfrm>
            <a:off x="406203" y="189595"/>
            <a:ext cx="8280401" cy="397483"/>
          </a:xfrm>
        </p:spPr>
        <p:txBody>
          <a:bodyPr/>
          <a:lstStyle/>
          <a:p>
            <a:r>
              <a:rPr lang="en-US" dirty="0" smtClean="0"/>
              <a:t>Cash Flow - Historical and Predictive Modelling  </a:t>
            </a:r>
            <a:endParaRPr lang="en-CA" dirty="0"/>
          </a:p>
        </p:txBody>
      </p:sp>
      <p:sp>
        <p:nvSpPr>
          <p:cNvPr id="3" name="Text Placeholder 2"/>
          <p:cNvSpPr>
            <a:spLocks noGrp="1"/>
          </p:cNvSpPr>
          <p:nvPr>
            <p:ph type="body" sz="quarter" idx="14"/>
          </p:nvPr>
        </p:nvSpPr>
        <p:spPr>
          <a:xfrm>
            <a:off x="406203" y="646232"/>
            <a:ext cx="8280401" cy="238208"/>
          </a:xfrm>
        </p:spPr>
        <p:txBody>
          <a:bodyPr/>
          <a:lstStyle/>
          <a:p>
            <a:r>
              <a:rPr lang="en-US" dirty="0" smtClean="0"/>
              <a:t>Differentiation: Leverage CWB and Accounting data to calculate cash flow to show historical trends and forecast based on past activity using AI capabilities</a:t>
            </a:r>
          </a:p>
          <a:p>
            <a:endParaRPr lang="en-US" dirty="0"/>
          </a:p>
          <a:p>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2330602941"/>
              </p:ext>
            </p:extLst>
          </p:nvPr>
        </p:nvGraphicFramePr>
        <p:xfrm>
          <a:off x="406203" y="1268170"/>
          <a:ext cx="8529236" cy="3193763"/>
        </p:xfrm>
        <a:graphic>
          <a:graphicData uri="http://schemas.openxmlformats.org/drawingml/2006/table">
            <a:tbl>
              <a:tblPr firstRow="1" bandRow="1">
                <a:tableStyleId>{5C22544A-7EE6-4342-B048-85BDC9FD1C3A}</a:tableStyleId>
              </a:tblPr>
              <a:tblGrid>
                <a:gridCol w="315132">
                  <a:extLst>
                    <a:ext uri="{9D8B030D-6E8A-4147-A177-3AD203B41FA5}">
                      <a16:colId xmlns:a16="http://schemas.microsoft.com/office/drawing/2014/main" val="1281548859"/>
                    </a:ext>
                  </a:extLst>
                </a:gridCol>
                <a:gridCol w="4830305">
                  <a:extLst>
                    <a:ext uri="{9D8B030D-6E8A-4147-A177-3AD203B41FA5}">
                      <a16:colId xmlns:a16="http://schemas.microsoft.com/office/drawing/2014/main" val="3558508802"/>
                    </a:ext>
                  </a:extLst>
                </a:gridCol>
                <a:gridCol w="1839133">
                  <a:extLst>
                    <a:ext uri="{9D8B030D-6E8A-4147-A177-3AD203B41FA5}">
                      <a16:colId xmlns:a16="http://schemas.microsoft.com/office/drawing/2014/main" val="2781611355"/>
                    </a:ext>
                  </a:extLst>
                </a:gridCol>
                <a:gridCol w="1544666">
                  <a:extLst>
                    <a:ext uri="{9D8B030D-6E8A-4147-A177-3AD203B41FA5}">
                      <a16:colId xmlns:a16="http://schemas.microsoft.com/office/drawing/2014/main" val="1580847114"/>
                    </a:ext>
                  </a:extLst>
                </a:gridCol>
              </a:tblGrid>
              <a:tr h="298163">
                <a:tc>
                  <a:txBody>
                    <a:bodyPr/>
                    <a:lstStyle/>
                    <a:p>
                      <a:r>
                        <a:rPr lang="en-US" sz="1100" dirty="0" smtClean="0"/>
                        <a:t>#</a:t>
                      </a:r>
                      <a:endParaRPr lang="en-CA"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smtClean="0"/>
                        <a:t>Requirement </a:t>
                      </a:r>
                      <a:endParaRPr lang="en-CA" sz="1100" dirty="0"/>
                    </a:p>
                  </a:txBody>
                  <a:tcPr/>
                </a:tc>
                <a:tc>
                  <a:txBody>
                    <a:bodyPr/>
                    <a:lstStyle/>
                    <a:p>
                      <a:r>
                        <a:rPr lang="en-US" sz="1100" dirty="0" smtClean="0"/>
                        <a:t>Available</a:t>
                      </a:r>
                      <a:r>
                        <a:rPr lang="en-US" sz="1100" baseline="0" dirty="0" smtClean="0"/>
                        <a:t> In:</a:t>
                      </a:r>
                      <a:endParaRPr lang="en-CA" sz="1100" dirty="0"/>
                    </a:p>
                  </a:txBody>
                  <a:tcPr/>
                </a:tc>
                <a:tc>
                  <a:txBody>
                    <a:bodyPr/>
                    <a:lstStyle/>
                    <a:p>
                      <a:r>
                        <a:rPr lang="en-US" sz="1100" dirty="0" smtClean="0"/>
                        <a:t>Possible</a:t>
                      </a:r>
                      <a:r>
                        <a:rPr lang="en-US" sz="1100" baseline="0" dirty="0" smtClean="0"/>
                        <a:t> P</a:t>
                      </a:r>
                      <a:r>
                        <a:rPr lang="en-US" sz="1100" dirty="0" smtClean="0"/>
                        <a:t>artners</a:t>
                      </a:r>
                      <a:endParaRPr lang="en-CA" sz="1100" dirty="0"/>
                    </a:p>
                  </a:txBody>
                  <a:tcPr/>
                </a:tc>
                <a:extLst>
                  <a:ext uri="{0D108BD9-81ED-4DB2-BD59-A6C34878D82A}">
                    <a16:rowId xmlns:a16="http://schemas.microsoft.com/office/drawing/2014/main" val="3770394087"/>
                  </a:ext>
                </a:extLst>
              </a:tr>
              <a:tr h="370840">
                <a:tc>
                  <a:txBody>
                    <a:bodyPr/>
                    <a:lstStyle/>
                    <a:p>
                      <a:r>
                        <a:rPr lang="en-US" sz="1100" dirty="0" smtClean="0"/>
                        <a:t>1</a:t>
                      </a:r>
                      <a:endParaRPr lang="en-CA" sz="1100" dirty="0"/>
                    </a:p>
                  </a:txBody>
                  <a:tcPr/>
                </a:tc>
                <a:tc>
                  <a:txBody>
                    <a:bodyPr/>
                    <a:lstStyle/>
                    <a:p>
                      <a:r>
                        <a:rPr lang="en-US" sz="1100" dirty="0" smtClean="0"/>
                        <a:t>Analyze</a:t>
                      </a:r>
                      <a:r>
                        <a:rPr lang="en-US" sz="1100" baseline="0" dirty="0" smtClean="0"/>
                        <a:t> client data from CWB transaction history and Accounting provider to calculate cash flow trends (historical and predictive forecasting) and display via a new tile on the desktop. </a:t>
                      </a:r>
                      <a:endParaRPr lang="en-CA" sz="1100" dirty="0"/>
                    </a:p>
                  </a:txBody>
                  <a:tcPr/>
                </a:tc>
                <a:tc>
                  <a:txBody>
                    <a:bodyPr/>
                    <a:lstStyle/>
                    <a:p>
                      <a:pPr marL="285750" indent="-285750">
                        <a:buFont typeface="Arial" panose="020B0604020202020204" pitchFamily="34" charset="0"/>
                        <a:buChar char="•"/>
                      </a:pPr>
                      <a:r>
                        <a:rPr lang="en-US" sz="1100" dirty="0" smtClean="0"/>
                        <a:t>Infinity</a:t>
                      </a:r>
                      <a:r>
                        <a:rPr lang="en-US" sz="1100" baseline="0" dirty="0" smtClean="0"/>
                        <a:t> Digital Banking</a:t>
                      </a:r>
                    </a:p>
                    <a:p>
                      <a:pPr marL="285750" indent="-285750">
                        <a:buFont typeface="Arial" panose="020B0604020202020204" pitchFamily="34" charset="0"/>
                        <a:buChar char="•"/>
                      </a:pPr>
                      <a:r>
                        <a:rPr lang="en-US" sz="1100" baseline="0" dirty="0" smtClean="0"/>
                        <a:t>Spotlight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smtClean="0"/>
                        <a:t>TBC</a:t>
                      </a:r>
                      <a:endParaRPr lang="en-CA" sz="1100" dirty="0"/>
                    </a:p>
                  </a:txBody>
                  <a:tcPr/>
                </a:tc>
                <a:extLst>
                  <a:ext uri="{0D108BD9-81ED-4DB2-BD59-A6C34878D82A}">
                    <a16:rowId xmlns:a16="http://schemas.microsoft.com/office/drawing/2014/main" val="965611934"/>
                  </a:ext>
                </a:extLst>
              </a:tr>
              <a:tr h="370840">
                <a:tc>
                  <a:txBody>
                    <a:bodyPr/>
                    <a:lstStyle/>
                    <a:p>
                      <a:r>
                        <a:rPr lang="en-US" sz="1100" dirty="0" smtClean="0"/>
                        <a:t>2</a:t>
                      </a:r>
                      <a:endParaRPr lang="en-CA" sz="1100" dirty="0"/>
                    </a:p>
                  </a:txBody>
                  <a:tcPr/>
                </a:tc>
                <a:tc>
                  <a:txBody>
                    <a:bodyPr/>
                    <a:lstStyle/>
                    <a:p>
                      <a:r>
                        <a:rPr lang="en-US" sz="1100" dirty="0" smtClean="0"/>
                        <a:t>Dashboard</a:t>
                      </a:r>
                      <a:r>
                        <a:rPr lang="en-US" sz="1100" baseline="0" dirty="0" smtClean="0"/>
                        <a:t> d</a:t>
                      </a:r>
                      <a:r>
                        <a:rPr lang="en-US" sz="1100" dirty="0" smtClean="0"/>
                        <a:t>isplay should be</a:t>
                      </a:r>
                      <a:r>
                        <a:rPr lang="en-US" sz="1100" baseline="0" dirty="0" smtClean="0"/>
                        <a:t> graphical, allow adjustments by the user to display by different data ranges and show summary totals for Money In and Money Out. </a:t>
                      </a:r>
                      <a:endParaRPr lang="en-CA" sz="11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Infinity Digital Banking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TBC</a:t>
                      </a:r>
                      <a:endParaRPr kumimoji="0" lang="en-CA" sz="1100" b="0" i="0" u="none" strike="noStrike" kern="1200" cap="none" spc="0" normalizeH="0" baseline="0" noProof="0" dirty="0">
                        <a:ln>
                          <a:noFill/>
                        </a:ln>
                        <a:solidFill>
                          <a:srgbClr val="777777"/>
                        </a:solidFill>
                        <a:effectLst/>
                        <a:uLnTx/>
                        <a:uFillTx/>
                        <a:latin typeface="Calibri"/>
                        <a:ea typeface="+mn-ea"/>
                        <a:cs typeface="+mn-cs"/>
                      </a:endParaRPr>
                    </a:p>
                  </a:txBody>
                  <a:tcPr/>
                </a:tc>
                <a:extLst>
                  <a:ext uri="{0D108BD9-81ED-4DB2-BD59-A6C34878D82A}">
                    <a16:rowId xmlns:a16="http://schemas.microsoft.com/office/drawing/2014/main" val="477055271"/>
                  </a:ext>
                </a:extLst>
              </a:tr>
              <a:tr h="370840">
                <a:tc>
                  <a:txBody>
                    <a:bodyPr/>
                    <a:lstStyle/>
                    <a:p>
                      <a:r>
                        <a:rPr lang="en-US" sz="1100" dirty="0" smtClean="0"/>
                        <a:t>3</a:t>
                      </a:r>
                      <a:endParaRPr lang="en-CA" sz="1100" dirty="0"/>
                    </a:p>
                  </a:txBody>
                  <a:tcPr/>
                </a:tc>
                <a:tc>
                  <a:txBody>
                    <a:bodyPr/>
                    <a:lstStyle/>
                    <a:p>
                      <a:r>
                        <a:rPr lang="en-US" sz="1100" dirty="0" smtClean="0"/>
                        <a:t>Display Cash</a:t>
                      </a:r>
                      <a:r>
                        <a:rPr lang="en-US" sz="1100" baseline="0" dirty="0" smtClean="0"/>
                        <a:t> Runway calculation for users on dashboard to help identify health of the business.  </a:t>
                      </a:r>
                      <a:endParaRPr lang="en-CA" sz="11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Infinity Digital Banking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Spotlight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TBC</a:t>
                      </a:r>
                      <a:endParaRPr kumimoji="0" lang="en-CA" sz="1100" b="0" i="0" u="none" strike="noStrike" kern="1200" cap="none" spc="0" normalizeH="0" baseline="0" noProof="0" dirty="0">
                        <a:ln>
                          <a:noFill/>
                        </a:ln>
                        <a:solidFill>
                          <a:srgbClr val="777777"/>
                        </a:solidFill>
                        <a:effectLst/>
                        <a:uLnTx/>
                        <a:uFillTx/>
                        <a:latin typeface="Calibri"/>
                        <a:ea typeface="+mn-ea"/>
                        <a:cs typeface="+mn-cs"/>
                      </a:endParaRPr>
                    </a:p>
                  </a:txBody>
                  <a:tcPr/>
                </a:tc>
                <a:extLst>
                  <a:ext uri="{0D108BD9-81ED-4DB2-BD59-A6C34878D82A}">
                    <a16:rowId xmlns:a16="http://schemas.microsoft.com/office/drawing/2014/main" val="4934959"/>
                  </a:ext>
                </a:extLst>
              </a:tr>
              <a:tr h="370840">
                <a:tc>
                  <a:txBody>
                    <a:bodyPr/>
                    <a:lstStyle/>
                    <a:p>
                      <a:r>
                        <a:rPr lang="en-US" sz="1100" dirty="0" smtClean="0"/>
                        <a:t>4</a:t>
                      </a:r>
                      <a:endParaRPr lang="en-CA" sz="1100" dirty="0"/>
                    </a:p>
                  </a:txBody>
                  <a:tcPr/>
                </a:tc>
                <a:tc>
                  <a:txBody>
                    <a:bodyPr/>
                    <a:lstStyle/>
                    <a:p>
                      <a:r>
                        <a:rPr lang="en-US" sz="1100" dirty="0" smtClean="0"/>
                        <a:t>Enable</a:t>
                      </a:r>
                      <a:r>
                        <a:rPr lang="en-US" sz="1100" baseline="0" dirty="0" smtClean="0"/>
                        <a:t> drilldown to allow clients to determine what data was used to calculate and forecast.  Also filter options will be available for data findings to view by payables and receivables, spending patterns etc. (TBC based on what is available) </a:t>
                      </a:r>
                      <a:endParaRPr lang="en-CA" sz="11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Infinity Digital Banking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Spotlight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TBC</a:t>
                      </a:r>
                      <a:endParaRPr kumimoji="0" lang="en-CA" sz="1100" b="0" i="0" u="none" strike="noStrike" kern="1200" cap="none" spc="0" normalizeH="0" baseline="0" noProof="0" dirty="0">
                        <a:ln>
                          <a:noFill/>
                        </a:ln>
                        <a:solidFill>
                          <a:srgbClr val="777777"/>
                        </a:solidFill>
                        <a:effectLst/>
                        <a:uLnTx/>
                        <a:uFillTx/>
                        <a:latin typeface="Calibri"/>
                        <a:ea typeface="+mn-ea"/>
                        <a:cs typeface="+mn-cs"/>
                      </a:endParaRPr>
                    </a:p>
                  </a:txBody>
                  <a:tcPr/>
                </a:tc>
                <a:extLst>
                  <a:ext uri="{0D108BD9-81ED-4DB2-BD59-A6C34878D82A}">
                    <a16:rowId xmlns:a16="http://schemas.microsoft.com/office/drawing/2014/main" val="1508748108"/>
                  </a:ext>
                </a:extLst>
              </a:tr>
              <a:tr h="370840">
                <a:tc>
                  <a:txBody>
                    <a:bodyPr/>
                    <a:lstStyle/>
                    <a:p>
                      <a:r>
                        <a:rPr lang="en-US" sz="1100" dirty="0" smtClean="0"/>
                        <a:t>5</a:t>
                      </a:r>
                      <a:endParaRPr lang="en-CA" sz="1100" dirty="0"/>
                    </a:p>
                  </a:txBody>
                  <a:tcPr/>
                </a:tc>
                <a:tc>
                  <a:txBody>
                    <a:bodyPr/>
                    <a:lstStyle/>
                    <a:p>
                      <a:r>
                        <a:rPr lang="en-US" sz="1100" dirty="0" smtClean="0"/>
                        <a:t>Access</a:t>
                      </a:r>
                      <a:r>
                        <a:rPr lang="en-US" sz="1100" baseline="0" dirty="0" smtClean="0"/>
                        <a:t> will be entitlement driven at the client and user level </a:t>
                      </a:r>
                      <a:endParaRPr lang="en-CA" sz="11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Infinity Digital Banking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Spotlight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TBC</a:t>
                      </a:r>
                      <a:endParaRPr kumimoji="0" lang="en-CA" sz="1100" b="0" i="0" u="none" strike="noStrike" kern="1200" cap="none" spc="0" normalizeH="0" baseline="0" noProof="0" dirty="0">
                        <a:ln>
                          <a:noFill/>
                        </a:ln>
                        <a:solidFill>
                          <a:srgbClr val="777777"/>
                        </a:solidFill>
                        <a:effectLst/>
                        <a:uLnTx/>
                        <a:uFillTx/>
                        <a:latin typeface="Calibri"/>
                        <a:ea typeface="+mn-ea"/>
                        <a:cs typeface="+mn-cs"/>
                      </a:endParaRPr>
                    </a:p>
                  </a:txBody>
                  <a:tcPr/>
                </a:tc>
                <a:extLst>
                  <a:ext uri="{0D108BD9-81ED-4DB2-BD59-A6C34878D82A}">
                    <a16:rowId xmlns:a16="http://schemas.microsoft.com/office/drawing/2014/main" val="3439436796"/>
                  </a:ext>
                </a:extLst>
              </a:tr>
              <a:tr h="370840">
                <a:tc>
                  <a:txBody>
                    <a:bodyPr/>
                    <a:lstStyle/>
                    <a:p>
                      <a:r>
                        <a:rPr lang="en-US" sz="1100" dirty="0" smtClean="0"/>
                        <a:t>6</a:t>
                      </a:r>
                      <a:endParaRPr lang="en-CA" sz="1100" dirty="0"/>
                    </a:p>
                  </a:txBody>
                  <a:tcPr/>
                </a:tc>
                <a:tc>
                  <a:txBody>
                    <a:bodyPr/>
                    <a:lstStyle/>
                    <a:p>
                      <a:r>
                        <a:rPr lang="en-US" sz="1100" dirty="0" smtClean="0"/>
                        <a:t>Enable</a:t>
                      </a:r>
                      <a:r>
                        <a:rPr lang="en-US" sz="1100" baseline="0" dirty="0" smtClean="0"/>
                        <a:t> user activity </a:t>
                      </a:r>
                      <a:r>
                        <a:rPr lang="en-US" sz="1100" dirty="0" smtClean="0"/>
                        <a:t>tracking and analysis for all cash flow features </a:t>
                      </a:r>
                      <a:r>
                        <a:rPr lang="en-US" sz="1100" baseline="0" dirty="0" smtClean="0"/>
                        <a:t>and provide automated data extracts to enable billing (as needed) </a:t>
                      </a:r>
                      <a:endParaRPr lang="en-CA" sz="11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mn-lt"/>
                          <a:ea typeface="+mn-ea"/>
                          <a:cs typeface="+mn-cs"/>
                        </a:rPr>
                        <a:t>Infinity Digital Banking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mn-lt"/>
                          <a:ea typeface="+mn-ea"/>
                          <a:cs typeface="+mn-cs"/>
                        </a:rPr>
                        <a:t>Spotlight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TBC</a:t>
                      </a:r>
                      <a:endParaRPr kumimoji="0" lang="en-CA" sz="1100" b="0" i="0" u="none" strike="noStrike" kern="1200" cap="none" spc="0" normalizeH="0" baseline="0" noProof="0" dirty="0">
                        <a:ln>
                          <a:noFill/>
                        </a:ln>
                        <a:solidFill>
                          <a:srgbClr val="777777"/>
                        </a:solidFill>
                        <a:effectLst/>
                        <a:uLnTx/>
                        <a:uFillTx/>
                        <a:latin typeface="Calibri"/>
                        <a:ea typeface="+mn-ea"/>
                        <a:cs typeface="+mn-cs"/>
                      </a:endParaRPr>
                    </a:p>
                  </a:txBody>
                  <a:tcPr/>
                </a:tc>
                <a:extLst>
                  <a:ext uri="{0D108BD9-81ED-4DB2-BD59-A6C34878D82A}">
                    <a16:rowId xmlns:a16="http://schemas.microsoft.com/office/drawing/2014/main" val="3979063264"/>
                  </a:ext>
                </a:extLst>
              </a:tr>
            </a:tbl>
          </a:graphicData>
        </a:graphic>
      </p:graphicFrame>
    </p:spTree>
    <p:extLst>
      <p:ext uri="{BB962C8B-B14F-4D97-AF65-F5344CB8AC3E}">
        <p14:creationId xmlns:p14="http://schemas.microsoft.com/office/powerpoint/2010/main" val="607909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endParaRPr lang="en-CA" dirty="0"/>
          </a:p>
        </p:txBody>
      </p:sp>
      <p:sp>
        <p:nvSpPr>
          <p:cNvPr id="2" name="Text Placeholder 1"/>
          <p:cNvSpPr>
            <a:spLocks noGrp="1"/>
          </p:cNvSpPr>
          <p:nvPr>
            <p:ph type="body" sz="quarter" idx="12"/>
          </p:nvPr>
        </p:nvSpPr>
        <p:spPr>
          <a:xfrm>
            <a:off x="406203" y="189595"/>
            <a:ext cx="8280401" cy="397483"/>
          </a:xfrm>
        </p:spPr>
        <p:txBody>
          <a:bodyPr/>
          <a:lstStyle/>
          <a:p>
            <a:r>
              <a:rPr lang="en-US" dirty="0" smtClean="0"/>
              <a:t>Accounting Integration – 2 Way Data Sharing</a:t>
            </a:r>
            <a:endParaRPr lang="en-CA" dirty="0"/>
          </a:p>
        </p:txBody>
      </p:sp>
      <p:sp>
        <p:nvSpPr>
          <p:cNvPr id="3" name="Text Placeholder 2"/>
          <p:cNvSpPr>
            <a:spLocks noGrp="1"/>
          </p:cNvSpPr>
          <p:nvPr>
            <p:ph type="body" sz="quarter" idx="14"/>
          </p:nvPr>
        </p:nvSpPr>
        <p:spPr>
          <a:xfrm>
            <a:off x="406203" y="646232"/>
            <a:ext cx="8280401" cy="238208"/>
          </a:xfrm>
        </p:spPr>
        <p:txBody>
          <a:bodyPr/>
          <a:lstStyle/>
          <a:p>
            <a:r>
              <a:rPr lang="en-US" dirty="0" smtClean="0"/>
              <a:t>Differentiation: Enable data integration between the clients preferred Accounting platform (QuickBooks, Xero, Sage etc.), includes most market leading Accounting products, both cloud and desktop versions.  </a:t>
            </a:r>
          </a:p>
          <a:p>
            <a:endParaRPr lang="en-US" dirty="0" smtClean="0"/>
          </a:p>
          <a:p>
            <a:endParaRPr lang="en-US" dirty="0"/>
          </a:p>
          <a:p>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297932897"/>
              </p:ext>
            </p:extLst>
          </p:nvPr>
        </p:nvGraphicFramePr>
        <p:xfrm>
          <a:off x="361627" y="1536807"/>
          <a:ext cx="8529236" cy="3179126"/>
        </p:xfrm>
        <a:graphic>
          <a:graphicData uri="http://schemas.openxmlformats.org/drawingml/2006/table">
            <a:tbl>
              <a:tblPr firstRow="1" bandRow="1">
                <a:tableStyleId>{5C22544A-7EE6-4342-B048-85BDC9FD1C3A}</a:tableStyleId>
              </a:tblPr>
              <a:tblGrid>
                <a:gridCol w="315132">
                  <a:extLst>
                    <a:ext uri="{9D8B030D-6E8A-4147-A177-3AD203B41FA5}">
                      <a16:colId xmlns:a16="http://schemas.microsoft.com/office/drawing/2014/main" val="1281548859"/>
                    </a:ext>
                  </a:extLst>
                </a:gridCol>
                <a:gridCol w="4830305">
                  <a:extLst>
                    <a:ext uri="{9D8B030D-6E8A-4147-A177-3AD203B41FA5}">
                      <a16:colId xmlns:a16="http://schemas.microsoft.com/office/drawing/2014/main" val="3558508802"/>
                    </a:ext>
                  </a:extLst>
                </a:gridCol>
                <a:gridCol w="1839133">
                  <a:extLst>
                    <a:ext uri="{9D8B030D-6E8A-4147-A177-3AD203B41FA5}">
                      <a16:colId xmlns:a16="http://schemas.microsoft.com/office/drawing/2014/main" val="2781611355"/>
                    </a:ext>
                  </a:extLst>
                </a:gridCol>
                <a:gridCol w="1544666">
                  <a:extLst>
                    <a:ext uri="{9D8B030D-6E8A-4147-A177-3AD203B41FA5}">
                      <a16:colId xmlns:a16="http://schemas.microsoft.com/office/drawing/2014/main" val="1580847114"/>
                    </a:ext>
                  </a:extLst>
                </a:gridCol>
              </a:tblGrid>
              <a:tr h="283526">
                <a:tc>
                  <a:txBody>
                    <a:bodyPr/>
                    <a:lstStyle/>
                    <a:p>
                      <a:r>
                        <a:rPr lang="en-US" sz="1100" dirty="0" smtClean="0"/>
                        <a:t>#</a:t>
                      </a:r>
                      <a:endParaRPr lang="en-CA"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smtClean="0"/>
                        <a:t>Requirement </a:t>
                      </a:r>
                      <a:endParaRPr lang="en-CA" sz="1100" dirty="0"/>
                    </a:p>
                  </a:txBody>
                  <a:tcPr/>
                </a:tc>
                <a:tc>
                  <a:txBody>
                    <a:bodyPr/>
                    <a:lstStyle/>
                    <a:p>
                      <a:r>
                        <a:rPr lang="en-US" sz="1100" dirty="0" smtClean="0"/>
                        <a:t>Available</a:t>
                      </a:r>
                      <a:r>
                        <a:rPr lang="en-US" sz="1100" baseline="0" dirty="0" smtClean="0"/>
                        <a:t> In:</a:t>
                      </a:r>
                      <a:endParaRPr lang="en-CA" sz="1100" dirty="0"/>
                    </a:p>
                  </a:txBody>
                  <a:tcPr/>
                </a:tc>
                <a:tc>
                  <a:txBody>
                    <a:bodyPr/>
                    <a:lstStyle/>
                    <a:p>
                      <a:r>
                        <a:rPr lang="en-US" sz="1100" dirty="0" smtClean="0"/>
                        <a:t>Possible</a:t>
                      </a:r>
                      <a:r>
                        <a:rPr lang="en-US" sz="1100" baseline="0" dirty="0" smtClean="0"/>
                        <a:t> P</a:t>
                      </a:r>
                      <a:r>
                        <a:rPr lang="en-US" sz="1100" dirty="0" smtClean="0"/>
                        <a:t>artners</a:t>
                      </a:r>
                      <a:endParaRPr lang="en-CA" sz="1100" dirty="0"/>
                    </a:p>
                  </a:txBody>
                  <a:tcPr/>
                </a:tc>
                <a:extLst>
                  <a:ext uri="{0D108BD9-81ED-4DB2-BD59-A6C34878D82A}">
                    <a16:rowId xmlns:a16="http://schemas.microsoft.com/office/drawing/2014/main" val="3770394087"/>
                  </a:ext>
                </a:extLst>
              </a:tr>
              <a:tr h="370840">
                <a:tc>
                  <a:txBody>
                    <a:bodyPr/>
                    <a:lstStyle/>
                    <a:p>
                      <a:r>
                        <a:rPr lang="en-US" sz="1100" dirty="0" smtClean="0"/>
                        <a:t>1</a:t>
                      </a:r>
                      <a:endParaRPr lang="en-CA"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aseline="0" dirty="0" smtClean="0"/>
                        <a:t>Partner with aggregator for Accounting data that offers integration to majority of market leading Accounting products in Canada </a:t>
                      </a:r>
                      <a:endParaRPr lang="en-CA" sz="1100" dirty="0"/>
                    </a:p>
                  </a:txBody>
                  <a:tcPr/>
                </a:tc>
                <a:tc>
                  <a:txBody>
                    <a:bodyPr/>
                    <a:lstStyle/>
                    <a:p>
                      <a:pPr marL="285750" indent="-285750">
                        <a:buFont typeface="Arial" panose="020B0604020202020204" pitchFamily="34" charset="0"/>
                        <a:buChar char="•"/>
                      </a:pPr>
                      <a:r>
                        <a:rPr lang="en-US" sz="1100" dirty="0" smtClean="0"/>
                        <a:t>Infinity</a:t>
                      </a:r>
                      <a:r>
                        <a:rPr lang="en-US" sz="1100" baseline="0" dirty="0" smtClean="0"/>
                        <a:t> Digital Banking</a:t>
                      </a:r>
                    </a:p>
                    <a:p>
                      <a:pPr marL="285750" indent="-285750">
                        <a:buFont typeface="Arial" panose="020B0604020202020204" pitchFamily="34" charset="0"/>
                        <a:buChar char="•"/>
                      </a:pPr>
                      <a:r>
                        <a:rPr lang="en-US" sz="1100" baseline="0" dirty="0" smtClean="0"/>
                        <a:t>Digital Onboarding </a:t>
                      </a:r>
                      <a:endParaRPr lang="en-US" sz="1100" dirty="0" smtClean="0"/>
                    </a:p>
                  </a:txBody>
                  <a:tcPr/>
                </a:tc>
                <a:tc>
                  <a:txBody>
                    <a:bodyPr/>
                    <a:lstStyle/>
                    <a:p>
                      <a:r>
                        <a:rPr lang="en-US" sz="1100" dirty="0" smtClean="0"/>
                        <a:t>Codat</a:t>
                      </a:r>
                      <a:r>
                        <a:rPr lang="en-US" sz="1100" baseline="0" dirty="0" smtClean="0"/>
                        <a:t> or Upswot </a:t>
                      </a:r>
                    </a:p>
                  </a:txBody>
                  <a:tcPr/>
                </a:tc>
                <a:extLst>
                  <a:ext uri="{0D108BD9-81ED-4DB2-BD59-A6C34878D82A}">
                    <a16:rowId xmlns:a16="http://schemas.microsoft.com/office/drawing/2014/main" val="965611934"/>
                  </a:ext>
                </a:extLst>
              </a:tr>
              <a:tr h="370840">
                <a:tc>
                  <a:txBody>
                    <a:bodyPr/>
                    <a:lstStyle/>
                    <a:p>
                      <a:r>
                        <a:rPr lang="en-US" sz="1100" dirty="0" smtClean="0"/>
                        <a:t>2</a:t>
                      </a:r>
                      <a:endParaRPr lang="en-CA"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smtClean="0"/>
                        <a:t>Capture consent</a:t>
                      </a:r>
                      <a:r>
                        <a:rPr lang="en-US" sz="1100" baseline="0" dirty="0" smtClean="0"/>
                        <a:t> for data sharing (push and pull) and store with client data (either at CWB or within Infinity) </a:t>
                      </a:r>
                      <a:endParaRPr lang="en-CA" sz="1100" dirty="0"/>
                    </a:p>
                  </a:txBody>
                  <a:tcPr/>
                </a:tc>
                <a:tc>
                  <a:txBody>
                    <a:bodyPr/>
                    <a:lstStyle/>
                    <a:p>
                      <a:pPr marL="285750" indent="-285750">
                        <a:buFont typeface="Arial" panose="020B0604020202020204" pitchFamily="34" charset="0"/>
                        <a:buChar char="•"/>
                      </a:pPr>
                      <a:r>
                        <a:rPr lang="en-US" sz="1100" dirty="0" smtClean="0"/>
                        <a:t>Infinity</a:t>
                      </a:r>
                      <a:r>
                        <a:rPr lang="en-US" sz="1100" baseline="0" dirty="0" smtClean="0"/>
                        <a:t> Digital Banking</a:t>
                      </a:r>
                    </a:p>
                    <a:p>
                      <a:pPr marL="285750" indent="-285750">
                        <a:buFont typeface="Arial" panose="020B0604020202020204" pitchFamily="34" charset="0"/>
                        <a:buChar char="•"/>
                      </a:pPr>
                      <a:r>
                        <a:rPr lang="en-US" sz="1100" baseline="0" dirty="0" smtClean="0"/>
                        <a:t>Digital Onboarding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smtClean="0"/>
                        <a:t>Codat</a:t>
                      </a:r>
                      <a:r>
                        <a:rPr lang="en-US" sz="1100" baseline="0" dirty="0" smtClean="0"/>
                        <a:t> or Upswot </a:t>
                      </a:r>
                    </a:p>
                    <a:p>
                      <a:endParaRPr lang="en-CA" sz="1100" dirty="0"/>
                    </a:p>
                  </a:txBody>
                  <a:tcPr/>
                </a:tc>
                <a:extLst>
                  <a:ext uri="{0D108BD9-81ED-4DB2-BD59-A6C34878D82A}">
                    <a16:rowId xmlns:a16="http://schemas.microsoft.com/office/drawing/2014/main" val="477055271"/>
                  </a:ext>
                </a:extLst>
              </a:tr>
              <a:tr h="370840">
                <a:tc>
                  <a:txBody>
                    <a:bodyPr/>
                    <a:lstStyle/>
                    <a:p>
                      <a:r>
                        <a:rPr lang="en-US" sz="1100" dirty="0" smtClean="0"/>
                        <a:t>3</a:t>
                      </a:r>
                      <a:endParaRPr lang="en-CA"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aseline="0" dirty="0" smtClean="0"/>
                        <a:t>Entitlements to control data sharing access permissions and viewing of data  results on a per client and user level.  </a:t>
                      </a:r>
                      <a:endParaRPr lang="en-CA" sz="1100" dirty="0"/>
                    </a:p>
                  </a:txBody>
                  <a:tcPr/>
                </a:tc>
                <a:tc>
                  <a:txBody>
                    <a:bodyPr/>
                    <a:lstStyle/>
                    <a:p>
                      <a:pPr marL="285750" indent="-285750">
                        <a:buFont typeface="Arial" panose="020B0604020202020204" pitchFamily="34" charset="0"/>
                        <a:buChar char="•"/>
                      </a:pPr>
                      <a:r>
                        <a:rPr lang="en-US" sz="1100" dirty="0" smtClean="0"/>
                        <a:t>Infinity</a:t>
                      </a:r>
                      <a:r>
                        <a:rPr lang="en-US" sz="1100" baseline="0" dirty="0" smtClean="0"/>
                        <a:t> Digital Banking</a:t>
                      </a:r>
                    </a:p>
                    <a:p>
                      <a:pPr marL="285750" indent="-285750">
                        <a:buFont typeface="Arial" panose="020B0604020202020204" pitchFamily="34" charset="0"/>
                        <a:buChar char="•"/>
                      </a:pPr>
                      <a:r>
                        <a:rPr lang="en-US" sz="1100" baseline="0" dirty="0" smtClean="0"/>
                        <a:t>Spotlight</a:t>
                      </a:r>
                    </a:p>
                  </a:txBody>
                  <a:tcPr/>
                </a:tc>
                <a:tc>
                  <a:txBody>
                    <a:bodyPr/>
                    <a:lstStyle/>
                    <a:p>
                      <a:endParaRPr lang="en-CA" sz="1100" dirty="0"/>
                    </a:p>
                  </a:txBody>
                  <a:tcPr/>
                </a:tc>
                <a:extLst>
                  <a:ext uri="{0D108BD9-81ED-4DB2-BD59-A6C34878D82A}">
                    <a16:rowId xmlns:a16="http://schemas.microsoft.com/office/drawing/2014/main" val="4934959"/>
                  </a:ext>
                </a:extLst>
              </a:tr>
              <a:tr h="370840">
                <a:tc>
                  <a:txBody>
                    <a:bodyPr/>
                    <a:lstStyle/>
                    <a:p>
                      <a:r>
                        <a:rPr lang="en-US" sz="1100" dirty="0" smtClean="0"/>
                        <a:t>4</a:t>
                      </a:r>
                      <a:endParaRPr lang="en-CA"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smtClean="0"/>
                        <a:t>Enable</a:t>
                      </a:r>
                      <a:r>
                        <a:rPr lang="en-US" sz="1100" baseline="0" dirty="0" smtClean="0"/>
                        <a:t> clients to securely connect to their preferred Accounting Partner to setup ongoing data sharing into CWB (pull). Secure authorization is a one-time action.</a:t>
                      </a:r>
                      <a:endParaRPr lang="en-CA" sz="1100" dirty="0"/>
                    </a:p>
                  </a:txBody>
                  <a:tcPr/>
                </a:tc>
                <a:tc>
                  <a:txBody>
                    <a:bodyPr/>
                    <a:lstStyle/>
                    <a:p>
                      <a:pPr marL="285750" indent="-285750">
                        <a:buFont typeface="Arial" panose="020B0604020202020204" pitchFamily="34" charset="0"/>
                        <a:buChar char="•"/>
                      </a:pPr>
                      <a:r>
                        <a:rPr lang="en-US" sz="1100" dirty="0" smtClean="0"/>
                        <a:t>Infinity</a:t>
                      </a:r>
                      <a:r>
                        <a:rPr lang="en-US" sz="1100" baseline="0" dirty="0" smtClean="0"/>
                        <a:t> Digital Banking</a:t>
                      </a:r>
                    </a:p>
                    <a:p>
                      <a:pPr marL="285750" indent="-285750">
                        <a:buFont typeface="Arial" panose="020B0604020202020204" pitchFamily="34" charset="0"/>
                        <a:buChar char="•"/>
                      </a:pPr>
                      <a:r>
                        <a:rPr lang="en-US" sz="1100" baseline="0" dirty="0" smtClean="0"/>
                        <a:t>Digital Onboarding </a:t>
                      </a:r>
                      <a:endParaRPr lang="en-US" sz="1100" dirty="0" smtClean="0"/>
                    </a:p>
                  </a:txBody>
                  <a:tcPr/>
                </a:tc>
                <a:tc>
                  <a:txBody>
                    <a:bodyPr/>
                    <a:lstStyle/>
                    <a:p>
                      <a:r>
                        <a:rPr lang="en-US" sz="1100" dirty="0" smtClean="0"/>
                        <a:t>Codat</a:t>
                      </a:r>
                      <a:r>
                        <a:rPr lang="en-US" sz="1100" baseline="0" dirty="0" smtClean="0"/>
                        <a:t> or Upswot </a:t>
                      </a:r>
                    </a:p>
                  </a:txBody>
                  <a:tcPr/>
                </a:tc>
                <a:extLst>
                  <a:ext uri="{0D108BD9-81ED-4DB2-BD59-A6C34878D82A}">
                    <a16:rowId xmlns:a16="http://schemas.microsoft.com/office/drawing/2014/main" val="1508748108"/>
                  </a:ext>
                </a:extLst>
              </a:tr>
              <a:tr h="370840">
                <a:tc>
                  <a:txBody>
                    <a:bodyPr/>
                    <a:lstStyle/>
                    <a:p>
                      <a:r>
                        <a:rPr lang="en-US" sz="1100" dirty="0" smtClean="0"/>
                        <a:t>5</a:t>
                      </a:r>
                      <a:endParaRPr lang="en-CA"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smtClean="0"/>
                        <a:t>Enable</a:t>
                      </a:r>
                      <a:r>
                        <a:rPr lang="en-US" sz="1100" baseline="0" dirty="0" smtClean="0"/>
                        <a:t> clients to securely connect a CWB API to share (push) transaction data for one or more of their CWB accounts to their preferred Accounting Partner. Secure authorization is a one-time action that will require CWB to have a separate login page to enable data sharing (possibly via OKTA, TBC).  </a:t>
                      </a:r>
                      <a:endParaRPr lang="en-CA" sz="1100" dirty="0"/>
                    </a:p>
                  </a:txBody>
                  <a:tcPr/>
                </a:tc>
                <a:tc>
                  <a:txBody>
                    <a:bodyPr/>
                    <a:lstStyle/>
                    <a:p>
                      <a:pPr marL="285750" indent="-285750">
                        <a:buFont typeface="Arial" panose="020B0604020202020204" pitchFamily="34" charset="0"/>
                        <a:buChar char="•"/>
                      </a:pPr>
                      <a:r>
                        <a:rPr lang="en-US" sz="1100" dirty="0" smtClean="0"/>
                        <a:t>Infinity</a:t>
                      </a:r>
                      <a:r>
                        <a:rPr lang="en-US" sz="1100" baseline="0" dirty="0" smtClean="0"/>
                        <a:t> Digital Banking</a:t>
                      </a:r>
                    </a:p>
                  </a:txBody>
                  <a:tcPr/>
                </a:tc>
                <a:tc>
                  <a:txBody>
                    <a:bodyPr/>
                    <a:lstStyle/>
                    <a:p>
                      <a:r>
                        <a:rPr lang="en-US" sz="1100" dirty="0" smtClean="0"/>
                        <a:t>Codat</a:t>
                      </a:r>
                      <a:r>
                        <a:rPr lang="en-US" sz="1100" baseline="0" dirty="0" smtClean="0"/>
                        <a:t> or Upswot </a:t>
                      </a:r>
                    </a:p>
                  </a:txBody>
                  <a:tcPr/>
                </a:tc>
                <a:extLst>
                  <a:ext uri="{0D108BD9-81ED-4DB2-BD59-A6C34878D82A}">
                    <a16:rowId xmlns:a16="http://schemas.microsoft.com/office/drawing/2014/main" val="3439436796"/>
                  </a:ext>
                </a:extLst>
              </a:tr>
              <a:tr h="370840">
                <a:tc>
                  <a:txBody>
                    <a:bodyPr/>
                    <a:lstStyle/>
                    <a:p>
                      <a:r>
                        <a:rPr lang="en-US" sz="1100" dirty="0" smtClean="0"/>
                        <a:t>6</a:t>
                      </a:r>
                      <a:endParaRPr lang="en-CA"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aseline="0" dirty="0" smtClean="0"/>
                        <a:t>Access controls to allow the user to disconnect data sharing (both push and pull).  For CWB data, users must be able to enable/disable each account. </a:t>
                      </a:r>
                      <a:endParaRPr lang="en-CA" sz="1100" dirty="0" smtClean="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smtClean="0"/>
                        <a:t>Infinity</a:t>
                      </a:r>
                      <a:r>
                        <a:rPr lang="en-US" sz="1100" baseline="0" dirty="0" smtClean="0"/>
                        <a:t> Digital Banking</a:t>
                      </a:r>
                    </a:p>
                    <a:p>
                      <a:pPr marL="285750" indent="-285750">
                        <a:buFont typeface="Arial" panose="020B0604020202020204" pitchFamily="34" charset="0"/>
                        <a:buChar char="•"/>
                      </a:pPr>
                      <a:r>
                        <a:rPr lang="en-US" sz="1100" baseline="0" dirty="0" smtClean="0"/>
                        <a:t>Spotlight</a:t>
                      </a:r>
                    </a:p>
                  </a:txBody>
                  <a:tcPr/>
                </a:tc>
                <a:tc>
                  <a:txBody>
                    <a:bodyPr/>
                    <a:lstStyle/>
                    <a:p>
                      <a:endParaRPr lang="en-US" sz="1100" baseline="0" dirty="0" smtClean="0"/>
                    </a:p>
                  </a:txBody>
                  <a:tcPr/>
                </a:tc>
                <a:extLst>
                  <a:ext uri="{0D108BD9-81ED-4DB2-BD59-A6C34878D82A}">
                    <a16:rowId xmlns:a16="http://schemas.microsoft.com/office/drawing/2014/main" val="3940345489"/>
                  </a:ext>
                </a:extLst>
              </a:tr>
            </a:tbl>
          </a:graphicData>
        </a:graphic>
      </p:graphicFrame>
    </p:spTree>
    <p:extLst>
      <p:ext uri="{BB962C8B-B14F-4D97-AF65-F5344CB8AC3E}">
        <p14:creationId xmlns:p14="http://schemas.microsoft.com/office/powerpoint/2010/main" val="2587546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endParaRPr lang="en-CA" dirty="0"/>
          </a:p>
        </p:txBody>
      </p:sp>
      <p:sp>
        <p:nvSpPr>
          <p:cNvPr id="2" name="Text Placeholder 1"/>
          <p:cNvSpPr>
            <a:spLocks noGrp="1"/>
          </p:cNvSpPr>
          <p:nvPr>
            <p:ph type="body" sz="quarter" idx="12"/>
          </p:nvPr>
        </p:nvSpPr>
        <p:spPr>
          <a:xfrm>
            <a:off x="406203" y="189595"/>
            <a:ext cx="8280401" cy="397483"/>
          </a:xfrm>
        </p:spPr>
        <p:txBody>
          <a:bodyPr/>
          <a:lstStyle/>
          <a:p>
            <a:r>
              <a:rPr lang="en-US" dirty="0" smtClean="0"/>
              <a:t>Actionable and Predictive Insights for Clients </a:t>
            </a:r>
            <a:endParaRPr lang="en-CA" dirty="0"/>
          </a:p>
        </p:txBody>
      </p:sp>
      <p:sp>
        <p:nvSpPr>
          <p:cNvPr id="3" name="Text Placeholder 2"/>
          <p:cNvSpPr>
            <a:spLocks noGrp="1"/>
          </p:cNvSpPr>
          <p:nvPr>
            <p:ph type="body" sz="quarter" idx="14"/>
          </p:nvPr>
        </p:nvSpPr>
        <p:spPr>
          <a:xfrm>
            <a:off x="406203" y="646232"/>
            <a:ext cx="8280401" cy="238208"/>
          </a:xfrm>
        </p:spPr>
        <p:txBody>
          <a:bodyPr/>
          <a:lstStyle/>
          <a:p>
            <a:r>
              <a:rPr lang="en-US" dirty="0" smtClean="0"/>
              <a:t>Differentiation: Push and display actionable and meaningful insights to clients derived from CWB and Accounting data. </a:t>
            </a:r>
          </a:p>
          <a:p>
            <a:endParaRPr lang="en-US" dirty="0"/>
          </a:p>
          <a:p>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853992775"/>
              </p:ext>
            </p:extLst>
          </p:nvPr>
        </p:nvGraphicFramePr>
        <p:xfrm>
          <a:off x="406203" y="1268170"/>
          <a:ext cx="8529236" cy="3413760"/>
        </p:xfrm>
        <a:graphic>
          <a:graphicData uri="http://schemas.openxmlformats.org/drawingml/2006/table">
            <a:tbl>
              <a:tblPr firstRow="1" bandRow="1">
                <a:tableStyleId>{5C22544A-7EE6-4342-B048-85BDC9FD1C3A}</a:tableStyleId>
              </a:tblPr>
              <a:tblGrid>
                <a:gridCol w="315132">
                  <a:extLst>
                    <a:ext uri="{9D8B030D-6E8A-4147-A177-3AD203B41FA5}">
                      <a16:colId xmlns:a16="http://schemas.microsoft.com/office/drawing/2014/main" val="1281548859"/>
                    </a:ext>
                  </a:extLst>
                </a:gridCol>
                <a:gridCol w="4830305">
                  <a:extLst>
                    <a:ext uri="{9D8B030D-6E8A-4147-A177-3AD203B41FA5}">
                      <a16:colId xmlns:a16="http://schemas.microsoft.com/office/drawing/2014/main" val="3558508802"/>
                    </a:ext>
                  </a:extLst>
                </a:gridCol>
                <a:gridCol w="1839133">
                  <a:extLst>
                    <a:ext uri="{9D8B030D-6E8A-4147-A177-3AD203B41FA5}">
                      <a16:colId xmlns:a16="http://schemas.microsoft.com/office/drawing/2014/main" val="2781611355"/>
                    </a:ext>
                  </a:extLst>
                </a:gridCol>
                <a:gridCol w="1544666">
                  <a:extLst>
                    <a:ext uri="{9D8B030D-6E8A-4147-A177-3AD203B41FA5}">
                      <a16:colId xmlns:a16="http://schemas.microsoft.com/office/drawing/2014/main" val="1580847114"/>
                    </a:ext>
                  </a:extLst>
                </a:gridCol>
              </a:tblGrid>
              <a:tr h="205030">
                <a:tc>
                  <a:txBody>
                    <a:bodyPr/>
                    <a:lstStyle/>
                    <a:p>
                      <a:r>
                        <a:rPr lang="en-US" sz="1100" dirty="0" smtClean="0"/>
                        <a:t>#</a:t>
                      </a:r>
                      <a:endParaRPr lang="en-CA"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smtClean="0"/>
                        <a:t>Requirement </a:t>
                      </a:r>
                      <a:endParaRPr lang="en-CA" sz="1100" dirty="0"/>
                    </a:p>
                  </a:txBody>
                  <a:tcPr/>
                </a:tc>
                <a:tc>
                  <a:txBody>
                    <a:bodyPr/>
                    <a:lstStyle/>
                    <a:p>
                      <a:r>
                        <a:rPr lang="en-US" sz="1100" dirty="0" smtClean="0"/>
                        <a:t>Available</a:t>
                      </a:r>
                      <a:r>
                        <a:rPr lang="en-US" sz="1100" baseline="0" dirty="0" smtClean="0"/>
                        <a:t> In:</a:t>
                      </a:r>
                      <a:endParaRPr lang="en-CA" sz="1100" dirty="0"/>
                    </a:p>
                  </a:txBody>
                  <a:tcPr/>
                </a:tc>
                <a:tc>
                  <a:txBody>
                    <a:bodyPr/>
                    <a:lstStyle/>
                    <a:p>
                      <a:r>
                        <a:rPr lang="en-US" sz="1100" dirty="0" smtClean="0"/>
                        <a:t>Possible</a:t>
                      </a:r>
                      <a:r>
                        <a:rPr lang="en-US" sz="1100" baseline="0" dirty="0" smtClean="0"/>
                        <a:t> P</a:t>
                      </a:r>
                      <a:r>
                        <a:rPr lang="en-US" sz="1100" dirty="0" smtClean="0"/>
                        <a:t>artners</a:t>
                      </a:r>
                      <a:endParaRPr lang="en-CA" sz="1100" dirty="0"/>
                    </a:p>
                  </a:txBody>
                  <a:tcPr/>
                </a:tc>
                <a:extLst>
                  <a:ext uri="{0D108BD9-81ED-4DB2-BD59-A6C34878D82A}">
                    <a16:rowId xmlns:a16="http://schemas.microsoft.com/office/drawing/2014/main" val="3770394087"/>
                  </a:ext>
                </a:extLst>
              </a:tr>
              <a:tr h="370840">
                <a:tc>
                  <a:txBody>
                    <a:bodyPr/>
                    <a:lstStyle/>
                    <a:p>
                      <a:r>
                        <a:rPr lang="en-US" sz="1100" dirty="0" smtClean="0"/>
                        <a:t>1</a:t>
                      </a:r>
                      <a:endParaRPr lang="en-CA" sz="1100" dirty="0"/>
                    </a:p>
                  </a:txBody>
                  <a:tcPr/>
                </a:tc>
                <a:tc>
                  <a:txBody>
                    <a:bodyPr/>
                    <a:lstStyle/>
                    <a:p>
                      <a:r>
                        <a:rPr lang="en-US" sz="1100" dirty="0" smtClean="0"/>
                        <a:t>Based</a:t>
                      </a:r>
                      <a:r>
                        <a:rPr lang="en-US" sz="1100" baseline="0" dirty="0" smtClean="0"/>
                        <a:t> on cash flow and other XAI model analysis, generate insights for clients that will be pushed via multiple channels (Digital Banking, SMS, Push Notifications etc.) </a:t>
                      </a:r>
                      <a:endParaRPr lang="en-CA" sz="1100" dirty="0"/>
                    </a:p>
                  </a:txBody>
                  <a:tcPr/>
                </a:tc>
                <a:tc>
                  <a:txBody>
                    <a:bodyPr/>
                    <a:lstStyle/>
                    <a:p>
                      <a:pPr marL="285750" indent="-285750">
                        <a:buFont typeface="Arial" panose="020B0604020202020204" pitchFamily="34" charset="0"/>
                        <a:buChar char="•"/>
                      </a:pPr>
                      <a:r>
                        <a:rPr lang="en-US" sz="1100" dirty="0" smtClean="0"/>
                        <a:t>Infinity</a:t>
                      </a:r>
                      <a:r>
                        <a:rPr lang="en-US" sz="1100" baseline="0" dirty="0" smtClean="0"/>
                        <a:t> Digital Banking</a:t>
                      </a:r>
                    </a:p>
                    <a:p>
                      <a:pPr marL="285750" indent="-285750">
                        <a:buFont typeface="Arial" panose="020B0604020202020204" pitchFamily="34" charset="0"/>
                        <a:buChar char="•"/>
                      </a:pPr>
                      <a:r>
                        <a:rPr lang="en-US" sz="1100" baseline="0" dirty="0" smtClean="0"/>
                        <a:t>Spotlight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smtClean="0"/>
                        <a:t>TBC</a:t>
                      </a:r>
                      <a:endParaRPr lang="en-CA" sz="1100" dirty="0"/>
                    </a:p>
                  </a:txBody>
                  <a:tcPr/>
                </a:tc>
                <a:extLst>
                  <a:ext uri="{0D108BD9-81ED-4DB2-BD59-A6C34878D82A}">
                    <a16:rowId xmlns:a16="http://schemas.microsoft.com/office/drawing/2014/main" val="965611934"/>
                  </a:ext>
                </a:extLst>
              </a:tr>
              <a:tr h="370840">
                <a:tc>
                  <a:txBody>
                    <a:bodyPr/>
                    <a:lstStyle/>
                    <a:p>
                      <a:r>
                        <a:rPr lang="en-US" sz="1100" dirty="0" smtClean="0"/>
                        <a:t>2</a:t>
                      </a:r>
                      <a:endParaRPr lang="en-CA" sz="1100" dirty="0"/>
                    </a:p>
                  </a:txBody>
                  <a:tcPr/>
                </a:tc>
                <a:tc>
                  <a:txBody>
                    <a:bodyPr/>
                    <a:lstStyle/>
                    <a:p>
                      <a:r>
                        <a:rPr lang="en-US" sz="1100" dirty="0" smtClean="0"/>
                        <a:t>Include</a:t>
                      </a:r>
                      <a:r>
                        <a:rPr lang="en-US" sz="1100" baseline="0" dirty="0" smtClean="0"/>
                        <a:t> insights based on patterns and best practices for financial management.  This may include payable and receivable processing, supplier management etc. </a:t>
                      </a:r>
                      <a:endParaRPr lang="en-CA" sz="11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Infinity Digital Banking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TBC</a:t>
                      </a:r>
                      <a:endParaRPr kumimoji="0" lang="en-CA" sz="1100" b="0" i="0" u="none" strike="noStrike" kern="1200" cap="none" spc="0" normalizeH="0" baseline="0" noProof="0" dirty="0">
                        <a:ln>
                          <a:noFill/>
                        </a:ln>
                        <a:solidFill>
                          <a:srgbClr val="777777"/>
                        </a:solidFill>
                        <a:effectLst/>
                        <a:uLnTx/>
                        <a:uFillTx/>
                        <a:latin typeface="Calibri"/>
                        <a:ea typeface="+mn-ea"/>
                        <a:cs typeface="+mn-cs"/>
                      </a:endParaRPr>
                    </a:p>
                  </a:txBody>
                  <a:tcPr/>
                </a:tc>
                <a:extLst>
                  <a:ext uri="{0D108BD9-81ED-4DB2-BD59-A6C34878D82A}">
                    <a16:rowId xmlns:a16="http://schemas.microsoft.com/office/drawing/2014/main" val="477055271"/>
                  </a:ext>
                </a:extLst>
              </a:tr>
              <a:tr h="370840">
                <a:tc>
                  <a:txBody>
                    <a:bodyPr/>
                    <a:lstStyle/>
                    <a:p>
                      <a:r>
                        <a:rPr lang="en-US" sz="1100" dirty="0" smtClean="0"/>
                        <a:t>3</a:t>
                      </a:r>
                      <a:endParaRPr lang="en-CA"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smtClean="0"/>
                        <a:t>Allow</a:t>
                      </a:r>
                      <a:r>
                        <a:rPr lang="en-US" sz="1100" baseline="0" dirty="0" smtClean="0"/>
                        <a:t> users drill down to determine how insights were generated.  </a:t>
                      </a:r>
                      <a:endParaRPr lang="en-CA" sz="1100" dirty="0" smtClean="0"/>
                    </a:p>
                    <a:p>
                      <a:endParaRPr lang="en-CA" sz="11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Infinity Digital Banking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Spotlight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TBC</a:t>
                      </a:r>
                      <a:endParaRPr kumimoji="0" lang="en-CA" sz="1100" b="0" i="0" u="none" strike="noStrike" kern="1200" cap="none" spc="0" normalizeH="0" baseline="0" noProof="0" dirty="0">
                        <a:ln>
                          <a:noFill/>
                        </a:ln>
                        <a:solidFill>
                          <a:srgbClr val="777777"/>
                        </a:solidFill>
                        <a:effectLst/>
                        <a:uLnTx/>
                        <a:uFillTx/>
                        <a:latin typeface="Calibri"/>
                        <a:ea typeface="+mn-ea"/>
                        <a:cs typeface="+mn-cs"/>
                      </a:endParaRPr>
                    </a:p>
                  </a:txBody>
                  <a:tcPr/>
                </a:tc>
                <a:extLst>
                  <a:ext uri="{0D108BD9-81ED-4DB2-BD59-A6C34878D82A}">
                    <a16:rowId xmlns:a16="http://schemas.microsoft.com/office/drawing/2014/main" val="4934959"/>
                  </a:ext>
                </a:extLst>
              </a:tr>
              <a:tr h="370840">
                <a:tc>
                  <a:txBody>
                    <a:bodyPr/>
                    <a:lstStyle/>
                    <a:p>
                      <a:r>
                        <a:rPr lang="en-US" sz="1100" dirty="0" smtClean="0"/>
                        <a:t>4</a:t>
                      </a:r>
                      <a:endParaRPr lang="en-CA" sz="1100" dirty="0"/>
                    </a:p>
                  </a:txBody>
                  <a:tcPr/>
                </a:tc>
                <a:tc>
                  <a:txBody>
                    <a:bodyPr/>
                    <a:lstStyle/>
                    <a:p>
                      <a:r>
                        <a:rPr lang="en-US" sz="1100" dirty="0" smtClean="0"/>
                        <a:t>Insights</a:t>
                      </a:r>
                      <a:r>
                        <a:rPr lang="en-US" sz="1100" baseline="0" dirty="0" smtClean="0"/>
                        <a:t> will be prominently displayed on the dashboard and clearly show new Insights and provided access view all Insights (read and unread) and enable users to save, delete and share with other users who are entitled to view/receive. </a:t>
                      </a:r>
                      <a:endParaRPr lang="en-CA" sz="11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mn-lt"/>
                          <a:ea typeface="+mn-ea"/>
                          <a:cs typeface="+mn-cs"/>
                        </a:rPr>
                        <a:t>Infinity Digital Banking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mn-lt"/>
                          <a:ea typeface="+mn-ea"/>
                          <a:cs typeface="+mn-cs"/>
                        </a:rPr>
                        <a:t>Spotlight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dirty="0">
                        <a:ln>
                          <a:noFill/>
                        </a:ln>
                        <a:solidFill>
                          <a:srgbClr val="777777"/>
                        </a:solidFill>
                        <a:effectLst/>
                        <a:uLnTx/>
                        <a:uFillTx/>
                        <a:latin typeface="Calibri"/>
                        <a:ea typeface="+mn-ea"/>
                        <a:cs typeface="+mn-cs"/>
                      </a:endParaRPr>
                    </a:p>
                  </a:txBody>
                  <a:tcPr/>
                </a:tc>
                <a:extLst>
                  <a:ext uri="{0D108BD9-81ED-4DB2-BD59-A6C34878D82A}">
                    <a16:rowId xmlns:a16="http://schemas.microsoft.com/office/drawing/2014/main" val="3988406894"/>
                  </a:ext>
                </a:extLst>
              </a:tr>
              <a:tr h="370840">
                <a:tc>
                  <a:txBody>
                    <a:bodyPr/>
                    <a:lstStyle/>
                    <a:p>
                      <a:r>
                        <a:rPr lang="en-US" sz="1100" dirty="0" smtClean="0"/>
                        <a:t>5</a:t>
                      </a:r>
                      <a:endParaRPr lang="en-CA" sz="1100" dirty="0"/>
                    </a:p>
                  </a:txBody>
                  <a:tcPr/>
                </a:tc>
                <a:tc>
                  <a:txBody>
                    <a:bodyPr/>
                    <a:lstStyle/>
                    <a:p>
                      <a:r>
                        <a:rPr lang="en-US" sz="1100" dirty="0" smtClean="0"/>
                        <a:t>Users can</a:t>
                      </a:r>
                      <a:r>
                        <a:rPr lang="en-US" sz="1100" baseline="0" dirty="0" smtClean="0"/>
                        <a:t> </a:t>
                      </a:r>
                      <a:r>
                        <a:rPr lang="en-US" sz="1100" dirty="0" smtClean="0"/>
                        <a:t>select preferred</a:t>
                      </a:r>
                      <a:r>
                        <a:rPr lang="en-US" sz="1100" baseline="0" dirty="0" smtClean="0"/>
                        <a:t> channels for Insight delivery via profile preferences.  Insight content will be generated based on the channel (secure vs. non secure) </a:t>
                      </a:r>
                      <a:endParaRPr lang="en-CA" sz="11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Infinity Digital Banking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Spotlight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TBC</a:t>
                      </a:r>
                      <a:endParaRPr kumimoji="0" lang="en-CA" sz="1100" b="0" i="0" u="none" strike="noStrike" kern="1200" cap="none" spc="0" normalizeH="0" baseline="0" noProof="0" dirty="0">
                        <a:ln>
                          <a:noFill/>
                        </a:ln>
                        <a:solidFill>
                          <a:srgbClr val="777777"/>
                        </a:solidFill>
                        <a:effectLst/>
                        <a:uLnTx/>
                        <a:uFillTx/>
                        <a:latin typeface="Calibri"/>
                        <a:ea typeface="+mn-ea"/>
                        <a:cs typeface="+mn-cs"/>
                      </a:endParaRPr>
                    </a:p>
                  </a:txBody>
                  <a:tcPr/>
                </a:tc>
                <a:extLst>
                  <a:ext uri="{0D108BD9-81ED-4DB2-BD59-A6C34878D82A}">
                    <a16:rowId xmlns:a16="http://schemas.microsoft.com/office/drawing/2014/main" val="465790216"/>
                  </a:ext>
                </a:extLst>
              </a:tr>
              <a:tr h="370840">
                <a:tc>
                  <a:txBody>
                    <a:bodyPr/>
                    <a:lstStyle/>
                    <a:p>
                      <a:r>
                        <a:rPr lang="en-US" sz="1100" dirty="0" smtClean="0"/>
                        <a:t>6</a:t>
                      </a:r>
                      <a:endParaRPr lang="en-CA" sz="1100" dirty="0"/>
                    </a:p>
                  </a:txBody>
                  <a:tcPr/>
                </a:tc>
                <a:tc>
                  <a:txBody>
                    <a:bodyPr/>
                    <a:lstStyle/>
                    <a:p>
                      <a:r>
                        <a:rPr lang="en-US" sz="1100" dirty="0" smtClean="0"/>
                        <a:t>Access</a:t>
                      </a:r>
                      <a:r>
                        <a:rPr lang="en-US" sz="1100" baseline="0" dirty="0" smtClean="0"/>
                        <a:t> to receiving and drilling down into insights will be managed via entitlements at the client and user level. </a:t>
                      </a:r>
                      <a:endParaRPr lang="en-CA" sz="11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Infinity Digital Banking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TBC</a:t>
                      </a:r>
                      <a:endParaRPr kumimoji="0" lang="en-CA" sz="1100" b="0" i="0" u="none" strike="noStrike" kern="1200" cap="none" spc="0" normalizeH="0" baseline="0" noProof="0" dirty="0">
                        <a:ln>
                          <a:noFill/>
                        </a:ln>
                        <a:solidFill>
                          <a:srgbClr val="777777"/>
                        </a:solidFill>
                        <a:effectLst/>
                        <a:uLnTx/>
                        <a:uFillTx/>
                        <a:latin typeface="Calibri"/>
                        <a:ea typeface="+mn-ea"/>
                        <a:cs typeface="+mn-cs"/>
                      </a:endParaRPr>
                    </a:p>
                  </a:txBody>
                  <a:tcPr/>
                </a:tc>
                <a:extLst>
                  <a:ext uri="{0D108BD9-81ED-4DB2-BD59-A6C34878D82A}">
                    <a16:rowId xmlns:a16="http://schemas.microsoft.com/office/drawing/2014/main" val="893057002"/>
                  </a:ext>
                </a:extLst>
              </a:tr>
              <a:tr h="370840">
                <a:tc>
                  <a:txBody>
                    <a:bodyPr/>
                    <a:lstStyle/>
                    <a:p>
                      <a:r>
                        <a:rPr lang="en-US" sz="1100" dirty="0" smtClean="0"/>
                        <a:t>7</a:t>
                      </a:r>
                      <a:endParaRPr lang="en-CA" sz="1100" dirty="0"/>
                    </a:p>
                  </a:txBody>
                  <a:tcPr/>
                </a:tc>
                <a:tc>
                  <a:txBody>
                    <a:bodyPr/>
                    <a:lstStyle/>
                    <a:p>
                      <a:r>
                        <a:rPr lang="en-US" sz="1100" dirty="0" smtClean="0"/>
                        <a:t>Enable</a:t>
                      </a:r>
                      <a:r>
                        <a:rPr lang="en-US" sz="1100" baseline="0" dirty="0" smtClean="0"/>
                        <a:t> user activity </a:t>
                      </a:r>
                      <a:r>
                        <a:rPr lang="en-US" sz="1100" dirty="0" smtClean="0"/>
                        <a:t>tracking and analysis </a:t>
                      </a:r>
                      <a:r>
                        <a:rPr lang="en-US" sz="1100" baseline="0" dirty="0" smtClean="0"/>
                        <a:t>for Insights and provide automated data extracts to facilitate billing (as needed) </a:t>
                      </a:r>
                      <a:endParaRPr lang="en-CA" sz="11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smtClean="0">
                          <a:ln>
                            <a:noFill/>
                          </a:ln>
                          <a:solidFill>
                            <a:srgbClr val="777777"/>
                          </a:solidFill>
                          <a:effectLst/>
                          <a:uLnTx/>
                          <a:uFillTx/>
                          <a:latin typeface="+mn-lt"/>
                          <a:ea typeface="+mn-ea"/>
                          <a:cs typeface="+mn-cs"/>
                        </a:rPr>
                        <a:t>Spotlight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777777"/>
                          </a:solidFill>
                          <a:effectLst/>
                          <a:uLnTx/>
                          <a:uFillTx/>
                          <a:latin typeface="Calibri"/>
                          <a:ea typeface="+mn-ea"/>
                          <a:cs typeface="+mn-cs"/>
                        </a:rPr>
                        <a:t>TBC</a:t>
                      </a:r>
                      <a:endParaRPr kumimoji="0" lang="en-CA" sz="1100" b="0" i="0" u="none" strike="noStrike" kern="1200" cap="none" spc="0" normalizeH="0" baseline="0" noProof="0" dirty="0">
                        <a:ln>
                          <a:noFill/>
                        </a:ln>
                        <a:solidFill>
                          <a:srgbClr val="777777"/>
                        </a:solidFill>
                        <a:effectLst/>
                        <a:uLnTx/>
                        <a:uFillTx/>
                        <a:latin typeface="Calibri"/>
                        <a:ea typeface="+mn-ea"/>
                        <a:cs typeface="+mn-cs"/>
                      </a:endParaRPr>
                    </a:p>
                  </a:txBody>
                  <a:tcPr/>
                </a:tc>
                <a:extLst>
                  <a:ext uri="{0D108BD9-81ED-4DB2-BD59-A6C34878D82A}">
                    <a16:rowId xmlns:a16="http://schemas.microsoft.com/office/drawing/2014/main" val="771167024"/>
                  </a:ext>
                </a:extLst>
              </a:tr>
            </a:tbl>
          </a:graphicData>
        </a:graphic>
      </p:graphicFrame>
    </p:spTree>
    <p:extLst>
      <p:ext uri="{BB962C8B-B14F-4D97-AF65-F5344CB8AC3E}">
        <p14:creationId xmlns:p14="http://schemas.microsoft.com/office/powerpoint/2010/main" val="331444716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99035E62-F7A9-4709-9788-2DAD6D496E76}"/>
    </a:ext>
  </a:extLst>
</a:theme>
</file>

<file path=ppt/theme/theme2.xml><?xml version="1.0" encoding="utf-8"?>
<a:theme xmlns:a="http://schemas.openxmlformats.org/drawingml/2006/main" name="1 Primary Gold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AE23DD20-C299-45FE-BE38-3ECFBE876F77}"/>
    </a:ext>
  </a:extLst>
</a:theme>
</file>

<file path=ppt/theme/theme3.xml><?xml version="1.0" encoding="utf-8"?>
<a:theme xmlns:a="http://schemas.openxmlformats.org/drawingml/2006/main" name="1 Primary Gold - Section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2401E65E-5FE9-4F80-8D58-5DEB6F901CAD}"/>
    </a:ext>
  </a:extLst>
</a:theme>
</file>

<file path=ppt/theme/theme4.xml><?xml version="1.0" encoding="utf-8"?>
<a:theme xmlns:a="http://schemas.openxmlformats.org/drawingml/2006/main" name="2 Primary Teal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FB1C4462-D851-490F-A071-83D9978A48A1}"/>
    </a:ext>
  </a:extLst>
</a:theme>
</file>

<file path=ppt/theme/theme5.xml><?xml version="1.0" encoding="utf-8"?>
<a:theme xmlns:a="http://schemas.openxmlformats.org/drawingml/2006/main" name="2 Primary Gold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46035B87-CB5B-410B-9AAC-64B535A96964}"/>
    </a:ext>
  </a:extLst>
</a:theme>
</file>

<file path=ppt/theme/theme6.xml><?xml version="1.0" encoding="utf-8"?>
<a:theme xmlns:a="http://schemas.openxmlformats.org/drawingml/2006/main" name="2 Primary Gold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CDA640F7-AFB6-43ED-B923-FE7A9B072F38}"/>
    </a:ext>
  </a:extLst>
</a:theme>
</file>

<file path=ppt/theme/theme7.xml><?xml version="1.0" encoding="utf-8"?>
<a:theme xmlns:a="http://schemas.openxmlformats.org/drawingml/2006/main" name="3 Navy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EDB0E078-49A4-415F-AB6F-6218604714D1}"/>
    </a:ext>
  </a:extLst>
</a:theme>
</file>

<file path=ppt/theme/theme8.xml><?xml version="1.0" encoding="utf-8"?>
<a:theme xmlns:a="http://schemas.openxmlformats.org/drawingml/2006/main" name="3 Navy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99C5C860-9E7D-46C5-84E0-F852A12412EF}"/>
    </a:ext>
  </a:extLst>
</a:theme>
</file>

<file path=ppt/theme/theme9.xml><?xml version="1.0" encoding="utf-8"?>
<a:theme xmlns:a="http://schemas.openxmlformats.org/drawingml/2006/main" name="3 Navy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AE0A915C-8F2B-4AF5-A5F6-2308CCC4A1F7}"/>
    </a:ext>
  </a:extLst>
</a:theme>
</file>

<file path=ppt/theme/theme10.xml><?xml version="1.0" encoding="utf-8"?>
<a:theme xmlns:a="http://schemas.openxmlformats.org/drawingml/2006/main" name="4 Light Teal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F3E576D2-46C1-4D06-A356-1A502FF846C1}"/>
    </a:ext>
  </a:extLst>
</a:theme>
</file>

<file path=ppt/theme/theme11.xml><?xml version="1.0" encoding="utf-8"?>
<a:theme xmlns:a="http://schemas.openxmlformats.org/drawingml/2006/main" name="4 Light Teal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A2007AE9-90AD-4EAB-9E6A-8A0B25333A29}"/>
    </a:ext>
  </a:extLst>
</a:theme>
</file>

<file path=ppt/theme/theme12.xml><?xml version="1.0" encoding="utf-8"?>
<a:theme xmlns:a="http://schemas.openxmlformats.org/drawingml/2006/main" name="4 Light Teal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3BD8E73B-8D44-47DC-B9DD-454DC4A8F8C3}"/>
    </a:ext>
  </a:extLst>
</a:theme>
</file>

<file path=ppt/theme/theme13.xml><?xml version="1.0" encoding="utf-8"?>
<a:theme xmlns:a="http://schemas.openxmlformats.org/drawingml/2006/main" name="6 Dark Gold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10C14875-9AB3-47ED-AB71-4C919763E1CD}"/>
    </a:ext>
  </a:extLst>
</a:theme>
</file>

<file path=ppt/theme/theme14.xml><?xml version="1.0" encoding="utf-8"?>
<a:theme xmlns:a="http://schemas.openxmlformats.org/drawingml/2006/main" name="6 Dark Gold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3ABA026F-A002-44BA-9B18-62C016E99774}"/>
    </a:ext>
  </a:extLst>
</a:theme>
</file>

<file path=ppt/theme/theme15.xml><?xml version="1.0" encoding="utf-8"?>
<a:theme xmlns:a="http://schemas.openxmlformats.org/drawingml/2006/main" name="6 Dark Gold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2287062D-3723-4591-A086-D05B2BEB5C2A}"/>
    </a:ext>
  </a:extLst>
</a:theme>
</file>

<file path=ppt/theme/theme16.xml><?xml version="1.0" encoding="utf-8"?>
<a:theme xmlns:a="http://schemas.openxmlformats.org/drawingml/2006/main" name="7 Orange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CD308C4A-9746-4EC0-AB22-C9FF9D13EBFE}"/>
    </a:ext>
  </a:extLst>
</a:theme>
</file>

<file path=ppt/theme/theme17.xml><?xml version="1.0" encoding="utf-8"?>
<a:theme xmlns:a="http://schemas.openxmlformats.org/drawingml/2006/main" name="7 Orange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5D8BE8D6-2228-4BBE-AD7B-EA5B02113C31}"/>
    </a:ext>
  </a:extLst>
</a:theme>
</file>

<file path=ppt/theme/theme18.xml><?xml version="1.0" encoding="utf-8"?>
<a:theme xmlns:a="http://schemas.openxmlformats.org/drawingml/2006/main" name="7 Orange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AB5999AE-FE2E-47A0-9234-DB1B1F6C3304}"/>
    </a:ext>
  </a:extLst>
</a:theme>
</file>

<file path=ppt/theme/theme19.xml><?xml version="1.0" encoding="utf-8"?>
<a:theme xmlns:a="http://schemas.openxmlformats.org/drawingml/2006/main" name="8 Grey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E5733D46-7F88-4C62-A70E-AEFB56884803}"/>
    </a:ext>
  </a:extLst>
</a:theme>
</file>

<file path=ppt/theme/theme20.xml><?xml version="1.0" encoding="utf-8"?>
<a:theme xmlns:a="http://schemas.openxmlformats.org/drawingml/2006/main" name="8 Grey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65B855E7-18DA-4632-A2AC-82399EFB56B2}"/>
    </a:ext>
  </a:extLst>
</a:theme>
</file>

<file path=ppt/theme/theme21.xml><?xml version="1.0" encoding="utf-8"?>
<a:theme xmlns:a="http://schemas.openxmlformats.org/drawingml/2006/main" name="8 Grey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E3B8F19F-AEBC-40C9-B21D-FDA96295FBE3}"/>
    </a:ext>
  </a:extLst>
</a:theme>
</file>

<file path=ppt/theme/theme22.xml><?xml version="1.0" encoding="utf-8"?>
<a:theme xmlns:a="http://schemas.openxmlformats.org/drawingml/2006/main" name="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8F04F41E-E41C-497B-B29F-CF6A3B05936B}"/>
    </a:ext>
  </a:extLst>
</a:theme>
</file>

<file path=ppt/theme/theme23.xml><?xml version="1.0" encoding="utf-8"?>
<a:theme xmlns:a="http://schemas.openxmlformats.org/drawingml/2006/main" name="1_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AE07C077-D013-4410-ADA1-95E6C454497A}"/>
    </a:ext>
  </a:extLst>
</a:theme>
</file>

<file path=ppt/theme/theme24.xml><?xml version="1.0" encoding="utf-8"?>
<a:theme xmlns:a="http://schemas.openxmlformats.org/drawingml/2006/main" name="2_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9454C1E6-EFBD-401B-AB4C-34E045B7B88A}"/>
    </a:ext>
  </a:extLst>
</a:theme>
</file>

<file path=ppt/theme/theme25.xml><?xml version="1.0" encoding="utf-8"?>
<a:theme xmlns:a="http://schemas.openxmlformats.org/drawingml/2006/main" name="Quote - Teal Ladd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CFFE18D8-FEE5-44D0-A7A9-579D76B662FD}"/>
    </a:ext>
  </a:extLst>
</a:theme>
</file>

<file path=ppt/theme/theme26.xml><?xml version="1.0" encoding="utf-8"?>
<a:theme xmlns:a="http://schemas.openxmlformats.org/drawingml/2006/main" name="Quote - Navy Pat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46F7E41F-42DE-4DB4-8A8A-5D9990EA9F79}"/>
    </a:ext>
  </a:extLst>
</a:theme>
</file>

<file path=ppt/theme/theme27.xml><?xml version="1.0" encoding="utf-8"?>
<a:theme xmlns:a="http://schemas.openxmlformats.org/drawingml/2006/main" name="1_Quote - Navy Pat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23B89475-9F16-4323-A97E-5AD303D66C1F}"/>
    </a:ext>
  </a:extLst>
</a:theme>
</file>

<file path=ppt/theme/theme28.xml><?xml version="1.0" encoding="utf-8"?>
<a:theme xmlns:a="http://schemas.openxmlformats.org/drawingml/2006/main" name="1_4 Light Teal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3BD8E73B-8D44-47DC-B9DD-454DC4A8F8C3}"/>
    </a:ext>
  </a:extLst>
</a:theme>
</file>

<file path=ppt/theme/theme29.xml><?xml version="1.0" encoding="utf-8"?>
<a:theme xmlns:a="http://schemas.openxmlformats.org/drawingml/2006/main" name="2_4 Light Teal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3BD8E73B-8D44-47DC-B9DD-454DC4A8F8C3}"/>
    </a:ext>
  </a:extLst>
</a:theme>
</file>

<file path=ppt/theme/theme30.xml><?xml version="1.0" encoding="utf-8"?>
<a:theme xmlns:a="http://schemas.openxmlformats.org/drawingml/2006/main" name="3_4 Light Teal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3BD8E73B-8D44-47DC-B9DD-454DC4A8F8C3}"/>
    </a:ext>
  </a:extLst>
</a:theme>
</file>

<file path=ppt/theme/theme31.xml><?xml version="1.0" encoding="utf-8"?>
<a:theme xmlns:a="http://schemas.openxmlformats.org/drawingml/2006/main" name="2_Quote - Navy Pat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6120AEB7-75A6-4DFE-886D-C65605ABADA7}"/>
    </a:ext>
  </a:extLst>
</a:theme>
</file>

<file path=ppt/theme/theme3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3.xml><?xml version="1.0" encoding="utf-8"?>
<a:theme xmlns:a="http://schemas.openxmlformats.org/drawingml/2006/main" name="1_7 Orange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C11D73AD-5315-4486-94D2-E64FA5E1DB9A}"/>
    </a:ext>
  </a:extLst>
</a:theme>
</file>

<file path=ppt/theme/theme3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6E2191C135504F9351B7DBCB2BE606" ma:contentTypeVersion="19" ma:contentTypeDescription="Create a new document." ma:contentTypeScope="" ma:versionID="144ddb5c3dec5e6553fff6a9e46bb08f">
  <xsd:schema xmlns:xsd="http://www.w3.org/2001/XMLSchema" xmlns:xs="http://www.w3.org/2001/XMLSchema" xmlns:p="http://schemas.microsoft.com/office/2006/metadata/properties" xmlns:ns2="6d778449-ff75-428e-914f-0c7c3a330bda" xmlns:ns3="9685b3f0-18b8-4ac0-8917-75cacc3928c8" xmlns:ns4="http://schemas.microsoft.com/sharepoint/v4" targetNamespace="http://schemas.microsoft.com/office/2006/metadata/properties" ma:root="true" ma:fieldsID="20e32d3dfd06a5d03c1eec57e40fefd4" ns2:_="" ns3:_="" ns4:_="">
    <xsd:import namespace="6d778449-ff75-428e-914f-0c7c3a330bda"/>
    <xsd:import namespace="9685b3f0-18b8-4ac0-8917-75cacc3928c8"/>
    <xsd:import namespace="http://schemas.microsoft.com/sharepoint/v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DateTaken" minOccurs="0"/>
                <xsd:element ref="ns4:IconOverlay"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778449-ff75-428e-914f-0c7c3a330b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104f31a-2814-4102-809d-73f760290a8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85b3f0-18b8-4ac0-8917-75cacc3928c8"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fdc0967b-2da2-44e6-873a-f241ab05c942}" ma:internalName="TaxCatchAll" ma:showField="CatchAllData" ma:web="9685b3f0-18b8-4ac0-8917-75cacc3928c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d778449-ff75-428e-914f-0c7c3a330bda">
      <Terms xmlns="http://schemas.microsoft.com/office/infopath/2007/PartnerControls"/>
    </lcf76f155ced4ddcb4097134ff3c332f>
    <TaxCatchAll xmlns="9685b3f0-18b8-4ac0-8917-75cacc3928c8" xsi:nil="true"/>
    <IconOverlay xmlns="http://schemas.microsoft.com/sharepoint/v4" xsi:nil="true"/>
  </documentManagement>
</p:properties>
</file>

<file path=customXml/itemProps1.xml><?xml version="1.0" encoding="utf-8"?>
<ds:datastoreItem xmlns:ds="http://schemas.openxmlformats.org/officeDocument/2006/customXml" ds:itemID="{DA16162A-1836-4260-97D6-0A64B60B5FB6}"/>
</file>

<file path=customXml/itemProps2.xml><?xml version="1.0" encoding="utf-8"?>
<ds:datastoreItem xmlns:ds="http://schemas.openxmlformats.org/officeDocument/2006/customXml" ds:itemID="{13F7A5FF-C287-4570-B8F3-0B2467320A97}"/>
</file>

<file path=customXml/itemProps3.xml><?xml version="1.0" encoding="utf-8"?>
<ds:datastoreItem xmlns:ds="http://schemas.openxmlformats.org/officeDocument/2006/customXml" ds:itemID="{E205FD00-9031-4594-B17E-D6800585A9B7}"/>
</file>

<file path=docMetadata/LabelInfo.xml><?xml version="1.0" encoding="utf-8"?>
<clbl:labelList xmlns:clbl="http://schemas.microsoft.com/office/2020/mipLabelMetadata">
  <clbl:label id="{4e1dbe9c-67f7-4be6-a2b7-0951d57be59d}" enabled="1" method="Standard" siteId="{bbf04c3f-b0e3-4b50-bd1b-10ce0b74385d}" removed="0"/>
</clbl:labelList>
</file>

<file path=docProps/app.xml><?xml version="1.0" encoding="utf-8"?>
<Properties xmlns="http://schemas.openxmlformats.org/officeDocument/2006/extended-properties" xmlns:vt="http://schemas.openxmlformats.org/officeDocument/2006/docPropsVTypes">
  <Template>CWBFG Presentation 16x9</Template>
  <TotalTime>8791</TotalTime>
  <Words>952</Words>
  <Application>Microsoft Office PowerPoint</Application>
  <PresentationFormat>On-screen Show (16:9)</PresentationFormat>
  <Paragraphs>157</Paragraphs>
  <Slides>6</Slides>
  <Notes>5</Notes>
  <HiddenSlides>0</HiddenSlides>
  <MMClips>0</MMClips>
  <ScaleCrop>false</ScaleCrop>
  <HeadingPairs>
    <vt:vector size="6" baseType="variant">
      <vt:variant>
        <vt:lpstr>Fonts Used</vt:lpstr>
      </vt:variant>
      <vt:variant>
        <vt:i4>3</vt:i4>
      </vt:variant>
      <vt:variant>
        <vt:lpstr>Theme</vt:lpstr>
      </vt:variant>
      <vt:variant>
        <vt:i4>33</vt:i4>
      </vt:variant>
      <vt:variant>
        <vt:lpstr>Slide Titles</vt:lpstr>
      </vt:variant>
      <vt:variant>
        <vt:i4>6</vt:i4>
      </vt:variant>
    </vt:vector>
  </HeadingPairs>
  <TitlesOfParts>
    <vt:vector size="42" baseType="lpstr">
      <vt:lpstr>Arial</vt:lpstr>
      <vt:lpstr>Calibri</vt:lpstr>
      <vt:lpstr>Wingdings</vt:lpstr>
      <vt:lpstr>Custom Design</vt:lpstr>
      <vt:lpstr>1 Primary Gold - Section Title</vt:lpstr>
      <vt:lpstr>1 Primary Gold - Section Content</vt:lpstr>
      <vt:lpstr>2 Primary Teal - Section Title</vt:lpstr>
      <vt:lpstr>2 Primary Gold - Section Content</vt:lpstr>
      <vt:lpstr>2 Primary Gold - Content</vt:lpstr>
      <vt:lpstr>3 Navy - Section Title</vt:lpstr>
      <vt:lpstr>3 Navy - Section Content</vt:lpstr>
      <vt:lpstr>3 Navy - Content</vt:lpstr>
      <vt:lpstr>4 Light Teal - Section Title</vt:lpstr>
      <vt:lpstr>4 Light Teal - Section Content</vt:lpstr>
      <vt:lpstr>4 Light Teal - Content</vt:lpstr>
      <vt:lpstr>6 Dark Gold - Section Title</vt:lpstr>
      <vt:lpstr>6 Dark Gold - Section Content</vt:lpstr>
      <vt:lpstr>6 Dark Gold - Content</vt:lpstr>
      <vt:lpstr>7 Orange - Section Title</vt:lpstr>
      <vt:lpstr>7 Orange - Section Content</vt:lpstr>
      <vt:lpstr>7 Orange - Content</vt:lpstr>
      <vt:lpstr>8 Grey - Section Title</vt:lpstr>
      <vt:lpstr>8 Grey - Section Content</vt:lpstr>
      <vt:lpstr>8 Grey - Content</vt:lpstr>
      <vt:lpstr>Section Title - Photo</vt:lpstr>
      <vt:lpstr>1_Section Title - Photo</vt:lpstr>
      <vt:lpstr>2_Section Title - Photo</vt:lpstr>
      <vt:lpstr>Quote - Teal Ladder</vt:lpstr>
      <vt:lpstr>Quote - Navy Path</vt:lpstr>
      <vt:lpstr>1_Quote - Navy Path</vt:lpstr>
      <vt:lpstr>1_4 Light Teal - Content</vt:lpstr>
      <vt:lpstr>2_4 Light Teal - Content</vt:lpstr>
      <vt:lpstr>3_4 Light Teal - Content</vt:lpstr>
      <vt:lpstr>2_Quote - Navy Path</vt:lpstr>
      <vt:lpstr>1_Custom Design</vt:lpstr>
      <vt:lpstr>1_7 Orange - Content</vt:lpstr>
      <vt:lpstr>PowerPoint Presentation</vt:lpstr>
      <vt:lpstr>PowerPoint Presentation</vt:lpstr>
      <vt:lpstr>PowerPoint Presentation</vt:lpstr>
      <vt:lpstr>PowerPoint Presentation</vt:lpstr>
      <vt:lpstr>PowerPoint Presentation</vt:lpstr>
      <vt:lpstr>PowerPoint Presentation</vt:lpstr>
    </vt:vector>
  </TitlesOfParts>
  <Company>Canadian Western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SME Digital Platform Differentiators_CWB_Sept2020</dc:title>
  <dc:creator>Christina.Mullin@cwbank.com</dc:creator>
  <cp:lastModifiedBy>Hoa Bach</cp:lastModifiedBy>
  <cp:revision>381</cp:revision>
  <cp:lastPrinted>2014-01-17T22:29:57Z</cp:lastPrinted>
  <dcterms:created xsi:type="dcterms:W3CDTF">2019-09-29T21:39:07Z</dcterms:created>
  <dcterms:modified xsi:type="dcterms:W3CDTF">2020-11-03T21:41:44Z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0x010100CA6E2191C135504F9351B7DBCB2BE606</vt:lpwstr>
  </property>
  <property fmtid="{D5CDD505-2E9C-101B-9397-08002B2CF9AE}" pid="3" name="Order">
    <vt:r8>453600</vt:r8>
  </property>
  <property fmtid="{D5CDD505-2E9C-101B-9397-08002B2CF9AE}" pid="4" name="URL">
    <vt:lpwstr/>
  </property>
</Properties>
</file>