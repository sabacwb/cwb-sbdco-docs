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709" r:id="rId5"/>
    <p:sldMasterId id="2147483676" r:id="rId6"/>
  </p:sldMasterIdLst>
  <p:notesMasterIdLst>
    <p:notesMasterId r:id="rId16"/>
  </p:notesMasterIdLst>
  <p:handoutMasterIdLst>
    <p:handoutMasterId r:id="rId17"/>
  </p:handoutMasterIdLst>
  <p:sldIdLst>
    <p:sldId id="256" r:id="rId7"/>
    <p:sldId id="488" r:id="rId8"/>
    <p:sldId id="489" r:id="rId9"/>
    <p:sldId id="490" r:id="rId10"/>
    <p:sldId id="471" r:id="rId11"/>
    <p:sldId id="491" r:id="rId12"/>
    <p:sldId id="492" r:id="rId13"/>
    <p:sldId id="493" r:id="rId14"/>
    <p:sldId id="475" r:id="rId15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nnie Smart" initials="CS" lastIdx="7" clrIdx="0">
    <p:extLst>
      <p:ext uri="{19B8F6BF-5375-455C-9EA6-DF929625EA0E}">
        <p15:presenceInfo xmlns:p15="http://schemas.microsoft.com/office/powerpoint/2012/main" userId="S-1-5-21-3727158924-2375465911-1683840438-407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A9"/>
    <a:srgbClr val="A9ACA0"/>
    <a:srgbClr val="FF8200"/>
    <a:srgbClr val="AF297A"/>
    <a:srgbClr val="FF0000"/>
    <a:srgbClr val="BAC5B9"/>
    <a:srgbClr val="2DCCD3"/>
    <a:srgbClr val="003B5C"/>
    <a:srgbClr val="84754E"/>
    <a:srgbClr val="DAA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2" autoAdjust="0"/>
    <p:restoredTop sz="96357" autoAdjust="0"/>
  </p:normalViewPr>
  <p:slideViewPr>
    <p:cSldViewPr snapToGrid="0">
      <p:cViewPr varScale="1">
        <p:scale>
          <a:sx n="111" d="100"/>
          <a:sy n="111" d="100"/>
        </p:scale>
        <p:origin x="66" y="426"/>
      </p:cViewPr>
      <p:guideLst>
        <p:guide orient="horz" pos="162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2636" y="24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F320C92-5B60-47CE-AF8E-33393E468A4F}" type="datetimeFigureOut">
              <a:rPr lang="en-CA" smtClean="0"/>
              <a:t>11/12/2021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932885D-FA4E-45F3-9C34-9BE667995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2965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F9F78-B7FC-4D34-B5E9-CFFF0660210F}" type="datetimeFigureOut">
              <a:rPr lang="en-CA" smtClean="0"/>
              <a:t>11/12/2021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EB8C7-5EFC-4FA9-BA9E-FFC3022A465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10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64456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C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67537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C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85135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23801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071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1EB8C7-5EFC-4FA9-BA9E-FFC3022A4650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402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1EB8C7-5EFC-4FA9-BA9E-FFC3022A4650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937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CA" b="1" dirty="0"/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1EB8C7-5EFC-4FA9-BA9E-FFC3022A4650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4526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1EB8C7-5EFC-4FA9-BA9E-FFC3022A4650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99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/>
              <a:t>Additional text…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/>
              <a:t>Subtitle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028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2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91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634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273300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87538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510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71811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22186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47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Frutiger LT Std 57 Cn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DA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7335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84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accent4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829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6" r:id="rId2"/>
    <p:sldLayoutId id="2147483675" r:id="rId3"/>
    <p:sldLayoutId id="2147483698" r:id="rId4"/>
    <p:sldLayoutId id="2147483731" r:id="rId5"/>
    <p:sldLayoutId id="2147483697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emenosglobal.invisionapp.com/share/HM112CCKRQAP#/screens/452615890_VCOO_Demo_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 txBox="1">
            <a:spLocks/>
          </p:cNvSpPr>
          <p:nvPr/>
        </p:nvSpPr>
        <p:spPr>
          <a:xfrm>
            <a:off x="249572" y="2040808"/>
            <a:ext cx="7533102" cy="1207164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CA" sz="3200" dirty="0"/>
              <a:t>CWB’s Virtual COO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3" y="677555"/>
            <a:ext cx="2257322" cy="1154862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E5272E3-CE34-4725-93C3-8884DE420C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572" y="2532007"/>
            <a:ext cx="6362700" cy="398089"/>
          </a:xfrm>
        </p:spPr>
        <p:txBody>
          <a:bodyPr/>
          <a:lstStyle/>
          <a:p>
            <a:r>
              <a:rPr lang="en-CA" sz="1600" dirty="0"/>
              <a:t>August 5, 2021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050261-C963-48DB-916C-04C6AB362956}"/>
              </a:ext>
            </a:extLst>
          </p:cNvPr>
          <p:cNvSpPr txBox="1">
            <a:spLocks/>
          </p:cNvSpPr>
          <p:nvPr/>
        </p:nvSpPr>
        <p:spPr>
          <a:xfrm>
            <a:off x="249572" y="3075733"/>
            <a:ext cx="6362700" cy="398089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600" dirty="0"/>
              <a:t>Speaker:  Edmund Chua, Digital Strategy &amp; Innovation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AC76D-CEBF-40DB-9B7E-1909640B0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72" y="3493926"/>
            <a:ext cx="1198605" cy="1129043"/>
          </a:xfrm>
          <a:prstGeom prst="rect">
            <a:avLst/>
          </a:prstGeom>
          <a:ln w="25400">
            <a:solidFill>
              <a:srgbClr val="FF8200"/>
            </a:solidFill>
          </a:ln>
        </p:spPr>
      </p:pic>
    </p:spTree>
    <p:extLst>
      <p:ext uri="{BB962C8B-B14F-4D97-AF65-F5344CB8AC3E}">
        <p14:creationId xmlns:p14="http://schemas.microsoft.com/office/powerpoint/2010/main" val="2676011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1239EDC-1A10-4921-A95A-E855BB1C5C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6203" y="264762"/>
            <a:ext cx="8280401" cy="397483"/>
          </a:xfrm>
        </p:spPr>
        <p:txBody>
          <a:bodyPr/>
          <a:lstStyle/>
          <a:p>
            <a:r>
              <a:rPr lang="en-US" dirty="0"/>
              <a:t>	   Introducing CWB’s VCOO!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8C7DD5-5FE3-4B65-83BC-55428D85E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66" y="157260"/>
            <a:ext cx="1183341" cy="53651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F0AB31-FF51-400D-A46E-D12241013B7D}"/>
              </a:ext>
            </a:extLst>
          </p:cNvPr>
          <p:cNvSpPr/>
          <p:nvPr/>
        </p:nvSpPr>
        <p:spPr>
          <a:xfrm>
            <a:off x="3503212" y="856506"/>
            <a:ext cx="5517220" cy="37729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VCOO = Virtual Chief Operating Officer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Supports day-to-day operations with a view of business health and cash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Offers ideas for how to improve and grow generated by an Explainable Artificial Intelligence (XAI)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Connects with accounting software and financial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trusted partner with CWB, augmenting the digital experience with a human partnership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5BC065-3E0D-4B74-AD38-A326EAF8EC6F}"/>
              </a:ext>
            </a:extLst>
          </p:cNvPr>
          <p:cNvGrpSpPr/>
          <p:nvPr/>
        </p:nvGrpSpPr>
        <p:grpSpPr>
          <a:xfrm>
            <a:off x="212066" y="1011459"/>
            <a:ext cx="3255918" cy="3120582"/>
            <a:chOff x="374752" y="1490607"/>
            <a:chExt cx="3264780" cy="324318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3F5C0BA-9637-41AC-954C-85A7713F0414}"/>
                </a:ext>
              </a:extLst>
            </p:cNvPr>
            <p:cNvSpPr/>
            <p:nvPr/>
          </p:nvSpPr>
          <p:spPr>
            <a:xfrm>
              <a:off x="1628950" y="3958833"/>
              <a:ext cx="774956" cy="77495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0EBE85-DBE6-4D31-9E7D-77EC94949192}"/>
                </a:ext>
              </a:extLst>
            </p:cNvPr>
            <p:cNvSpPr/>
            <p:nvPr/>
          </p:nvSpPr>
          <p:spPr>
            <a:xfrm>
              <a:off x="1695795" y="4025678"/>
              <a:ext cx="641266" cy="641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1C2403-C513-4E8E-B08D-8A9B90E5A93F}"/>
                </a:ext>
              </a:extLst>
            </p:cNvPr>
            <p:cNvSpPr/>
            <p:nvPr/>
          </p:nvSpPr>
          <p:spPr>
            <a:xfrm>
              <a:off x="2496567" y="1834810"/>
              <a:ext cx="774956" cy="77495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1E59C9F-AA90-4477-BEE2-2BEA7CB9296E}"/>
                </a:ext>
              </a:extLst>
            </p:cNvPr>
            <p:cNvSpPr/>
            <p:nvPr/>
          </p:nvSpPr>
          <p:spPr>
            <a:xfrm>
              <a:off x="2563412" y="1901655"/>
              <a:ext cx="641266" cy="6412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71BF46E-015B-41BB-B767-0ED1DBD8042B}"/>
                </a:ext>
              </a:extLst>
            </p:cNvPr>
            <p:cNvSpPr/>
            <p:nvPr/>
          </p:nvSpPr>
          <p:spPr>
            <a:xfrm>
              <a:off x="2489195" y="3616082"/>
              <a:ext cx="774956" cy="77495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22CC554-3C18-4347-B2E5-720019EF3480}"/>
                </a:ext>
              </a:extLst>
            </p:cNvPr>
            <p:cNvSpPr/>
            <p:nvPr/>
          </p:nvSpPr>
          <p:spPr>
            <a:xfrm>
              <a:off x="2563412" y="3682927"/>
              <a:ext cx="641266" cy="64126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9E850B9-2CF3-4E97-A07E-4B9D9D8C75B5}"/>
                </a:ext>
              </a:extLst>
            </p:cNvPr>
            <p:cNvSpPr/>
            <p:nvPr/>
          </p:nvSpPr>
          <p:spPr>
            <a:xfrm>
              <a:off x="1628950" y="1490607"/>
              <a:ext cx="774956" cy="77495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B1F6AEC-5613-4895-9CF7-B075872677D8}"/>
                </a:ext>
              </a:extLst>
            </p:cNvPr>
            <p:cNvSpPr/>
            <p:nvPr/>
          </p:nvSpPr>
          <p:spPr>
            <a:xfrm>
              <a:off x="1695795" y="1557451"/>
              <a:ext cx="641266" cy="641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306C230-B2EE-41A6-80CC-BBB430D69481}"/>
                </a:ext>
              </a:extLst>
            </p:cNvPr>
            <p:cNvSpPr/>
            <p:nvPr/>
          </p:nvSpPr>
          <p:spPr>
            <a:xfrm>
              <a:off x="741925" y="1849555"/>
              <a:ext cx="774956" cy="77495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27ADF10-DB67-4911-BE29-5125444DD515}"/>
                </a:ext>
              </a:extLst>
            </p:cNvPr>
            <p:cNvSpPr/>
            <p:nvPr/>
          </p:nvSpPr>
          <p:spPr>
            <a:xfrm>
              <a:off x="808769" y="1916400"/>
              <a:ext cx="641266" cy="64126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72D8FF-7C8E-4EA0-BF7B-E8728DAB550D}"/>
                </a:ext>
              </a:extLst>
            </p:cNvPr>
            <p:cNvSpPr/>
            <p:nvPr/>
          </p:nvSpPr>
          <p:spPr>
            <a:xfrm>
              <a:off x="764042" y="3616082"/>
              <a:ext cx="774956" cy="77495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5E13669-DE1C-48D3-97A5-53F20E35E21F}"/>
                </a:ext>
              </a:extLst>
            </p:cNvPr>
            <p:cNvSpPr/>
            <p:nvPr/>
          </p:nvSpPr>
          <p:spPr>
            <a:xfrm>
              <a:off x="830887" y="3682927"/>
              <a:ext cx="641266" cy="6412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0372B7A-3D4D-46C7-BB04-C228B36B18D1}"/>
                </a:ext>
              </a:extLst>
            </p:cNvPr>
            <p:cNvSpPr/>
            <p:nvPr/>
          </p:nvSpPr>
          <p:spPr>
            <a:xfrm>
              <a:off x="2864576" y="2773606"/>
              <a:ext cx="774956" cy="77495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4DADBA8-109F-422D-AA2F-C3976678882F}"/>
                </a:ext>
              </a:extLst>
            </p:cNvPr>
            <p:cNvSpPr/>
            <p:nvPr/>
          </p:nvSpPr>
          <p:spPr>
            <a:xfrm>
              <a:off x="2931421" y="2840451"/>
              <a:ext cx="641266" cy="64126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C813113-2B76-436B-91B6-D355B8BB9121}"/>
                </a:ext>
              </a:extLst>
            </p:cNvPr>
            <p:cNvSpPr/>
            <p:nvPr/>
          </p:nvSpPr>
          <p:spPr>
            <a:xfrm>
              <a:off x="387869" y="2773606"/>
              <a:ext cx="774956" cy="77495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FBF8771-C341-4693-AE4D-4D22983E9F40}"/>
                </a:ext>
              </a:extLst>
            </p:cNvPr>
            <p:cNvSpPr/>
            <p:nvPr/>
          </p:nvSpPr>
          <p:spPr>
            <a:xfrm>
              <a:off x="454714" y="2840451"/>
              <a:ext cx="641266" cy="64126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5559A56-B72E-46C8-9FB7-2B9770AE47AA}"/>
                </a:ext>
              </a:extLst>
            </p:cNvPr>
            <p:cNvSpPr/>
            <p:nvPr/>
          </p:nvSpPr>
          <p:spPr>
            <a:xfrm>
              <a:off x="1239450" y="2338023"/>
              <a:ext cx="1548500" cy="15485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SME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83D883A-18B3-47A1-B5C8-0B71739273DE}"/>
                </a:ext>
              </a:extLst>
            </p:cNvPr>
            <p:cNvPicPr>
              <a:picLocks/>
            </p:cNvPicPr>
            <p:nvPr/>
          </p:nvPicPr>
          <p:blipFill rotWithShape="1"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637" t="5303" r="1619" b="-982"/>
            <a:stretch/>
          </p:blipFill>
          <p:spPr>
            <a:xfrm>
              <a:off x="1226953" y="2413352"/>
              <a:ext cx="1548000" cy="1414969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0D9C0A-210A-4538-8144-36573A582DA4}"/>
                </a:ext>
              </a:extLst>
            </p:cNvPr>
            <p:cNvSpPr txBox="1"/>
            <p:nvPr/>
          </p:nvSpPr>
          <p:spPr>
            <a:xfrm>
              <a:off x="1599165" y="1739645"/>
              <a:ext cx="83548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Dashboard</a:t>
              </a:r>
              <a:endParaRPr lang="en-CA" sz="11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D1C1B8B-BF71-4F8C-8913-89D55E1C4377}"/>
                </a:ext>
              </a:extLst>
            </p:cNvPr>
            <p:cNvSpPr txBox="1"/>
            <p:nvPr/>
          </p:nvSpPr>
          <p:spPr>
            <a:xfrm>
              <a:off x="794159" y="2035769"/>
              <a:ext cx="70243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3</a:t>
              </a:r>
              <a:r>
                <a:rPr lang="en-US" sz="1100" baseline="30000" dirty="0">
                  <a:solidFill>
                    <a:schemeClr val="bg1"/>
                  </a:solidFill>
                </a:rPr>
                <a:t>rd</a:t>
              </a:r>
              <a:r>
                <a:rPr lang="en-US" sz="1100" dirty="0">
                  <a:solidFill>
                    <a:schemeClr val="bg1"/>
                  </a:solidFill>
                </a:rPr>
                <a:t> Party 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Data</a:t>
              </a:r>
              <a:endParaRPr lang="en-CA" sz="11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FF683E7-9060-4ED3-8020-7C275D4D2C84}"/>
                </a:ext>
              </a:extLst>
            </p:cNvPr>
            <p:cNvSpPr txBox="1"/>
            <p:nvPr/>
          </p:nvSpPr>
          <p:spPr>
            <a:xfrm>
              <a:off x="2894336" y="2945640"/>
              <a:ext cx="745196" cy="447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Payment Services</a:t>
              </a:r>
              <a:endParaRPr lang="en-CA" sz="11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D19A596-C834-4167-B2C8-145EEF227C37}"/>
                </a:ext>
              </a:extLst>
            </p:cNvPr>
            <p:cNvSpPr txBox="1"/>
            <p:nvPr/>
          </p:nvSpPr>
          <p:spPr>
            <a:xfrm>
              <a:off x="831205" y="3778130"/>
              <a:ext cx="658613" cy="447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Modern Security</a:t>
              </a:r>
              <a:endParaRPr lang="en-CA" sz="11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ACC29E1-8920-4525-958B-433F24F80E38}"/>
                </a:ext>
              </a:extLst>
            </p:cNvPr>
            <p:cNvSpPr txBox="1"/>
            <p:nvPr/>
          </p:nvSpPr>
          <p:spPr>
            <a:xfrm>
              <a:off x="374752" y="2945640"/>
              <a:ext cx="801189" cy="447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Actionable</a:t>
              </a:r>
              <a:br>
                <a:rPr lang="en-US" sz="1100" dirty="0">
                  <a:solidFill>
                    <a:schemeClr val="bg1"/>
                  </a:solidFill>
                </a:rPr>
              </a:br>
              <a:r>
                <a:rPr lang="en-US" sz="1100" dirty="0">
                  <a:solidFill>
                    <a:schemeClr val="bg1"/>
                  </a:solidFill>
                </a:rPr>
                <a:t>Insights</a:t>
              </a:r>
              <a:endParaRPr lang="en-CA" sz="11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0B74BA1-D549-49B1-A99A-CB650B589C45}"/>
                </a:ext>
              </a:extLst>
            </p:cNvPr>
            <p:cNvSpPr txBox="1"/>
            <p:nvPr/>
          </p:nvSpPr>
          <p:spPr>
            <a:xfrm>
              <a:off x="2497959" y="3792404"/>
              <a:ext cx="792753" cy="447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Cash Flow 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Forecast</a:t>
              </a:r>
              <a:endParaRPr lang="en-CA" sz="1100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3BDA50F-DAD6-4059-B20D-9735DA2A18FC}"/>
                </a:ext>
              </a:extLst>
            </p:cNvPr>
            <p:cNvSpPr txBox="1"/>
            <p:nvPr/>
          </p:nvSpPr>
          <p:spPr>
            <a:xfrm>
              <a:off x="1665783" y="4130867"/>
              <a:ext cx="702741" cy="447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Intuitive 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Interface</a:t>
              </a:r>
              <a:endParaRPr lang="en-CA" sz="1100" dirty="0">
                <a:solidFill>
                  <a:schemeClr val="bg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863760B-C162-4D00-B341-8CE8079BC37F}"/>
                </a:ext>
              </a:extLst>
            </p:cNvPr>
            <p:cNvSpPr txBox="1"/>
            <p:nvPr/>
          </p:nvSpPr>
          <p:spPr>
            <a:xfrm>
              <a:off x="2554886" y="1894267"/>
              <a:ext cx="658317" cy="6001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All</a:t>
              </a:r>
              <a:br>
                <a:rPr lang="en-US" sz="1100" dirty="0">
                  <a:solidFill>
                    <a:schemeClr val="bg1"/>
                  </a:solidFill>
                </a:rPr>
              </a:br>
              <a:r>
                <a:rPr lang="en-US" sz="1100" dirty="0">
                  <a:solidFill>
                    <a:schemeClr val="bg1"/>
                  </a:solidFill>
                </a:rPr>
                <a:t>Banking Services</a:t>
              </a:r>
              <a:endParaRPr lang="en-CA" sz="11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369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3" y="264762"/>
            <a:ext cx="8280401" cy="397483"/>
          </a:xfrm>
        </p:spPr>
        <p:txBody>
          <a:bodyPr/>
          <a:lstStyle/>
          <a:p>
            <a:r>
              <a:rPr lang="en-US" dirty="0"/>
              <a:t>	   VCOO at a Glance… 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741D98-C6AB-45DC-99BD-DA8D52F28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00" y="645769"/>
            <a:ext cx="8884357" cy="7299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66" y="157260"/>
            <a:ext cx="1183341" cy="5365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1925" y="1520277"/>
            <a:ext cx="859670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3B5C"/>
                </a:solidFill>
              </a:rPr>
              <a:t>Business owners identified key gaps. 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We held iterative discussions with our business clients, and they identified: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They need help with the administration of running a business (including managing cash flow)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They need advice on actions they can take to grow their business</a:t>
            </a:r>
            <a:endParaRPr lang="en-US" sz="1600" b="1" dirty="0">
              <a:solidFill>
                <a:srgbClr val="003B5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003B5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3B5C"/>
                </a:solidFill>
              </a:rPr>
              <a:t>We are doing something about it. </a:t>
            </a:r>
            <a:r>
              <a:rPr lang="en-US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The VCOO will fill those gaps by connecting with the accounting software and financial data of a business in order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Provide a consolidated view of business performance (health score)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Provide insights into cash flow and factors impacting it; predict cash flow 3 months out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Create action plans to improve and grow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Allow the business to run virtual scenarios using its own data</a:t>
            </a:r>
          </a:p>
        </p:txBody>
      </p:sp>
    </p:spTree>
    <p:extLst>
      <p:ext uri="{BB962C8B-B14F-4D97-AF65-F5344CB8AC3E}">
        <p14:creationId xmlns:p14="http://schemas.microsoft.com/office/powerpoint/2010/main" val="14016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3" y="264762"/>
            <a:ext cx="8280401" cy="397483"/>
          </a:xfrm>
        </p:spPr>
        <p:txBody>
          <a:bodyPr/>
          <a:lstStyle/>
          <a:p>
            <a:r>
              <a:rPr lang="en-US" dirty="0"/>
              <a:t>	   VCOO at a Glance… </a:t>
            </a:r>
            <a:endParaRPr lang="en-CA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66" y="157260"/>
            <a:ext cx="1183341" cy="5365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1925" y="1462611"/>
            <a:ext cx="859670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3B5C"/>
                </a:solidFill>
              </a:rPr>
              <a:t>Developing a product </a:t>
            </a:r>
            <a:r>
              <a:rPr lang="en-US" sz="1600" b="1" u="sng" dirty="0">
                <a:solidFill>
                  <a:srgbClr val="003B5C"/>
                </a:solidFill>
              </a:rPr>
              <a:t>FOR</a:t>
            </a:r>
            <a:r>
              <a:rPr lang="en-US" sz="1600" b="1" dirty="0">
                <a:solidFill>
                  <a:srgbClr val="003B5C"/>
                </a:solidFill>
              </a:rPr>
              <a:t> business owners and </a:t>
            </a:r>
            <a:r>
              <a:rPr lang="en-US" sz="1600" b="1" u="sng" dirty="0">
                <a:solidFill>
                  <a:srgbClr val="003B5C"/>
                </a:solidFill>
              </a:rPr>
              <a:t>WITH</a:t>
            </a:r>
            <a:r>
              <a:rPr lang="en-US" sz="1600" b="1" dirty="0">
                <a:solidFill>
                  <a:srgbClr val="003B5C"/>
                </a:solidFill>
              </a:rPr>
              <a:t> business owners.  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Business owners are involved at each step – from idea, to development, to testing, to being part of a beta user group.  </a:t>
            </a:r>
          </a:p>
          <a:p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3B5C"/>
                </a:solidFill>
              </a:rPr>
              <a:t>We are pioneering something completing new.  </a:t>
            </a:r>
            <a:r>
              <a:rPr lang="en-CA" sz="1600" dirty="0">
                <a:solidFill>
                  <a:schemeClr val="bg1">
                    <a:lumMod val="65000"/>
                  </a:schemeClr>
                </a:solidFill>
              </a:rPr>
              <a:t>The combination of the smart technology it runs on, the information and insights it provides, and who it’s designed for (small and medium sized businesses) makes the VCOO a </a:t>
            </a:r>
            <a:r>
              <a:rPr lang="en-CA" sz="1600" b="1" dirty="0">
                <a:solidFill>
                  <a:srgbClr val="FF8200"/>
                </a:solidFill>
              </a:rPr>
              <a:t>first in the market</a:t>
            </a:r>
            <a:r>
              <a:rPr lang="en-CA" sz="1600" dirty="0">
                <a:solidFill>
                  <a:schemeClr val="bg1">
                    <a:lumMod val="65000"/>
                  </a:schemeClr>
                </a:solidFill>
              </a:rPr>
              <a:t>.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</a:t>
            </a: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3B5C"/>
                </a:solidFill>
              </a:rPr>
              <a:t>The first step is a beta test. </a:t>
            </a:r>
            <a:r>
              <a:rPr lang="en-CA" sz="1600" dirty="0">
                <a:solidFill>
                  <a:schemeClr val="bg1">
                    <a:lumMod val="65000"/>
                  </a:schemeClr>
                </a:solidFill>
              </a:rPr>
              <a:t> Approximately 500 clients will be part of a beta test starting in late August/early September and continuing to end of 2021.  This will allow us to test the VCOO and prepare it for full launch in 2022. Beta will last 4-6 months.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16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3B5C"/>
                </a:solidFill>
              </a:rPr>
              <a:t>VCOO will be part of the Digital Banking Platform when it is fully launched in F22.  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We want a seamless and integrated experience for our clients.  </a:t>
            </a: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3601C0-B1E3-4DEF-AC62-60734102B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00" y="645769"/>
            <a:ext cx="8884357" cy="72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3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3" y="264762"/>
            <a:ext cx="8280401" cy="397483"/>
          </a:xfrm>
        </p:spPr>
        <p:txBody>
          <a:bodyPr/>
          <a:lstStyle/>
          <a:p>
            <a:r>
              <a:rPr lang="en-US" dirty="0"/>
              <a:t>	   VCOO Beta Dates</a:t>
            </a:r>
            <a:endParaRPr lang="en-CA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66" y="157260"/>
            <a:ext cx="1183341" cy="5365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9A957C-6649-4D14-ACA1-0162EFE3B336}"/>
              </a:ext>
            </a:extLst>
          </p:cNvPr>
          <p:cNvSpPr/>
          <p:nvPr/>
        </p:nvSpPr>
        <p:spPr>
          <a:xfrm>
            <a:off x="131805" y="914400"/>
            <a:ext cx="8847438" cy="296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C89203-62FC-49CC-A1CD-62FB32E016A4}"/>
              </a:ext>
            </a:extLst>
          </p:cNvPr>
          <p:cNvSpPr txBox="1"/>
          <p:nvPr/>
        </p:nvSpPr>
        <p:spPr>
          <a:xfrm>
            <a:off x="248320" y="878748"/>
            <a:ext cx="1429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June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462CA5-FF1E-4595-BE24-D56C0CC6DEBA}"/>
              </a:ext>
            </a:extLst>
          </p:cNvPr>
          <p:cNvSpPr txBox="1"/>
          <p:nvPr/>
        </p:nvSpPr>
        <p:spPr>
          <a:xfrm>
            <a:off x="4839336" y="878750"/>
            <a:ext cx="1078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August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2ED535-1681-4A90-A5F6-89740AC06254}"/>
              </a:ext>
            </a:extLst>
          </p:cNvPr>
          <p:cNvSpPr txBox="1"/>
          <p:nvPr/>
        </p:nvSpPr>
        <p:spPr>
          <a:xfrm>
            <a:off x="6680891" y="878748"/>
            <a:ext cx="223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Sep to Dec 2021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4361E2-2A44-4CA8-A00C-DA59913B56D7}"/>
              </a:ext>
            </a:extLst>
          </p:cNvPr>
          <p:cNvSpPr txBox="1"/>
          <p:nvPr/>
        </p:nvSpPr>
        <p:spPr>
          <a:xfrm>
            <a:off x="66937" y="1681091"/>
            <a:ext cx="20052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Completed: </a:t>
            </a:r>
            <a:r>
              <a:rPr lang="en-US" sz="1200" dirty="0"/>
              <a:t>VCOO Team identified approx. 9,000 eligible clients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Completed: </a:t>
            </a:r>
            <a:r>
              <a:rPr lang="en-US" sz="1200" dirty="0"/>
              <a:t>Client list refined by VCOO Team 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418ABC6-E8CC-48A9-9752-C12A58F14C84}"/>
              </a:ext>
            </a:extLst>
          </p:cNvPr>
          <p:cNvSpPr/>
          <p:nvPr/>
        </p:nvSpPr>
        <p:spPr>
          <a:xfrm rot="10800000">
            <a:off x="852294" y="1337921"/>
            <a:ext cx="221835" cy="222422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BA77EE-5C8A-4AFD-B8E5-1B82EC6C5942}"/>
              </a:ext>
            </a:extLst>
          </p:cNvPr>
          <p:cNvSpPr txBox="1"/>
          <p:nvPr/>
        </p:nvSpPr>
        <p:spPr>
          <a:xfrm>
            <a:off x="4534380" y="1720585"/>
            <a:ext cx="24404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Readiness Sessions for RMs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RMs recruit beta participants  for initial client group within the next 2-3 weeks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Late Aug/Early Sept - VCOO Team onboards first group of beta clients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Client Support provided by Business Contact Centre</a:t>
            </a:r>
            <a:endParaRPr lang="en-CA" sz="1200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95B6343D-BA31-442E-B630-419B9FB44613}"/>
              </a:ext>
            </a:extLst>
          </p:cNvPr>
          <p:cNvSpPr/>
          <p:nvPr/>
        </p:nvSpPr>
        <p:spPr>
          <a:xfrm rot="10800000">
            <a:off x="5271897" y="1337921"/>
            <a:ext cx="221835" cy="222422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59950B-4388-47AD-A247-0376F87E0370}"/>
              </a:ext>
            </a:extLst>
          </p:cNvPr>
          <p:cNvSpPr txBox="1"/>
          <p:nvPr/>
        </p:nvSpPr>
        <p:spPr>
          <a:xfrm>
            <a:off x="7094725" y="1720585"/>
            <a:ext cx="18845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RMs continue to recruit beta participants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Continue to onboard clients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Client Support provided by Business Contact Centre</a:t>
            </a: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955B1A63-A796-48D8-BFD7-4766D57C0641}"/>
              </a:ext>
            </a:extLst>
          </p:cNvPr>
          <p:cNvSpPr/>
          <p:nvPr/>
        </p:nvSpPr>
        <p:spPr>
          <a:xfrm rot="10800000">
            <a:off x="7737398" y="1337921"/>
            <a:ext cx="221835" cy="222422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E3D521-1934-4FC1-9C57-ABFEAEF7350E}"/>
              </a:ext>
            </a:extLst>
          </p:cNvPr>
          <p:cNvSpPr txBox="1"/>
          <p:nvPr/>
        </p:nvSpPr>
        <p:spPr>
          <a:xfrm>
            <a:off x="2166336" y="1711224"/>
            <a:ext cx="22738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Completed: </a:t>
            </a:r>
            <a:r>
              <a:rPr lang="en-US" sz="1200" dirty="0"/>
              <a:t>Targeted initial client list created  by VCOO Team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Completed: </a:t>
            </a:r>
            <a:r>
              <a:rPr lang="en-US" sz="1200" dirty="0"/>
              <a:t>VCOO Team reach out to RGMs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Completed: </a:t>
            </a:r>
            <a:r>
              <a:rPr lang="en-US" sz="1200" dirty="0"/>
              <a:t>VCOO Team working with Business Contact Centre team to set up client support approach</a:t>
            </a:r>
            <a:endParaRPr lang="en-CA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9468C9-627F-4222-A184-12C1A4054324}"/>
              </a:ext>
            </a:extLst>
          </p:cNvPr>
          <p:cNvSpPr txBox="1"/>
          <p:nvPr/>
        </p:nvSpPr>
        <p:spPr>
          <a:xfrm>
            <a:off x="2567283" y="874627"/>
            <a:ext cx="1429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July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1922F89D-F5AF-4B91-A9FC-40D2F24E701F}"/>
              </a:ext>
            </a:extLst>
          </p:cNvPr>
          <p:cNvSpPr/>
          <p:nvPr/>
        </p:nvSpPr>
        <p:spPr>
          <a:xfrm rot="10800000">
            <a:off x="3171257" y="1333800"/>
            <a:ext cx="221835" cy="222422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9C8248ED-741F-4DA4-BABD-C7A1E61C86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37" y="1579112"/>
            <a:ext cx="321269" cy="321269"/>
          </a:xfrm>
          <a:prstGeom prst="rect">
            <a:avLst/>
          </a:prstGeom>
        </p:spPr>
      </p:pic>
      <p:pic>
        <p:nvPicPr>
          <p:cNvPr id="22" name="Graphic 21" descr="Checkmark with solid fill">
            <a:extLst>
              <a:ext uri="{FF2B5EF4-FFF2-40B4-BE49-F238E27FC236}">
                <a16:creationId xmlns:a16="http://schemas.microsoft.com/office/drawing/2014/main" id="{03EF2239-1C61-44A0-9D9F-75D507804C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56" y="2314357"/>
            <a:ext cx="321269" cy="321269"/>
          </a:xfrm>
          <a:prstGeom prst="rect">
            <a:avLst/>
          </a:prstGeom>
        </p:spPr>
      </p:pic>
      <p:pic>
        <p:nvPicPr>
          <p:cNvPr id="23" name="Graphic 22" descr="Checkmark with solid fill">
            <a:extLst>
              <a:ext uri="{FF2B5EF4-FFF2-40B4-BE49-F238E27FC236}">
                <a16:creationId xmlns:a16="http://schemas.microsoft.com/office/drawing/2014/main" id="{83297B25-AD64-428B-B685-C9827D95A2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6336" y="1605151"/>
            <a:ext cx="321269" cy="321269"/>
          </a:xfrm>
          <a:prstGeom prst="rect">
            <a:avLst/>
          </a:prstGeom>
        </p:spPr>
      </p:pic>
      <p:pic>
        <p:nvPicPr>
          <p:cNvPr id="28" name="Graphic 27" descr="Checkmark with solid fill">
            <a:extLst>
              <a:ext uri="{FF2B5EF4-FFF2-40B4-BE49-F238E27FC236}">
                <a16:creationId xmlns:a16="http://schemas.microsoft.com/office/drawing/2014/main" id="{6B70995C-112A-4D18-9232-6F35A6968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7148" y="2339071"/>
            <a:ext cx="321269" cy="321269"/>
          </a:xfrm>
          <a:prstGeom prst="rect">
            <a:avLst/>
          </a:prstGeom>
        </p:spPr>
      </p:pic>
      <p:pic>
        <p:nvPicPr>
          <p:cNvPr id="29" name="Graphic 28" descr="Checkmark with solid fill">
            <a:extLst>
              <a:ext uri="{FF2B5EF4-FFF2-40B4-BE49-F238E27FC236}">
                <a16:creationId xmlns:a16="http://schemas.microsoft.com/office/drawing/2014/main" id="{76E41E81-1449-4CD5-B56A-902F8EE1BB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9155" y="2890983"/>
            <a:ext cx="321269" cy="32126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F8DC2CC-D442-45D0-951B-A297879CE677}"/>
              </a:ext>
            </a:extLst>
          </p:cNvPr>
          <p:cNvSpPr txBox="1"/>
          <p:nvPr/>
        </p:nvSpPr>
        <p:spPr>
          <a:xfrm>
            <a:off x="112911" y="4441560"/>
            <a:ext cx="6287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*Beta program to last 4-6 months</a:t>
            </a:r>
          </a:p>
        </p:txBody>
      </p:sp>
    </p:spTree>
    <p:extLst>
      <p:ext uri="{BB962C8B-B14F-4D97-AF65-F5344CB8AC3E}">
        <p14:creationId xmlns:p14="http://schemas.microsoft.com/office/powerpoint/2010/main" val="1838513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90300" y="1056618"/>
            <a:ext cx="2832297" cy="1009734"/>
          </a:xfrm>
        </p:spPr>
        <p:txBody>
          <a:bodyPr/>
          <a:lstStyle/>
          <a:p>
            <a:r>
              <a:rPr lang="en-US" dirty="0"/>
              <a:t>Target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351" y="1561485"/>
            <a:ext cx="47583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SME clients in the growth stage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Accounting software – QuickBooks and Sage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5-50 employees; $250k - $1M annual revenue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Retail, manufacturing, service industries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Community minded &amp; potential advocates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Any suggestions?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5E568-69B6-4CDB-9335-3C0266DFA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90" y="4100184"/>
            <a:ext cx="8884357" cy="72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90300" y="1056618"/>
            <a:ext cx="2832297" cy="1009734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351" y="1267386"/>
            <a:ext cx="4758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  <a:hlinkClick r:id="rId3"/>
              </a:rPr>
              <a:t>Link</a:t>
            </a:r>
            <a:endParaRPr lang="en-US" sz="1400" dirty="0">
              <a:solidFill>
                <a:schemeClr val="tx1">
                  <a:lumMod val="75000"/>
                </a:schemeClr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5E568-69B6-4CDB-9335-3C0266DFA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90" y="4100184"/>
            <a:ext cx="8884357" cy="72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6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90300" y="1056618"/>
            <a:ext cx="2832297" cy="1009734"/>
          </a:xfrm>
        </p:spPr>
        <p:txBody>
          <a:bodyPr/>
          <a:lstStyle/>
          <a:p>
            <a:r>
              <a:rPr lang="en-US" dirty="0"/>
              <a:t>Calls to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351" y="1267386"/>
            <a:ext cx="475834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Step 1: Recruitment (You)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Advocacy and champions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Review one page cheat sheet and client list.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Start to contact clients in the next 2-3 weeks to gauge interest and ask for their commitment to participate. The more clients the better.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Provide client information to Edmund and Vivian who are interested</a:t>
            </a:r>
          </a:p>
          <a:p>
            <a:pPr>
              <a:defRPr/>
            </a:pPr>
            <a:endParaRPr lang="en-US" sz="1400" dirty="0">
              <a:solidFill>
                <a:schemeClr val="tx1">
                  <a:lumMod val="75000"/>
                </a:schemeClr>
              </a:solidFill>
              <a:latin typeface="Calibri" panose="020F0502020204030204"/>
            </a:endParaRPr>
          </a:p>
          <a:p>
            <a:pPr>
              <a:defRPr/>
            </a:pPr>
            <a:r>
              <a:rPr lang="en-US" sz="1400" b="1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Step 2: Refinement &amp; Scheduling (Edmund/Vivian)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Survey will be sent out to clients to confirm criteria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latin typeface="Calibri" panose="020F0502020204030204"/>
              </a:rPr>
              <a:t>Edmund and Vivian to schedule clients and send instructions for next steps.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5E568-69B6-4CDB-9335-3C0266DFA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90" y="4100184"/>
            <a:ext cx="8884357" cy="72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53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6603" y="2524725"/>
            <a:ext cx="107736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October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036322" y="2500351"/>
            <a:ext cx="85888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October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CBEC87-E376-694A-8FEA-7801E576E5E8}"/>
              </a:ext>
            </a:extLst>
          </p:cNvPr>
          <p:cNvSpPr/>
          <p:nvPr/>
        </p:nvSpPr>
        <p:spPr>
          <a:xfrm>
            <a:off x="6377468" y="2509336"/>
            <a:ext cx="107106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November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07146" y="-312722"/>
            <a:ext cx="13404713" cy="60330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450251" y="1970727"/>
            <a:ext cx="96613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47079483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1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5AB7B2"/>
      </a:accent3>
      <a:accent4>
        <a:srgbClr val="FFC843"/>
      </a:accent4>
      <a:accent5>
        <a:srgbClr val="A9ACA0"/>
      </a:accent5>
      <a:accent6>
        <a:srgbClr val="356195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_Financial-Group_Powerpoint_Template" id="{29D1B330-E363-4A38-9DD3-A1E921D7AF7C}" vid="{93FFF06B-2417-4AF9-8A85-8B8FBAE02551}"/>
    </a:ext>
  </a:extLst>
</a:theme>
</file>

<file path=ppt/theme/theme2.xml><?xml version="1.0" encoding="utf-8"?>
<a:theme xmlns:a="http://schemas.openxmlformats.org/drawingml/2006/main" name="1 Primary Gold - Section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_Financial-Group_Powerpoint_Template" id="{29D1B330-E363-4A38-9DD3-A1E921D7AF7C}" vid="{FCB71D34-B40E-4BD5-95F0-E340831F2DEC}"/>
    </a:ext>
  </a:extLst>
</a:theme>
</file>

<file path=ppt/theme/theme3.xml><?xml version="1.0" encoding="utf-8"?>
<a:theme xmlns:a="http://schemas.openxmlformats.org/drawingml/2006/main" name="1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_Financial-Group_Powerpoint_Template" id="{29D1B330-E363-4A38-9DD3-A1E921D7AF7C}" vid="{C4252A9B-4604-4ADC-8A5A-AE66809FB9B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9C36F51E-930A-46E9-8281-F459F5BB4F4D}"/>
</file>

<file path=customXml/itemProps2.xml><?xml version="1.0" encoding="utf-8"?>
<ds:datastoreItem xmlns:ds="http://schemas.openxmlformats.org/officeDocument/2006/customXml" ds:itemID="{2CD7159A-59FC-4B39-B031-46EA0C92A8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1B1B4A-5D88-461A-B8FC-2654BD37C2A8}">
  <ds:schemaRefs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sharepoint/v4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CWBFG Presentation 16x9</Template>
  <TotalTime>9951</TotalTime>
  <Words>671</Words>
  <Application>Microsoft Office PowerPoint</Application>
  <PresentationFormat>On-screen Show (16:9)</PresentationFormat>
  <Paragraphs>101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Frutiger LT Std 57 Cn</vt:lpstr>
      <vt:lpstr>Wingdings</vt:lpstr>
      <vt:lpstr>Title Slide Option 1</vt:lpstr>
      <vt:lpstr>1 Primary Gold - Section Content</vt:lpstr>
      <vt:lpstr>1 Primary Gold -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Wasnea</dc:creator>
  <cp:lastModifiedBy>Lovelyn Odeh</cp:lastModifiedBy>
  <cp:revision>295</cp:revision>
  <cp:lastPrinted>2020-10-26T20:41:36Z</cp:lastPrinted>
  <dcterms:created xsi:type="dcterms:W3CDTF">2019-06-20T19:18:59Z</dcterms:created>
  <dcterms:modified xsi:type="dcterms:W3CDTF">2021-11-12T20:56:44Z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MediaServiceImageTags">
    <vt:lpwstr/>
  </property>
  <property fmtid="{D5CDD505-2E9C-101B-9397-08002B2CF9AE}" pid="4" name="URL">
    <vt:lpwstr/>
  </property>
</Properties>
</file>