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800" r:id="rId5"/>
    <p:sldMasterId id="2147483921" r:id="rId6"/>
  </p:sldMasterIdLst>
  <p:notesMasterIdLst>
    <p:notesMasterId r:id="rId14"/>
  </p:notesMasterIdLst>
  <p:handoutMasterIdLst>
    <p:handoutMasterId r:id="rId15"/>
  </p:handoutMasterIdLst>
  <p:sldIdLst>
    <p:sldId id="256" r:id="rId7"/>
    <p:sldId id="409" r:id="rId8"/>
    <p:sldId id="398" r:id="rId9"/>
    <p:sldId id="399" r:id="rId10"/>
    <p:sldId id="429" r:id="rId11"/>
    <p:sldId id="430" r:id="rId12"/>
    <p:sldId id="428" r:id="rId13"/>
  </p:sldIdLst>
  <p:sldSz cx="9144000" cy="5143500" type="screen16x9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uen Newbrook" initials="YN" lastIdx="3" clrIdx="0">
    <p:extLst>
      <p:ext uri="{19B8F6BF-5375-455C-9EA6-DF929625EA0E}">
        <p15:presenceInfo xmlns:p15="http://schemas.microsoft.com/office/powerpoint/2012/main" userId="S::ynewbrook@central1.com::09f9323b-fd08-43e7-8701-2d6489e9955c" providerId="AD"/>
      </p:ext>
    </p:extLst>
  </p:cmAuthor>
  <p:cmAuthor id="2" name="Jennifer Forewell" initials="JF" lastIdx="2" clrIdx="1">
    <p:extLst>
      <p:ext uri="{19B8F6BF-5375-455C-9EA6-DF929625EA0E}">
        <p15:presenceInfo xmlns:p15="http://schemas.microsoft.com/office/powerpoint/2012/main" userId="S::jforewell@central1.com::232a18af-9d3d-4c5d-892e-459ab0577acc" providerId="AD"/>
      </p:ext>
    </p:extLst>
  </p:cmAuthor>
  <p:cmAuthor id="3" name="Aaron Tom" initials="AT" lastIdx="2" clrIdx="2">
    <p:extLst>
      <p:ext uri="{19B8F6BF-5375-455C-9EA6-DF929625EA0E}">
        <p15:presenceInfo xmlns:p15="http://schemas.microsoft.com/office/powerpoint/2012/main" userId="S::atom@central1.com::7e1053df-4f71-4441-9c0c-d3d5a054419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7777"/>
    <a:srgbClr val="838383"/>
    <a:srgbClr val="060606"/>
    <a:srgbClr val="BAC5B9"/>
    <a:srgbClr val="A9ACA0"/>
    <a:srgbClr val="2DCCD3"/>
    <a:srgbClr val="0097A9"/>
    <a:srgbClr val="FF8200"/>
    <a:srgbClr val="003B5C"/>
    <a:srgbClr val="8475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37" autoAdjust="0"/>
    <p:restoredTop sz="97267" autoAdjust="0"/>
  </p:normalViewPr>
  <p:slideViewPr>
    <p:cSldViewPr snapToGrid="0">
      <p:cViewPr varScale="1">
        <p:scale>
          <a:sx n="133" d="100"/>
          <a:sy n="133" d="100"/>
        </p:scale>
        <p:origin x="144" y="492"/>
      </p:cViewPr>
      <p:guideLst>
        <p:guide orient="horz" pos="1620"/>
        <p:guide pos="287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2892" y="10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F320C92-5B60-47CE-AF8E-33393E468A4F}" type="datetimeFigureOut">
              <a:rPr lang="en-CA" smtClean="0"/>
              <a:t>11/28/2022</a:t>
            </a:fld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D932885D-FA4E-45F3-9C34-9BE667995CEE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42965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F9F78-B7FC-4D34-B5E9-CFFF0660210F}" type="datetimeFigureOut">
              <a:rPr lang="en-CA" smtClean="0"/>
              <a:t>11/28/2022</a:t>
            </a:fld>
            <a:endParaRPr lang="en-C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EB8C7-5EFC-4FA9-BA9E-FFC3022A465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4102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1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44227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1127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2616" y="4209352"/>
            <a:ext cx="5617870" cy="4188171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47878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2616" y="4209352"/>
            <a:ext cx="5617870" cy="4188171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37698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2616" y="4209352"/>
            <a:ext cx="5617870" cy="4188171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6509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7826" y="2851689"/>
            <a:ext cx="6362700" cy="39808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CA" dirty="0"/>
              <a:t>Additional text…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377826" y="2239233"/>
            <a:ext cx="8331201" cy="4571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dirty="0"/>
              <a:t>Subtitle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377826" y="1492530"/>
            <a:ext cx="8350249" cy="5286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5800"/>
              </a:lnSpc>
              <a:spcBef>
                <a:spcPts val="0"/>
              </a:spcBef>
              <a:buNone/>
              <a:defRPr sz="48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90286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3338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6695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119194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endParaRPr lang="en-CA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83015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 </a:t>
            </a:r>
            <a:r>
              <a:rPr lang="en-US" dirty="0" err="1"/>
              <a:t>magnihilibus</a:t>
            </a:r>
            <a:r>
              <a:rPr lang="en-US" dirty="0"/>
              <a:t> </a:t>
            </a:r>
            <a:r>
              <a:rPr lang="en-US" dirty="0" err="1"/>
              <a:t>cusiccs</a:t>
            </a:r>
            <a:r>
              <a:rPr lang="en-US" dirty="0"/>
              <a:t> </a:t>
            </a:r>
            <a:r>
              <a:rPr lang="en-US" dirty="0" err="1"/>
              <a:t>eatumse</a:t>
            </a:r>
            <a:r>
              <a:rPr lang="en-US" dirty="0"/>
              <a:t> </a:t>
            </a:r>
            <a:r>
              <a:rPr lang="en-US" dirty="0" err="1"/>
              <a:t>luptaquie</a:t>
            </a:r>
            <a:r>
              <a:rPr lang="en-US" dirty="0"/>
              <a:t> </a:t>
            </a:r>
            <a:r>
              <a:rPr lang="en-US" dirty="0" err="1"/>
              <a:t>dolum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6482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.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499952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1948676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645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192497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endParaRPr lang="en-CA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872823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 </a:t>
            </a:r>
            <a:r>
              <a:rPr lang="en-US" dirty="0" err="1"/>
              <a:t>magnihilibus</a:t>
            </a:r>
            <a:r>
              <a:rPr lang="en-US" dirty="0"/>
              <a:t> </a:t>
            </a:r>
            <a:r>
              <a:rPr lang="en-US" dirty="0" err="1"/>
              <a:t>cusiccs</a:t>
            </a:r>
            <a:r>
              <a:rPr lang="en-US" dirty="0"/>
              <a:t> </a:t>
            </a:r>
            <a:r>
              <a:rPr lang="en-US" dirty="0" err="1"/>
              <a:t>eatumse</a:t>
            </a:r>
            <a:r>
              <a:rPr lang="en-US" dirty="0"/>
              <a:t> </a:t>
            </a:r>
            <a:r>
              <a:rPr lang="en-US" dirty="0" err="1"/>
              <a:t>luptaquie</a:t>
            </a:r>
            <a:r>
              <a:rPr lang="en-US" dirty="0"/>
              <a:t> </a:t>
            </a:r>
            <a:r>
              <a:rPr lang="en-US" dirty="0" err="1"/>
              <a:t>dolum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r>
              <a:rPr lang="en-US" dirty="0"/>
              <a:t> </a:t>
            </a:r>
            <a:r>
              <a:rPr lang="en-US" dirty="0" err="1"/>
              <a:t>ntotas</a:t>
            </a:r>
            <a:r>
              <a:rPr lang="en-US" dirty="0"/>
              <a:t> se </a:t>
            </a:r>
            <a:r>
              <a:rPr lang="en-US" dirty="0" err="1"/>
              <a:t>volum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36184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Body placeholder text goes here.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 </a:t>
            </a:r>
            <a:r>
              <a:rPr lang="en-US" dirty="0" err="1"/>
              <a:t>cid</a:t>
            </a:r>
            <a:r>
              <a:rPr lang="en-US" dirty="0"/>
              <a:t> et </a:t>
            </a:r>
            <a:r>
              <a:rPr lang="en-US" dirty="0" err="1"/>
              <a:t>poreupudam</a:t>
            </a:r>
            <a:r>
              <a:rPr lang="en-US" dirty="0"/>
              <a:t> </a:t>
            </a:r>
            <a:r>
              <a:rPr lang="en-US" dirty="0" err="1"/>
              <a:t>unti</a:t>
            </a:r>
            <a:r>
              <a:rPr lang="en-US" dirty="0"/>
              <a:t>, </a:t>
            </a:r>
            <a:r>
              <a:rPr lang="en-US" dirty="0" err="1"/>
              <a:t>uptodemsd</a:t>
            </a:r>
            <a:r>
              <a:rPr lang="en-US" dirty="0"/>
              <a:t> </a:t>
            </a:r>
            <a:r>
              <a:rPr lang="en-US" dirty="0" err="1"/>
              <a:t>blacsccsuam</a:t>
            </a:r>
            <a:r>
              <a:rPr lang="en-US" dirty="0"/>
              <a:t> </a:t>
            </a:r>
            <a:r>
              <a:rPr lang="en-US" dirty="0" err="1"/>
              <a:t>reprio</a:t>
            </a:r>
            <a:r>
              <a:rPr lang="en-US" dirty="0"/>
              <a:t> </a:t>
            </a:r>
            <a:r>
              <a:rPr lang="en-US" dirty="0" err="1"/>
              <a:t>endes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prem</a:t>
            </a:r>
            <a:r>
              <a:rPr lang="en-US" dirty="0"/>
              <a:t> </a:t>
            </a:r>
            <a:r>
              <a:rPr lang="en-US" dirty="0" err="1"/>
              <a:t>aditas</a:t>
            </a:r>
            <a:r>
              <a:rPr lang="en-US" dirty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.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veliatuint</a:t>
            </a:r>
            <a:r>
              <a:rPr lang="en-US" dirty="0"/>
              <a:t> </a:t>
            </a:r>
            <a:r>
              <a:rPr lang="en-US" dirty="0" err="1"/>
              <a:t>fuga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tiuntem</a:t>
            </a:r>
            <a:r>
              <a:rPr lang="en-US" dirty="0"/>
              <a:t> </a:t>
            </a:r>
            <a:r>
              <a:rPr lang="en-US" dirty="0" err="1"/>
              <a:t>inulparum</a:t>
            </a:r>
            <a:r>
              <a:rPr lang="en-US" dirty="0"/>
              <a:t> et </a:t>
            </a:r>
            <a:r>
              <a:rPr lang="en-US" dirty="0" err="1"/>
              <a:t>fugioto</a:t>
            </a:r>
            <a:r>
              <a:rPr lang="en-US" dirty="0"/>
              <a:t> </a:t>
            </a:r>
            <a:r>
              <a:rPr lang="en-US" dirty="0" err="1"/>
              <a:t>cusa</a:t>
            </a:r>
            <a:r>
              <a:rPr lang="en-US" dirty="0"/>
              <a:t> net </a:t>
            </a:r>
            <a:r>
              <a:rPr lang="en-US" dirty="0" err="1"/>
              <a:t>aut</a:t>
            </a:r>
            <a:r>
              <a:rPr lang="en-US" dirty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Aperchil</a:t>
            </a:r>
            <a:r>
              <a:rPr lang="en-US" dirty="0"/>
              <a:t> </a:t>
            </a:r>
            <a:r>
              <a:rPr lang="en-US" dirty="0" err="1"/>
              <a:t>inus</a:t>
            </a:r>
            <a:r>
              <a:rPr lang="en-US" dirty="0"/>
              <a:t>, </a:t>
            </a:r>
            <a:r>
              <a:rPr lang="en-US" dirty="0" err="1"/>
              <a:t>ullabo</a:t>
            </a:r>
            <a:r>
              <a:rPr lang="en-US" dirty="0"/>
              <a:t>. </a:t>
            </a:r>
            <a:r>
              <a:rPr lang="en-US" dirty="0" err="1"/>
              <a:t>Otat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Bissecto</a:t>
            </a:r>
            <a:r>
              <a:rPr lang="en-US" dirty="0"/>
              <a:t> </a:t>
            </a:r>
            <a:r>
              <a:rPr lang="en-US" dirty="0" err="1"/>
              <a:t>occust</a:t>
            </a:r>
            <a:r>
              <a:rPr lang="en-US" dirty="0"/>
              <a:t>, to </a:t>
            </a:r>
            <a:r>
              <a:rPr lang="en-US" dirty="0" err="1"/>
              <a:t>dolupta</a:t>
            </a:r>
            <a:r>
              <a:rPr lang="en-US" dirty="0"/>
              <a:t> turbos </a:t>
            </a:r>
            <a:r>
              <a:rPr lang="en-US" dirty="0" err="1"/>
              <a:t>consequidi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dolesequam</a:t>
            </a:r>
            <a:r>
              <a:rPr lang="en-US" dirty="0"/>
              <a:t> </a:t>
            </a:r>
            <a:r>
              <a:rPr lang="en-US" dirty="0" err="1"/>
              <a:t>commole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Evelegndigim</a:t>
            </a:r>
            <a:r>
              <a:rPr lang="en-US" dirty="0"/>
              <a:t> qui </a:t>
            </a:r>
            <a:r>
              <a:rPr lang="en-US" dirty="0" err="1"/>
              <a:t>ommodiao</a:t>
            </a:r>
            <a:r>
              <a:rPr lang="en-US" dirty="0"/>
              <a:t> </a:t>
            </a:r>
            <a:r>
              <a:rPr lang="en-US" dirty="0" err="1"/>
              <a:t>exceaswum</a:t>
            </a:r>
            <a:r>
              <a:rPr lang="en-US" dirty="0"/>
              <a:t> </a:t>
            </a:r>
            <a:r>
              <a:rPr lang="en-US" dirty="0" err="1"/>
              <a:t>enus</a:t>
            </a:r>
            <a:r>
              <a:rPr lang="en-US" dirty="0"/>
              <a:t> as </a:t>
            </a:r>
            <a:r>
              <a:rPr lang="en-US" dirty="0" err="1"/>
              <a:t>deerro</a:t>
            </a:r>
            <a:r>
              <a:rPr lang="en-US" dirty="0"/>
              <a:t> </a:t>
            </a:r>
            <a:r>
              <a:rPr lang="en-US" dirty="0" err="1"/>
              <a:t>consedi</a:t>
            </a:r>
            <a:r>
              <a:rPr lang="en-US" dirty="0"/>
              <a:t> </a:t>
            </a:r>
            <a:r>
              <a:rPr lang="en-US" dirty="0" err="1"/>
              <a:t>rerum</a:t>
            </a:r>
            <a:r>
              <a:rPr lang="en-US" dirty="0"/>
              <a:t> et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qui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et </a:t>
            </a:r>
            <a:r>
              <a:rPr lang="en-US" dirty="0" err="1"/>
              <a:t>secsaill</a:t>
            </a:r>
            <a:r>
              <a:rPr lang="en-US" dirty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19968306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2643196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slideLayout" Target="../slideLayouts/slideLayout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1476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853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Frutiger LT Std 57 Cn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2809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272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2809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027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2" r:id="rId1"/>
    <p:sldLayoutId id="2147483923" r:id="rId2"/>
    <p:sldLayoutId id="2147483924" r:id="rId3"/>
    <p:sldLayoutId id="2147483925" r:id="rId4"/>
    <p:sldLayoutId id="2147483926" r:id="rId5"/>
    <p:sldLayoutId id="2147483927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77826" y="3122333"/>
            <a:ext cx="6362700" cy="398089"/>
          </a:xfrm>
        </p:spPr>
        <p:txBody>
          <a:bodyPr/>
          <a:lstStyle/>
          <a:p>
            <a:r>
              <a:rPr lang="en-CA" dirty="0"/>
              <a:t>Nov 28, 2022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85709" y="1492530"/>
            <a:ext cx="8350249" cy="528638"/>
          </a:xfrm>
        </p:spPr>
        <p:txBody>
          <a:bodyPr/>
          <a:lstStyle/>
          <a:p>
            <a:r>
              <a:rPr lang="en-US" sz="4000" dirty="0"/>
              <a:t>VCOO/Hotfix 1 Readiness</a:t>
            </a:r>
          </a:p>
          <a:p>
            <a:r>
              <a:rPr lang="en-US" sz="4000" dirty="0"/>
              <a:t>Go/No-Go</a:t>
            </a:r>
            <a:endParaRPr lang="en-CA" sz="4000" spc="-100" dirty="0"/>
          </a:p>
        </p:txBody>
      </p:sp>
    </p:spTree>
    <p:extLst>
      <p:ext uri="{BB962C8B-B14F-4D97-AF65-F5344CB8AC3E}">
        <p14:creationId xmlns:p14="http://schemas.microsoft.com/office/powerpoint/2010/main" val="2676011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06399" y="284830"/>
            <a:ext cx="8280401" cy="397483"/>
          </a:xfrm>
        </p:spPr>
        <p:txBody>
          <a:bodyPr/>
          <a:lstStyle/>
          <a:p>
            <a:r>
              <a:rPr lang="en-US" dirty="0"/>
              <a:t>Agenda</a:t>
            </a:r>
            <a:endParaRPr lang="en-US" i="1" dirty="0">
              <a:solidFill>
                <a:srgbClr val="003B5C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406399" y="1067913"/>
            <a:ext cx="8280400" cy="2743200"/>
          </a:xfrm>
        </p:spPr>
        <p:txBody>
          <a:bodyPr/>
          <a:lstStyle/>
          <a:p>
            <a:r>
              <a:rPr lang="en-US" b="1" dirty="0">
                <a:solidFill>
                  <a:srgbClr val="0097A9"/>
                </a:solidFill>
              </a:rPr>
              <a:t>Technical Readiness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Temenos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Party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Mobile Apps</a:t>
            </a:r>
          </a:p>
          <a:p>
            <a:endParaRPr lang="en-US" b="1" dirty="0">
              <a:solidFill>
                <a:srgbClr val="0097A9"/>
              </a:solidFill>
            </a:endParaRPr>
          </a:p>
          <a:p>
            <a:r>
              <a:rPr lang="en-US" b="1" dirty="0">
                <a:solidFill>
                  <a:srgbClr val="0097A9"/>
                </a:solidFill>
              </a:rPr>
              <a:t>Business Readiness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Testing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Organizational Change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Support</a:t>
            </a:r>
            <a:endParaRPr lang="en-CA" dirty="0"/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284056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534319" y="1558298"/>
            <a:ext cx="2520000" cy="1800000"/>
          </a:xfrm>
          <a:prstGeom prst="roundRect">
            <a:avLst>
              <a:gd name="adj" fmla="val 5060"/>
            </a:avLst>
          </a:prstGeom>
          <a:solidFill>
            <a:schemeClr val="bg1"/>
          </a:solidFill>
          <a:ln w="952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Technical</a:t>
            </a:r>
            <a:r>
              <a:rPr lang="en-US" dirty="0"/>
              <a:t> Readiness</a:t>
            </a:r>
            <a:endParaRPr lang="en-CA" dirty="0"/>
          </a:p>
        </p:txBody>
      </p:sp>
      <p:sp>
        <p:nvSpPr>
          <p:cNvPr id="6" name="Rectangle 5"/>
          <p:cNvSpPr/>
          <p:nvPr/>
        </p:nvSpPr>
        <p:spPr>
          <a:xfrm>
            <a:off x="833586" y="1339469"/>
            <a:ext cx="1938060" cy="3404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Temenos</a:t>
            </a:r>
            <a:endParaRPr lang="en-CA" b="1" dirty="0"/>
          </a:p>
        </p:txBody>
      </p:sp>
      <p:sp>
        <p:nvSpPr>
          <p:cNvPr id="8" name="Rounded Rectangle 7"/>
          <p:cNvSpPr/>
          <p:nvPr/>
        </p:nvSpPr>
        <p:spPr>
          <a:xfrm>
            <a:off x="534319" y="3474603"/>
            <a:ext cx="2520000" cy="1171288"/>
          </a:xfrm>
          <a:prstGeom prst="roundRect">
            <a:avLst>
              <a:gd name="adj" fmla="val 8031"/>
            </a:avLst>
          </a:prstGeom>
          <a:solidFill>
            <a:schemeClr val="bg1"/>
          </a:solidFill>
          <a:ln w="952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/>
          <p:cNvSpPr txBox="1"/>
          <p:nvPr/>
        </p:nvSpPr>
        <p:spPr>
          <a:xfrm>
            <a:off x="534319" y="1818398"/>
            <a:ext cx="2520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accent6"/>
              </a:buClr>
              <a:buSzPct val="100000"/>
              <a:buFont typeface="Calibri" panose="020F0502020204030204" pitchFamily="34" charset="0"/>
              <a:buChar char="!"/>
            </a:pPr>
            <a:r>
              <a:rPr lang="en-US" sz="1000" dirty="0"/>
              <a:t>VCOO/Infinity Prod Build*</a:t>
            </a:r>
            <a:endParaRPr lang="en-US" sz="1000" dirty="0">
              <a:solidFill>
                <a:srgbClr val="FF0000"/>
              </a:solidFill>
            </a:endParaRPr>
          </a:p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endParaRPr lang="en-US" sz="1000" dirty="0"/>
          </a:p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/>
              <a:t>T24 deployment planned</a:t>
            </a:r>
          </a:p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endParaRPr lang="en-US" sz="1000" dirty="0"/>
          </a:p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/>
              <a:t>R1.1 Data Migration Readiness</a:t>
            </a:r>
            <a:endParaRPr lang="en-US" sz="1000" dirty="0">
              <a:solidFill>
                <a:srgbClr val="FF0000"/>
              </a:solidFill>
            </a:endParaRPr>
          </a:p>
          <a:p>
            <a:pPr marL="171450" indent="-171450">
              <a:buClr>
                <a:schemeClr val="accent6"/>
              </a:buClr>
              <a:buSzPct val="100000"/>
              <a:buFont typeface="Calibri" panose="020F0502020204030204" pitchFamily="34" charset="0"/>
              <a:buChar char="!"/>
            </a:pPr>
            <a:endParaRPr lang="en-US" sz="1000" dirty="0">
              <a:solidFill>
                <a:srgbClr val="FF0000"/>
              </a:solidFill>
            </a:endParaRPr>
          </a:p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/>
              <a:t>Disaster Recovery for Prod </a:t>
            </a:r>
            <a:endParaRPr lang="en-US" sz="1000" dirty="0">
              <a:solidFill>
                <a:srgbClr val="FF0000"/>
              </a:solidFill>
            </a:endParaRPr>
          </a:p>
          <a:p>
            <a:pPr>
              <a:buSzPct val="100000"/>
            </a:pPr>
            <a:endParaRPr lang="en-US" sz="1000" dirty="0"/>
          </a:p>
        </p:txBody>
      </p:sp>
      <p:sp>
        <p:nvSpPr>
          <p:cNvPr id="10" name="TextBox 9"/>
          <p:cNvSpPr txBox="1"/>
          <p:nvPr/>
        </p:nvSpPr>
        <p:spPr>
          <a:xfrm>
            <a:off x="578732" y="3591899"/>
            <a:ext cx="247558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* Remaining required Critical and High defects.</a:t>
            </a:r>
            <a:br>
              <a:rPr lang="en-US" sz="800" dirty="0"/>
            </a:br>
            <a:br>
              <a:rPr lang="en-US" sz="800" dirty="0"/>
            </a:br>
            <a:endParaRPr lang="en-US" sz="900" dirty="0"/>
          </a:p>
        </p:txBody>
      </p:sp>
      <p:sp>
        <p:nvSpPr>
          <p:cNvPr id="25" name="Rounded Rectangle 24"/>
          <p:cNvSpPr/>
          <p:nvPr/>
        </p:nvSpPr>
        <p:spPr>
          <a:xfrm>
            <a:off x="3223372" y="1558297"/>
            <a:ext cx="2520000" cy="1800001"/>
          </a:xfrm>
          <a:prstGeom prst="roundRect">
            <a:avLst>
              <a:gd name="adj" fmla="val 5060"/>
            </a:avLst>
          </a:prstGeom>
          <a:solidFill>
            <a:schemeClr val="bg1"/>
          </a:solidFill>
          <a:ln w="952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6" name="Rectangle 25"/>
          <p:cNvSpPr/>
          <p:nvPr/>
        </p:nvSpPr>
        <p:spPr>
          <a:xfrm>
            <a:off x="3494384" y="1339469"/>
            <a:ext cx="1938060" cy="3404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CWB/3</a:t>
            </a:r>
            <a:r>
              <a:rPr lang="en-US" b="1" baseline="30000" dirty="0"/>
              <a:t>rd</a:t>
            </a:r>
            <a:r>
              <a:rPr lang="en-US" b="1" dirty="0"/>
              <a:t> Party</a:t>
            </a:r>
            <a:endParaRPr lang="en-CA" b="1" dirty="0"/>
          </a:p>
        </p:txBody>
      </p:sp>
      <p:sp>
        <p:nvSpPr>
          <p:cNvPr id="27" name="Rounded Rectangle 26"/>
          <p:cNvSpPr/>
          <p:nvPr/>
        </p:nvSpPr>
        <p:spPr>
          <a:xfrm>
            <a:off x="3219481" y="3470306"/>
            <a:ext cx="2603708" cy="1188662"/>
          </a:xfrm>
          <a:prstGeom prst="roundRect">
            <a:avLst>
              <a:gd name="adj" fmla="val 8031"/>
            </a:avLst>
          </a:prstGeom>
          <a:solidFill>
            <a:schemeClr val="bg1"/>
          </a:solidFill>
          <a:ln w="952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77777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219481" y="1652907"/>
            <a:ext cx="252516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/>
              <a:t>Deployment plan/resources verified</a:t>
            </a:r>
          </a:p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/>
              <a:t>Production env/connectivity verified</a:t>
            </a:r>
          </a:p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/>
              <a:t>Production Deployment readiness:</a:t>
            </a:r>
          </a:p>
          <a:p>
            <a:pPr marL="628650" lvl="1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800" dirty="0"/>
              <a:t>Celero (</a:t>
            </a:r>
            <a:r>
              <a:rPr lang="en-US" sz="800" dirty="0" err="1"/>
              <a:t>Doxim</a:t>
            </a:r>
            <a:r>
              <a:rPr lang="en-US" sz="800" dirty="0"/>
              <a:t>)</a:t>
            </a:r>
          </a:p>
          <a:p>
            <a:pPr marL="628650" lvl="1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800" dirty="0"/>
              <a:t>C1</a:t>
            </a:r>
          </a:p>
          <a:p>
            <a:pPr marL="628650" lvl="1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800" dirty="0"/>
              <a:t>OKTA</a:t>
            </a:r>
          </a:p>
          <a:p>
            <a:pPr marL="628650" lvl="1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800" dirty="0"/>
              <a:t>Cloudflare</a:t>
            </a:r>
          </a:p>
          <a:p>
            <a:pPr marL="628650" lvl="1" indent="-171450">
              <a:buClr>
                <a:schemeClr val="accent6">
                  <a:lumMod val="60000"/>
                  <a:lumOff val="40000"/>
                </a:schemeClr>
              </a:buClr>
              <a:buSzPct val="100000"/>
              <a:buFont typeface="Calibri" panose="020F0502020204030204" pitchFamily="34" charset="0"/>
              <a:buChar char="!"/>
            </a:pPr>
            <a:r>
              <a:rPr lang="en-US" sz="800" dirty="0" err="1"/>
              <a:t>Navaera</a:t>
            </a:r>
            <a:r>
              <a:rPr lang="en-US" sz="800" dirty="0"/>
              <a:t>*</a:t>
            </a:r>
          </a:p>
          <a:p>
            <a:pPr marL="628650" lvl="1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800" dirty="0"/>
              <a:t>Twilio</a:t>
            </a:r>
          </a:p>
          <a:p>
            <a:pPr marL="628650" lvl="1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800" dirty="0" err="1"/>
              <a:t>Mulesoft</a:t>
            </a:r>
            <a:endParaRPr lang="en-US" sz="800" dirty="0"/>
          </a:p>
          <a:p>
            <a:pPr marL="628650" lvl="1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800" dirty="0"/>
              <a:t>Helix</a:t>
            </a:r>
          </a:p>
          <a:p>
            <a:pPr marL="628650" lvl="1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800" dirty="0"/>
              <a:t>BRIM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900821" y="1558298"/>
            <a:ext cx="2520000" cy="1800000"/>
          </a:xfrm>
          <a:prstGeom prst="roundRect">
            <a:avLst>
              <a:gd name="adj" fmla="val 5060"/>
            </a:avLst>
          </a:prstGeom>
          <a:solidFill>
            <a:schemeClr val="bg1"/>
          </a:solidFill>
          <a:ln w="952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1" name="Rectangle 30"/>
          <p:cNvSpPr/>
          <p:nvPr/>
        </p:nvSpPr>
        <p:spPr>
          <a:xfrm>
            <a:off x="6171833" y="1320175"/>
            <a:ext cx="1938060" cy="3404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Mobile Apps</a:t>
            </a:r>
            <a:endParaRPr lang="en-CA" b="1" dirty="0"/>
          </a:p>
        </p:txBody>
      </p:sp>
      <p:sp>
        <p:nvSpPr>
          <p:cNvPr id="32" name="Rounded Rectangle 31"/>
          <p:cNvSpPr/>
          <p:nvPr/>
        </p:nvSpPr>
        <p:spPr>
          <a:xfrm>
            <a:off x="5900821" y="3472442"/>
            <a:ext cx="2551204" cy="1169128"/>
          </a:xfrm>
          <a:prstGeom prst="roundRect">
            <a:avLst>
              <a:gd name="adj" fmla="val 8031"/>
            </a:avLst>
          </a:prstGeom>
          <a:solidFill>
            <a:schemeClr val="bg1"/>
          </a:solidFill>
          <a:ln w="952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TextBox 32"/>
          <p:cNvSpPr txBox="1"/>
          <p:nvPr/>
        </p:nvSpPr>
        <p:spPr>
          <a:xfrm>
            <a:off x="5907261" y="1797944"/>
            <a:ext cx="25200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/>
              <a:t>App submission artifacts (Description, Icons, and Videos)</a:t>
            </a:r>
          </a:p>
          <a:p>
            <a:pPr>
              <a:buClr>
                <a:srgbClr val="00B050"/>
              </a:buClr>
              <a:buSzPct val="100000"/>
            </a:pPr>
            <a:endParaRPr lang="en-US" sz="1000" dirty="0"/>
          </a:p>
          <a:p>
            <a:pPr marL="171450" indent="-171450">
              <a:buClr>
                <a:schemeClr val="accent6"/>
              </a:buClr>
              <a:buSzPct val="100000"/>
              <a:buFont typeface="Calibri" panose="020F0502020204030204" pitchFamily="34" charset="0"/>
              <a:buChar char="!"/>
            </a:pPr>
            <a:r>
              <a:rPr lang="en-US" sz="1000" dirty="0"/>
              <a:t>App readiness and submission*</a:t>
            </a:r>
          </a:p>
          <a:p>
            <a:pPr marL="628650" lvl="1" indent="-171450">
              <a:buClr>
                <a:schemeClr val="accent6"/>
              </a:buClr>
              <a:buSzPct val="100000"/>
              <a:buFont typeface="Calibri" panose="020F0502020204030204" pitchFamily="34" charset="0"/>
              <a:buChar char="!"/>
            </a:pPr>
            <a:r>
              <a:rPr lang="en-US" sz="800" dirty="0"/>
              <a:t>Android</a:t>
            </a:r>
            <a:endParaRPr lang="en-US" sz="800" dirty="0">
              <a:solidFill>
                <a:srgbClr val="FF0000"/>
              </a:solidFill>
            </a:endParaRPr>
          </a:p>
          <a:p>
            <a:pPr marL="628650" lvl="1" indent="-171450">
              <a:buClr>
                <a:schemeClr val="accent6"/>
              </a:buClr>
              <a:buSzPct val="100000"/>
              <a:buFont typeface="Calibri" panose="020F0502020204030204" pitchFamily="34" charset="0"/>
              <a:buChar char="!"/>
            </a:pPr>
            <a:r>
              <a:rPr lang="en-US" sz="800" dirty="0"/>
              <a:t>Apple </a:t>
            </a:r>
            <a:endParaRPr lang="en-US" sz="1000" dirty="0"/>
          </a:p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endParaRPr lang="en-US" sz="1000" dirty="0"/>
          </a:p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endParaRPr lang="en-US" sz="1000" dirty="0"/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41" name="Chevron 40"/>
          <p:cNvSpPr/>
          <p:nvPr/>
        </p:nvSpPr>
        <p:spPr>
          <a:xfrm>
            <a:off x="2105070" y="210686"/>
            <a:ext cx="219740" cy="398087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5307" y="112246"/>
            <a:ext cx="1269171" cy="951877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69F90BAC-77E3-400F-B52A-961E2BA285A2}"/>
              </a:ext>
            </a:extLst>
          </p:cNvPr>
          <p:cNvSpPr/>
          <p:nvPr/>
        </p:nvSpPr>
        <p:spPr>
          <a:xfrm rot="16200000">
            <a:off x="-355824" y="2358900"/>
            <a:ext cx="1656085" cy="19879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Completed</a:t>
            </a:r>
            <a:endParaRPr lang="en-CA" sz="1400" b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E23117-B3C3-49E8-A341-60B69EB11BC2}"/>
              </a:ext>
            </a:extLst>
          </p:cNvPr>
          <p:cNvSpPr/>
          <p:nvPr/>
        </p:nvSpPr>
        <p:spPr>
          <a:xfrm rot="16200000">
            <a:off x="544" y="3848620"/>
            <a:ext cx="951151" cy="19879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Remediation</a:t>
            </a:r>
            <a:endParaRPr lang="en-CA" sz="11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DF4D31-DF79-1B47-3347-2FF9F9D63A7D}"/>
              </a:ext>
            </a:extLst>
          </p:cNvPr>
          <p:cNvSpPr txBox="1"/>
          <p:nvPr/>
        </p:nvSpPr>
        <p:spPr>
          <a:xfrm>
            <a:off x="5953337" y="3603675"/>
            <a:ext cx="24739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*Android and Apple submissions pending code finalization for binaries and submission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90D0BA-767E-A866-6F0E-2282D64B9A8A}"/>
              </a:ext>
            </a:extLst>
          </p:cNvPr>
          <p:cNvSpPr txBox="1"/>
          <p:nvPr/>
        </p:nvSpPr>
        <p:spPr>
          <a:xfrm>
            <a:off x="3219480" y="3470306"/>
            <a:ext cx="260370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900" dirty="0"/>
          </a:p>
          <a:p>
            <a:r>
              <a:rPr lang="en-US" sz="800" dirty="0"/>
              <a:t>*</a:t>
            </a:r>
            <a:r>
              <a:rPr lang="en-US" sz="800" dirty="0" err="1"/>
              <a:t>Navaera</a:t>
            </a:r>
            <a:r>
              <a:rPr lang="en-US" sz="800" dirty="0"/>
              <a:t> will deploy on Dec 5 to Prod. Change is independent of Infinity.</a:t>
            </a:r>
            <a:endParaRPr lang="en-CA" sz="800" dirty="0"/>
          </a:p>
        </p:txBody>
      </p:sp>
    </p:spTree>
    <p:extLst>
      <p:ext uri="{BB962C8B-B14F-4D97-AF65-F5344CB8AC3E}">
        <p14:creationId xmlns:p14="http://schemas.microsoft.com/office/powerpoint/2010/main" val="3653559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543120" y="1558298"/>
            <a:ext cx="2511143" cy="1800000"/>
          </a:xfrm>
          <a:prstGeom prst="roundRect">
            <a:avLst>
              <a:gd name="adj" fmla="val 5060"/>
            </a:avLst>
          </a:prstGeom>
          <a:solidFill>
            <a:schemeClr val="bg1"/>
          </a:solidFill>
          <a:ln w="952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Business</a:t>
            </a:r>
            <a:r>
              <a:rPr lang="en-US" dirty="0"/>
              <a:t> Readiness</a:t>
            </a:r>
            <a:endParaRPr lang="en-CA" dirty="0"/>
          </a:p>
        </p:txBody>
      </p:sp>
      <p:sp>
        <p:nvSpPr>
          <p:cNvPr id="6" name="Rectangle 5"/>
          <p:cNvSpPr/>
          <p:nvPr/>
        </p:nvSpPr>
        <p:spPr>
          <a:xfrm>
            <a:off x="814131" y="1339469"/>
            <a:ext cx="1938060" cy="3404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Testing</a:t>
            </a:r>
            <a:endParaRPr lang="en-CA" b="1" dirty="0"/>
          </a:p>
        </p:txBody>
      </p:sp>
      <p:sp>
        <p:nvSpPr>
          <p:cNvPr id="8" name="Rounded Rectangle 7"/>
          <p:cNvSpPr/>
          <p:nvPr/>
        </p:nvSpPr>
        <p:spPr>
          <a:xfrm>
            <a:off x="543120" y="3478286"/>
            <a:ext cx="2511143" cy="1169551"/>
          </a:xfrm>
          <a:prstGeom prst="roundRect">
            <a:avLst>
              <a:gd name="adj" fmla="val 8031"/>
            </a:avLst>
          </a:prstGeom>
          <a:solidFill>
            <a:schemeClr val="bg1"/>
          </a:solidFill>
          <a:ln w="952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9" name="TextBox 8"/>
          <p:cNvSpPr txBox="1"/>
          <p:nvPr/>
        </p:nvSpPr>
        <p:spPr>
          <a:xfrm>
            <a:off x="543120" y="1817238"/>
            <a:ext cx="25083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/>
              <a:t>Regression Testing#</a:t>
            </a:r>
          </a:p>
          <a:p>
            <a:pPr marL="171450" indent="-171450">
              <a:buClr>
                <a:schemeClr val="accent6"/>
              </a:buClr>
              <a:buSzPct val="100000"/>
              <a:buFont typeface="Calibri" panose="020F0502020204030204" pitchFamily="34" charset="0"/>
              <a:buChar char="!"/>
            </a:pPr>
            <a:endParaRPr lang="en-US" sz="1000" dirty="0">
              <a:solidFill>
                <a:srgbClr val="FF0000"/>
              </a:solidFill>
            </a:endParaRPr>
          </a:p>
          <a:p>
            <a:pPr marL="171450" indent="-171450">
              <a:buClr>
                <a:schemeClr val="accent6"/>
              </a:buClr>
              <a:buSzPct val="100000"/>
              <a:buFont typeface="Calibri" panose="020F0502020204030204" pitchFamily="34" charset="0"/>
              <a:buChar char="!"/>
            </a:pPr>
            <a:r>
              <a:rPr lang="en-US" sz="1000" dirty="0"/>
              <a:t>Performance Testing completed+</a:t>
            </a:r>
          </a:p>
          <a:p>
            <a:pPr>
              <a:buClr>
                <a:srgbClr val="00B050"/>
              </a:buClr>
              <a:buSzPct val="100000"/>
            </a:pPr>
            <a:endParaRPr lang="en-US" sz="1000" dirty="0"/>
          </a:p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/>
              <a:t>Business/User Acceptance Testing^</a:t>
            </a:r>
            <a:br>
              <a:rPr lang="en-US" sz="1000" dirty="0"/>
            </a:br>
            <a:endParaRPr lang="en-US" sz="1000" dirty="0"/>
          </a:p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/>
              <a:t>Vulnerability Testing *</a:t>
            </a:r>
          </a:p>
          <a:p>
            <a:pPr>
              <a:buClr>
                <a:srgbClr val="00B050"/>
              </a:buClr>
              <a:buSzPct val="100000"/>
            </a:pPr>
            <a:endParaRPr lang="en-US" sz="1000" dirty="0"/>
          </a:p>
          <a:p>
            <a:endParaRPr lang="en-CA" sz="1000" dirty="0"/>
          </a:p>
        </p:txBody>
      </p:sp>
      <p:sp>
        <p:nvSpPr>
          <p:cNvPr id="25" name="Rounded Rectangle 24"/>
          <p:cNvSpPr/>
          <p:nvPr/>
        </p:nvSpPr>
        <p:spPr>
          <a:xfrm>
            <a:off x="3223373" y="1558298"/>
            <a:ext cx="2511143" cy="1800000"/>
          </a:xfrm>
          <a:prstGeom prst="roundRect">
            <a:avLst>
              <a:gd name="adj" fmla="val 5060"/>
            </a:avLst>
          </a:prstGeom>
          <a:solidFill>
            <a:schemeClr val="bg1"/>
          </a:solidFill>
          <a:ln w="952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6" name="Rectangle 25"/>
          <p:cNvSpPr/>
          <p:nvPr/>
        </p:nvSpPr>
        <p:spPr>
          <a:xfrm>
            <a:off x="3494384" y="1339469"/>
            <a:ext cx="1938060" cy="3404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OCM</a:t>
            </a:r>
            <a:endParaRPr lang="en-CA" b="1" dirty="0"/>
          </a:p>
        </p:txBody>
      </p:sp>
      <p:sp>
        <p:nvSpPr>
          <p:cNvPr id="27" name="Rounded Rectangle 26"/>
          <p:cNvSpPr/>
          <p:nvPr/>
        </p:nvSpPr>
        <p:spPr>
          <a:xfrm>
            <a:off x="3223373" y="3478287"/>
            <a:ext cx="2508339" cy="1169550"/>
          </a:xfrm>
          <a:prstGeom prst="roundRect">
            <a:avLst>
              <a:gd name="adj" fmla="val 8031"/>
            </a:avLst>
          </a:prstGeom>
          <a:solidFill>
            <a:schemeClr val="bg1"/>
          </a:solidFill>
          <a:ln w="952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TextBox 27"/>
          <p:cNvSpPr txBox="1"/>
          <p:nvPr/>
        </p:nvSpPr>
        <p:spPr>
          <a:xfrm>
            <a:off x="3223373" y="1817238"/>
            <a:ext cx="25028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/>
              <a:t>Communications, Internal &amp; External</a:t>
            </a:r>
            <a:endParaRPr lang="en-US" sz="1000" dirty="0">
              <a:solidFill>
                <a:srgbClr val="FF0000"/>
              </a:solidFill>
            </a:endParaRPr>
          </a:p>
          <a:p>
            <a:pPr>
              <a:buClr>
                <a:srgbClr val="00B050"/>
              </a:buClr>
              <a:buSzPct val="100000"/>
            </a:pPr>
            <a:endParaRPr lang="en-US" sz="1000" dirty="0"/>
          </a:p>
          <a:p>
            <a:pPr>
              <a:buSzPct val="100000"/>
            </a:pPr>
            <a:endParaRPr lang="en-US" sz="1000" dirty="0"/>
          </a:p>
          <a:p>
            <a:endParaRPr lang="en-CA" sz="1000" dirty="0"/>
          </a:p>
        </p:txBody>
      </p:sp>
      <p:sp>
        <p:nvSpPr>
          <p:cNvPr id="30" name="Rounded Rectangle 29"/>
          <p:cNvSpPr/>
          <p:nvPr/>
        </p:nvSpPr>
        <p:spPr>
          <a:xfrm>
            <a:off x="5900822" y="1558298"/>
            <a:ext cx="2511143" cy="1800000"/>
          </a:xfrm>
          <a:prstGeom prst="roundRect">
            <a:avLst>
              <a:gd name="adj" fmla="val 5060"/>
            </a:avLst>
          </a:prstGeom>
          <a:solidFill>
            <a:schemeClr val="bg1"/>
          </a:solidFill>
          <a:ln w="952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1" name="Rectangle 30"/>
          <p:cNvSpPr/>
          <p:nvPr/>
        </p:nvSpPr>
        <p:spPr>
          <a:xfrm>
            <a:off x="6171833" y="1320175"/>
            <a:ext cx="1938060" cy="34046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Support</a:t>
            </a:r>
            <a:endParaRPr lang="en-CA" b="1" dirty="0"/>
          </a:p>
        </p:txBody>
      </p:sp>
      <p:sp>
        <p:nvSpPr>
          <p:cNvPr id="32" name="Rounded Rectangle 31"/>
          <p:cNvSpPr/>
          <p:nvPr/>
        </p:nvSpPr>
        <p:spPr>
          <a:xfrm>
            <a:off x="5900822" y="3478287"/>
            <a:ext cx="2511143" cy="1169550"/>
          </a:xfrm>
          <a:prstGeom prst="roundRect">
            <a:avLst>
              <a:gd name="adj" fmla="val 8031"/>
            </a:avLst>
          </a:prstGeom>
          <a:solidFill>
            <a:schemeClr val="bg1"/>
          </a:solidFill>
          <a:ln w="952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TextBox 32"/>
          <p:cNvSpPr txBox="1"/>
          <p:nvPr/>
        </p:nvSpPr>
        <p:spPr>
          <a:xfrm>
            <a:off x="5900822" y="1797944"/>
            <a:ext cx="25111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/>
              <a:t>BCSC – Branch support</a:t>
            </a:r>
            <a:endParaRPr lang="en-US" sz="1000" dirty="0">
              <a:solidFill>
                <a:srgbClr val="FF0000"/>
              </a:solidFill>
            </a:endParaRPr>
          </a:p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endParaRPr lang="en-US" sz="1000" dirty="0"/>
          </a:p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/>
              <a:t>Hypercare in place</a:t>
            </a:r>
            <a:endParaRPr lang="en-US" sz="1000" dirty="0">
              <a:solidFill>
                <a:srgbClr val="FF0000"/>
              </a:solidFill>
            </a:endParaRPr>
          </a:p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endParaRPr lang="en-US" sz="1000" dirty="0">
              <a:solidFill>
                <a:srgbClr val="FF0000"/>
              </a:solidFill>
            </a:endParaRPr>
          </a:p>
          <a:p>
            <a:pPr marL="171450" indent="-17145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/>
              <a:t>Transition To Operations*</a:t>
            </a:r>
            <a:endParaRPr lang="en-US" sz="1000" dirty="0">
              <a:solidFill>
                <a:srgbClr val="FF0000"/>
              </a:solidFill>
            </a:endParaRPr>
          </a:p>
          <a:p>
            <a:pPr marL="171450" indent="-171450">
              <a:buClr>
                <a:schemeClr val="accent6"/>
              </a:buClr>
              <a:buSzPct val="100000"/>
              <a:buFont typeface="Calibri" panose="020F0502020204030204" pitchFamily="34" charset="0"/>
              <a:buChar char="!"/>
            </a:pPr>
            <a:endParaRPr lang="en-US" sz="1000" dirty="0"/>
          </a:p>
          <a:p>
            <a:pPr marL="171450" indent="-171450">
              <a:buClr>
                <a:schemeClr val="accent6"/>
              </a:buClr>
              <a:buSzPct val="100000"/>
              <a:buFont typeface="Calibri" panose="020F0502020204030204" pitchFamily="34" charset="0"/>
              <a:buChar char="!"/>
            </a:pPr>
            <a:r>
              <a:rPr lang="en-US" sz="1000" dirty="0"/>
              <a:t>CWB/Temenos Support Model~</a:t>
            </a:r>
            <a:endParaRPr lang="en-US" sz="1000" dirty="0">
              <a:solidFill>
                <a:srgbClr val="FF0000"/>
              </a:solidFill>
            </a:endParaRPr>
          </a:p>
          <a:p>
            <a:pPr>
              <a:buClr>
                <a:srgbClr val="00B050"/>
              </a:buClr>
              <a:buSzPct val="100000"/>
            </a:pPr>
            <a:endParaRPr lang="en-US" sz="1000" dirty="0"/>
          </a:p>
        </p:txBody>
      </p:sp>
      <p:sp>
        <p:nvSpPr>
          <p:cNvPr id="34" name="TextBox 33"/>
          <p:cNvSpPr txBox="1"/>
          <p:nvPr/>
        </p:nvSpPr>
        <p:spPr>
          <a:xfrm>
            <a:off x="5900822" y="3539444"/>
            <a:ext cx="2511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00" dirty="0"/>
          </a:p>
          <a:p>
            <a:r>
              <a:rPr lang="en-US" sz="1000" dirty="0"/>
              <a:t>*Will be updated as required </a:t>
            </a:r>
          </a:p>
          <a:p>
            <a:endParaRPr lang="en-US" sz="1000" dirty="0"/>
          </a:p>
          <a:p>
            <a:r>
              <a:rPr lang="en-US" sz="1000" dirty="0"/>
              <a:t>~Support agreement awaiting finalization</a:t>
            </a:r>
            <a:endParaRPr lang="en-CA" sz="1000" dirty="0"/>
          </a:p>
        </p:txBody>
      </p:sp>
      <p:sp>
        <p:nvSpPr>
          <p:cNvPr id="41" name="Chevron 40"/>
          <p:cNvSpPr/>
          <p:nvPr/>
        </p:nvSpPr>
        <p:spPr>
          <a:xfrm>
            <a:off x="2105070" y="210686"/>
            <a:ext cx="219740" cy="398087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3300" y="205769"/>
            <a:ext cx="891721" cy="760144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B41F43-5F15-4A1D-83C8-B8BC8D06C4C4}"/>
              </a:ext>
            </a:extLst>
          </p:cNvPr>
          <p:cNvSpPr/>
          <p:nvPr/>
        </p:nvSpPr>
        <p:spPr>
          <a:xfrm rot="16200000">
            <a:off x="-355824" y="2358900"/>
            <a:ext cx="1656085" cy="19879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Completed</a:t>
            </a:r>
            <a:endParaRPr lang="en-CA" sz="1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EE6BB3-D8C7-40B8-A813-EF8C9DA8965E}"/>
              </a:ext>
            </a:extLst>
          </p:cNvPr>
          <p:cNvSpPr/>
          <p:nvPr/>
        </p:nvSpPr>
        <p:spPr>
          <a:xfrm rot="16200000">
            <a:off x="544" y="3848620"/>
            <a:ext cx="951151" cy="19879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Remediation</a:t>
            </a:r>
            <a:endParaRPr lang="en-CA" sz="11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6EDC12-64FC-0A08-8F9B-0227EED76729}"/>
              </a:ext>
            </a:extLst>
          </p:cNvPr>
          <p:cNvSpPr txBox="1"/>
          <p:nvPr/>
        </p:nvSpPr>
        <p:spPr>
          <a:xfrm>
            <a:off x="581032" y="3401341"/>
            <a:ext cx="24704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# Small Business and Combined user defects not included in this release.</a:t>
            </a:r>
          </a:p>
          <a:p>
            <a:endParaRPr lang="en-US" sz="800" dirty="0"/>
          </a:p>
          <a:p>
            <a:r>
              <a:rPr lang="en-US" sz="800" dirty="0">
                <a:highlight>
                  <a:srgbClr val="FFFF00"/>
                </a:highlight>
              </a:rPr>
              <a:t>+Outstanding performance defects TBD?</a:t>
            </a:r>
          </a:p>
          <a:p>
            <a:endParaRPr lang="en-US" sz="800" dirty="0"/>
          </a:p>
          <a:p>
            <a:r>
              <a:rPr lang="en-US" sz="800" dirty="0"/>
              <a:t>^ BAT test to be completed in VCOO/HF2 Go live. Shakedown test to be done for Hotfix 1 release.</a:t>
            </a:r>
          </a:p>
          <a:p>
            <a:endParaRPr lang="en-US" sz="800" dirty="0"/>
          </a:p>
          <a:p>
            <a:r>
              <a:rPr lang="en-US" sz="800" dirty="0"/>
              <a:t>* 2 Low defects to be addressed (60 – 90 day), and </a:t>
            </a:r>
            <a:r>
              <a:rPr lang="en-US" sz="800"/>
              <a:t>3 Informational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948218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06400" y="240687"/>
            <a:ext cx="8280401" cy="397483"/>
          </a:xfrm>
        </p:spPr>
        <p:txBody>
          <a:bodyPr/>
          <a:lstStyle/>
          <a:p>
            <a:r>
              <a:rPr lang="en-US" dirty="0"/>
              <a:t>VCOO/Hotfix 1 - Outstanding Actions</a:t>
            </a:r>
            <a:endParaRPr lang="en-CA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06400" y="673348"/>
            <a:ext cx="8280400" cy="4036156"/>
          </a:xfrm>
        </p:spPr>
        <p:txBody>
          <a:bodyPr numCol="2"/>
          <a:lstStyle/>
          <a:p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endParaRPr lang="en-CA" sz="1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>
              <a:buClr>
                <a:srgbClr val="00B050"/>
              </a:buClr>
            </a:pP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809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06400" y="240687"/>
            <a:ext cx="8280401" cy="397483"/>
          </a:xfrm>
        </p:spPr>
        <p:txBody>
          <a:bodyPr/>
          <a:lstStyle/>
          <a:p>
            <a:r>
              <a:rPr lang="en-US" dirty="0"/>
              <a:t>Stakeholder Approvals</a:t>
            </a:r>
            <a:endParaRPr lang="en-CA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06400" y="673348"/>
            <a:ext cx="8280400" cy="3885951"/>
          </a:xfrm>
        </p:spPr>
        <p:txBody>
          <a:bodyPr numCol="2"/>
          <a:lstStyle/>
          <a:p>
            <a:pPr marL="285750" indent="-285750"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0097A9"/>
                </a:solidFill>
              </a:rPr>
              <a:t>Approved</a:t>
            </a:r>
          </a:p>
          <a:p>
            <a:pPr marL="628650" lvl="3" indent="-171450">
              <a:buClr>
                <a:schemeClr val="accent6"/>
              </a:buClr>
              <a:buSzPct val="100000"/>
              <a:buFont typeface="Calibri" panose="020F0502020204030204" pitchFamily="34" charset="0"/>
              <a:buChar char="!"/>
            </a:pPr>
            <a:r>
              <a:rPr lang="en-US" sz="1000" dirty="0">
                <a:solidFill>
                  <a:schemeClr val="tx1"/>
                </a:solidFill>
              </a:rPr>
              <a:t>CWB/3rd Party</a:t>
            </a:r>
          </a:p>
          <a:p>
            <a:pPr marL="1079500" lvl="2" indent="-16510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Celero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 – Gerry W</a:t>
            </a:r>
          </a:p>
          <a:p>
            <a:pPr marL="1079500" lvl="2" indent="-16510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C1 – Gerry W</a:t>
            </a:r>
          </a:p>
          <a:p>
            <a:pPr marL="1079500" lvl="2" indent="-16510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OKTA – Tony F</a:t>
            </a:r>
          </a:p>
          <a:p>
            <a:pPr marL="1079500" lvl="2" indent="-16510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Cloudflare – Gerry W</a:t>
            </a:r>
          </a:p>
          <a:p>
            <a:pPr marL="1079500" lvl="2" indent="-16510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Helix – Gerry W</a:t>
            </a:r>
          </a:p>
          <a:p>
            <a:pPr marL="1079500" lvl="2" indent="-16510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Twilio – Gerry W</a:t>
            </a:r>
          </a:p>
          <a:p>
            <a:pPr marL="1079500" lvl="2" indent="-16510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Mulesoft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 – Alex/Andy</a:t>
            </a:r>
          </a:p>
          <a:p>
            <a:pPr marL="1079500" lvl="2" indent="-16510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BRIM – Gerry W</a:t>
            </a:r>
          </a:p>
          <a:p>
            <a:pPr marL="1079500" lvl="2" indent="-16510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 err="1">
                <a:solidFill>
                  <a:schemeClr val="tx1"/>
                </a:solidFill>
              </a:rPr>
              <a:t>Navaera</a:t>
            </a:r>
            <a:r>
              <a:rPr lang="en-US" sz="1000" dirty="0">
                <a:solidFill>
                  <a:schemeClr val="tx1"/>
                </a:solidFill>
              </a:rPr>
              <a:t> – Gerry W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marL="1079500" lvl="4" indent="-165100">
              <a:buClr>
                <a:schemeClr val="accent6"/>
              </a:buClr>
              <a:buSzPct val="100000"/>
              <a:buFont typeface="Calibri" panose="020F0502020204030204" pitchFamily="34" charset="0"/>
              <a:buChar char="!"/>
            </a:pPr>
            <a:r>
              <a:rPr lang="en-US" sz="1000" dirty="0">
                <a:solidFill>
                  <a:schemeClr val="tx1"/>
                </a:solidFill>
              </a:rPr>
              <a:t>Mobile Application Submission – Mark D</a:t>
            </a:r>
          </a:p>
          <a:p>
            <a:pPr marL="1079500" lvl="2" indent="-16510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marL="628650" lvl="3" indent="-171450">
              <a:buClr>
                <a:schemeClr val="accent6"/>
              </a:buClr>
              <a:buSzPct val="100000"/>
              <a:buFont typeface="Calibri" panose="020F0502020204030204" pitchFamily="34" charset="0"/>
              <a:buChar char="!"/>
            </a:pPr>
            <a:r>
              <a:rPr lang="en-US" sz="1000" dirty="0">
                <a:solidFill>
                  <a:schemeClr val="tx1"/>
                </a:solidFill>
              </a:rPr>
              <a:t>Testing</a:t>
            </a:r>
          </a:p>
          <a:p>
            <a:pPr marL="1079500" lvl="2" indent="-1651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Functional Validation – Carmela </a:t>
            </a:r>
          </a:p>
          <a:p>
            <a:pPr marL="1079500" lvl="2" indent="-1651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End-to-End – Carmela</a:t>
            </a:r>
          </a:p>
          <a:p>
            <a:pPr marL="1079500" lvl="2" indent="-1651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Regression – Carmela </a:t>
            </a:r>
          </a:p>
          <a:p>
            <a:pPr marL="1085850" lvl="4" indent="-171450">
              <a:buClr>
                <a:schemeClr val="accent6"/>
              </a:buClr>
              <a:buSzPct val="100000"/>
              <a:buFont typeface="Calibri" panose="020F0502020204030204" pitchFamily="34" charset="0"/>
              <a:buChar char="!"/>
            </a:pPr>
            <a:r>
              <a:rPr lang="en-US" sz="1000" dirty="0">
                <a:solidFill>
                  <a:schemeClr val="tx1"/>
                </a:solidFill>
              </a:rPr>
              <a:t>Performance – Malik </a:t>
            </a:r>
          </a:p>
          <a:p>
            <a:pPr marL="1085850" lvl="4" indent="-171450">
              <a:buClr>
                <a:schemeClr val="accent6"/>
              </a:buClr>
              <a:buSzPct val="100000"/>
              <a:buFont typeface="Calibri" panose="020F0502020204030204" pitchFamily="34" charset="0"/>
              <a:buChar char="!"/>
            </a:pPr>
            <a:r>
              <a:rPr lang="en-US" sz="1000" dirty="0">
                <a:solidFill>
                  <a:schemeClr val="tx1"/>
                </a:solidFill>
              </a:rPr>
              <a:t>Penetration – Mike T </a:t>
            </a:r>
          </a:p>
          <a:p>
            <a:pPr marL="742950" lvl="1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marL="742950" lvl="1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marL="742950" lvl="1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Clr>
                <a:srgbClr val="00B050"/>
              </a:buClr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marL="742950" lvl="1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People First – Trish/Stacy</a:t>
            </a:r>
          </a:p>
          <a:p>
            <a:pPr marL="1079500" lvl="2" indent="-1651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Training, Job Aides</a:t>
            </a:r>
          </a:p>
          <a:p>
            <a:pPr marL="1079500" lvl="2" indent="-1651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Communications</a:t>
            </a:r>
          </a:p>
          <a:p>
            <a:pPr marL="1079500" lvl="2" indent="-1651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HyperCare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Clr>
                <a:srgbClr val="00B050"/>
              </a:buClr>
            </a:pPr>
            <a:endParaRPr lang="en-US" sz="1050" dirty="0">
              <a:solidFill>
                <a:schemeClr val="bg1">
                  <a:lumMod val="50000"/>
                </a:schemeClr>
              </a:solidFill>
            </a:endParaRPr>
          </a:p>
          <a:p>
            <a:pPr marL="628650" lvl="3" indent="-171450">
              <a:buClr>
                <a:schemeClr val="accent6"/>
              </a:buClr>
              <a:buSzPct val="100000"/>
              <a:buFont typeface="Calibri" panose="020F0502020204030204" pitchFamily="34" charset="0"/>
              <a:buChar char="!"/>
            </a:pPr>
            <a:r>
              <a:rPr lang="en-US" sz="1000" dirty="0">
                <a:solidFill>
                  <a:schemeClr val="tx1"/>
                </a:solidFill>
              </a:rPr>
              <a:t>Temenos</a:t>
            </a:r>
          </a:p>
          <a:p>
            <a:pPr marL="1085850" lvl="4" indent="-171450">
              <a:buClr>
                <a:schemeClr val="accent6"/>
              </a:buClr>
              <a:buSzPct val="100000"/>
              <a:buFont typeface="Calibri" panose="020F0502020204030204" pitchFamily="34" charset="0"/>
              <a:buChar char="!"/>
            </a:pPr>
            <a:r>
              <a:rPr lang="en-US" sz="1000" dirty="0">
                <a:solidFill>
                  <a:schemeClr val="tx1"/>
                </a:solidFill>
              </a:rPr>
              <a:t>Infinity Prod Build complete </a:t>
            </a:r>
          </a:p>
          <a:p>
            <a:pPr marL="1085850" lvl="4" indent="-171450">
              <a:buClr>
                <a:schemeClr val="accent6"/>
              </a:buClr>
              <a:buSzPct val="100000"/>
              <a:buFont typeface="Calibri" panose="020F0502020204030204" pitchFamily="34" charset="0"/>
              <a:buChar char="!"/>
            </a:pPr>
            <a:r>
              <a:rPr lang="en-US" sz="1000" dirty="0">
                <a:solidFill>
                  <a:schemeClr val="tx1"/>
                </a:solidFill>
              </a:rPr>
              <a:t>Mobile Application Readiness</a:t>
            </a:r>
          </a:p>
          <a:p>
            <a:pPr marL="1079500" lvl="2" indent="-16510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Disaster Recovery for Prod</a:t>
            </a:r>
          </a:p>
          <a:p>
            <a:pPr marL="1079500" lvl="2" indent="-165100"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T24 Deployment</a:t>
            </a:r>
          </a:p>
          <a:p>
            <a:pPr lvl="1">
              <a:buClr>
                <a:srgbClr val="00B050"/>
              </a:buClr>
            </a:pPr>
            <a:endParaRPr 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219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06400" y="240687"/>
            <a:ext cx="8280401" cy="397483"/>
          </a:xfrm>
        </p:spPr>
        <p:txBody>
          <a:bodyPr/>
          <a:lstStyle/>
          <a:p>
            <a:r>
              <a:rPr lang="en-US" dirty="0"/>
              <a:t>Go/No-Go Recommendation &amp; Decision</a:t>
            </a:r>
            <a:endParaRPr lang="en-CA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06399" y="673348"/>
            <a:ext cx="8128001" cy="3850013"/>
          </a:xfrm>
        </p:spPr>
        <p:txBody>
          <a:bodyPr/>
          <a:lstStyle/>
          <a:p>
            <a:pPr marL="285750" indent="-285750"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0097A9"/>
                </a:solidFill>
              </a:rPr>
              <a:t>Go – Subject to:</a:t>
            </a:r>
          </a:p>
          <a:p>
            <a:pPr marL="171450" indent="-171450"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en-US" sz="1050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00000"/>
                </a:solidFill>
              </a:rPr>
              <a:t>No-Go   </a:t>
            </a:r>
          </a:p>
          <a:p>
            <a:pPr marL="742950" lvl="1" indent="-285750"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None</a:t>
            </a:r>
          </a:p>
          <a:p>
            <a:pPr lvl="2">
              <a:buClr>
                <a:schemeClr val="bg1">
                  <a:lumMod val="50000"/>
                </a:schemeClr>
              </a:buClr>
            </a:pPr>
            <a:endParaRPr lang="en-US" sz="1100" i="1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0097A9"/>
                </a:solidFill>
              </a:rPr>
              <a:t>Decision   (Azfar &amp; Jeff)</a:t>
            </a:r>
          </a:p>
        </p:txBody>
      </p:sp>
    </p:spTree>
    <p:extLst>
      <p:ext uri="{BB962C8B-B14F-4D97-AF65-F5344CB8AC3E}">
        <p14:creationId xmlns:p14="http://schemas.microsoft.com/office/powerpoint/2010/main" val="1550148528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Option 1">
  <a:themeElements>
    <a:clrScheme name="CWBG Corporate Colours">
      <a:dk1>
        <a:srgbClr val="111111"/>
      </a:dk1>
      <a:lt1>
        <a:srgbClr val="FFFFFF"/>
      </a:lt1>
      <a:dk2>
        <a:srgbClr val="77777A"/>
      </a:dk2>
      <a:lt2>
        <a:srgbClr val="FFFFFF"/>
      </a:lt2>
      <a:accent1>
        <a:srgbClr val="009AA6"/>
      </a:accent1>
      <a:accent2>
        <a:srgbClr val="937A46"/>
      </a:accent2>
      <a:accent3>
        <a:srgbClr val="5AB7B2"/>
      </a:accent3>
      <a:accent4>
        <a:srgbClr val="FFC843"/>
      </a:accent4>
      <a:accent5>
        <a:srgbClr val="A9ACA0"/>
      </a:accent5>
      <a:accent6>
        <a:srgbClr val="356195"/>
      </a:accent6>
      <a:hlink>
        <a:srgbClr val="009AA6"/>
      </a:hlink>
      <a:folHlink>
        <a:srgbClr val="9BD3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F7E95BB7-831E-4E25-80F3-94728565E23B}"/>
    </a:ext>
  </a:extLst>
</a:theme>
</file>

<file path=ppt/theme/theme2.xml><?xml version="1.0" encoding="utf-8"?>
<a:theme xmlns:a="http://schemas.openxmlformats.org/drawingml/2006/main" name="2 Primary Gold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CDA640F7-AFB6-43ED-B923-FE7A9B072F38}"/>
    </a:ext>
  </a:extLst>
</a:theme>
</file>

<file path=ppt/theme/theme3.xml><?xml version="1.0" encoding="utf-8"?>
<a:theme xmlns:a="http://schemas.openxmlformats.org/drawingml/2006/main" name="1_2 Primary Gold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CDA640F7-AFB6-43ED-B923-FE7A9B072F38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E2191C135504F9351B7DBCB2BE606" ma:contentTypeVersion="19" ma:contentTypeDescription="Create a new document." ma:contentTypeScope="" ma:versionID="144ddb5c3dec5e6553fff6a9e46bb08f">
  <xsd:schema xmlns:xsd="http://www.w3.org/2001/XMLSchema" xmlns:xs="http://www.w3.org/2001/XMLSchema" xmlns:p="http://schemas.microsoft.com/office/2006/metadata/properties" xmlns:ns2="6d778449-ff75-428e-914f-0c7c3a330bda" xmlns:ns3="9685b3f0-18b8-4ac0-8917-75cacc3928c8" xmlns:ns4="http://schemas.microsoft.com/sharepoint/v4" targetNamespace="http://schemas.microsoft.com/office/2006/metadata/properties" ma:root="true" ma:fieldsID="20e32d3dfd06a5d03c1eec57e40fefd4" ns2:_="" ns3:_="" ns4:_="">
    <xsd:import namespace="6d778449-ff75-428e-914f-0c7c3a330bda"/>
    <xsd:import namespace="9685b3f0-18b8-4ac0-8917-75cacc3928c8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4:IconOverlay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778449-ff75-428e-914f-0c7c3a330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104f31a-2814-4102-809d-73f760290a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85b3f0-18b8-4ac0-8917-75cacc3928c8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dc0967b-2da2-44e6-873a-f241ab05c942}" ma:internalName="TaxCatchAll" ma:showField="CatchAllData" ma:web="9685b3f0-18b8-4ac0-8917-75cacc3928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9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778449-ff75-428e-914f-0c7c3a330bda">
      <Terms xmlns="http://schemas.microsoft.com/office/infopath/2007/PartnerControls"/>
    </lcf76f155ced4ddcb4097134ff3c332f>
    <TaxCatchAll xmlns="9685b3f0-18b8-4ac0-8917-75cacc3928c8" xsi:nil="true"/>
    <IconOverlay xmlns="http://schemas.microsoft.com/sharepoint/v4" xsi:nil="true"/>
  </documentManagement>
</p:properties>
</file>

<file path=customXml/itemProps1.xml><?xml version="1.0" encoding="utf-8"?>
<ds:datastoreItem xmlns:ds="http://schemas.openxmlformats.org/officeDocument/2006/customXml" ds:itemID="{84B1E6F2-5BE0-4C41-95F5-56F35D14B236}"/>
</file>

<file path=customXml/itemProps2.xml><?xml version="1.0" encoding="utf-8"?>
<ds:datastoreItem xmlns:ds="http://schemas.openxmlformats.org/officeDocument/2006/customXml" ds:itemID="{23164667-F593-48BE-B1B8-F464243115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7BF586-4BCD-4AA7-BDD9-426B37FC8399}">
  <ds:schemaRefs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2006/metadata/properties"/>
    <ds:schemaRef ds:uri="http://schemas.microsoft.com/sharepoint/v4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4e1dbe9c-67f7-4be6-a2b7-0951d57be59d}" enabled="1" method="Standard" siteId="{bbf04c3f-b0e3-4b50-bd1b-10ce0b74385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CWBFG Presentation 16x9</Template>
  <TotalTime>13658</TotalTime>
  <Words>379</Words>
  <Application>Microsoft Office PowerPoint</Application>
  <PresentationFormat>On-screen Show (16:9)</PresentationFormat>
  <Paragraphs>128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Frutiger LT Std 57 Cn</vt:lpstr>
      <vt:lpstr>Wingdings</vt:lpstr>
      <vt:lpstr>Title Slide Option 1</vt:lpstr>
      <vt:lpstr>2 Primary Gold - Content</vt:lpstr>
      <vt:lpstr>1_2 Primary Gold - 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Canadian Western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Kenneth Mastaller</dc:creator>
  <cp:lastModifiedBy>Dino Noce</cp:lastModifiedBy>
  <cp:revision>188</cp:revision>
  <cp:lastPrinted>2014-01-17T22:29:57Z</cp:lastPrinted>
  <dcterms:created xsi:type="dcterms:W3CDTF">2020-01-03T22:06:25Z</dcterms:created>
  <dcterms:modified xsi:type="dcterms:W3CDTF">2022-11-28T21:59:09Z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0x010100CA6E2191C135504F9351B7DBCB2BE606</vt:lpwstr>
  </property>
  <property fmtid="{D5CDD505-2E9C-101B-9397-08002B2CF9AE}" pid="3" name="URL">
    <vt:lpwstr/>
  </property>
  <property fmtid="{D5CDD505-2E9C-101B-9397-08002B2CF9AE}" pid="4" name="MediaServiceImageTags">
    <vt:lpwstr/>
  </property>
</Properties>
</file>