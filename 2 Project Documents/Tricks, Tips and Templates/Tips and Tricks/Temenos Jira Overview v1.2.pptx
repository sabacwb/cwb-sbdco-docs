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6.xml" ContentType="application/vnd.openxmlformats-officedocument.theme+xml"/>
  <Override PartName="/ppt/slideLayouts/slideLayout12.xml" ContentType="application/vnd.openxmlformats-officedocument.presentationml.slideLayout+xml"/>
  <Override PartName="/ppt/theme/theme7.xml" ContentType="application/vnd.openxmlformats-officedocument.theme+xml"/>
  <Override PartName="/ppt/slideLayouts/slideLayout13.xml" ContentType="application/vnd.openxmlformats-officedocument.presentationml.slideLayout+xml"/>
  <Override PartName="/ppt/theme/theme8.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slideLayouts/slideLayout21.xml" ContentType="application/vnd.openxmlformats-officedocument.presentationml.slideLayout+xml"/>
  <Override PartName="/ppt/theme/theme11.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12.xml" ContentType="application/vnd.openxmlformats-officedocument.theme+xml"/>
  <Override PartName="/ppt/slideLayouts/slideLayout28.xml" ContentType="application/vnd.openxmlformats-officedocument.presentationml.slideLayout+xml"/>
  <Override PartName="/ppt/theme/theme13.xml" ContentType="application/vnd.openxmlformats-officedocument.theme+xml"/>
  <Override PartName="/ppt/slideLayouts/slideLayout29.xml" ContentType="application/vnd.openxmlformats-officedocument.presentationml.slideLayout+xml"/>
  <Override PartName="/ppt/theme/theme1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5.xml" ContentType="application/vnd.openxmlformats-officedocument.theme+xml"/>
  <Override PartName="/ppt/slideLayouts/slideLayout36.xml" ContentType="application/vnd.openxmlformats-officedocument.presentationml.slideLayout+xml"/>
  <Override PartName="/ppt/theme/theme16.xml" ContentType="application/vnd.openxmlformats-officedocument.theme+xml"/>
  <Override PartName="/ppt/slideLayouts/slideLayout37.xml" ContentType="application/vnd.openxmlformats-officedocument.presentationml.slideLayout+xml"/>
  <Override PartName="/ppt/theme/theme17.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18.xml" ContentType="application/vnd.openxmlformats-officedocument.theme+xml"/>
  <Override PartName="/ppt/slideLayouts/slideLayout44.xml" ContentType="application/vnd.openxmlformats-officedocument.presentationml.slideLayout+xml"/>
  <Override PartName="/ppt/theme/theme19.xml" ContentType="application/vnd.openxmlformats-officedocument.theme+xml"/>
  <Override PartName="/ppt/slideLayouts/slideLayout45.xml" ContentType="application/vnd.openxmlformats-officedocument.presentationml.slideLayout+xml"/>
  <Override PartName="/ppt/theme/theme20.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1.xml" ContentType="application/vnd.openxmlformats-officedocument.theme+xml"/>
  <Override PartName="/ppt/slideLayouts/slideLayout52.xml" ContentType="application/vnd.openxmlformats-officedocument.presentationml.slideLayout+xml"/>
  <Override PartName="/ppt/theme/theme22.xml" ContentType="application/vnd.openxmlformats-officedocument.theme+xml"/>
  <Override PartName="/ppt/slideLayouts/slideLayout53.xml" ContentType="application/vnd.openxmlformats-officedocument.presentationml.slideLayout+xml"/>
  <Override PartName="/ppt/theme/theme23.xml" ContentType="application/vnd.openxmlformats-officedocument.theme+xml"/>
  <Override PartName="/ppt/slideLayouts/slideLayout54.xml" ContentType="application/vnd.openxmlformats-officedocument.presentationml.slideLayout+xml"/>
  <Override PartName="/ppt/theme/theme24.xml" ContentType="application/vnd.openxmlformats-officedocument.theme+xml"/>
  <Override PartName="/ppt/slideLayouts/slideLayout55.xml" ContentType="application/vnd.openxmlformats-officedocument.presentationml.slideLayout+xml"/>
  <Override PartName="/ppt/theme/theme25.xml" ContentType="application/vnd.openxmlformats-officedocument.theme+xml"/>
  <Override PartName="/ppt/slideLayouts/slideLayout56.xml" ContentType="application/vnd.openxmlformats-officedocument.presentationml.slideLayout+xml"/>
  <Override PartName="/ppt/theme/theme26.xml" ContentType="application/vnd.openxmlformats-officedocument.theme+xml"/>
  <Override PartName="/ppt/slideLayouts/slideLayout57.xml" ContentType="application/vnd.openxmlformats-officedocument.presentationml.slideLayout+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4"/>
    <p:sldMasterId id="2147483701" r:id="rId5"/>
    <p:sldMasterId id="2147483709" r:id="rId6"/>
    <p:sldMasterId id="2147483699" r:id="rId7"/>
    <p:sldMasterId id="2147483711" r:id="rId8"/>
    <p:sldMasterId id="2147483800" r:id="rId9"/>
    <p:sldMasterId id="2147483758" r:id="rId10"/>
    <p:sldMasterId id="2147483715" r:id="rId11"/>
    <p:sldMasterId id="2147483808" r:id="rId12"/>
    <p:sldMasterId id="2147483785" r:id="rId13"/>
    <p:sldMasterId id="2147483707" r:id="rId14"/>
    <p:sldMasterId id="2147483816" r:id="rId15"/>
    <p:sldMasterId id="2147483783" r:id="rId16"/>
    <p:sldMasterId id="2147483713" r:id="rId17"/>
    <p:sldMasterId id="2147483823" r:id="rId18"/>
    <p:sldMasterId id="2147483763" r:id="rId19"/>
    <p:sldMasterId id="2147483717" r:id="rId20"/>
    <p:sldMasterId id="2147483830" r:id="rId21"/>
    <p:sldMasterId id="2147483773" r:id="rId22"/>
    <p:sldMasterId id="2147483719" r:id="rId23"/>
    <p:sldMasterId id="2147483837" r:id="rId24"/>
    <p:sldMasterId id="2147483729" r:id="rId25"/>
    <p:sldMasterId id="2147483796" r:id="rId26"/>
    <p:sldMasterId id="2147483846" r:id="rId27"/>
    <p:sldMasterId id="2147483727" r:id="rId28"/>
    <p:sldMasterId id="2147483725" r:id="rId29"/>
    <p:sldMasterId id="2147483798" r:id="rId30"/>
  </p:sldMasterIdLst>
  <p:notesMasterIdLst>
    <p:notesMasterId r:id="rId48"/>
  </p:notesMasterIdLst>
  <p:handoutMasterIdLst>
    <p:handoutMasterId r:id="rId49"/>
  </p:handoutMasterIdLst>
  <p:sldIdLst>
    <p:sldId id="398" r:id="rId31"/>
    <p:sldId id="404" r:id="rId32"/>
    <p:sldId id="405" r:id="rId33"/>
    <p:sldId id="406" r:id="rId34"/>
    <p:sldId id="407" r:id="rId35"/>
    <p:sldId id="408" r:id="rId36"/>
    <p:sldId id="409" r:id="rId37"/>
    <p:sldId id="410" r:id="rId38"/>
    <p:sldId id="417" r:id="rId39"/>
    <p:sldId id="411" r:id="rId40"/>
    <p:sldId id="412" r:id="rId41"/>
    <p:sldId id="413" r:id="rId42"/>
    <p:sldId id="414" r:id="rId43"/>
    <p:sldId id="415" r:id="rId44"/>
    <p:sldId id="418" r:id="rId45"/>
    <p:sldId id="416" r:id="rId46"/>
    <p:sldId id="419" r:id="rId47"/>
  </p:sldIdLst>
  <p:sldSz cx="9144000" cy="5143500" type="screen16x9"/>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C5B9"/>
    <a:srgbClr val="A9ACA0"/>
    <a:srgbClr val="2DCCD3"/>
    <a:srgbClr val="0097A9"/>
    <a:srgbClr val="FF8200"/>
    <a:srgbClr val="003B5C"/>
    <a:srgbClr val="84754E"/>
    <a:srgbClr val="DAAA00"/>
    <a:srgbClr val="FFD200"/>
    <a:srgbClr val="009A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1" autoAdjust="0"/>
    <p:restoredTop sz="77914" autoAdjust="0"/>
  </p:normalViewPr>
  <p:slideViewPr>
    <p:cSldViewPr snapToGrid="0">
      <p:cViewPr varScale="1">
        <p:scale>
          <a:sx n="71" d="100"/>
          <a:sy n="71" d="100"/>
        </p:scale>
        <p:origin x="1124" y="44"/>
      </p:cViewPr>
      <p:guideLst>
        <p:guide orient="horz" pos="1620"/>
        <p:guide pos="287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7" d="100"/>
          <a:sy n="77" d="100"/>
        </p:scale>
        <p:origin x="2892" y="10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Master" Target="slideMasters/slideMaster23.xml"/><Relationship Id="rId39" Type="http://schemas.openxmlformats.org/officeDocument/2006/relationships/slide" Target="slides/slide9.xml"/><Relationship Id="rId3" Type="http://schemas.openxmlformats.org/officeDocument/2006/relationships/customXml" Target="../customXml/item3.xml"/><Relationship Id="rId21" Type="http://schemas.openxmlformats.org/officeDocument/2006/relationships/slideMaster" Target="slideMasters/slideMaster18.xml"/><Relationship Id="rId34" Type="http://schemas.openxmlformats.org/officeDocument/2006/relationships/slide" Target="slides/slide4.xml"/><Relationship Id="rId42" Type="http://schemas.openxmlformats.org/officeDocument/2006/relationships/slide" Target="slides/slide12.xml"/><Relationship Id="rId47" Type="http://schemas.openxmlformats.org/officeDocument/2006/relationships/slide" Target="slides/slide17.xml"/><Relationship Id="rId50"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Master" Target="slideMasters/slideMaster22.xml"/><Relationship Id="rId33" Type="http://schemas.openxmlformats.org/officeDocument/2006/relationships/slide" Target="slides/slide3.xml"/><Relationship Id="rId38" Type="http://schemas.openxmlformats.org/officeDocument/2006/relationships/slide" Target="slides/slide8.xml"/><Relationship Id="rId46" Type="http://schemas.openxmlformats.org/officeDocument/2006/relationships/slide" Target="slides/slide16.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Master" Target="slideMasters/slideMaster17.xml"/><Relationship Id="rId29" Type="http://schemas.openxmlformats.org/officeDocument/2006/relationships/slideMaster" Target="slideMasters/slideMaster26.xml"/><Relationship Id="rId41" Type="http://schemas.openxmlformats.org/officeDocument/2006/relationships/slide" Target="slides/slide1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Master" Target="slideMasters/slideMaster21.xml"/><Relationship Id="rId32" Type="http://schemas.openxmlformats.org/officeDocument/2006/relationships/slide" Target="slides/slide2.xml"/><Relationship Id="rId37" Type="http://schemas.openxmlformats.org/officeDocument/2006/relationships/slide" Target="slides/slide7.xml"/><Relationship Id="rId40" Type="http://schemas.openxmlformats.org/officeDocument/2006/relationships/slide" Target="slides/slide10.xml"/><Relationship Id="rId45" Type="http://schemas.openxmlformats.org/officeDocument/2006/relationships/slide" Target="slides/slide15.xml"/><Relationship Id="rId53"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Master" Target="slideMasters/slideMaster20.xml"/><Relationship Id="rId28" Type="http://schemas.openxmlformats.org/officeDocument/2006/relationships/slideMaster" Target="slideMasters/slideMaster25.xml"/><Relationship Id="rId36" Type="http://schemas.openxmlformats.org/officeDocument/2006/relationships/slide" Target="slides/slide6.xml"/><Relationship Id="rId49"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slideMaster" Target="slideMasters/slideMaster16.xml"/><Relationship Id="rId31" Type="http://schemas.openxmlformats.org/officeDocument/2006/relationships/slide" Target="slides/slide1.xml"/><Relationship Id="rId44" Type="http://schemas.openxmlformats.org/officeDocument/2006/relationships/slide" Target="slides/slide14.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Master" Target="slideMasters/slideMaster19.xml"/><Relationship Id="rId27" Type="http://schemas.openxmlformats.org/officeDocument/2006/relationships/slideMaster" Target="slideMasters/slideMaster24.xml"/><Relationship Id="rId30" Type="http://schemas.openxmlformats.org/officeDocument/2006/relationships/slideMaster" Target="slideMasters/slideMaster27.xml"/><Relationship Id="rId35" Type="http://schemas.openxmlformats.org/officeDocument/2006/relationships/slide" Target="slides/slide5.xml"/><Relationship Id="rId43" Type="http://schemas.openxmlformats.org/officeDocument/2006/relationships/slide" Target="slides/slide13.xml"/><Relationship Id="rId48"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dirty="0"/>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7F320C92-5B60-47CE-AF8E-33393E468A4F}" type="datetimeFigureOut">
              <a:rPr lang="en-CA" smtClean="0"/>
              <a:t>05/13/2020</a:t>
            </a:fld>
            <a:endParaRPr lang="en-CA"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D932885D-FA4E-45F3-9C34-9BE667995CEE}" type="slidenum">
              <a:rPr lang="en-CA" smtClean="0"/>
              <a:t>‹#›</a:t>
            </a:fld>
            <a:endParaRPr lang="en-CA" dirty="0"/>
          </a:p>
        </p:txBody>
      </p:sp>
    </p:spTree>
    <p:extLst>
      <p:ext uri="{BB962C8B-B14F-4D97-AF65-F5344CB8AC3E}">
        <p14:creationId xmlns:p14="http://schemas.microsoft.com/office/powerpoint/2010/main" val="542965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B0CF9F78-B7FC-4D34-B5E9-CFFF0660210F}" type="datetimeFigureOut">
              <a:rPr lang="en-CA" smtClean="0"/>
              <a:t>05/13/2020</a:t>
            </a:fld>
            <a:endParaRPr lang="en-CA" dirty="0"/>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761EB8C7-5EFC-4FA9-BA9E-FFC3022A4650}" type="slidenum">
              <a:rPr lang="en-CA" smtClean="0"/>
              <a:t>‹#›</a:t>
            </a:fld>
            <a:endParaRPr lang="en-CA" dirty="0"/>
          </a:p>
        </p:txBody>
      </p:sp>
    </p:spTree>
    <p:extLst>
      <p:ext uri="{BB962C8B-B14F-4D97-AF65-F5344CB8AC3E}">
        <p14:creationId xmlns:p14="http://schemas.microsoft.com/office/powerpoint/2010/main" val="114102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7826" y="2851689"/>
            <a:ext cx="6362700" cy="398089"/>
          </a:xfrm>
          <a:prstGeom prst="rect">
            <a:avLst/>
          </a:prstGeom>
        </p:spPr>
        <p:txBody>
          <a:bodyPr lIns="0" tIns="0" rIns="0" bIns="0"/>
          <a:lstStyle>
            <a:lvl1pPr marL="0" marR="0" indent="0" algn="l" defTabSz="914400" rtl="0" eaLnBrk="1" fontAlgn="auto" latinLnBrk="0" hangingPunct="1">
              <a:lnSpc>
                <a:spcPts val="2000"/>
              </a:lnSpc>
              <a:spcBef>
                <a:spcPts val="0"/>
              </a:spcBef>
              <a:spcAft>
                <a:spcPts val="0"/>
              </a:spcAft>
              <a:buClrTx/>
              <a:buSzTx/>
              <a:buFont typeface="Arial" panose="020B0604020202020204" pitchFamily="34" charset="0"/>
              <a:buNone/>
              <a:tabLst/>
              <a:defRPr sz="1400" baseline="0">
                <a:solidFill>
                  <a:schemeClr val="bg1"/>
                </a:solidFill>
                <a:latin typeface="+mn-lt"/>
                <a:cs typeface="Arial" panose="020B0604020202020204" pitchFamily="34" charset="0"/>
              </a:defRPr>
            </a:lvl1pPr>
          </a:lstStyle>
          <a:p>
            <a:r>
              <a:rPr lang="en-CA" dirty="0" smtClean="0"/>
              <a:t>Additional text…</a:t>
            </a:r>
            <a:endParaRPr lang="en-CA" dirty="0"/>
          </a:p>
        </p:txBody>
      </p:sp>
      <p:sp>
        <p:nvSpPr>
          <p:cNvPr id="8" name="Text Placeholder 9"/>
          <p:cNvSpPr>
            <a:spLocks noGrp="1"/>
          </p:cNvSpPr>
          <p:nvPr>
            <p:ph type="body" sz="quarter" idx="12" hasCustomPrompt="1"/>
          </p:nvPr>
        </p:nvSpPr>
        <p:spPr>
          <a:xfrm>
            <a:off x="377826" y="2239233"/>
            <a:ext cx="8331201" cy="457199"/>
          </a:xfrm>
          <a:prstGeom prst="rect">
            <a:avLst/>
          </a:prstGeom>
        </p:spPr>
        <p:txBody>
          <a:bodyPr lIns="0" tIns="0" rIns="0" bIns="0"/>
          <a:lstStyle>
            <a:lvl1pPr marL="0" marR="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sz="3200" spc="-100" baseline="0">
                <a:solidFill>
                  <a:schemeClr val="bg1"/>
                </a:solidFill>
                <a:latin typeface="+mn-lt"/>
                <a:cs typeface="Arial" panose="020B0604020202020204" pitchFamily="34" charset="0"/>
              </a:defRPr>
            </a:lvl1pPr>
          </a:lstStyle>
          <a:p>
            <a:pPr marL="0" marR="0" lvl="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a:pPr>
            <a:r>
              <a:rPr lang="en-CA" dirty="0" smtClean="0"/>
              <a:t>Subtitle</a:t>
            </a:r>
            <a:endParaRPr lang="en-CA" dirty="0"/>
          </a:p>
        </p:txBody>
      </p:sp>
      <p:sp>
        <p:nvSpPr>
          <p:cNvPr id="9" name="Text Placeholder 4"/>
          <p:cNvSpPr>
            <a:spLocks noGrp="1"/>
          </p:cNvSpPr>
          <p:nvPr>
            <p:ph type="body" sz="quarter" idx="14" hasCustomPrompt="1"/>
          </p:nvPr>
        </p:nvSpPr>
        <p:spPr>
          <a:xfrm>
            <a:off x="377826" y="1492530"/>
            <a:ext cx="8350249" cy="528638"/>
          </a:xfrm>
          <a:prstGeom prst="rect">
            <a:avLst/>
          </a:prstGeom>
        </p:spPr>
        <p:txBody>
          <a:bodyPr lIns="0" tIns="0" rIns="0" bIns="0"/>
          <a:lstStyle>
            <a:lvl1pPr marL="0" indent="0">
              <a:lnSpc>
                <a:spcPts val="5800"/>
              </a:lnSpc>
              <a:spcBef>
                <a:spcPts val="0"/>
              </a:spcBef>
              <a:buNone/>
              <a:defRPr sz="4800" spc="-100" baseline="0">
                <a:solidFill>
                  <a:schemeClr val="bg1"/>
                </a:solidFill>
                <a:latin typeface="+mn-lt"/>
                <a:cs typeface="Arial" panose="020B0604020202020204" pitchFamily="34" charset="0"/>
              </a:defRPr>
            </a:lvl1pPr>
          </a:lstStyle>
          <a:p>
            <a:pPr lvl="0"/>
            <a:r>
              <a:rPr lang="en-US" dirty="0" smtClean="0"/>
              <a:t>Title</a:t>
            </a:r>
            <a:endParaRPr lang="en-CA" dirty="0"/>
          </a:p>
        </p:txBody>
      </p:sp>
    </p:spTree>
    <p:extLst>
      <p:ext uri="{BB962C8B-B14F-4D97-AF65-F5344CB8AC3E}">
        <p14:creationId xmlns:p14="http://schemas.microsoft.com/office/powerpoint/2010/main" val="55142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8" name="Straight Connector 7"/>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11" name="Rectangle 10"/>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4" name="TextBox 13"/>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543919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8"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2" name="Straight Connector 11"/>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2"/>
                </a:solidFill>
                <a:latin typeface="+mn-lt"/>
              </a:rPr>
              <a:pPr/>
              <a:t>‹#›</a:t>
            </a:fld>
            <a:endParaRPr lang="en-CA" sz="900" dirty="0">
              <a:solidFill>
                <a:schemeClr val="bg2"/>
              </a:solidFill>
              <a:latin typeface="+mn-lt"/>
            </a:endParaRPr>
          </a:p>
        </p:txBody>
      </p:sp>
      <p:sp>
        <p:nvSpPr>
          <p:cNvPr id="11" name="TextBox 10"/>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2"/>
                </a:solidFill>
                <a:latin typeface="+mn-lt"/>
                <a:cs typeface="Arial" panose="020B0604020202020204" pitchFamily="34" charset="0"/>
              </a:rPr>
              <a:t>CWB Financial Group</a:t>
            </a:r>
            <a:endParaRPr lang="en-CA" sz="1000" b="1" i="0" dirty="0">
              <a:solidFill>
                <a:schemeClr val="bg2"/>
              </a:solidFill>
              <a:latin typeface="+mn-lt"/>
              <a:cs typeface="Arial" panose="020B0604020202020204" pitchFamily="34" charset="0"/>
            </a:endParaRPr>
          </a:p>
        </p:txBody>
      </p:sp>
    </p:spTree>
    <p:extLst>
      <p:ext uri="{BB962C8B-B14F-4D97-AF65-F5344CB8AC3E}">
        <p14:creationId xmlns:p14="http://schemas.microsoft.com/office/powerpoint/2010/main" val="155288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54960972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65988588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6955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11919402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383015750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256648210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9995237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94867626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14932219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8049324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55167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6"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3"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4"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5"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70531984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57881683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46297484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30348061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65227931"/>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42055084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402450659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52108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1638706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885126746"/>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4144683753"/>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2812960170"/>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267329541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988545723"/>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3054247339"/>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284807"/>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894991171"/>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4049915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800380593"/>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284798816"/>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574599695"/>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863961546"/>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394877654"/>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529132"/>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3874632909"/>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046336842"/>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659578247"/>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986752294"/>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5"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3374922914"/>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10" name="TextBox 9"/>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02556131"/>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Financial Group</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903863610"/>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814675"/>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62267021"/>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438177066"/>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161849436"/>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1433022769"/>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699153721"/>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0088395"/>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4055599425"/>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5608701"/>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3143298180"/>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961612208"/>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5825337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slideLayout" Target="../slideLayouts/slideLayout8.xml"/><Relationship Id="rId7"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7.xml"/><Relationship Id="rId1" Type="http://schemas.openxmlformats.org/officeDocument/2006/relationships/slideLayout" Target="../slideLayouts/slideLayout12.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3.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slideLayout" Target="../slideLayouts/slideLayout16.xml"/><Relationship Id="rId7" Type="http://schemas.openxmlformats.org/officeDocument/2006/relationships/theme" Target="../theme/theme9.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slideLayout" Target="../slideLayouts/slideLayout24.xml"/><Relationship Id="rId7" Type="http://schemas.openxmlformats.org/officeDocument/2006/relationships/theme" Target="../theme/theme1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theme" Target="../theme/theme13.xml"/><Relationship Id="rId1" Type="http://schemas.openxmlformats.org/officeDocument/2006/relationships/slideLayout" Target="../slideLayouts/slideLayout28.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9.xml"/></Relationships>
</file>

<file path=ppt/slideMasters/_rels/slideMaster15.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slideLayout" Target="../slideLayouts/slideLayout32.xml"/><Relationship Id="rId7" Type="http://schemas.openxmlformats.org/officeDocument/2006/relationships/theme" Target="../theme/theme15.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theme" Target="../theme/theme16.xml"/><Relationship Id="rId1" Type="http://schemas.openxmlformats.org/officeDocument/2006/relationships/slideLayout" Target="../slideLayouts/slideLayout3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37.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slideLayout" Target="../slideLayouts/slideLayout40.xml"/><Relationship Id="rId7" Type="http://schemas.openxmlformats.org/officeDocument/2006/relationships/theme" Target="../theme/theme18.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theme" Target="../theme/theme19.xml"/><Relationship Id="rId1" Type="http://schemas.openxmlformats.org/officeDocument/2006/relationships/slideLayout" Target="../slideLayouts/slideLayout44.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45.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slideLayout" Target="../slideLayouts/slideLayout48.xml"/><Relationship Id="rId7" Type="http://schemas.openxmlformats.org/officeDocument/2006/relationships/theme" Target="../theme/theme21.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theme" Target="../theme/theme22.xml"/><Relationship Id="rId1" Type="http://schemas.openxmlformats.org/officeDocument/2006/relationships/slideLayout" Target="../slideLayouts/slideLayout52.xml"/></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theme" Target="../theme/theme23.xml"/><Relationship Id="rId1" Type="http://schemas.openxmlformats.org/officeDocument/2006/relationships/slideLayout" Target="../slideLayouts/slideLayout53.xml"/></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theme" Target="../theme/theme24.xml"/><Relationship Id="rId1" Type="http://schemas.openxmlformats.org/officeDocument/2006/relationships/slideLayout" Target="../slideLayouts/slideLayout54.xml"/></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theme" Target="../theme/theme25.xml"/><Relationship Id="rId1" Type="http://schemas.openxmlformats.org/officeDocument/2006/relationships/slideLayout" Target="../slideLayouts/slideLayout55.xml"/></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theme" Target="../theme/theme26.xml"/><Relationship Id="rId1" Type="http://schemas.openxmlformats.org/officeDocument/2006/relationships/slideLayout" Target="../slideLayouts/slideLayout56.xml"/></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theme" Target="../theme/theme27.xml"/><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5142574"/>
      </p:ext>
    </p:extLst>
  </p:cSld>
  <p:clrMap bg1="lt1" tx1="dk1" bg2="lt2" tx2="dk2" accent1="accent1" accent2="accent2" accent3="accent3" accent4="accent4" accent5="accent5" accent6="accent6" hlink="hlink" folHlink="folHlink"/>
  <p:sldLayoutIdLst>
    <p:sldLayoutId id="21474838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546065"/>
      </p:ext>
    </p:extLst>
  </p:cSld>
  <p:clrMap bg1="lt1" tx1="dk1" bg2="lt2" tx2="dk2" accent1="accent1" accent2="accent2" accent3="accent3" accent4="accent4" accent5="accent5" accent6="accent6" hlink="hlink" folHlink="folHlink"/>
  <p:sldLayoutIdLst>
    <p:sldLayoutId id="214748370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DA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573354188"/>
      </p:ext>
    </p:extLst>
  </p:cSld>
  <p:clrMap bg1="lt1" tx1="dk1" bg2="lt2" tx2="dk2" accent1="accent1" accent2="accent2" accent3="accent3" accent4="accent4" accent5="accent5" accent6="accent6" hlink="hlink" folHlink="folHlink"/>
  <p:sldLayoutIdLst>
    <p:sldLayoutId id="214748371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0278093"/>
      </p:ext>
    </p:extLst>
  </p:cSld>
  <p:clrMap bg1="lt1" tx1="dk1" bg2="lt2" tx2="dk2" accent1="accent1" accent2="accent2" accent3="accent3" accent4="accent4" accent5="accent5" accent6="accent6" hlink="hlink" folHlink="folHlink"/>
  <p:sldLayoutIdLst>
    <p:sldLayoutId id="214748370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97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3332467499"/>
      </p:ext>
    </p:extLst>
  </p:cSld>
  <p:clrMap bg1="lt1" tx1="dk1" bg2="lt2" tx2="dk2" accent1="accent1" accent2="accent2" accent3="accent3" accent4="accent4" accent5="accent5" accent6="accent6" hlink="hlink" folHlink="folHlink"/>
  <p:sldLayoutIdLst>
    <p:sldLayoutId id="214748371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72272116"/>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744423"/>
      </p:ext>
    </p:extLst>
  </p:cSld>
  <p:clrMap bg1="lt1" tx1="dk1" bg2="lt2" tx2="dk2" accent1="accent1" accent2="accent2" accent3="accent3" accent4="accent4" accent5="accent5" accent6="accent6" hlink="hlink" folHlink="folHlink"/>
  <p:sldLayoutIdLst>
    <p:sldLayoutId id="214748375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3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2153101462"/>
      </p:ext>
    </p:extLst>
  </p:cSld>
  <p:clrMap bg1="lt1" tx1="dk1" bg2="lt2" tx2="dk2" accent1="accent1" accent2="accent2" accent3="accent3" accent4="accent4" accent5="accent5" accent6="accent6" hlink="hlink" folHlink="folHlink"/>
  <p:sldLayoutIdLst>
    <p:sldLayoutId id="214748371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744586973"/>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460356"/>
      </p:ext>
    </p:extLst>
  </p:cSld>
  <p:clrMap bg1="lt1" tx1="dk1" bg2="lt2" tx2="dk2" accent1="accent1" accent2="accent2" accent3="accent3" accent4="accent4" accent5="accent5" accent6="accent6" hlink="hlink" folHlink="folHlink"/>
  <p:sldLayoutIdLst>
    <p:sldLayoutId id="214748378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2DC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897024473"/>
      </p:ext>
    </p:extLst>
  </p:cSld>
  <p:clrMap bg1="lt1" tx1="dk1" bg2="lt2" tx2="dk2" accent1="accent1" accent2="accent2" accent3="accent3" accent4="accent4" accent5="accent5" accent6="accent6" hlink="hlink" folHlink="folHlink"/>
  <p:sldLayoutIdLst>
    <p:sldLayoutId id="214748370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55959956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07009"/>
      </p:ext>
    </p:extLst>
  </p:cSld>
  <p:clrMap bg1="lt1" tx1="dk1" bg2="lt2" tx2="dk2" accent1="accent1" accent2="accent2" accent3="accent3" accent4="accent4" accent5="accent5" accent6="accent6" hlink="hlink" folHlink="folHlink"/>
  <p:sldLayoutIdLst>
    <p:sldLayoutId id="214748378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847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532821706"/>
      </p:ext>
    </p:extLst>
  </p:cSld>
  <p:clrMap bg1="lt1" tx1="dk1" bg2="lt2" tx2="dk2" accent1="accent1" accent2="accent2" accent3="accent3" accent4="accent4" accent5="accent5" accent6="accent6" hlink="hlink" folHlink="folHlink"/>
  <p:sldLayoutIdLst>
    <p:sldLayoutId id="214748371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2058317394"/>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063736"/>
      </p:ext>
    </p:extLst>
  </p:cSld>
  <p:clrMap bg1="lt1" tx1="dk1" bg2="lt2" tx2="dk2" accent1="accent1" accent2="accent2" accent3="accent3" accent4="accent4" accent5="accent5" accent6="accent6" hlink="hlink" folHlink="folHlink"/>
  <p:sldLayoutIdLst>
    <p:sldLayoutId id="214748376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F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887820131"/>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036069523"/>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993187"/>
      </p:ext>
    </p:extLst>
  </p:cSld>
  <p:clrMap bg1="lt1" tx1="dk1" bg2="lt2" tx2="dk2" accent1="accent1" accent2="accent2" accent3="accent3" accent4="accent4" accent5="accent5" accent6="accent6" hlink="hlink" folHlink="folHlink"/>
  <p:sldLayoutIdLst>
    <p:sldLayoutId id="214748377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BAC5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935047417"/>
      </p:ext>
    </p:extLst>
  </p:cSld>
  <p:clrMap bg1="lt1" tx1="dk1" bg2="lt2" tx2="dk2" accent1="accent1" accent2="accent2" accent3="accent3" accent4="accent4" accent5="accent5" accent6="accent6" hlink="hlink" folHlink="folHlink"/>
  <p:sldLayoutIdLst>
    <p:sldLayoutId id="214748372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tx1"/>
                </a:solidFill>
                <a:latin typeface="+mn-lt"/>
              </a:rPr>
              <a:pPr/>
              <a:t>‹#›</a:t>
            </a:fld>
            <a:endParaRPr lang="en-CA" sz="900" dirty="0">
              <a:solidFill>
                <a:schemeClr val="tx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Financial Group</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87765783"/>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0771605"/>
      </p:ext>
    </p:extLst>
  </p:cSld>
  <p:clrMap bg1="lt1" tx1="dk1" bg2="lt2" tx2="dk2" accent1="accent1" accent2="accent2" accent3="accent3" accent4="accent4" accent5="accent5" accent6="accent6" hlink="hlink" folHlink="folHlink"/>
  <p:sldLayoutIdLst>
    <p:sldLayoutId id="214748373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3352500"/>
      </p:ext>
    </p:extLst>
  </p:cSld>
  <p:clrMap bg1="lt1" tx1="dk1" bg2="lt2" tx2="dk2" accent1="accent1" accent2="accent2" accent3="accent3" accent4="accent4" accent5="accent5" accent6="accent6" hlink="hlink" folHlink="folHlink"/>
  <p:sldLayoutIdLst>
    <p:sldLayoutId id="214748379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643481"/>
      </p:ext>
    </p:extLst>
  </p:cSld>
  <p:clrMap bg1="lt1" tx1="dk1" bg2="lt2" tx2="dk2" accent1="accent1" accent2="accent2" accent3="accent3" accent4="accent4" accent5="accent5" accent6="accent6" hlink="hlink" folHlink="folHlink"/>
  <p:sldLayoutIdLst>
    <p:sldLayoutId id="214748384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127727"/>
      </p:ext>
    </p:extLst>
  </p:cSld>
  <p:clrMap bg1="lt1" tx1="dk1" bg2="lt2" tx2="dk2" accent1="accent1" accent2="accent2" accent3="accent3" accent4="accent4" accent5="accent5" accent6="accent6" hlink="hlink" folHlink="folHlink"/>
  <p:sldLayoutIdLst>
    <p:sldLayoutId id="214748372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766615"/>
      </p:ext>
    </p:extLst>
  </p:cSld>
  <p:clrMap bg1="lt1" tx1="dk1" bg2="lt2" tx2="dk2" accent1="accent1" accent2="accent2" accent3="accent3" accent4="accent4" accent5="accent5" accent6="accent6" hlink="hlink" folHlink="folHlink"/>
  <p:sldLayoutIdLst>
    <p:sldLayoutId id="214748372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60870"/>
      </p:ext>
    </p:extLst>
  </p:cSld>
  <p:clrMap bg1="lt1" tx1="dk1" bg2="lt2" tx2="dk2" accent1="accent1" accent2="accent2" accent3="accent3" accent4="accent4" accent5="accent5" accent6="accent6" hlink="hlink" folHlink="folHlink"/>
  <p:sldLayoutIdLst>
    <p:sldLayoutId id="214748379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6.xml"/><Relationship Id="rId6" Type="http://schemas.openxmlformats.org/officeDocument/2006/relationships/hyperlink" Target="https://www.atlassian.com/software/jira"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hyperlink" Target="mailto:Genevieve.Parrent@cwbank.com" TargetMode="External"/><Relationship Id="rId2" Type="http://schemas.openxmlformats.org/officeDocument/2006/relationships/hyperlink" Target="https://support.avoka.com/tickets/login.jsp?permissionViolation=true&amp;os_destination=%2Fsecure%2FViewProfile.jspa&amp;page_caps=&amp;user_role=" TargetMode="Externa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mailto:FirstName.LastName@cwbank.com" TargetMode="Externa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6.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hyperlink" Target="https://www.atlassian.com/resources" TargetMode="Externa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Digital Program – Temenos Jira Overview</a:t>
            </a:r>
            <a:endParaRPr lang="en-CA" sz="3200" dirty="0"/>
          </a:p>
        </p:txBody>
      </p:sp>
      <p:sp>
        <p:nvSpPr>
          <p:cNvPr id="3" name="Title 1"/>
          <p:cNvSpPr txBox="1">
            <a:spLocks/>
          </p:cNvSpPr>
          <p:nvPr/>
        </p:nvSpPr>
        <p:spPr>
          <a:xfrm>
            <a:off x="7078834" y="4501064"/>
            <a:ext cx="2118260" cy="360005"/>
          </a:xfrm>
          <a:prstGeom prst="rect">
            <a:avLst/>
          </a:prstGeom>
        </p:spPr>
        <p:txBody>
          <a:bodyPr/>
          <a:lstStyle>
            <a:lvl1pPr algn="l" defTabSz="914400" rtl="0" eaLnBrk="1" latinLnBrk="0" hangingPunct="1">
              <a:lnSpc>
                <a:spcPct val="90000"/>
              </a:lnSpc>
              <a:spcBef>
                <a:spcPct val="0"/>
              </a:spcBef>
              <a:buNone/>
              <a:defRPr sz="3600" b="1" kern="1200" baseline="0">
                <a:solidFill>
                  <a:schemeClr val="bg1"/>
                </a:solidFill>
                <a:latin typeface="+mn-lt"/>
                <a:ea typeface="+mj-ea"/>
                <a:cs typeface="+mj-cs"/>
              </a:defRPr>
            </a:lvl1pPr>
          </a:lstStyle>
          <a:p>
            <a:r>
              <a:rPr lang="en-US" sz="2000" dirty="0" smtClean="0"/>
              <a:t>2020-05-12</a:t>
            </a:r>
            <a:endParaRPr lang="en-CA" sz="2000" dirty="0"/>
          </a:p>
        </p:txBody>
      </p:sp>
    </p:spTree>
    <p:extLst>
      <p:ext uri="{BB962C8B-B14F-4D97-AF65-F5344CB8AC3E}">
        <p14:creationId xmlns:p14="http://schemas.microsoft.com/office/powerpoint/2010/main" val="6336509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406203" y="865977"/>
            <a:ext cx="8280401" cy="2681022"/>
          </a:xfrm>
        </p:spPr>
        <p:txBody>
          <a:bodyPr/>
          <a:lstStyle/>
          <a:p>
            <a:r>
              <a:rPr lang="en-US" dirty="0" smtClean="0"/>
              <a:t>About JIRA</a:t>
            </a:r>
          </a:p>
          <a:p>
            <a:r>
              <a:rPr lang="en-US" dirty="0" smtClean="0"/>
              <a:t>Purpose &amp; Caveats for using Temenos Jira</a:t>
            </a:r>
          </a:p>
          <a:p>
            <a:r>
              <a:rPr lang="en-US" dirty="0" smtClean="0"/>
              <a:t>Connecting to Temenos Jira</a:t>
            </a:r>
          </a:p>
          <a:p>
            <a:r>
              <a:rPr lang="en-US" dirty="0" smtClean="0"/>
              <a:t>First Steps</a:t>
            </a:r>
          </a:p>
          <a:p>
            <a:r>
              <a:rPr lang="en-US" dirty="0" smtClean="0"/>
              <a:t>Working Views</a:t>
            </a:r>
          </a:p>
          <a:p>
            <a:r>
              <a:rPr lang="en-US" dirty="0" smtClean="0"/>
              <a:t>Hands on Exercise</a:t>
            </a:r>
          </a:p>
          <a:p>
            <a:r>
              <a:rPr lang="en-US" dirty="0" smtClean="0"/>
              <a:t>CWB Jira Help Available</a:t>
            </a:r>
            <a:endParaRPr lang="en-CA" dirty="0"/>
          </a:p>
        </p:txBody>
      </p:sp>
      <p:sp>
        <p:nvSpPr>
          <p:cNvPr id="6" name="Text Placeholder 5"/>
          <p:cNvSpPr>
            <a:spLocks noGrp="1"/>
          </p:cNvSpPr>
          <p:nvPr>
            <p:ph type="body" sz="quarter" idx="12"/>
          </p:nvPr>
        </p:nvSpPr>
        <p:spPr>
          <a:xfrm>
            <a:off x="406203" y="164199"/>
            <a:ext cx="8280401" cy="397483"/>
          </a:xfrm>
        </p:spPr>
        <p:txBody>
          <a:bodyPr/>
          <a:lstStyle/>
          <a:p>
            <a:r>
              <a:rPr lang="en-US" dirty="0" smtClean="0"/>
              <a:t>Contents</a:t>
            </a:r>
            <a:endParaRPr lang="en-CA" dirty="0"/>
          </a:p>
        </p:txBody>
      </p:sp>
    </p:spTree>
    <p:extLst>
      <p:ext uri="{BB962C8B-B14F-4D97-AF65-F5344CB8AC3E}">
        <p14:creationId xmlns:p14="http://schemas.microsoft.com/office/powerpoint/2010/main" val="115515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About Jira</a:t>
            </a:r>
            <a:endParaRPr lang="en-CA" dirty="0"/>
          </a:p>
        </p:txBody>
      </p:sp>
      <p:pic>
        <p:nvPicPr>
          <p:cNvPr id="3" name="Picture 2"/>
          <p:cNvPicPr>
            <a:picLocks noChangeAspect="1"/>
          </p:cNvPicPr>
          <p:nvPr/>
        </p:nvPicPr>
        <p:blipFill>
          <a:blip r:embed="rId2"/>
          <a:stretch>
            <a:fillRect/>
          </a:stretch>
        </p:blipFill>
        <p:spPr>
          <a:xfrm>
            <a:off x="479686" y="752965"/>
            <a:ext cx="1670378" cy="851727"/>
          </a:xfrm>
          <a:prstGeom prst="rect">
            <a:avLst/>
          </a:prstGeom>
        </p:spPr>
      </p:pic>
      <p:pic>
        <p:nvPicPr>
          <p:cNvPr id="8" name="Picture 7"/>
          <p:cNvPicPr>
            <a:picLocks noChangeAspect="1"/>
          </p:cNvPicPr>
          <p:nvPr/>
        </p:nvPicPr>
        <p:blipFill>
          <a:blip r:embed="rId3"/>
          <a:stretch>
            <a:fillRect/>
          </a:stretch>
        </p:blipFill>
        <p:spPr>
          <a:xfrm>
            <a:off x="2981190" y="561682"/>
            <a:ext cx="5628722" cy="3310224"/>
          </a:xfrm>
          <a:prstGeom prst="rect">
            <a:avLst/>
          </a:prstGeom>
        </p:spPr>
      </p:pic>
      <p:pic>
        <p:nvPicPr>
          <p:cNvPr id="9" name="Picture 8"/>
          <p:cNvPicPr>
            <a:picLocks noChangeAspect="1"/>
          </p:cNvPicPr>
          <p:nvPr/>
        </p:nvPicPr>
        <p:blipFill>
          <a:blip r:embed="rId4"/>
          <a:stretch>
            <a:fillRect/>
          </a:stretch>
        </p:blipFill>
        <p:spPr>
          <a:xfrm>
            <a:off x="479686" y="1795975"/>
            <a:ext cx="2267871" cy="720679"/>
          </a:xfrm>
          <a:prstGeom prst="rect">
            <a:avLst/>
          </a:prstGeom>
        </p:spPr>
      </p:pic>
      <p:pic>
        <p:nvPicPr>
          <p:cNvPr id="10" name="Picture 9"/>
          <p:cNvPicPr>
            <a:picLocks noChangeAspect="1"/>
          </p:cNvPicPr>
          <p:nvPr/>
        </p:nvPicPr>
        <p:blipFill>
          <a:blip r:embed="rId5"/>
          <a:stretch>
            <a:fillRect/>
          </a:stretch>
        </p:blipFill>
        <p:spPr>
          <a:xfrm>
            <a:off x="479686" y="2768192"/>
            <a:ext cx="2286491" cy="611045"/>
          </a:xfrm>
          <a:prstGeom prst="rect">
            <a:avLst/>
          </a:prstGeom>
        </p:spPr>
      </p:pic>
      <p:sp>
        <p:nvSpPr>
          <p:cNvPr id="11" name="TextBox 10"/>
          <p:cNvSpPr txBox="1"/>
          <p:nvPr/>
        </p:nvSpPr>
        <p:spPr>
          <a:xfrm>
            <a:off x="398761" y="4131273"/>
            <a:ext cx="7131696" cy="369332"/>
          </a:xfrm>
          <a:prstGeom prst="rect">
            <a:avLst/>
          </a:prstGeom>
          <a:noFill/>
        </p:spPr>
        <p:txBody>
          <a:bodyPr wrap="none" rtlCol="0">
            <a:spAutoFit/>
          </a:bodyPr>
          <a:lstStyle/>
          <a:p>
            <a:r>
              <a:rPr lang="en-US" dirty="0" smtClean="0"/>
              <a:t>“Atlassian Jira is one of the most prevalent tracking tools used in Canada.” </a:t>
            </a:r>
            <a:endParaRPr lang="en-CA" dirty="0"/>
          </a:p>
        </p:txBody>
      </p:sp>
      <p:sp>
        <p:nvSpPr>
          <p:cNvPr id="13" name="Rounded Rectangle 12">
            <a:hlinkClick r:id="rId6"/>
          </p:cNvPr>
          <p:cNvSpPr/>
          <p:nvPr/>
        </p:nvSpPr>
        <p:spPr>
          <a:xfrm>
            <a:off x="1124435" y="3512045"/>
            <a:ext cx="996991" cy="35986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900" dirty="0" smtClean="0"/>
              <a:t>Click for more info</a:t>
            </a:r>
            <a:endParaRPr lang="en-CA" sz="900" dirty="0"/>
          </a:p>
        </p:txBody>
      </p:sp>
    </p:spTree>
    <p:extLst>
      <p:ext uri="{BB962C8B-B14F-4D97-AF65-F5344CB8AC3E}">
        <p14:creationId xmlns:p14="http://schemas.microsoft.com/office/powerpoint/2010/main" val="394244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Purpose</a:t>
            </a:r>
            <a:endParaRPr lang="en-CA" dirty="0"/>
          </a:p>
        </p:txBody>
      </p:sp>
      <p:pic>
        <p:nvPicPr>
          <p:cNvPr id="9" name="Picture 8"/>
          <p:cNvPicPr>
            <a:picLocks noChangeAspect="1"/>
          </p:cNvPicPr>
          <p:nvPr/>
        </p:nvPicPr>
        <p:blipFill>
          <a:blip r:embed="rId2"/>
          <a:stretch>
            <a:fillRect/>
          </a:stretch>
        </p:blipFill>
        <p:spPr>
          <a:xfrm>
            <a:off x="488995" y="1123449"/>
            <a:ext cx="2267871" cy="720679"/>
          </a:xfrm>
          <a:prstGeom prst="rect">
            <a:avLst/>
          </a:prstGeom>
        </p:spPr>
      </p:pic>
      <p:pic>
        <p:nvPicPr>
          <p:cNvPr id="10" name="Picture 9"/>
          <p:cNvPicPr>
            <a:picLocks noChangeAspect="1"/>
          </p:cNvPicPr>
          <p:nvPr/>
        </p:nvPicPr>
        <p:blipFill>
          <a:blip r:embed="rId3"/>
          <a:stretch>
            <a:fillRect/>
          </a:stretch>
        </p:blipFill>
        <p:spPr>
          <a:xfrm>
            <a:off x="479686" y="2768192"/>
            <a:ext cx="2286491" cy="611045"/>
          </a:xfrm>
          <a:prstGeom prst="rect">
            <a:avLst/>
          </a:prstGeom>
        </p:spPr>
      </p:pic>
      <p:sp>
        <p:nvSpPr>
          <p:cNvPr id="11" name="TextBox 10"/>
          <p:cNvSpPr txBox="1"/>
          <p:nvPr/>
        </p:nvSpPr>
        <p:spPr>
          <a:xfrm>
            <a:off x="3525420" y="661783"/>
            <a:ext cx="5161184" cy="1477328"/>
          </a:xfrm>
          <a:prstGeom prst="rect">
            <a:avLst/>
          </a:prstGeom>
          <a:noFill/>
        </p:spPr>
        <p:txBody>
          <a:bodyPr wrap="square" rtlCol="0">
            <a:spAutoFit/>
          </a:bodyPr>
          <a:lstStyle/>
          <a:p>
            <a:pPr marL="285750" indent="-285750">
              <a:buFont typeface="Arial" panose="020B0604020202020204" pitchFamily="34" charset="0"/>
              <a:buChar char="•"/>
            </a:pPr>
            <a:r>
              <a:rPr lang="en-US" dirty="0" smtClean="0"/>
              <a:t>The CWB Digital Program will be using the Temenos CWB Planning project for the purposes of planning and tracking our work across multiple partners and two major work streams (DCO, Digital Banking)</a:t>
            </a:r>
            <a:endParaRPr lang="en-CA" dirty="0"/>
          </a:p>
        </p:txBody>
      </p:sp>
      <p:sp>
        <p:nvSpPr>
          <p:cNvPr id="12" name="TextBox 11"/>
          <p:cNvSpPr txBox="1"/>
          <p:nvPr/>
        </p:nvSpPr>
        <p:spPr>
          <a:xfrm>
            <a:off x="3666021" y="2239213"/>
            <a:ext cx="5161184" cy="2308324"/>
          </a:xfrm>
          <a:prstGeom prst="rect">
            <a:avLst/>
          </a:prstGeom>
          <a:noFill/>
        </p:spPr>
        <p:txBody>
          <a:bodyPr wrap="square" rtlCol="0">
            <a:spAutoFit/>
          </a:bodyPr>
          <a:lstStyle/>
          <a:p>
            <a:pPr marL="285750" indent="-285750">
              <a:buFont typeface="Arial" panose="020B0604020202020204" pitchFamily="34" charset="0"/>
              <a:buChar char="•"/>
            </a:pPr>
            <a:r>
              <a:rPr lang="en-US" sz="1200" dirty="0" smtClean="0"/>
              <a:t>Rather than being prescriptive, the use of this project and board will evolve as the team learns, understands and optimizes Jira usage.</a:t>
            </a:r>
          </a:p>
          <a:p>
            <a:pPr marL="285750" indent="-285750">
              <a:buFont typeface="Arial" panose="020B0604020202020204" pitchFamily="34" charset="0"/>
              <a:buChar char="•"/>
            </a:pPr>
            <a:endParaRPr lang="en-US" sz="1200" dirty="0" smtClean="0"/>
          </a:p>
          <a:p>
            <a:pPr marL="285750" indent="-285750">
              <a:buFont typeface="Arial" panose="020B0604020202020204" pitchFamily="34" charset="0"/>
              <a:buChar char="•"/>
            </a:pPr>
            <a:r>
              <a:rPr lang="en-US" sz="1200" dirty="0" smtClean="0"/>
              <a:t>Add any tasks under the relevant tickets to ensure it doesn’t get lost.</a:t>
            </a:r>
          </a:p>
          <a:p>
            <a:pPr marL="285750" indent="-285750">
              <a:buFont typeface="Arial" panose="020B0604020202020204" pitchFamily="34" charset="0"/>
              <a:buChar char="•"/>
            </a:pPr>
            <a:endParaRPr lang="en-US" sz="1200" dirty="0" smtClean="0"/>
          </a:p>
          <a:p>
            <a:pPr marL="285750" indent="-285750">
              <a:buFont typeface="Arial" panose="020B0604020202020204" pitchFamily="34" charset="0"/>
              <a:buChar char="•"/>
            </a:pPr>
            <a:r>
              <a:rPr lang="en-US" sz="1200" dirty="0" smtClean="0"/>
              <a:t>Once created, a ticket can be moved from different Jira projects (like DCO and Digital Banking) or copies can be created when one ticket spans projects.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smtClean="0"/>
              <a:t>Tickets can be linked to show relationships.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smtClean="0"/>
              <a:t>Your usage and the team’s usage will grow and evolve.</a:t>
            </a:r>
            <a:endParaRPr lang="en-CA" sz="1200" dirty="0"/>
          </a:p>
        </p:txBody>
      </p:sp>
    </p:spTree>
    <p:extLst>
      <p:ext uri="{BB962C8B-B14F-4D97-AF65-F5344CB8AC3E}">
        <p14:creationId xmlns:p14="http://schemas.microsoft.com/office/powerpoint/2010/main" val="4019393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Caveats</a:t>
            </a:r>
            <a:endParaRPr lang="en-CA" dirty="0"/>
          </a:p>
        </p:txBody>
      </p:sp>
      <p:sp>
        <p:nvSpPr>
          <p:cNvPr id="11" name="TextBox 10"/>
          <p:cNvSpPr txBox="1"/>
          <p:nvPr/>
        </p:nvSpPr>
        <p:spPr>
          <a:xfrm>
            <a:off x="3525420" y="661783"/>
            <a:ext cx="5161184" cy="923330"/>
          </a:xfrm>
          <a:prstGeom prst="rect">
            <a:avLst/>
          </a:prstGeom>
          <a:noFill/>
        </p:spPr>
        <p:txBody>
          <a:bodyPr wrap="square" rtlCol="0">
            <a:spAutoFit/>
          </a:bodyPr>
          <a:lstStyle/>
          <a:p>
            <a:pPr marL="285750" indent="-285750">
              <a:buFont typeface="Arial" panose="020B0604020202020204" pitchFamily="34" charset="0"/>
              <a:buChar char="•"/>
            </a:pPr>
            <a:r>
              <a:rPr lang="en-US" dirty="0" smtClean="0"/>
              <a:t>Do not place any sensitive material on Jira. This includes security issues, architecture documents, customer data, etc. Let common-sense prevail.</a:t>
            </a:r>
            <a:endParaRPr lang="en-CA" dirty="0"/>
          </a:p>
        </p:txBody>
      </p:sp>
      <p:sp>
        <p:nvSpPr>
          <p:cNvPr id="12" name="TextBox 11"/>
          <p:cNvSpPr txBox="1"/>
          <p:nvPr/>
        </p:nvSpPr>
        <p:spPr>
          <a:xfrm>
            <a:off x="3666021" y="2239213"/>
            <a:ext cx="5161184" cy="1384995"/>
          </a:xfrm>
          <a:prstGeom prst="rect">
            <a:avLst/>
          </a:prstGeom>
          <a:noFill/>
        </p:spPr>
        <p:txBody>
          <a:bodyPr wrap="square" rtlCol="0">
            <a:spAutoFit/>
          </a:bodyPr>
          <a:lstStyle/>
          <a:p>
            <a:pPr marL="285750" indent="-285750">
              <a:buFont typeface="Arial" panose="020B0604020202020204" pitchFamily="34" charset="0"/>
              <a:buChar char="•"/>
            </a:pPr>
            <a:r>
              <a:rPr lang="en-US" sz="1200" dirty="0" smtClean="0"/>
              <a:t>At the end of each project, we will extract the tickets and relevant information as project artifacts.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smtClean="0"/>
              <a:t>Not all information will be saved, attachments for example.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smtClean="0"/>
              <a:t>You will be driven crazy by all the views, options, functionality, etc. that Jira has to offer. And amazed too.</a:t>
            </a:r>
            <a:endParaRPr lang="en-CA" sz="1200" dirty="0"/>
          </a:p>
        </p:txBody>
      </p:sp>
      <p:sp>
        <p:nvSpPr>
          <p:cNvPr id="4" name="Oval 3"/>
          <p:cNvSpPr/>
          <p:nvPr/>
        </p:nvSpPr>
        <p:spPr>
          <a:xfrm>
            <a:off x="3075420" y="755116"/>
            <a:ext cx="450000" cy="450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smtClean="0"/>
              <a:t>!</a:t>
            </a:r>
            <a:endParaRPr lang="en-CA" sz="4000" dirty="0"/>
          </a:p>
        </p:txBody>
      </p:sp>
      <p:sp>
        <p:nvSpPr>
          <p:cNvPr id="13" name="Oval 12"/>
          <p:cNvSpPr/>
          <p:nvPr/>
        </p:nvSpPr>
        <p:spPr>
          <a:xfrm>
            <a:off x="3220026" y="3180108"/>
            <a:ext cx="270000" cy="2700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t>
            </a:r>
            <a:endParaRPr lang="en-CA" dirty="0"/>
          </a:p>
        </p:txBody>
      </p:sp>
    </p:spTree>
    <p:extLst>
      <p:ext uri="{BB962C8B-B14F-4D97-AF65-F5344CB8AC3E}">
        <p14:creationId xmlns:p14="http://schemas.microsoft.com/office/powerpoint/2010/main" val="3599834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Connecting to Temenos Jira</a:t>
            </a:r>
            <a:endParaRPr lang="en-CA" dirty="0"/>
          </a:p>
        </p:txBody>
      </p:sp>
      <p:sp>
        <p:nvSpPr>
          <p:cNvPr id="7" name="Rounded Rectangle 6">
            <a:hlinkClick r:id="rId2"/>
          </p:cNvPr>
          <p:cNvSpPr/>
          <p:nvPr/>
        </p:nvSpPr>
        <p:spPr>
          <a:xfrm>
            <a:off x="563996" y="904531"/>
            <a:ext cx="996991" cy="35986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900" dirty="0" smtClean="0"/>
              <a:t>Click to Connect</a:t>
            </a:r>
            <a:endParaRPr lang="en-CA" sz="900" dirty="0"/>
          </a:p>
        </p:txBody>
      </p:sp>
      <p:sp>
        <p:nvSpPr>
          <p:cNvPr id="2" name="TextBox 1"/>
          <p:cNvSpPr txBox="1"/>
          <p:nvPr/>
        </p:nvSpPr>
        <p:spPr>
          <a:xfrm>
            <a:off x="1763907" y="904531"/>
            <a:ext cx="7097351" cy="646331"/>
          </a:xfrm>
          <a:prstGeom prst="rect">
            <a:avLst/>
          </a:prstGeom>
          <a:noFill/>
        </p:spPr>
        <p:txBody>
          <a:bodyPr wrap="square" rtlCol="0">
            <a:spAutoFit/>
          </a:bodyPr>
          <a:lstStyle/>
          <a:p>
            <a:r>
              <a:rPr lang="en-US" dirty="0"/>
              <a:t>Temenos Jira </a:t>
            </a:r>
            <a:r>
              <a:rPr lang="en-US" dirty="0" smtClean="0"/>
              <a:t>URL</a:t>
            </a:r>
            <a:endParaRPr lang="en-US" dirty="0"/>
          </a:p>
          <a:p>
            <a:r>
              <a:rPr lang="en-CA" dirty="0"/>
              <a:t>https://support.avoka.com/tickets/login.jsp?</a:t>
            </a:r>
          </a:p>
        </p:txBody>
      </p:sp>
      <p:sp>
        <p:nvSpPr>
          <p:cNvPr id="3" name="Rectangle 2"/>
          <p:cNvSpPr/>
          <p:nvPr/>
        </p:nvSpPr>
        <p:spPr>
          <a:xfrm>
            <a:off x="1763907" y="2276894"/>
            <a:ext cx="2631965" cy="1815882"/>
          </a:xfrm>
          <a:prstGeom prst="rect">
            <a:avLst/>
          </a:prstGeom>
        </p:spPr>
        <p:txBody>
          <a:bodyPr wrap="square">
            <a:spAutoFit/>
          </a:bodyPr>
          <a:lstStyle/>
          <a:p>
            <a:r>
              <a:rPr lang="en-CA" sz="800" dirty="0"/>
              <a:t>Adam Skoreyko &lt;Adam.Skoreyko@cwbank.com&gt;</a:t>
            </a:r>
          </a:p>
          <a:p>
            <a:r>
              <a:rPr lang="en-CA" sz="800" dirty="0"/>
              <a:t>Adrian Crisp &lt;Adrian.Crisp@cwbank.com&gt;</a:t>
            </a:r>
          </a:p>
          <a:p>
            <a:r>
              <a:rPr lang="en-CA" sz="800" dirty="0"/>
              <a:t>Alka Patnaik &lt;Alka.Patnaik@cwbank.com&gt;</a:t>
            </a:r>
          </a:p>
          <a:p>
            <a:r>
              <a:rPr lang="en-CA" sz="800" dirty="0"/>
              <a:t>Andrew Petesky &lt;Andrew.Petesky@cwbank.com&gt;</a:t>
            </a:r>
          </a:p>
          <a:p>
            <a:r>
              <a:rPr lang="en-CA" sz="800" dirty="0"/>
              <a:t>Brad Miller &lt;Brad.Miller@cwbank.com&gt;</a:t>
            </a:r>
          </a:p>
          <a:p>
            <a:r>
              <a:rPr lang="en-CA" sz="800" dirty="0"/>
              <a:t>Brian Coghlan &lt;Brian.Coghlan@cwbank.com&gt;</a:t>
            </a:r>
          </a:p>
          <a:p>
            <a:r>
              <a:rPr lang="en-CA" sz="800" dirty="0"/>
              <a:t>Candyse Watkinson &lt;Candyse.Watkinson@cwbank.com&gt;</a:t>
            </a:r>
          </a:p>
          <a:p>
            <a:r>
              <a:rPr lang="en-CA" sz="800" dirty="0"/>
              <a:t>Charlotte Morgan &lt;Charlotte.Morgan@cwbank.com&gt;</a:t>
            </a:r>
          </a:p>
          <a:p>
            <a:r>
              <a:rPr lang="en-CA" sz="800" dirty="0"/>
              <a:t>Chix Dela Luna &lt;Chix.DelaLuna@cwbank.com&gt;</a:t>
            </a:r>
          </a:p>
          <a:p>
            <a:r>
              <a:rPr lang="en-CA" sz="800" dirty="0"/>
              <a:t>Dino Noce &lt;Dino.Noce@cwbank.com&gt;</a:t>
            </a:r>
          </a:p>
          <a:p>
            <a:r>
              <a:rPr lang="en-CA" sz="800" dirty="0"/>
              <a:t>Efosa Okonkwo &lt;Efosa.Okonkwo@cwbank.com&gt;</a:t>
            </a:r>
          </a:p>
          <a:p>
            <a:r>
              <a:rPr lang="en-CA" sz="800" dirty="0"/>
              <a:t>Genevieve Parrent &lt;Genevieve.Parrent@cwbank.com&gt;</a:t>
            </a:r>
          </a:p>
          <a:p>
            <a:r>
              <a:rPr lang="en-CA" sz="800" dirty="0"/>
              <a:t>Jogi Nijjar &lt;Jogi.Nijjar@cwbank.com&gt;</a:t>
            </a:r>
          </a:p>
          <a:p>
            <a:r>
              <a:rPr lang="en-CA" sz="800" dirty="0"/>
              <a:t>Kate Jekabson &lt;Kate.Jekabson@cwbank.com</a:t>
            </a:r>
            <a:r>
              <a:rPr lang="en-CA" sz="800" dirty="0" smtClean="0"/>
              <a:t>&gt;</a:t>
            </a:r>
            <a:endParaRPr lang="en-CA" sz="800" dirty="0"/>
          </a:p>
        </p:txBody>
      </p:sp>
      <p:sp>
        <p:nvSpPr>
          <p:cNvPr id="5" name="Rectangle 4"/>
          <p:cNvSpPr/>
          <p:nvPr/>
        </p:nvSpPr>
        <p:spPr>
          <a:xfrm>
            <a:off x="4395872" y="2276894"/>
            <a:ext cx="2811043" cy="1815882"/>
          </a:xfrm>
          <a:prstGeom prst="rect">
            <a:avLst/>
          </a:prstGeom>
        </p:spPr>
        <p:txBody>
          <a:bodyPr wrap="square">
            <a:spAutoFit/>
          </a:bodyPr>
          <a:lstStyle/>
          <a:p>
            <a:r>
              <a:rPr lang="en-CA" sz="800" dirty="0"/>
              <a:t>Keith King &lt;Keith.King@cwbank.com&gt;</a:t>
            </a:r>
          </a:p>
          <a:p>
            <a:r>
              <a:rPr lang="en-CA" sz="800" dirty="0"/>
              <a:t>Kelvin Fernando &lt;Kelvin.Fernando@cwbank.com&gt;</a:t>
            </a:r>
          </a:p>
          <a:p>
            <a:r>
              <a:rPr lang="en-CA" sz="800" dirty="0"/>
              <a:t>Lisa Rindero &lt;Lisa.Rindero@cwbank.com&gt;</a:t>
            </a:r>
          </a:p>
          <a:p>
            <a:r>
              <a:rPr lang="en-CA" sz="800" dirty="0"/>
              <a:t>Lorraine McLeod &lt;Lorraine.McLeod@cwbank.com&gt;</a:t>
            </a:r>
          </a:p>
          <a:p>
            <a:r>
              <a:rPr lang="en-CA" sz="800" dirty="0"/>
              <a:t>Mark Doubinin &lt;Mark.Doubinin@cwbank.com&gt;</a:t>
            </a:r>
          </a:p>
          <a:p>
            <a:r>
              <a:rPr lang="en-CA" sz="800" dirty="0"/>
              <a:t>Peter Olise &lt;Peter.Olise@cwbank.com&gt;</a:t>
            </a:r>
          </a:p>
          <a:p>
            <a:r>
              <a:rPr lang="en-CA" sz="800" dirty="0"/>
              <a:t>Reinhardt Tonn &lt;Reinhardt.Tonn@cwbank.com&gt;</a:t>
            </a:r>
          </a:p>
          <a:p>
            <a:r>
              <a:rPr lang="en-CA" sz="800" dirty="0"/>
              <a:t>Roney Simon Mathews &lt;Roney.SimonMathews@cwbank.com&gt;</a:t>
            </a:r>
          </a:p>
          <a:p>
            <a:r>
              <a:rPr lang="en-CA" sz="800" dirty="0"/>
              <a:t>Sandra Murillo Paz &lt;Sandra.MurilloPaz@cwbank.com&gt;</a:t>
            </a:r>
          </a:p>
          <a:p>
            <a:r>
              <a:rPr lang="en-CA" sz="800" dirty="0"/>
              <a:t>Stacy Schmidt &lt;Stacy.Schmidt@cwbank.com&gt;</a:t>
            </a:r>
          </a:p>
          <a:p>
            <a:r>
              <a:rPr lang="en-CA" sz="800" dirty="0"/>
              <a:t>Steve Kelcher &lt;Steve.Kelcher@cwbank.com&gt;</a:t>
            </a:r>
          </a:p>
          <a:p>
            <a:r>
              <a:rPr lang="en-CA" sz="800" dirty="0"/>
              <a:t>Sunil Prashar &lt;Sunil.Prashar@cwbank.com&gt;</a:t>
            </a:r>
          </a:p>
          <a:p>
            <a:r>
              <a:rPr lang="en-CA" sz="800" dirty="0"/>
              <a:t>Susan Bako &lt;Susan.Bako@cwbank.com&gt;</a:t>
            </a:r>
          </a:p>
          <a:p>
            <a:r>
              <a:rPr lang="en-CA" sz="800" dirty="0"/>
              <a:t>Vishwadeep Kauravlla &lt;Vishwadeep.Kauravlla@cwbank.com&gt;</a:t>
            </a:r>
          </a:p>
        </p:txBody>
      </p:sp>
      <p:sp>
        <p:nvSpPr>
          <p:cNvPr id="10" name="TextBox 9"/>
          <p:cNvSpPr txBox="1"/>
          <p:nvPr/>
        </p:nvSpPr>
        <p:spPr>
          <a:xfrm>
            <a:off x="1763907" y="1893711"/>
            <a:ext cx="7097351" cy="276999"/>
          </a:xfrm>
          <a:prstGeom prst="rect">
            <a:avLst/>
          </a:prstGeom>
          <a:noFill/>
        </p:spPr>
        <p:txBody>
          <a:bodyPr wrap="square" rtlCol="0">
            <a:spAutoFit/>
          </a:bodyPr>
          <a:lstStyle/>
          <a:p>
            <a:r>
              <a:rPr lang="en-US" sz="1200" dirty="0" smtClean="0"/>
              <a:t>Access has been granted to the following CWB team members</a:t>
            </a:r>
            <a:endParaRPr lang="en-CA" sz="1200" dirty="0"/>
          </a:p>
        </p:txBody>
      </p:sp>
      <p:sp>
        <p:nvSpPr>
          <p:cNvPr id="13" name="TextBox 12"/>
          <p:cNvSpPr txBox="1"/>
          <p:nvPr/>
        </p:nvSpPr>
        <p:spPr>
          <a:xfrm>
            <a:off x="1763907" y="4198960"/>
            <a:ext cx="7097351" cy="276999"/>
          </a:xfrm>
          <a:prstGeom prst="rect">
            <a:avLst/>
          </a:prstGeom>
          <a:noFill/>
        </p:spPr>
        <p:txBody>
          <a:bodyPr wrap="square" rtlCol="0">
            <a:spAutoFit/>
          </a:bodyPr>
          <a:lstStyle/>
          <a:p>
            <a:r>
              <a:rPr lang="en-US" sz="1200" dirty="0" smtClean="0"/>
              <a:t>Let </a:t>
            </a:r>
            <a:r>
              <a:rPr lang="en-US" sz="1200" dirty="0"/>
              <a:t>Genevieve (</a:t>
            </a:r>
            <a:r>
              <a:rPr lang="en-US" sz="1200" dirty="0" smtClean="0">
                <a:hlinkClick r:id="rId3"/>
              </a:rPr>
              <a:t>Genevieve.Parrent@cwbank.com</a:t>
            </a:r>
            <a:r>
              <a:rPr lang="en-US" sz="1200" dirty="0" smtClean="0"/>
              <a:t>) know if you or another team member needs to be added</a:t>
            </a:r>
            <a:endParaRPr lang="en-CA" sz="1200" dirty="0"/>
          </a:p>
        </p:txBody>
      </p:sp>
    </p:spTree>
    <p:extLst>
      <p:ext uri="{BB962C8B-B14F-4D97-AF65-F5344CB8AC3E}">
        <p14:creationId xmlns:p14="http://schemas.microsoft.com/office/powerpoint/2010/main" val="3730925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Connecting to Temenos Jira</a:t>
            </a:r>
            <a:endParaRPr lang="en-CA" dirty="0"/>
          </a:p>
        </p:txBody>
      </p:sp>
      <p:sp>
        <p:nvSpPr>
          <p:cNvPr id="11" name="TextBox 10"/>
          <p:cNvSpPr txBox="1"/>
          <p:nvPr/>
        </p:nvSpPr>
        <p:spPr>
          <a:xfrm>
            <a:off x="4424517" y="1197587"/>
            <a:ext cx="4153146" cy="2308324"/>
          </a:xfrm>
          <a:prstGeom prst="rect">
            <a:avLst/>
          </a:prstGeom>
          <a:noFill/>
        </p:spPr>
        <p:txBody>
          <a:bodyPr wrap="square" rtlCol="0">
            <a:spAutoFit/>
          </a:bodyPr>
          <a:lstStyle/>
          <a:p>
            <a:r>
              <a:rPr lang="en-US" sz="1200" dirty="0" smtClean="0"/>
              <a:t>User Name is your CWB email address like:</a:t>
            </a:r>
          </a:p>
          <a:p>
            <a:endParaRPr lang="en-US" sz="1200" dirty="0" smtClean="0">
              <a:hlinkClick r:id="rId2"/>
            </a:endParaRPr>
          </a:p>
          <a:p>
            <a:r>
              <a:rPr lang="en-US" sz="1200" dirty="0" smtClean="0">
                <a:hlinkClick r:id="rId2"/>
              </a:rPr>
              <a:t>FirstName.LastName@cwbank.com</a:t>
            </a:r>
            <a:endParaRPr lang="en-US" sz="1200" dirty="0" smtClean="0"/>
          </a:p>
          <a:p>
            <a:endParaRPr lang="en-US" sz="1200" dirty="0"/>
          </a:p>
          <a:p>
            <a:r>
              <a:rPr lang="en-US" sz="1200" dirty="0" smtClean="0"/>
              <a:t>Password is set on first access, following the link the Jira sends to you when you are added. It is not your CWB login password.</a:t>
            </a:r>
          </a:p>
          <a:p>
            <a:endParaRPr lang="en-US" sz="1200" dirty="0"/>
          </a:p>
          <a:p>
            <a:r>
              <a:rPr lang="en-US" sz="1200" dirty="0" smtClean="0"/>
              <a:t>If you forget your password, or the initial email link doesn’t work, you can use the “Can’t access your account?” function to reset your password. This reset email can end up in your spam folder or, if you have created a rule to move Jira emails to a specific folder, this reset email may end up there.</a:t>
            </a:r>
            <a:endParaRPr lang="en-CA" sz="1200" dirty="0"/>
          </a:p>
        </p:txBody>
      </p:sp>
      <p:pic>
        <p:nvPicPr>
          <p:cNvPr id="8" name="Picture 7"/>
          <p:cNvPicPr>
            <a:picLocks noChangeAspect="1"/>
          </p:cNvPicPr>
          <p:nvPr/>
        </p:nvPicPr>
        <p:blipFill>
          <a:blip r:embed="rId3"/>
          <a:stretch>
            <a:fillRect/>
          </a:stretch>
        </p:blipFill>
        <p:spPr>
          <a:xfrm>
            <a:off x="680622" y="932098"/>
            <a:ext cx="2823532" cy="3470786"/>
          </a:xfrm>
          <a:prstGeom prst="rect">
            <a:avLst/>
          </a:prstGeom>
        </p:spPr>
      </p:pic>
    </p:spTree>
    <p:extLst>
      <p:ext uri="{BB962C8B-B14F-4D97-AF65-F5344CB8AC3E}">
        <p14:creationId xmlns:p14="http://schemas.microsoft.com/office/powerpoint/2010/main" val="3137508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First steps</a:t>
            </a:r>
            <a:endParaRPr lang="en-CA" dirty="0"/>
          </a:p>
        </p:txBody>
      </p:sp>
      <p:sp>
        <p:nvSpPr>
          <p:cNvPr id="11" name="TextBox 10"/>
          <p:cNvSpPr txBox="1"/>
          <p:nvPr/>
        </p:nvSpPr>
        <p:spPr>
          <a:xfrm>
            <a:off x="4424517" y="1197587"/>
            <a:ext cx="4153146" cy="1754326"/>
          </a:xfrm>
          <a:prstGeom prst="rect">
            <a:avLst/>
          </a:prstGeom>
          <a:noFill/>
        </p:spPr>
        <p:txBody>
          <a:bodyPr wrap="square" rtlCol="0">
            <a:spAutoFit/>
          </a:bodyPr>
          <a:lstStyle/>
          <a:p>
            <a:pPr marL="228600" indent="-228600">
              <a:buFont typeface="+mj-lt"/>
              <a:buAutoNum type="arabicPeriod"/>
            </a:pPr>
            <a:r>
              <a:rPr lang="en-US" sz="1200" dirty="0" smtClean="0"/>
              <a:t>Click the avatar icon in the top right hand corner.</a:t>
            </a:r>
          </a:p>
          <a:p>
            <a:pPr marL="228600" indent="-228600">
              <a:buFont typeface="+mj-lt"/>
              <a:buAutoNum type="arabicPeriod"/>
            </a:pPr>
            <a:r>
              <a:rPr lang="en-US" sz="1200" dirty="0" smtClean="0"/>
              <a:t>Click “Profile”.</a:t>
            </a:r>
          </a:p>
          <a:p>
            <a:pPr marL="228600" indent="-228600">
              <a:buFont typeface="+mj-lt"/>
              <a:buAutoNum type="arabicPeriod"/>
            </a:pPr>
            <a:r>
              <a:rPr lang="en-US" sz="1200" dirty="0" smtClean="0"/>
              <a:t>Click “Avatar”.</a:t>
            </a:r>
          </a:p>
          <a:p>
            <a:pPr marL="228600" indent="-228600">
              <a:buFont typeface="+mj-lt"/>
              <a:buAutoNum type="arabicPeriod"/>
            </a:pPr>
            <a:r>
              <a:rPr lang="en-US" sz="1200" dirty="0" smtClean="0"/>
              <a:t>Set an avatar or upload your photo.</a:t>
            </a:r>
          </a:p>
          <a:p>
            <a:pPr marL="228600" indent="-228600">
              <a:buFont typeface="+mj-lt"/>
              <a:buAutoNum type="arabicPeriod"/>
            </a:pPr>
            <a:r>
              <a:rPr lang="en-US" sz="1200" dirty="0" smtClean="0"/>
              <a:t>Once set, please try not to change</a:t>
            </a:r>
          </a:p>
          <a:p>
            <a:pPr marL="228600" indent="-228600">
              <a:buFont typeface="+mj-lt"/>
              <a:buAutoNum type="arabicPeriod"/>
            </a:pPr>
            <a:r>
              <a:rPr lang="en-US" sz="1200" dirty="0" smtClean="0"/>
              <a:t>Why: when the team is reviewing the projects and boards, it is easier, at a glance, to see who the ticket is currently assigned to. If you change your avatar often, it defeats this purpose.</a:t>
            </a:r>
            <a:endParaRPr lang="en-CA" sz="1200" dirty="0"/>
          </a:p>
        </p:txBody>
      </p:sp>
      <p:pic>
        <p:nvPicPr>
          <p:cNvPr id="2" name="Picture 1"/>
          <p:cNvPicPr>
            <a:picLocks noChangeAspect="1"/>
          </p:cNvPicPr>
          <p:nvPr/>
        </p:nvPicPr>
        <p:blipFill>
          <a:blip r:embed="rId2"/>
          <a:stretch>
            <a:fillRect/>
          </a:stretch>
        </p:blipFill>
        <p:spPr>
          <a:xfrm>
            <a:off x="406203" y="1197587"/>
            <a:ext cx="3627439" cy="1553773"/>
          </a:xfrm>
          <a:prstGeom prst="rect">
            <a:avLst/>
          </a:prstGeom>
          <a:solidFill>
            <a:schemeClr val="bg1"/>
          </a:solidFill>
          <a:ln>
            <a:noFill/>
          </a:ln>
        </p:spPr>
      </p:pic>
      <p:cxnSp>
        <p:nvCxnSpPr>
          <p:cNvPr id="4" name="Straight Arrow Connector 3"/>
          <p:cNvCxnSpPr/>
          <p:nvPr/>
        </p:nvCxnSpPr>
        <p:spPr>
          <a:xfrm flipV="1">
            <a:off x="3203350" y="1758008"/>
            <a:ext cx="572237" cy="336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stretch>
            <a:fillRect/>
          </a:stretch>
        </p:blipFill>
        <p:spPr>
          <a:xfrm>
            <a:off x="406203" y="3196431"/>
            <a:ext cx="3627439" cy="782773"/>
          </a:xfrm>
          <a:prstGeom prst="rect">
            <a:avLst/>
          </a:prstGeom>
          <a:ln>
            <a:noFill/>
          </a:ln>
        </p:spPr>
      </p:pic>
      <p:sp>
        <p:nvSpPr>
          <p:cNvPr id="9" name="TextBox 8"/>
          <p:cNvSpPr txBox="1"/>
          <p:nvPr/>
        </p:nvSpPr>
        <p:spPr>
          <a:xfrm>
            <a:off x="4424517" y="856004"/>
            <a:ext cx="1504336" cy="276999"/>
          </a:xfrm>
          <a:prstGeom prst="rect">
            <a:avLst/>
          </a:prstGeom>
          <a:noFill/>
        </p:spPr>
        <p:txBody>
          <a:bodyPr wrap="square" rtlCol="0">
            <a:spAutoFit/>
          </a:bodyPr>
          <a:lstStyle/>
          <a:p>
            <a:r>
              <a:rPr lang="en-US" sz="1200" dirty="0" smtClean="0"/>
              <a:t>Set your avatar</a:t>
            </a:r>
            <a:endParaRPr lang="en-CA" sz="1200" dirty="0"/>
          </a:p>
        </p:txBody>
      </p:sp>
      <p:sp>
        <p:nvSpPr>
          <p:cNvPr id="10" name="TextBox 9"/>
          <p:cNvSpPr txBox="1"/>
          <p:nvPr/>
        </p:nvSpPr>
        <p:spPr>
          <a:xfrm>
            <a:off x="4424516" y="3079987"/>
            <a:ext cx="3911271" cy="276999"/>
          </a:xfrm>
          <a:prstGeom prst="rect">
            <a:avLst/>
          </a:prstGeom>
          <a:noFill/>
        </p:spPr>
        <p:txBody>
          <a:bodyPr wrap="square" rtlCol="0">
            <a:spAutoFit/>
          </a:bodyPr>
          <a:lstStyle/>
          <a:p>
            <a:r>
              <a:rPr lang="en-US" sz="1200" dirty="0" smtClean="0"/>
              <a:t>Ensure you have access to the CWB Planning project</a:t>
            </a:r>
            <a:endParaRPr lang="en-CA" sz="1200" dirty="0"/>
          </a:p>
        </p:txBody>
      </p:sp>
      <p:sp>
        <p:nvSpPr>
          <p:cNvPr id="12" name="TextBox 11"/>
          <p:cNvSpPr txBox="1"/>
          <p:nvPr/>
        </p:nvSpPr>
        <p:spPr>
          <a:xfrm>
            <a:off x="4476628" y="3356986"/>
            <a:ext cx="4153146" cy="646331"/>
          </a:xfrm>
          <a:prstGeom prst="rect">
            <a:avLst/>
          </a:prstGeom>
          <a:noFill/>
        </p:spPr>
        <p:txBody>
          <a:bodyPr wrap="square" rtlCol="0">
            <a:spAutoFit/>
          </a:bodyPr>
          <a:lstStyle/>
          <a:p>
            <a:pPr marL="228600" indent="-228600">
              <a:buFont typeface="+mj-lt"/>
              <a:buAutoNum type="arabicPeriod"/>
            </a:pPr>
            <a:r>
              <a:rPr lang="en-US" sz="1200" dirty="0" smtClean="0"/>
              <a:t>Click “Projects”.</a:t>
            </a:r>
          </a:p>
          <a:p>
            <a:pPr marL="228600" indent="-228600">
              <a:buFont typeface="+mj-lt"/>
              <a:buAutoNum type="arabicPeriod"/>
            </a:pPr>
            <a:r>
              <a:rPr lang="en-US" sz="1200" dirty="0" smtClean="0"/>
              <a:t>Click “View All Projects”.</a:t>
            </a:r>
          </a:p>
          <a:p>
            <a:pPr marL="228600" indent="-228600">
              <a:buFont typeface="+mj-lt"/>
              <a:buAutoNum type="arabicPeriod"/>
            </a:pPr>
            <a:r>
              <a:rPr lang="en-US" sz="1200" dirty="0" smtClean="0"/>
              <a:t>You should see the following projects:</a:t>
            </a:r>
            <a:endParaRPr lang="en-CA" sz="1200" dirty="0"/>
          </a:p>
        </p:txBody>
      </p:sp>
      <p:cxnSp>
        <p:nvCxnSpPr>
          <p:cNvPr id="13" name="Straight Arrow Connector 12"/>
          <p:cNvCxnSpPr/>
          <p:nvPr/>
        </p:nvCxnSpPr>
        <p:spPr>
          <a:xfrm flipH="1" flipV="1">
            <a:off x="2005781" y="3387265"/>
            <a:ext cx="1097280" cy="431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4"/>
          <a:stretch>
            <a:fillRect/>
          </a:stretch>
        </p:blipFill>
        <p:spPr>
          <a:xfrm>
            <a:off x="5456904" y="4069883"/>
            <a:ext cx="1492720" cy="609771"/>
          </a:xfrm>
          <a:prstGeom prst="rect">
            <a:avLst/>
          </a:prstGeom>
        </p:spPr>
      </p:pic>
    </p:spTree>
    <p:extLst>
      <p:ext uri="{BB962C8B-B14F-4D97-AF65-F5344CB8AC3E}">
        <p14:creationId xmlns:p14="http://schemas.microsoft.com/office/powerpoint/2010/main" val="1190546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First steps</a:t>
            </a:r>
            <a:endParaRPr lang="en-CA" dirty="0"/>
          </a:p>
        </p:txBody>
      </p:sp>
      <p:sp>
        <p:nvSpPr>
          <p:cNvPr id="11" name="TextBox 10"/>
          <p:cNvSpPr txBox="1"/>
          <p:nvPr/>
        </p:nvSpPr>
        <p:spPr>
          <a:xfrm>
            <a:off x="4424517" y="1197587"/>
            <a:ext cx="4153146" cy="1015663"/>
          </a:xfrm>
          <a:prstGeom prst="rect">
            <a:avLst/>
          </a:prstGeom>
          <a:noFill/>
        </p:spPr>
        <p:txBody>
          <a:bodyPr wrap="square" rtlCol="0">
            <a:spAutoFit/>
          </a:bodyPr>
          <a:lstStyle/>
          <a:p>
            <a:pPr marL="228600" indent="-228600">
              <a:buFont typeface="+mj-lt"/>
              <a:buAutoNum type="arabicPeriod"/>
            </a:pPr>
            <a:r>
              <a:rPr lang="en-US" sz="1200" dirty="0" smtClean="0"/>
              <a:t>If you can’t find that ticket you created or update, it is all tracked as a stream under your avatar.</a:t>
            </a:r>
          </a:p>
          <a:p>
            <a:pPr marL="228600" indent="-228600">
              <a:buFont typeface="+mj-lt"/>
              <a:buAutoNum type="arabicPeriod"/>
            </a:pPr>
            <a:r>
              <a:rPr lang="en-US" sz="1200" dirty="0" smtClean="0"/>
              <a:t>Just Click you avatar.</a:t>
            </a:r>
          </a:p>
          <a:p>
            <a:pPr marL="228600" indent="-228600">
              <a:buFont typeface="+mj-lt"/>
              <a:buAutoNum type="arabicPeriod"/>
            </a:pPr>
            <a:r>
              <a:rPr lang="en-US" sz="1200" dirty="0" smtClean="0"/>
              <a:t>Click “Profile”</a:t>
            </a:r>
          </a:p>
          <a:p>
            <a:pPr marL="228600" indent="-228600">
              <a:buFont typeface="+mj-lt"/>
              <a:buAutoNum type="arabicPeriod"/>
            </a:pPr>
            <a:r>
              <a:rPr lang="en-US" sz="1200" dirty="0" smtClean="0"/>
              <a:t>Here you will see a stream of your Jira updates</a:t>
            </a:r>
            <a:endParaRPr lang="en-CA" sz="1200" dirty="0"/>
          </a:p>
        </p:txBody>
      </p:sp>
      <p:sp>
        <p:nvSpPr>
          <p:cNvPr id="9" name="TextBox 8"/>
          <p:cNvSpPr txBox="1"/>
          <p:nvPr/>
        </p:nvSpPr>
        <p:spPr>
          <a:xfrm>
            <a:off x="4424517" y="856004"/>
            <a:ext cx="3521914" cy="276999"/>
          </a:xfrm>
          <a:prstGeom prst="rect">
            <a:avLst/>
          </a:prstGeom>
          <a:noFill/>
        </p:spPr>
        <p:txBody>
          <a:bodyPr wrap="square" rtlCol="0">
            <a:spAutoFit/>
          </a:bodyPr>
          <a:lstStyle/>
          <a:p>
            <a:r>
              <a:rPr lang="en-US" sz="1200" dirty="0" smtClean="0"/>
              <a:t>Note to self, my avatar tracks all…</a:t>
            </a:r>
            <a:endParaRPr lang="en-CA" sz="1200" dirty="0"/>
          </a:p>
        </p:txBody>
      </p:sp>
      <p:pic>
        <p:nvPicPr>
          <p:cNvPr id="3" name="Picture 2"/>
          <p:cNvPicPr>
            <a:picLocks noChangeAspect="1"/>
          </p:cNvPicPr>
          <p:nvPr/>
        </p:nvPicPr>
        <p:blipFill>
          <a:blip r:embed="rId2"/>
          <a:stretch>
            <a:fillRect/>
          </a:stretch>
        </p:blipFill>
        <p:spPr>
          <a:xfrm>
            <a:off x="206477" y="755715"/>
            <a:ext cx="4101709" cy="3455134"/>
          </a:xfrm>
          <a:prstGeom prst="rect">
            <a:avLst/>
          </a:prstGeom>
        </p:spPr>
      </p:pic>
    </p:spTree>
    <p:extLst>
      <p:ext uri="{BB962C8B-B14F-4D97-AF65-F5344CB8AC3E}">
        <p14:creationId xmlns:p14="http://schemas.microsoft.com/office/powerpoint/2010/main" val="2830832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First steps</a:t>
            </a:r>
            <a:endParaRPr lang="en-CA" dirty="0"/>
          </a:p>
        </p:txBody>
      </p:sp>
      <p:sp>
        <p:nvSpPr>
          <p:cNvPr id="11" name="TextBox 10"/>
          <p:cNvSpPr txBox="1"/>
          <p:nvPr/>
        </p:nvSpPr>
        <p:spPr>
          <a:xfrm>
            <a:off x="4424517" y="1197587"/>
            <a:ext cx="4153146" cy="1754326"/>
          </a:xfrm>
          <a:prstGeom prst="rect">
            <a:avLst/>
          </a:prstGeom>
          <a:noFill/>
        </p:spPr>
        <p:txBody>
          <a:bodyPr wrap="square" rtlCol="0">
            <a:spAutoFit/>
          </a:bodyPr>
          <a:lstStyle/>
          <a:p>
            <a:pPr marL="228600" indent="-228600">
              <a:buFont typeface="+mj-lt"/>
              <a:buAutoNum type="arabicPeriod"/>
            </a:pPr>
            <a:r>
              <a:rPr lang="en-US" sz="1200" dirty="0" smtClean="0"/>
              <a:t>The “CWB Digital Planning Project” has four releases:</a:t>
            </a:r>
          </a:p>
          <a:p>
            <a:pPr marL="228600" indent="-228600">
              <a:buFont typeface="+mj-lt"/>
              <a:buAutoNum type="arabicPeriod"/>
            </a:pPr>
            <a:endParaRPr lang="en-US" sz="1200" dirty="0" smtClean="0"/>
          </a:p>
          <a:p>
            <a:pPr marL="685800" lvl="1" indent="-228600">
              <a:buFont typeface="+mj-lt"/>
              <a:buAutoNum type="arabicPeriod"/>
            </a:pPr>
            <a:r>
              <a:rPr lang="en-US" sz="1200" dirty="0" smtClean="0"/>
              <a:t>Digital Banking</a:t>
            </a:r>
          </a:p>
          <a:p>
            <a:pPr marL="685800" lvl="1" indent="-228600">
              <a:buFont typeface="+mj-lt"/>
              <a:buAutoNum type="arabicPeriod"/>
            </a:pPr>
            <a:r>
              <a:rPr lang="en-US" sz="1200" dirty="0" smtClean="0"/>
              <a:t>Small Business DCO</a:t>
            </a:r>
          </a:p>
          <a:p>
            <a:pPr marL="685800" lvl="1" indent="-228600">
              <a:buFont typeface="+mj-lt"/>
              <a:buAutoNum type="arabicPeriod"/>
            </a:pPr>
            <a:r>
              <a:rPr lang="en-US" sz="1200" dirty="0" smtClean="0"/>
              <a:t>Personal and Motive Full DCO</a:t>
            </a:r>
          </a:p>
          <a:p>
            <a:pPr marL="685800" lvl="1" indent="-228600">
              <a:buFont typeface="+mj-lt"/>
              <a:buAutoNum type="arabicPeriod"/>
            </a:pPr>
            <a:r>
              <a:rPr lang="en-US" sz="1200" dirty="0" smtClean="0"/>
              <a:t>Motive MVP</a:t>
            </a:r>
          </a:p>
          <a:p>
            <a:pPr marL="685800" lvl="1" indent="-228600">
              <a:buFont typeface="+mj-lt"/>
              <a:buAutoNum type="arabicPeriod"/>
            </a:pPr>
            <a:endParaRPr lang="en-US" sz="1200" dirty="0"/>
          </a:p>
          <a:p>
            <a:pPr marL="228600" indent="-228600">
              <a:buFont typeface="+mj-lt"/>
              <a:buAutoNum type="arabicPeriod"/>
            </a:pPr>
            <a:r>
              <a:rPr lang="en-US" sz="1200" dirty="0" smtClean="0"/>
              <a:t>We can move tickets between these releases, or create copies, or link.</a:t>
            </a:r>
            <a:endParaRPr lang="en-CA" sz="1200" dirty="0"/>
          </a:p>
        </p:txBody>
      </p:sp>
      <p:sp>
        <p:nvSpPr>
          <p:cNvPr id="9" name="TextBox 8"/>
          <p:cNvSpPr txBox="1"/>
          <p:nvPr/>
        </p:nvSpPr>
        <p:spPr>
          <a:xfrm>
            <a:off x="4424517" y="856004"/>
            <a:ext cx="1504336" cy="276999"/>
          </a:xfrm>
          <a:prstGeom prst="rect">
            <a:avLst/>
          </a:prstGeom>
          <a:noFill/>
        </p:spPr>
        <p:txBody>
          <a:bodyPr wrap="square" rtlCol="0">
            <a:spAutoFit/>
          </a:bodyPr>
          <a:lstStyle/>
          <a:p>
            <a:r>
              <a:rPr lang="en-US" sz="1200" dirty="0" smtClean="0"/>
              <a:t>Relationships</a:t>
            </a:r>
            <a:endParaRPr lang="en-CA" sz="1200" dirty="0"/>
          </a:p>
        </p:txBody>
      </p:sp>
      <p:pic>
        <p:nvPicPr>
          <p:cNvPr id="14" name="Picture 13"/>
          <p:cNvPicPr>
            <a:picLocks noChangeAspect="1"/>
          </p:cNvPicPr>
          <p:nvPr/>
        </p:nvPicPr>
        <p:blipFill>
          <a:blip r:embed="rId2"/>
          <a:stretch>
            <a:fillRect/>
          </a:stretch>
        </p:blipFill>
        <p:spPr>
          <a:xfrm>
            <a:off x="406203" y="2046404"/>
            <a:ext cx="1492720" cy="609771"/>
          </a:xfrm>
          <a:prstGeom prst="rect">
            <a:avLst/>
          </a:prstGeom>
        </p:spPr>
      </p:pic>
      <p:pic>
        <p:nvPicPr>
          <p:cNvPr id="3" name="Picture 2"/>
          <p:cNvPicPr>
            <a:picLocks noChangeAspect="1"/>
          </p:cNvPicPr>
          <p:nvPr/>
        </p:nvPicPr>
        <p:blipFill>
          <a:blip r:embed="rId3"/>
          <a:stretch>
            <a:fillRect/>
          </a:stretch>
        </p:blipFill>
        <p:spPr>
          <a:xfrm>
            <a:off x="2212259" y="2656175"/>
            <a:ext cx="1397809" cy="1099532"/>
          </a:xfrm>
          <a:prstGeom prst="rect">
            <a:avLst/>
          </a:prstGeom>
        </p:spPr>
      </p:pic>
      <p:cxnSp>
        <p:nvCxnSpPr>
          <p:cNvPr id="16" name="Straight Arrow Connector 15"/>
          <p:cNvCxnSpPr/>
          <p:nvPr/>
        </p:nvCxnSpPr>
        <p:spPr>
          <a:xfrm>
            <a:off x="1628222" y="2524924"/>
            <a:ext cx="666627" cy="242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934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Working views</a:t>
            </a:r>
            <a:endParaRPr lang="en-CA" dirty="0"/>
          </a:p>
        </p:txBody>
      </p:sp>
      <p:sp>
        <p:nvSpPr>
          <p:cNvPr id="11" name="TextBox 10"/>
          <p:cNvSpPr txBox="1"/>
          <p:nvPr/>
        </p:nvSpPr>
        <p:spPr>
          <a:xfrm>
            <a:off x="4424517" y="1197587"/>
            <a:ext cx="4153146" cy="2862322"/>
          </a:xfrm>
          <a:prstGeom prst="rect">
            <a:avLst/>
          </a:prstGeom>
          <a:noFill/>
        </p:spPr>
        <p:txBody>
          <a:bodyPr wrap="square" rtlCol="0">
            <a:spAutoFit/>
          </a:bodyPr>
          <a:lstStyle/>
          <a:p>
            <a:pPr marL="228600" indent="-228600">
              <a:buFont typeface="+mj-lt"/>
              <a:buAutoNum type="arabicPeriod"/>
            </a:pPr>
            <a:r>
              <a:rPr lang="en-US" sz="1200" dirty="0" smtClean="0"/>
              <a:t>Backlog</a:t>
            </a:r>
          </a:p>
          <a:p>
            <a:pPr marL="228600" indent="-228600">
              <a:buFont typeface="+mj-lt"/>
              <a:buAutoNum type="arabicPeriod"/>
            </a:pPr>
            <a:r>
              <a:rPr lang="en-US" sz="1200" dirty="0" smtClean="0"/>
              <a:t>Kanban</a:t>
            </a:r>
          </a:p>
          <a:p>
            <a:endParaRPr lang="en-US" sz="1200" dirty="0"/>
          </a:p>
          <a:p>
            <a:r>
              <a:rPr lang="en-US" sz="1200" dirty="0" smtClean="0"/>
              <a:t>Some may prefer the “Issues” view. </a:t>
            </a:r>
          </a:p>
          <a:p>
            <a:endParaRPr lang="en-US" sz="1200" dirty="0"/>
          </a:p>
          <a:p>
            <a:r>
              <a:rPr lang="en-US" sz="1200" dirty="0" smtClean="0"/>
              <a:t>Note: Jira was originally a bug tracking systems which is why you will see the term “issues” refer to an item. Now an item can be of type: issue, task, etc.</a:t>
            </a:r>
          </a:p>
          <a:p>
            <a:endParaRPr lang="en-US" sz="1200" dirty="0"/>
          </a:p>
          <a:p>
            <a:r>
              <a:rPr lang="en-US" sz="1200" dirty="0" smtClean="0"/>
              <a:t>If you ever get lost, can’t remove filters, etc., just go back to the  basics:</a:t>
            </a:r>
          </a:p>
          <a:p>
            <a:endParaRPr lang="en-US" sz="1200" dirty="0"/>
          </a:p>
          <a:p>
            <a:pPr marL="228600" indent="-228600">
              <a:buFont typeface="+mj-lt"/>
              <a:buAutoNum type="arabicPeriod"/>
            </a:pPr>
            <a:r>
              <a:rPr lang="en-US" sz="1200" dirty="0" smtClean="0"/>
              <a:t>Click </a:t>
            </a:r>
            <a:r>
              <a:rPr lang="en-US" sz="1200" dirty="0"/>
              <a:t>“Projects”.</a:t>
            </a:r>
          </a:p>
          <a:p>
            <a:pPr marL="228600" indent="-228600">
              <a:buFont typeface="+mj-lt"/>
              <a:buAutoNum type="arabicPeriod"/>
            </a:pPr>
            <a:r>
              <a:rPr lang="en-US" sz="1200" dirty="0"/>
              <a:t>Click “View All Projects</a:t>
            </a:r>
            <a:r>
              <a:rPr lang="en-US" sz="1200" dirty="0" smtClean="0"/>
              <a:t>”.</a:t>
            </a:r>
            <a:endParaRPr lang="en-US" sz="1200" dirty="0"/>
          </a:p>
          <a:p>
            <a:pPr marL="228600" indent="-228600">
              <a:buFont typeface="+mj-lt"/>
              <a:buAutoNum type="arabicPeriod"/>
            </a:pPr>
            <a:r>
              <a:rPr lang="en-US" sz="1200" dirty="0" smtClean="0"/>
              <a:t>Start again</a:t>
            </a:r>
            <a:endParaRPr lang="en-US" sz="1200" dirty="0"/>
          </a:p>
        </p:txBody>
      </p:sp>
      <p:sp>
        <p:nvSpPr>
          <p:cNvPr id="9" name="TextBox 8"/>
          <p:cNvSpPr txBox="1"/>
          <p:nvPr/>
        </p:nvSpPr>
        <p:spPr>
          <a:xfrm>
            <a:off x="4424517" y="856004"/>
            <a:ext cx="3451122" cy="276999"/>
          </a:xfrm>
          <a:prstGeom prst="rect">
            <a:avLst/>
          </a:prstGeom>
          <a:noFill/>
        </p:spPr>
        <p:txBody>
          <a:bodyPr wrap="square" rtlCol="0">
            <a:spAutoFit/>
          </a:bodyPr>
          <a:lstStyle/>
          <a:p>
            <a:r>
              <a:rPr lang="en-US" sz="1200" dirty="0" smtClean="0"/>
              <a:t>There are two main views you will see:</a:t>
            </a:r>
            <a:endParaRPr lang="en-CA" sz="1200" dirty="0"/>
          </a:p>
        </p:txBody>
      </p:sp>
      <p:pic>
        <p:nvPicPr>
          <p:cNvPr id="2" name="Picture 1"/>
          <p:cNvPicPr>
            <a:picLocks noChangeAspect="1"/>
          </p:cNvPicPr>
          <p:nvPr/>
        </p:nvPicPr>
        <p:blipFill>
          <a:blip r:embed="rId2"/>
          <a:stretch>
            <a:fillRect/>
          </a:stretch>
        </p:blipFill>
        <p:spPr>
          <a:xfrm>
            <a:off x="406203" y="1091398"/>
            <a:ext cx="459614" cy="2825773"/>
          </a:xfrm>
          <a:prstGeom prst="rect">
            <a:avLst/>
          </a:prstGeom>
        </p:spPr>
      </p:pic>
      <p:sp>
        <p:nvSpPr>
          <p:cNvPr id="4" name="Rectangular Callout 3"/>
          <p:cNvSpPr/>
          <p:nvPr/>
        </p:nvSpPr>
        <p:spPr>
          <a:xfrm>
            <a:off x="1191670" y="1510235"/>
            <a:ext cx="1067783" cy="359860"/>
          </a:xfrm>
          <a:prstGeom prst="wedgeRectCallout">
            <a:avLst>
              <a:gd name="adj1" fmla="val -88789"/>
              <a:gd name="adj2" fmla="val 6762"/>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100" dirty="0" smtClean="0"/>
              <a:t>Backlog</a:t>
            </a:r>
            <a:endParaRPr lang="en-CA" sz="1100" dirty="0"/>
          </a:p>
        </p:txBody>
      </p:sp>
      <p:sp>
        <p:nvSpPr>
          <p:cNvPr id="10" name="Rectangular Callout 9"/>
          <p:cNvSpPr/>
          <p:nvPr/>
        </p:nvSpPr>
        <p:spPr>
          <a:xfrm>
            <a:off x="1420762" y="2144424"/>
            <a:ext cx="1067783" cy="359860"/>
          </a:xfrm>
          <a:prstGeom prst="wedgeRectCallout">
            <a:avLst>
              <a:gd name="adj1" fmla="val -102049"/>
              <a:gd name="adj2" fmla="val -80123"/>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100" dirty="0" smtClean="0"/>
              <a:t>Kanban</a:t>
            </a:r>
            <a:endParaRPr lang="en-CA" sz="1100" dirty="0"/>
          </a:p>
        </p:txBody>
      </p:sp>
      <p:sp>
        <p:nvSpPr>
          <p:cNvPr id="12" name="Rectangular Callout 11"/>
          <p:cNvSpPr/>
          <p:nvPr/>
        </p:nvSpPr>
        <p:spPr>
          <a:xfrm>
            <a:off x="1456158" y="3092977"/>
            <a:ext cx="1067783" cy="359860"/>
          </a:xfrm>
          <a:prstGeom prst="wedgeRectCallout">
            <a:avLst>
              <a:gd name="adj1" fmla="val -102049"/>
              <a:gd name="adj2" fmla="val -80123"/>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100" dirty="0" smtClean="0"/>
              <a:t>Issues</a:t>
            </a:r>
            <a:endParaRPr lang="en-CA" sz="1100" dirty="0"/>
          </a:p>
        </p:txBody>
      </p:sp>
    </p:spTree>
    <p:extLst>
      <p:ext uri="{BB962C8B-B14F-4D97-AF65-F5344CB8AC3E}">
        <p14:creationId xmlns:p14="http://schemas.microsoft.com/office/powerpoint/2010/main" val="753744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Working views: Kanban &amp; Assigned to Me</a:t>
            </a:r>
            <a:endParaRPr lang="en-CA" dirty="0"/>
          </a:p>
        </p:txBody>
      </p:sp>
      <p:pic>
        <p:nvPicPr>
          <p:cNvPr id="3" name="Picture 2"/>
          <p:cNvPicPr>
            <a:picLocks noChangeAspect="1"/>
          </p:cNvPicPr>
          <p:nvPr/>
        </p:nvPicPr>
        <p:blipFill>
          <a:blip r:embed="rId2"/>
          <a:stretch>
            <a:fillRect/>
          </a:stretch>
        </p:blipFill>
        <p:spPr>
          <a:xfrm>
            <a:off x="562879" y="1155361"/>
            <a:ext cx="7967047" cy="2891762"/>
          </a:xfrm>
          <a:prstGeom prst="rect">
            <a:avLst/>
          </a:prstGeom>
        </p:spPr>
      </p:pic>
      <p:cxnSp>
        <p:nvCxnSpPr>
          <p:cNvPr id="7" name="Straight Arrow Connector 6"/>
          <p:cNvCxnSpPr/>
          <p:nvPr/>
        </p:nvCxnSpPr>
        <p:spPr>
          <a:xfrm flipH="1">
            <a:off x="2881563" y="1082842"/>
            <a:ext cx="806116" cy="324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424516" y="856004"/>
            <a:ext cx="4424709" cy="276999"/>
          </a:xfrm>
          <a:prstGeom prst="rect">
            <a:avLst/>
          </a:prstGeom>
          <a:noFill/>
        </p:spPr>
        <p:txBody>
          <a:bodyPr wrap="square" rtlCol="0">
            <a:spAutoFit/>
          </a:bodyPr>
          <a:lstStyle/>
          <a:p>
            <a:r>
              <a:rPr lang="en-US" sz="1200" dirty="0" smtClean="0"/>
              <a:t>Where most of you will live your life…while on the Digital Program</a:t>
            </a:r>
            <a:endParaRPr lang="en-CA" sz="1200" dirty="0"/>
          </a:p>
        </p:txBody>
      </p:sp>
    </p:spTree>
    <p:extLst>
      <p:ext uri="{BB962C8B-B14F-4D97-AF65-F5344CB8AC3E}">
        <p14:creationId xmlns:p14="http://schemas.microsoft.com/office/powerpoint/2010/main" val="2867975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Hands On</a:t>
            </a:r>
            <a:endParaRPr lang="en-CA" dirty="0"/>
          </a:p>
        </p:txBody>
      </p:sp>
      <p:sp>
        <p:nvSpPr>
          <p:cNvPr id="11" name="TextBox 10"/>
          <p:cNvSpPr txBox="1"/>
          <p:nvPr/>
        </p:nvSpPr>
        <p:spPr>
          <a:xfrm>
            <a:off x="4424517" y="1197587"/>
            <a:ext cx="4153146" cy="2308324"/>
          </a:xfrm>
          <a:prstGeom prst="rect">
            <a:avLst/>
          </a:prstGeom>
          <a:noFill/>
        </p:spPr>
        <p:txBody>
          <a:bodyPr wrap="square" rtlCol="0">
            <a:spAutoFit/>
          </a:bodyPr>
          <a:lstStyle/>
          <a:p>
            <a:pPr marL="228600" indent="-228600">
              <a:buFont typeface="+mj-lt"/>
              <a:buAutoNum type="arabicPeriod"/>
            </a:pPr>
            <a:r>
              <a:rPr lang="en-US" sz="1200" dirty="0" smtClean="0"/>
              <a:t>If you try all use all the bells and whistles in Jira…you will lose your mind. Please avoid both.</a:t>
            </a:r>
          </a:p>
          <a:p>
            <a:pPr marL="228600" indent="-228600">
              <a:buFont typeface="+mj-lt"/>
              <a:buAutoNum type="arabicPeriod"/>
            </a:pPr>
            <a:endParaRPr lang="en-US" sz="1200" dirty="0" smtClean="0"/>
          </a:p>
          <a:p>
            <a:pPr marL="228600" indent="-228600">
              <a:buFont typeface="+mj-lt"/>
              <a:buAutoNum type="arabicPeriod"/>
            </a:pPr>
            <a:r>
              <a:rPr lang="en-US" sz="1200" dirty="0" smtClean="0"/>
              <a:t>Stick with the basics, when you are lost:</a:t>
            </a:r>
          </a:p>
          <a:p>
            <a:pPr marL="228600" indent="-228600">
              <a:buFont typeface="+mj-lt"/>
              <a:buAutoNum type="arabicPeriod"/>
            </a:pPr>
            <a:endParaRPr lang="en-US" sz="1200" dirty="0" smtClean="0"/>
          </a:p>
          <a:p>
            <a:pPr marL="685800" lvl="1" indent="-228600">
              <a:buFont typeface="+mj-lt"/>
              <a:buAutoNum type="arabicPeriod"/>
            </a:pPr>
            <a:r>
              <a:rPr lang="en-US" sz="1200" dirty="0"/>
              <a:t>Click “Projects”.</a:t>
            </a:r>
          </a:p>
          <a:p>
            <a:pPr marL="685800" lvl="1" indent="-228600">
              <a:buFont typeface="+mj-lt"/>
              <a:buAutoNum type="arabicPeriod"/>
            </a:pPr>
            <a:r>
              <a:rPr lang="en-US" sz="1200" dirty="0"/>
              <a:t>Click “View All Projects”.</a:t>
            </a:r>
          </a:p>
          <a:p>
            <a:pPr marL="685800" lvl="1" indent="-228600">
              <a:buFont typeface="+mj-lt"/>
              <a:buAutoNum type="arabicPeriod"/>
            </a:pPr>
            <a:r>
              <a:rPr lang="en-US" sz="1200" dirty="0" smtClean="0"/>
              <a:t>Click “CWB Digital Program Planning” project.</a:t>
            </a:r>
          </a:p>
          <a:p>
            <a:pPr marL="685800" lvl="1" indent="-228600">
              <a:buFont typeface="+mj-lt"/>
              <a:buAutoNum type="arabicPeriod"/>
            </a:pPr>
            <a:r>
              <a:rPr lang="en-US" sz="1200" dirty="0" smtClean="0"/>
              <a:t>Click “Kanban board”.</a:t>
            </a:r>
          </a:p>
          <a:p>
            <a:pPr marL="685800" lvl="1" indent="-228600">
              <a:buFont typeface="+mj-lt"/>
              <a:buAutoNum type="arabicPeriod"/>
            </a:pPr>
            <a:r>
              <a:rPr lang="en-US" sz="1200" dirty="0" smtClean="0"/>
              <a:t>Click “Only My Issues”.</a:t>
            </a:r>
          </a:p>
          <a:p>
            <a:pPr marL="685800" lvl="1" indent="-228600">
              <a:buFont typeface="+mj-lt"/>
              <a:buAutoNum type="arabicPeriod"/>
            </a:pPr>
            <a:endParaRPr lang="en-CA" sz="1200" dirty="0"/>
          </a:p>
          <a:p>
            <a:pPr marL="228600" indent="-228600">
              <a:buFont typeface="+mj-lt"/>
              <a:buAutoNum type="arabicPeriod"/>
            </a:pPr>
            <a:endParaRPr lang="en-CA" sz="1200" dirty="0"/>
          </a:p>
        </p:txBody>
      </p:sp>
      <p:sp>
        <p:nvSpPr>
          <p:cNvPr id="12" name="TextBox 11"/>
          <p:cNvSpPr txBox="1"/>
          <p:nvPr/>
        </p:nvSpPr>
        <p:spPr>
          <a:xfrm>
            <a:off x="4424517" y="856004"/>
            <a:ext cx="1504336" cy="276999"/>
          </a:xfrm>
          <a:prstGeom prst="rect">
            <a:avLst/>
          </a:prstGeom>
          <a:noFill/>
        </p:spPr>
        <p:txBody>
          <a:bodyPr wrap="square" rtlCol="0">
            <a:spAutoFit/>
          </a:bodyPr>
          <a:lstStyle/>
          <a:p>
            <a:r>
              <a:rPr lang="en-US" sz="1200" dirty="0" smtClean="0"/>
              <a:t>Please Remember</a:t>
            </a:r>
            <a:endParaRPr lang="en-CA" sz="1200" dirty="0"/>
          </a:p>
        </p:txBody>
      </p:sp>
    </p:spTree>
    <p:extLst>
      <p:ext uri="{BB962C8B-B14F-4D97-AF65-F5344CB8AC3E}">
        <p14:creationId xmlns:p14="http://schemas.microsoft.com/office/powerpoint/2010/main" val="4246318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Hands On – In Class Assignment</a:t>
            </a:r>
            <a:endParaRPr lang="en-CA" dirty="0"/>
          </a:p>
        </p:txBody>
      </p:sp>
      <p:sp>
        <p:nvSpPr>
          <p:cNvPr id="11" name="TextBox 10"/>
          <p:cNvSpPr txBox="1"/>
          <p:nvPr/>
        </p:nvSpPr>
        <p:spPr>
          <a:xfrm>
            <a:off x="4424517" y="1197587"/>
            <a:ext cx="4153146" cy="2862322"/>
          </a:xfrm>
          <a:prstGeom prst="rect">
            <a:avLst/>
          </a:prstGeom>
          <a:noFill/>
        </p:spPr>
        <p:txBody>
          <a:bodyPr wrap="square" rtlCol="0">
            <a:spAutoFit/>
          </a:bodyPr>
          <a:lstStyle/>
          <a:p>
            <a:pPr marL="228600" indent="-228600">
              <a:buFont typeface="+mj-lt"/>
              <a:buAutoNum type="arabicPeriod"/>
            </a:pPr>
            <a:r>
              <a:rPr lang="en-US" sz="1200" dirty="0" smtClean="0"/>
              <a:t>Click “Create”. There are many ways to create a new ticket.</a:t>
            </a:r>
          </a:p>
          <a:p>
            <a:pPr marL="228600" indent="-228600">
              <a:buFont typeface="+mj-lt"/>
              <a:buAutoNum type="arabicPeriod"/>
            </a:pPr>
            <a:r>
              <a:rPr lang="en-US" sz="1200" dirty="0" smtClean="0"/>
              <a:t>Minimal fields to fill out:</a:t>
            </a:r>
          </a:p>
          <a:p>
            <a:pPr marL="228600" indent="-228600">
              <a:buFont typeface="+mj-lt"/>
              <a:buAutoNum type="arabicPeriod"/>
            </a:pPr>
            <a:endParaRPr lang="en-US" sz="1200" dirty="0" smtClean="0"/>
          </a:p>
          <a:p>
            <a:pPr marL="685800" lvl="1" indent="-228600">
              <a:buFont typeface="+mj-lt"/>
              <a:buAutoNum type="arabicPeriod"/>
            </a:pPr>
            <a:r>
              <a:rPr lang="en-US" sz="1200" dirty="0" smtClean="0"/>
              <a:t>Check its assigned to the right project</a:t>
            </a:r>
          </a:p>
          <a:p>
            <a:pPr marL="685800" lvl="1" indent="-228600">
              <a:buFont typeface="+mj-lt"/>
              <a:buAutoNum type="arabicPeriod"/>
            </a:pPr>
            <a:r>
              <a:rPr lang="en-US" sz="1200" dirty="0" smtClean="0"/>
              <a:t>Check it’s the right issue type – task mostly</a:t>
            </a:r>
          </a:p>
          <a:p>
            <a:pPr marL="1143000" lvl="2" indent="-228600">
              <a:buFont typeface="+mj-lt"/>
              <a:buAutoNum type="arabicPeriod"/>
            </a:pPr>
            <a:r>
              <a:rPr lang="en-US" sz="1200" dirty="0" smtClean="0"/>
              <a:t>No type = “issues” please</a:t>
            </a:r>
          </a:p>
          <a:p>
            <a:pPr marL="685800" lvl="1" indent="-228600">
              <a:buFont typeface="+mj-lt"/>
              <a:buAutoNum type="arabicPeriod"/>
            </a:pPr>
            <a:r>
              <a:rPr lang="en-US" sz="1200" dirty="0" smtClean="0"/>
              <a:t>Summary (aka title)</a:t>
            </a:r>
          </a:p>
          <a:p>
            <a:pPr marL="685800" lvl="1" indent="-228600">
              <a:buFont typeface="+mj-lt"/>
              <a:buAutoNum type="arabicPeriod"/>
            </a:pPr>
            <a:r>
              <a:rPr lang="en-US" sz="1200" dirty="0" smtClean="0"/>
              <a:t>Description, be informative</a:t>
            </a:r>
          </a:p>
          <a:p>
            <a:pPr marL="685800" lvl="1" indent="-228600">
              <a:buFont typeface="+mj-lt"/>
              <a:buAutoNum type="arabicPeriod"/>
            </a:pPr>
            <a:r>
              <a:rPr lang="en-US" sz="1200" dirty="0" smtClean="0"/>
              <a:t>Affects Versions</a:t>
            </a:r>
          </a:p>
          <a:p>
            <a:pPr marL="685800" lvl="1" indent="-228600">
              <a:buFont typeface="+mj-lt"/>
              <a:buAutoNum type="arabicPeriod"/>
            </a:pPr>
            <a:r>
              <a:rPr lang="en-US" sz="1200" dirty="0" smtClean="0"/>
              <a:t>Priority</a:t>
            </a:r>
          </a:p>
          <a:p>
            <a:pPr marL="685800" lvl="1" indent="-228600">
              <a:buFont typeface="+mj-lt"/>
              <a:buAutoNum type="arabicPeriod"/>
            </a:pPr>
            <a:r>
              <a:rPr lang="en-US" sz="1200" dirty="0" smtClean="0"/>
              <a:t>Assignee – by default it’s blank</a:t>
            </a:r>
          </a:p>
          <a:p>
            <a:pPr marL="685800" lvl="1" indent="-228600">
              <a:buFont typeface="+mj-lt"/>
              <a:buAutoNum type="arabicPeriod"/>
            </a:pPr>
            <a:r>
              <a:rPr lang="en-US" sz="1200" dirty="0" smtClean="0"/>
              <a:t>Severity (note: Temenos is working to expose this)</a:t>
            </a:r>
          </a:p>
          <a:p>
            <a:pPr marL="685800" lvl="1" indent="-228600">
              <a:buFont typeface="+mj-lt"/>
              <a:buAutoNum type="arabicPeriod"/>
            </a:pPr>
            <a:r>
              <a:rPr lang="en-US" sz="1200" dirty="0" smtClean="0"/>
              <a:t>Due Date (note: Temenos is working to expose this)</a:t>
            </a:r>
          </a:p>
          <a:p>
            <a:pPr marL="685800" lvl="1" indent="-228600">
              <a:buFont typeface="+mj-lt"/>
              <a:buAutoNum type="arabicPeriod"/>
            </a:pPr>
            <a:endParaRPr lang="en-CA" sz="1200" dirty="0"/>
          </a:p>
          <a:p>
            <a:pPr marL="228600" indent="-228600">
              <a:buFont typeface="+mj-lt"/>
              <a:buAutoNum type="arabicPeriod"/>
            </a:pPr>
            <a:endParaRPr lang="en-CA" sz="1200" dirty="0"/>
          </a:p>
        </p:txBody>
      </p:sp>
      <p:sp>
        <p:nvSpPr>
          <p:cNvPr id="12" name="TextBox 11"/>
          <p:cNvSpPr txBox="1"/>
          <p:nvPr/>
        </p:nvSpPr>
        <p:spPr>
          <a:xfrm>
            <a:off x="4424516" y="856004"/>
            <a:ext cx="4262088" cy="276999"/>
          </a:xfrm>
          <a:prstGeom prst="rect">
            <a:avLst/>
          </a:prstGeom>
          <a:noFill/>
        </p:spPr>
        <p:txBody>
          <a:bodyPr wrap="square" rtlCol="0">
            <a:spAutoFit/>
          </a:bodyPr>
          <a:lstStyle/>
          <a:p>
            <a:r>
              <a:rPr lang="en-US" sz="1200" dirty="0" smtClean="0"/>
              <a:t>Create a new Tasks, calling it “Test – [insert your first name here]</a:t>
            </a:r>
            <a:endParaRPr lang="en-CA" sz="1200" dirty="0"/>
          </a:p>
        </p:txBody>
      </p:sp>
      <p:pic>
        <p:nvPicPr>
          <p:cNvPr id="2" name="Picture 1"/>
          <p:cNvPicPr>
            <a:picLocks noChangeAspect="1"/>
          </p:cNvPicPr>
          <p:nvPr/>
        </p:nvPicPr>
        <p:blipFill>
          <a:blip r:embed="rId2"/>
          <a:stretch>
            <a:fillRect/>
          </a:stretch>
        </p:blipFill>
        <p:spPr>
          <a:xfrm>
            <a:off x="802311" y="634609"/>
            <a:ext cx="2830277" cy="3858492"/>
          </a:xfrm>
          <a:prstGeom prst="rect">
            <a:avLst/>
          </a:prstGeom>
          <a:ln>
            <a:solidFill>
              <a:schemeClr val="bg1">
                <a:lumMod val="50000"/>
              </a:schemeClr>
            </a:solidFill>
          </a:ln>
        </p:spPr>
      </p:pic>
    </p:spTree>
    <p:extLst>
      <p:ext uri="{BB962C8B-B14F-4D97-AF65-F5344CB8AC3E}">
        <p14:creationId xmlns:p14="http://schemas.microsoft.com/office/powerpoint/2010/main" val="1968887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Hands On – In Class Assignment</a:t>
            </a:r>
            <a:endParaRPr lang="en-CA" dirty="0"/>
          </a:p>
        </p:txBody>
      </p:sp>
      <p:sp>
        <p:nvSpPr>
          <p:cNvPr id="11" name="TextBox 10"/>
          <p:cNvSpPr txBox="1"/>
          <p:nvPr/>
        </p:nvSpPr>
        <p:spPr>
          <a:xfrm>
            <a:off x="4424517" y="1197587"/>
            <a:ext cx="4153146" cy="1384995"/>
          </a:xfrm>
          <a:prstGeom prst="rect">
            <a:avLst/>
          </a:prstGeom>
          <a:noFill/>
        </p:spPr>
        <p:txBody>
          <a:bodyPr wrap="square" rtlCol="0">
            <a:spAutoFit/>
          </a:bodyPr>
          <a:lstStyle/>
          <a:p>
            <a:pPr marL="228600" indent="-228600">
              <a:buFont typeface="+mj-lt"/>
              <a:buAutoNum type="arabicPeriod"/>
            </a:pPr>
            <a:r>
              <a:rPr lang="en-US" sz="1200" dirty="0" smtClean="0"/>
              <a:t>There is a multitude of ways to search and report on work in progress</a:t>
            </a:r>
          </a:p>
          <a:p>
            <a:pPr marL="228600" indent="-228600">
              <a:buFont typeface="+mj-lt"/>
              <a:buAutoNum type="arabicPeriod"/>
            </a:pPr>
            <a:endParaRPr lang="en-US" sz="1200" dirty="0"/>
          </a:p>
          <a:p>
            <a:pPr marL="228600" indent="-228600">
              <a:buFont typeface="+mj-lt"/>
              <a:buAutoNum type="arabicPeriod"/>
            </a:pPr>
            <a:r>
              <a:rPr lang="en-US" sz="1200" dirty="0" smtClean="0"/>
              <a:t>Bonus assignment: Show all tickets that Jogi hasn’t touched in the last 5 days that were assigned to him over 10 days ago. Sort by priority. Just kidding, no need to search.</a:t>
            </a:r>
            <a:endParaRPr lang="en-CA" sz="1200" dirty="0"/>
          </a:p>
          <a:p>
            <a:pPr marL="228600" indent="-228600">
              <a:buFont typeface="+mj-lt"/>
              <a:buAutoNum type="arabicPeriod"/>
            </a:pPr>
            <a:endParaRPr lang="en-CA" sz="1200" dirty="0"/>
          </a:p>
        </p:txBody>
      </p:sp>
      <p:sp>
        <p:nvSpPr>
          <p:cNvPr id="12" name="TextBox 11"/>
          <p:cNvSpPr txBox="1"/>
          <p:nvPr/>
        </p:nvSpPr>
        <p:spPr>
          <a:xfrm>
            <a:off x="4424516" y="856004"/>
            <a:ext cx="4262088" cy="276999"/>
          </a:xfrm>
          <a:prstGeom prst="rect">
            <a:avLst/>
          </a:prstGeom>
          <a:noFill/>
        </p:spPr>
        <p:txBody>
          <a:bodyPr wrap="square" rtlCol="0">
            <a:spAutoFit/>
          </a:bodyPr>
          <a:lstStyle/>
          <a:p>
            <a:r>
              <a:rPr lang="en-US" sz="1200" dirty="0" smtClean="0"/>
              <a:t>Filters and Queries are your friends</a:t>
            </a:r>
            <a:endParaRPr lang="en-CA" sz="1200" dirty="0"/>
          </a:p>
        </p:txBody>
      </p:sp>
    </p:spTree>
    <p:extLst>
      <p:ext uri="{BB962C8B-B14F-4D97-AF65-F5344CB8AC3E}">
        <p14:creationId xmlns:p14="http://schemas.microsoft.com/office/powerpoint/2010/main" val="2720058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406203" y="164199"/>
            <a:ext cx="8280401" cy="397483"/>
          </a:xfrm>
        </p:spPr>
        <p:txBody>
          <a:bodyPr/>
          <a:lstStyle/>
          <a:p>
            <a:r>
              <a:rPr lang="en-US" dirty="0" smtClean="0"/>
              <a:t>Our Jira Help</a:t>
            </a:r>
            <a:endParaRPr lang="en-CA" dirty="0"/>
          </a:p>
        </p:txBody>
      </p:sp>
      <p:sp>
        <p:nvSpPr>
          <p:cNvPr id="11" name="TextBox 10"/>
          <p:cNvSpPr txBox="1"/>
          <p:nvPr/>
        </p:nvSpPr>
        <p:spPr>
          <a:xfrm>
            <a:off x="4424516" y="1427662"/>
            <a:ext cx="4153146" cy="1200329"/>
          </a:xfrm>
          <a:prstGeom prst="rect">
            <a:avLst/>
          </a:prstGeom>
          <a:noFill/>
        </p:spPr>
        <p:txBody>
          <a:bodyPr wrap="square" rtlCol="0">
            <a:spAutoFit/>
          </a:bodyPr>
          <a:lstStyle/>
          <a:p>
            <a:pPr marL="685800" lvl="1" indent="-228600">
              <a:buFont typeface="+mj-lt"/>
              <a:buAutoNum type="arabicPeriod"/>
            </a:pPr>
            <a:r>
              <a:rPr lang="en-US" sz="1200" dirty="0" smtClean="0"/>
              <a:t>Adrian Crisp</a:t>
            </a:r>
          </a:p>
          <a:p>
            <a:pPr marL="685800" lvl="1" indent="-228600">
              <a:buFont typeface="+mj-lt"/>
              <a:buAutoNum type="arabicPeriod"/>
            </a:pPr>
            <a:r>
              <a:rPr lang="en-US" sz="1200" dirty="0"/>
              <a:t>Susan </a:t>
            </a:r>
            <a:r>
              <a:rPr lang="en-US" sz="1200" dirty="0" smtClean="0"/>
              <a:t>Bako</a:t>
            </a:r>
          </a:p>
          <a:p>
            <a:pPr marL="685800" lvl="1" indent="-228600">
              <a:buFont typeface="+mj-lt"/>
              <a:buAutoNum type="arabicPeriod"/>
            </a:pPr>
            <a:r>
              <a:rPr lang="en-US" sz="1200" dirty="0" smtClean="0"/>
              <a:t>Sunil Prashar</a:t>
            </a:r>
            <a:endParaRPr lang="en-US" sz="1200" dirty="0"/>
          </a:p>
          <a:p>
            <a:pPr marL="685800" lvl="1" indent="-228600">
              <a:buFont typeface="+mj-lt"/>
              <a:buAutoNum type="arabicPeriod"/>
            </a:pPr>
            <a:r>
              <a:rPr lang="en-US" sz="1200" dirty="0" smtClean="0"/>
              <a:t>Steve Kelcher</a:t>
            </a:r>
          </a:p>
          <a:p>
            <a:pPr marL="685800" lvl="1" indent="-228600">
              <a:buFont typeface="+mj-lt"/>
              <a:buAutoNum type="arabicPeriod"/>
            </a:pPr>
            <a:r>
              <a:rPr lang="en-US" sz="1200" dirty="0"/>
              <a:t>Chix Dela </a:t>
            </a:r>
            <a:r>
              <a:rPr lang="en-US" sz="1200" dirty="0" smtClean="0"/>
              <a:t>Luna</a:t>
            </a:r>
          </a:p>
          <a:p>
            <a:pPr marL="685800" lvl="1" indent="-228600">
              <a:buFont typeface="+mj-lt"/>
              <a:buAutoNum type="arabicPeriod"/>
            </a:pPr>
            <a:r>
              <a:rPr lang="en-US" sz="1200" dirty="0" smtClean="0"/>
              <a:t>Jogi Nijjar</a:t>
            </a:r>
            <a:endParaRPr lang="en-CA" sz="1200" dirty="0"/>
          </a:p>
        </p:txBody>
      </p:sp>
      <p:sp>
        <p:nvSpPr>
          <p:cNvPr id="12" name="TextBox 11"/>
          <p:cNvSpPr txBox="1"/>
          <p:nvPr/>
        </p:nvSpPr>
        <p:spPr>
          <a:xfrm>
            <a:off x="4424516" y="856004"/>
            <a:ext cx="4262088" cy="461665"/>
          </a:xfrm>
          <a:prstGeom prst="rect">
            <a:avLst/>
          </a:prstGeom>
          <a:noFill/>
        </p:spPr>
        <p:txBody>
          <a:bodyPr wrap="square" rtlCol="0">
            <a:spAutoFit/>
          </a:bodyPr>
          <a:lstStyle/>
          <a:p>
            <a:r>
              <a:rPr lang="en-US" sz="1200" dirty="0" smtClean="0"/>
              <a:t>Remember, Jira is a complicated piece of software, no one knows it all. That said, here are some folks willing to help:</a:t>
            </a:r>
            <a:endParaRPr lang="en-CA" sz="1200" dirty="0"/>
          </a:p>
        </p:txBody>
      </p:sp>
      <p:sp>
        <p:nvSpPr>
          <p:cNvPr id="7" name="Rounded Rectangle 6">
            <a:hlinkClick r:id="rId2"/>
          </p:cNvPr>
          <p:cNvSpPr/>
          <p:nvPr/>
        </p:nvSpPr>
        <p:spPr>
          <a:xfrm>
            <a:off x="563996" y="904531"/>
            <a:ext cx="996991" cy="359861"/>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900" dirty="0" smtClean="0"/>
              <a:t>Online Help</a:t>
            </a:r>
            <a:endParaRPr lang="en-CA" sz="900" dirty="0"/>
          </a:p>
        </p:txBody>
      </p:sp>
    </p:spTree>
    <p:extLst>
      <p:ext uri="{BB962C8B-B14F-4D97-AF65-F5344CB8AC3E}">
        <p14:creationId xmlns:p14="http://schemas.microsoft.com/office/powerpoint/2010/main" val="3604001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dirty="0" smtClean="0"/>
              <a:t>To Add</a:t>
            </a:r>
            <a:endParaRPr lang="en-CA" dirty="0"/>
          </a:p>
        </p:txBody>
      </p:sp>
      <p:graphicFrame>
        <p:nvGraphicFramePr>
          <p:cNvPr id="2" name="Table 1"/>
          <p:cNvGraphicFramePr>
            <a:graphicFrameLocks noGrp="1"/>
          </p:cNvGraphicFramePr>
          <p:nvPr>
            <p:extLst>
              <p:ext uri="{D42A27DB-BD31-4B8C-83A1-F6EECF244321}">
                <p14:modId xmlns:p14="http://schemas.microsoft.com/office/powerpoint/2010/main" val="3685174842"/>
              </p:ext>
            </p:extLst>
          </p:nvPr>
        </p:nvGraphicFramePr>
        <p:xfrm>
          <a:off x="1603375" y="2582069"/>
          <a:ext cx="5937250" cy="1005840"/>
        </p:xfrm>
        <a:graphic>
          <a:graphicData uri="http://schemas.openxmlformats.org/drawingml/2006/table">
            <a:tbl>
              <a:tblPr firstRow="1" firstCol="1" bandRow="1">
                <a:tableStyleId>{5C22544A-7EE6-4342-B048-85BDC9FD1C3A}</a:tableStyleId>
              </a:tblPr>
              <a:tblGrid>
                <a:gridCol w="2968625">
                  <a:extLst>
                    <a:ext uri="{9D8B030D-6E8A-4147-A177-3AD203B41FA5}">
                      <a16:colId xmlns:a16="http://schemas.microsoft.com/office/drawing/2014/main" val="1268978458"/>
                    </a:ext>
                  </a:extLst>
                </a:gridCol>
                <a:gridCol w="2968625">
                  <a:extLst>
                    <a:ext uri="{9D8B030D-6E8A-4147-A177-3AD203B41FA5}">
                      <a16:colId xmlns:a16="http://schemas.microsoft.com/office/drawing/2014/main" val="2061143976"/>
                    </a:ext>
                  </a:extLst>
                </a:gridCol>
              </a:tblGrid>
              <a:tr h="0">
                <a:tc>
                  <a:txBody>
                    <a:bodyPr/>
                    <a:lstStyle/>
                    <a:p>
                      <a:pPr marL="342900" lvl="0" indent="-342900">
                        <a:spcAft>
                          <a:spcPts val="0"/>
                        </a:spcAft>
                        <a:buFont typeface="+mj-lt"/>
                        <a:buAutoNum type="arabicPeriod"/>
                      </a:pPr>
                      <a:r>
                        <a:rPr lang="en-CA" sz="1100" dirty="0">
                          <a:effectLst/>
                        </a:rPr>
                        <a:t>Update PPT Slides:</a:t>
                      </a:r>
                    </a:p>
                    <a:p>
                      <a:pPr marL="342900" lvl="0" indent="-342900">
                        <a:spcAft>
                          <a:spcPts val="0"/>
                        </a:spcAft>
                        <a:buFont typeface="Calibri" panose="020F0502020204030204" pitchFamily="34" charset="0"/>
                        <a:buChar char="-"/>
                      </a:pPr>
                      <a:r>
                        <a:rPr lang="en-CA" sz="1100" dirty="0">
                          <a:effectLst/>
                        </a:rPr>
                        <a:t>History of a ticket &amp; audit log</a:t>
                      </a:r>
                    </a:p>
                    <a:p>
                      <a:pPr marL="342900" lvl="0" indent="-342900">
                        <a:spcAft>
                          <a:spcPts val="0"/>
                        </a:spcAft>
                        <a:buFont typeface="Calibri" panose="020F0502020204030204" pitchFamily="34" charset="0"/>
                        <a:buChar char="-"/>
                      </a:pPr>
                      <a:r>
                        <a:rPr lang="en-CA" sz="1100" dirty="0">
                          <a:effectLst/>
                        </a:rPr>
                        <a:t>Search for all Issues </a:t>
                      </a:r>
                    </a:p>
                    <a:p>
                      <a:pPr marL="342900" lvl="0" indent="-342900">
                        <a:spcAft>
                          <a:spcPts val="0"/>
                        </a:spcAft>
                        <a:buFont typeface="Calibri" panose="020F0502020204030204" pitchFamily="34" charset="0"/>
                        <a:buChar char="-"/>
                      </a:pPr>
                      <a:r>
                        <a:rPr lang="en-CA" sz="1100">
                          <a:effectLst/>
                        </a:rPr>
                        <a:t>Adding custom filters and </a:t>
                      </a:r>
                      <a:r>
                        <a:rPr lang="en-CA" sz="1100">
                          <a:effectLst/>
                        </a:rPr>
                        <a:t>personal </a:t>
                      </a:r>
                      <a:r>
                        <a:rPr lang="en-CA" sz="1100" smtClean="0">
                          <a:effectLst/>
                        </a:rPr>
                        <a:t>dashboard</a:t>
                      </a:r>
                    </a:p>
                    <a:p>
                      <a:pPr marL="342900" lvl="0" indent="-342900">
                        <a:spcAft>
                          <a:spcPts val="0"/>
                        </a:spcAft>
                        <a:buFont typeface="Calibri" panose="020F0502020204030204" pitchFamily="34" charset="0"/>
                        <a:buChar char="-"/>
                      </a:pP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CA" sz="1100" dirty="0">
                          <a:effectLst/>
                        </a:rPr>
                        <a:t>Jogi with assistance from Sunil/Steve</a:t>
                      </a:r>
                      <a:endParaRPr lang="en-C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08863530"/>
                  </a:ext>
                </a:extLst>
              </a:tr>
            </a:tbl>
          </a:graphicData>
        </a:graphic>
      </p:graphicFrame>
    </p:spTree>
    <p:extLst>
      <p:ext uri="{BB962C8B-B14F-4D97-AF65-F5344CB8AC3E}">
        <p14:creationId xmlns:p14="http://schemas.microsoft.com/office/powerpoint/2010/main" val="396993668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99035E62-F7A9-4709-9788-2DAD6D496E76}"/>
    </a:ext>
  </a:extLst>
</a:theme>
</file>

<file path=ppt/theme/theme2.xml><?xml version="1.0" encoding="utf-8"?>
<a:theme xmlns:a="http://schemas.openxmlformats.org/drawingml/2006/main" name="1 Primary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AE23DD20-C299-45FE-BE38-3ECFBE876F77}"/>
    </a:ext>
  </a:extLst>
</a:theme>
</file>

<file path=ppt/theme/theme3.xml><?xml version="1.0" encoding="utf-8"?>
<a:theme xmlns:a="http://schemas.openxmlformats.org/drawingml/2006/main" name="1 Primary Gold - Section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2401E65E-5FE9-4F80-8D58-5DEB6F901CAD}"/>
    </a:ext>
  </a:extLst>
</a:theme>
</file>

<file path=ppt/theme/theme4.xml><?xml version="1.0" encoding="utf-8"?>
<a:theme xmlns:a="http://schemas.openxmlformats.org/drawingml/2006/main" name="2 Primary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FB1C4462-D851-490F-A071-83D9978A48A1}"/>
    </a:ext>
  </a:extLst>
</a:theme>
</file>

<file path=ppt/theme/theme5.xml><?xml version="1.0" encoding="utf-8"?>
<a:theme xmlns:a="http://schemas.openxmlformats.org/drawingml/2006/main" name="2 Primary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46035B87-CB5B-410B-9AAC-64B535A96964}"/>
    </a:ext>
  </a:extLst>
</a:theme>
</file>

<file path=ppt/theme/theme6.xml><?xml version="1.0" encoding="utf-8"?>
<a:theme xmlns:a="http://schemas.openxmlformats.org/drawingml/2006/main" name="2 Primary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CDA640F7-AFB6-43ED-B923-FE7A9B072F38}"/>
    </a:ext>
  </a:extLst>
</a:theme>
</file>

<file path=ppt/theme/theme7.xml><?xml version="1.0" encoding="utf-8"?>
<a:theme xmlns:a="http://schemas.openxmlformats.org/drawingml/2006/main" name="3 Nav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EDB0E078-49A4-415F-AB6F-6218604714D1}"/>
    </a:ext>
  </a:extLst>
</a:theme>
</file>

<file path=ppt/theme/theme8.xml><?xml version="1.0" encoding="utf-8"?>
<a:theme xmlns:a="http://schemas.openxmlformats.org/drawingml/2006/main" name="3 Nav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99C5C860-9E7D-46C5-84E0-F852A12412EF}"/>
    </a:ext>
  </a:extLst>
</a:theme>
</file>

<file path=ppt/theme/theme9.xml><?xml version="1.0" encoding="utf-8"?>
<a:theme xmlns:a="http://schemas.openxmlformats.org/drawingml/2006/main" name="3 Nav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AE0A915C-8F2B-4AF5-A5F6-2308CCC4A1F7}"/>
    </a:ext>
  </a:extLst>
</a:theme>
</file>

<file path=ppt/theme/theme10.xml><?xml version="1.0" encoding="utf-8"?>
<a:theme xmlns:a="http://schemas.openxmlformats.org/drawingml/2006/main" name="4 Light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F3E576D2-46C1-4D06-A356-1A502FF846C1}"/>
    </a:ext>
  </a:extLst>
</a:theme>
</file>

<file path=ppt/theme/theme11.xml><?xml version="1.0" encoding="utf-8"?>
<a:theme xmlns:a="http://schemas.openxmlformats.org/drawingml/2006/main" name="4 Light Teal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A2007AE9-90AD-4EAB-9E6A-8A0B25333A29}"/>
    </a:ext>
  </a:extLst>
</a:theme>
</file>

<file path=ppt/theme/theme12.xml><?xml version="1.0" encoding="utf-8"?>
<a:theme xmlns:a="http://schemas.openxmlformats.org/drawingml/2006/main" name="4 Light Teal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3BD8E73B-8D44-47DC-B9DD-454DC4A8F8C3}"/>
    </a:ext>
  </a:extLst>
</a:theme>
</file>

<file path=ppt/theme/theme13.xml><?xml version="1.0" encoding="utf-8"?>
<a:theme xmlns:a="http://schemas.openxmlformats.org/drawingml/2006/main" name="6 Dark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10C14875-9AB3-47ED-AB71-4C919763E1CD}"/>
    </a:ext>
  </a:extLst>
</a:theme>
</file>

<file path=ppt/theme/theme14.xml><?xml version="1.0" encoding="utf-8"?>
<a:theme xmlns:a="http://schemas.openxmlformats.org/drawingml/2006/main" name="6 Dark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3ABA026F-A002-44BA-9B18-62C016E99774}"/>
    </a:ext>
  </a:extLst>
</a:theme>
</file>

<file path=ppt/theme/theme15.xml><?xml version="1.0" encoding="utf-8"?>
<a:theme xmlns:a="http://schemas.openxmlformats.org/drawingml/2006/main" name="6 Dark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2287062D-3723-4591-A086-D05B2BEB5C2A}"/>
    </a:ext>
  </a:extLst>
</a:theme>
</file>

<file path=ppt/theme/theme16.xml><?xml version="1.0" encoding="utf-8"?>
<a:theme xmlns:a="http://schemas.openxmlformats.org/drawingml/2006/main" name="7 Orange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CD308C4A-9746-4EC0-AB22-C9FF9D13EBFE}"/>
    </a:ext>
  </a:extLst>
</a:theme>
</file>

<file path=ppt/theme/theme17.xml><?xml version="1.0" encoding="utf-8"?>
<a:theme xmlns:a="http://schemas.openxmlformats.org/drawingml/2006/main" name="7 Orange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5D8BE8D6-2228-4BBE-AD7B-EA5B02113C31}"/>
    </a:ext>
  </a:extLst>
</a:theme>
</file>

<file path=ppt/theme/theme18.xml><?xml version="1.0" encoding="utf-8"?>
<a:theme xmlns:a="http://schemas.openxmlformats.org/drawingml/2006/main" name="7 Orange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AB5999AE-FE2E-47A0-9234-DB1B1F6C3304}"/>
    </a:ext>
  </a:extLst>
</a:theme>
</file>

<file path=ppt/theme/theme19.xml><?xml version="1.0" encoding="utf-8"?>
<a:theme xmlns:a="http://schemas.openxmlformats.org/drawingml/2006/main" name="8 Gre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E5733D46-7F88-4C62-A70E-AEFB56884803}"/>
    </a:ext>
  </a:extLst>
</a:theme>
</file>

<file path=ppt/theme/theme20.xml><?xml version="1.0" encoding="utf-8"?>
<a:theme xmlns:a="http://schemas.openxmlformats.org/drawingml/2006/main" name="8 Gre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65B855E7-18DA-4632-A2AC-82399EFB56B2}"/>
    </a:ext>
  </a:extLst>
</a:theme>
</file>

<file path=ppt/theme/theme21.xml><?xml version="1.0" encoding="utf-8"?>
<a:theme xmlns:a="http://schemas.openxmlformats.org/drawingml/2006/main" name="8 Gre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E3B8F19F-AEBC-40C9-B21D-FDA96295FBE3}"/>
    </a:ext>
  </a:extLst>
</a:theme>
</file>

<file path=ppt/theme/theme22.xml><?xml version="1.0" encoding="utf-8"?>
<a:theme xmlns:a="http://schemas.openxmlformats.org/drawingml/2006/main" name="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8F04F41E-E41C-497B-B29F-CF6A3B05936B}"/>
    </a:ext>
  </a:extLst>
</a:theme>
</file>

<file path=ppt/theme/theme23.xml><?xml version="1.0" encoding="utf-8"?>
<a:theme xmlns:a="http://schemas.openxmlformats.org/drawingml/2006/main" name="1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AE07C077-D013-4410-ADA1-95E6C454497A}"/>
    </a:ext>
  </a:extLst>
</a:theme>
</file>

<file path=ppt/theme/theme24.xml><?xml version="1.0" encoding="utf-8"?>
<a:theme xmlns:a="http://schemas.openxmlformats.org/drawingml/2006/main" name="2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9454C1E6-EFBD-401B-AB4C-34E045B7B88A}"/>
    </a:ext>
  </a:extLst>
</a:theme>
</file>

<file path=ppt/theme/theme25.xml><?xml version="1.0" encoding="utf-8"?>
<a:theme xmlns:a="http://schemas.openxmlformats.org/drawingml/2006/main" name="Quote - Teal Ladd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CFFE18D8-FEE5-44D0-A7A9-579D76B662FD}"/>
    </a:ext>
  </a:extLst>
</a:theme>
</file>

<file path=ppt/theme/theme26.xml><?xml version="1.0" encoding="utf-8"?>
<a:theme xmlns:a="http://schemas.openxmlformats.org/drawingml/2006/main" name="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46F7E41F-42DE-4DB4-8A8A-5D9990EA9F79}"/>
    </a:ext>
  </a:extLst>
</a:theme>
</file>

<file path=ppt/theme/theme27.xml><?xml version="1.0" encoding="utf-8"?>
<a:theme xmlns:a="http://schemas.openxmlformats.org/drawingml/2006/main" name="1_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23B89475-9F16-4323-A97E-5AD303D66C1F}"/>
    </a:ext>
  </a:extLst>
</a:theme>
</file>

<file path=ppt/theme/theme2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d778449-ff75-428e-914f-0c7c3a330bda">
      <Terms xmlns="http://schemas.microsoft.com/office/infopath/2007/PartnerControls"/>
    </lcf76f155ced4ddcb4097134ff3c332f>
    <TaxCatchAll xmlns="9685b3f0-18b8-4ac0-8917-75cacc3928c8" xsi:nil="true"/>
    <IconOverlay xmlns="http://schemas.microsoft.com/sharepoint/v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A6E2191C135504F9351B7DBCB2BE606" ma:contentTypeVersion="19" ma:contentTypeDescription="Create a new document." ma:contentTypeScope="" ma:versionID="144ddb5c3dec5e6553fff6a9e46bb08f">
  <xsd:schema xmlns:xsd="http://www.w3.org/2001/XMLSchema" xmlns:xs="http://www.w3.org/2001/XMLSchema" xmlns:p="http://schemas.microsoft.com/office/2006/metadata/properties" xmlns:ns2="6d778449-ff75-428e-914f-0c7c3a330bda" xmlns:ns3="9685b3f0-18b8-4ac0-8917-75cacc3928c8" xmlns:ns4="http://schemas.microsoft.com/sharepoint/v4" targetNamespace="http://schemas.microsoft.com/office/2006/metadata/properties" ma:root="true" ma:fieldsID="20e32d3dfd06a5d03c1eec57e40fefd4" ns2:_="" ns3:_="" ns4:_="">
    <xsd:import namespace="6d778449-ff75-428e-914f-0c7c3a330bda"/>
    <xsd:import namespace="9685b3f0-18b8-4ac0-8917-75cacc3928c8"/>
    <xsd:import namespace="http://schemas.microsoft.com/sharepoint/v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element ref="ns4:IconOverlay"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778449-ff75-428e-914f-0c7c3a330b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104f31a-2814-4102-809d-73f760290a8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85b3f0-18b8-4ac0-8917-75cacc3928c8"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dc0967b-2da2-44e6-873a-f241ab05c942}" ma:internalName="TaxCatchAll" ma:showField="CatchAllData" ma:web="9685b3f0-18b8-4ac0-8917-75cacc3928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CBD324-C272-47D6-8E49-4EF707F5C524}">
  <ds:schemaRefs>
    <ds:schemaRef ds:uri="http://schemas.microsoft.com/office/2006/metadata/properties"/>
    <ds:schemaRef ds:uri="http://schemas.microsoft.com/sharepoint/v4"/>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www.w3.org/XML/1998/namespace"/>
  </ds:schemaRefs>
</ds:datastoreItem>
</file>

<file path=customXml/itemProps2.xml><?xml version="1.0" encoding="utf-8"?>
<ds:datastoreItem xmlns:ds="http://schemas.openxmlformats.org/officeDocument/2006/customXml" ds:itemID="{CDAFB01A-6789-45E6-9612-724DA2FBC234}"/>
</file>

<file path=customXml/itemProps3.xml><?xml version="1.0" encoding="utf-8"?>
<ds:datastoreItem xmlns:ds="http://schemas.openxmlformats.org/officeDocument/2006/customXml" ds:itemID="{3A4F934B-1A43-4194-B687-AF83973FDB16}">
  <ds:schemaRefs>
    <ds:schemaRef ds:uri="http://schemas.microsoft.com/sharepoint/v3/contenttype/forms"/>
  </ds:schemaRefs>
</ds:datastoreItem>
</file>

<file path=docMetadata/LabelInfo.xml><?xml version="1.0" encoding="utf-8"?>
<clbl:labelList xmlns:clbl="http://schemas.microsoft.com/office/2020/mipLabelMetadata">
  <clbl:label id="{4e1dbe9c-67f7-4be6-a2b7-0951d57be59d}" enabled="1" method="Standard" siteId="{bbf04c3f-b0e3-4b50-bd1b-10ce0b74385d}" removed="0"/>
</clbl:labelList>
</file>

<file path=docProps/app.xml><?xml version="1.0" encoding="utf-8"?>
<Properties xmlns="http://schemas.openxmlformats.org/officeDocument/2006/extended-properties" xmlns:vt="http://schemas.openxmlformats.org/officeDocument/2006/docPropsVTypes">
  <Template>CWBFG Presentation 16x9</Template>
  <TotalTime>532</TotalTime>
  <Words>1176</Words>
  <Application>Microsoft Office PowerPoint</Application>
  <PresentationFormat>On-screen Show (16:9)</PresentationFormat>
  <Paragraphs>168</Paragraphs>
  <Slides>17</Slides>
  <Notes>0</Notes>
  <HiddenSlides>0</HiddenSlides>
  <MMClips>0</MMClips>
  <ScaleCrop>false</ScaleCrop>
  <HeadingPairs>
    <vt:vector size="6" baseType="variant">
      <vt:variant>
        <vt:lpstr>Fonts Used</vt:lpstr>
      </vt:variant>
      <vt:variant>
        <vt:i4>4</vt:i4>
      </vt:variant>
      <vt:variant>
        <vt:lpstr>Theme</vt:lpstr>
      </vt:variant>
      <vt:variant>
        <vt:i4>27</vt:i4>
      </vt:variant>
      <vt:variant>
        <vt:lpstr>Slide Titles</vt:lpstr>
      </vt:variant>
      <vt:variant>
        <vt:i4>17</vt:i4>
      </vt:variant>
    </vt:vector>
  </HeadingPairs>
  <TitlesOfParts>
    <vt:vector size="48" baseType="lpstr">
      <vt:lpstr>Arial</vt:lpstr>
      <vt:lpstr>Calibri</vt:lpstr>
      <vt:lpstr>Times New Roman</vt:lpstr>
      <vt:lpstr>Wingdings</vt:lpstr>
      <vt:lpstr>Custom Design</vt:lpstr>
      <vt:lpstr>1 Primary Gold - Section Title</vt:lpstr>
      <vt:lpstr>1 Primary Gold - Section Content</vt:lpstr>
      <vt:lpstr>2 Primary Teal - Section Title</vt:lpstr>
      <vt:lpstr>2 Primary Gold - Section Content</vt:lpstr>
      <vt:lpstr>2 Primary Gold - Content</vt:lpstr>
      <vt:lpstr>3 Navy - Section Title</vt:lpstr>
      <vt:lpstr>3 Navy - Section Content</vt:lpstr>
      <vt:lpstr>3 Navy - Content</vt:lpstr>
      <vt:lpstr>4 Light Teal - Section Title</vt:lpstr>
      <vt:lpstr>4 Light Teal - Section Content</vt:lpstr>
      <vt:lpstr>4 Light Teal - Content</vt:lpstr>
      <vt:lpstr>6 Dark Gold - Section Title</vt:lpstr>
      <vt:lpstr>6 Dark Gold - Section Content</vt:lpstr>
      <vt:lpstr>6 Dark Gold - Content</vt:lpstr>
      <vt:lpstr>7 Orange - Section Title</vt:lpstr>
      <vt:lpstr>7 Orange - Section Content</vt:lpstr>
      <vt:lpstr>7 Orange - Content</vt:lpstr>
      <vt:lpstr>8 Grey - Section Title</vt:lpstr>
      <vt:lpstr>8 Grey - Section Content</vt:lpstr>
      <vt:lpstr>8 Grey - Content</vt:lpstr>
      <vt:lpstr>Section Title - Photo</vt:lpstr>
      <vt:lpstr>1_Section Title - Photo</vt:lpstr>
      <vt:lpstr>2_Section Title - Photo</vt:lpstr>
      <vt:lpstr>Quote - Teal Ladder</vt:lpstr>
      <vt:lpstr>Quote - Navy Path</vt:lpstr>
      <vt:lpstr>1_Quote - Navy Path</vt:lpstr>
      <vt:lpstr>Digital Program – Temenos Jira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Canadian Western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Chix Dela Luna</dc:creator>
  <cp:lastModifiedBy>Jogi Nijjar</cp:lastModifiedBy>
  <cp:revision>71</cp:revision>
  <cp:lastPrinted>2014-01-17T22:29:57Z</cp:lastPrinted>
  <dcterms:created xsi:type="dcterms:W3CDTF">2020-03-26T21:32:18Z</dcterms:created>
  <dcterms:modified xsi:type="dcterms:W3CDTF">2020-05-13T11:48:43Z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0x010100CA6E2191C135504F9351B7DBCB2BE606</vt:lpwstr>
  </property>
  <property fmtid="{D5CDD505-2E9C-101B-9397-08002B2CF9AE}" pid="3" name="Order">
    <vt:r8>100</vt:r8>
  </property>
  <property fmtid="{D5CDD505-2E9C-101B-9397-08002B2CF9AE}" pid="4" name="URL">
    <vt:lpwstr/>
  </property>
  <property fmtid="{D5CDD505-2E9C-101B-9397-08002B2CF9AE}" pid="5" name="MediaServiceImageTags">
    <vt:lpwstr/>
  </property>
</Properties>
</file>