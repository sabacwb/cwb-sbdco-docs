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3.xml" ContentType="application/vnd.openxmlformats-officedocument.theme+xml"/>
  <Override PartName="/ppt/slideLayouts/slideLayout29.xml" ContentType="application/vnd.openxmlformats-officedocument.presentationml.slideLayout+xml"/>
  <Override PartName="/ppt/theme/theme14.xml" ContentType="application/vnd.openxmlformats-officedocument.theme+xml"/>
  <Override PartName="/ppt/slideLayouts/slideLayout30.xml" ContentType="application/vnd.openxmlformats-officedocument.presentationml.slideLayout+xml"/>
  <Override PartName="/ppt/theme/theme1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theme/theme17.xml" ContentType="application/vnd.openxmlformats-officedocument.theme+xml"/>
  <Override PartName="/ppt/slideLayouts/slideLayout39.xml" ContentType="application/vnd.openxmlformats-officedocument.presentationml.slideLayout+xml"/>
  <Override PartName="/ppt/theme/theme18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9.xml" ContentType="application/vnd.openxmlformats-officedocument.theme+xml"/>
  <Override PartName="/ppt/slideLayouts/slideLayout46.xml" ContentType="application/vnd.openxmlformats-officedocument.presentationml.slideLayout+xml"/>
  <Override PartName="/ppt/theme/theme20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1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2.xml" ContentType="application/vnd.openxmlformats-officedocument.theme+xml"/>
  <Override PartName="/ppt/slideLayouts/slideLayout57.xml" ContentType="application/vnd.openxmlformats-officedocument.presentationml.slideLayout+xml"/>
  <Override PartName="/ppt/theme/theme23.xml" ContentType="application/vnd.openxmlformats-officedocument.theme+xml"/>
  <Override PartName="/ppt/slideLayouts/slideLayout58.xml" ContentType="application/vnd.openxmlformats-officedocument.presentationml.slideLayout+xml"/>
  <Override PartName="/ppt/theme/theme24.xml" ContentType="application/vnd.openxmlformats-officedocument.theme+xml"/>
  <Override PartName="/ppt/slideLayouts/slideLayout59.xml" ContentType="application/vnd.openxmlformats-officedocument.presentationml.slideLayout+xml"/>
  <Override PartName="/ppt/theme/theme25.xml" ContentType="application/vnd.openxmlformats-officedocument.theme+xml"/>
  <Override PartName="/ppt/slideLayouts/slideLayout60.xml" ContentType="application/vnd.openxmlformats-officedocument.presentationml.slideLayout+xml"/>
  <Override PartName="/ppt/theme/theme26.xml" ContentType="application/vnd.openxmlformats-officedocument.theme+xml"/>
  <Override PartName="/ppt/slideLayouts/slideLayout61.xml" ContentType="application/vnd.openxmlformats-officedocument.presentationml.slideLayout+xml"/>
  <Override PartName="/ppt/theme/theme27.xml" ContentType="application/vnd.openxmlformats-officedocument.theme+xml"/>
  <Override PartName="/ppt/slideLayouts/slideLayout62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44" r:id="rId5"/>
    <p:sldMasterId id="2147483701" r:id="rId6"/>
    <p:sldMasterId id="2147483709" r:id="rId7"/>
    <p:sldMasterId id="2147483699" r:id="rId8"/>
    <p:sldMasterId id="2147483711" r:id="rId9"/>
    <p:sldMasterId id="2147483800" r:id="rId10"/>
    <p:sldMasterId id="2147483758" r:id="rId11"/>
    <p:sldMasterId id="2147483715" r:id="rId12"/>
    <p:sldMasterId id="2147483808" r:id="rId13"/>
    <p:sldMasterId id="2147483785" r:id="rId14"/>
    <p:sldMasterId id="2147483707" r:id="rId15"/>
    <p:sldMasterId id="2147483816" r:id="rId16"/>
    <p:sldMasterId id="2147483783" r:id="rId17"/>
    <p:sldMasterId id="2147483713" r:id="rId18"/>
    <p:sldMasterId id="2147483823" r:id="rId19"/>
    <p:sldMasterId id="2147483763" r:id="rId20"/>
    <p:sldMasterId id="2147483717" r:id="rId21"/>
    <p:sldMasterId id="2147483830" r:id="rId22"/>
    <p:sldMasterId id="2147483773" r:id="rId23"/>
    <p:sldMasterId id="2147483719" r:id="rId24"/>
    <p:sldMasterId id="2147483837" r:id="rId25"/>
    <p:sldMasterId id="2147483729" r:id="rId26"/>
    <p:sldMasterId id="2147483796" r:id="rId27"/>
    <p:sldMasterId id="2147483846" r:id="rId28"/>
    <p:sldMasterId id="2147483727" r:id="rId29"/>
    <p:sldMasterId id="2147483725" r:id="rId30"/>
    <p:sldMasterId id="2147483798" r:id="rId31"/>
  </p:sldMasterIdLst>
  <p:notesMasterIdLst>
    <p:notesMasterId r:id="rId50"/>
  </p:notesMasterIdLst>
  <p:handoutMasterIdLst>
    <p:handoutMasterId r:id="rId51"/>
  </p:handoutMasterIdLst>
  <p:sldIdLst>
    <p:sldId id="256" r:id="rId32"/>
    <p:sldId id="302" r:id="rId33"/>
    <p:sldId id="331" r:id="rId34"/>
    <p:sldId id="335" r:id="rId35"/>
    <p:sldId id="405" r:id="rId36"/>
    <p:sldId id="340" r:id="rId37"/>
    <p:sldId id="342" r:id="rId38"/>
    <p:sldId id="347" r:id="rId39"/>
    <p:sldId id="351" r:id="rId40"/>
    <p:sldId id="410" r:id="rId41"/>
    <p:sldId id="378" r:id="rId42"/>
    <p:sldId id="406" r:id="rId43"/>
    <p:sldId id="407" r:id="rId44"/>
    <p:sldId id="408" r:id="rId45"/>
    <p:sldId id="359" r:id="rId46"/>
    <p:sldId id="404" r:id="rId47"/>
    <p:sldId id="403" r:id="rId48"/>
    <p:sldId id="401" r:id="rId49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F0F"/>
    <a:srgbClr val="BAC5B9"/>
    <a:srgbClr val="A9ACA0"/>
    <a:srgbClr val="2DCCD3"/>
    <a:srgbClr val="0097A9"/>
    <a:srgbClr val="FF8200"/>
    <a:srgbClr val="003B5C"/>
    <a:srgbClr val="84754E"/>
    <a:srgbClr val="DAAA0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96158" autoAdjust="0"/>
  </p:normalViewPr>
  <p:slideViewPr>
    <p:cSldViewPr snapToGrid="0">
      <p:cViewPr varScale="1">
        <p:scale>
          <a:sx n="216" d="100"/>
          <a:sy n="216" d="100"/>
        </p:scale>
        <p:origin x="2766" y="180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41" Type="http://schemas.openxmlformats.org/officeDocument/2006/relationships/slide" Target="slides/slide10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4" Type="http://schemas.openxmlformats.org/officeDocument/2006/relationships/slide" Target="slides/slide13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8" Type="http://schemas.openxmlformats.org/officeDocument/2006/relationships/slideMaster" Target="slideMasters/slideMaster5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21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16387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5126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683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812960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73295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3735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06329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934462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BC9F-8722-4BCB-85D0-A3B873F2B0F9}" type="datetimeFigureOut">
              <a:rPr lang="en-CA" smtClean="0"/>
              <a:t>04/28/2020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189D3-8CB9-4DEC-A8C4-E7BBB4D7FF8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92584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9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heme" Target="../theme/theme16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image" Target="../media/image12.jp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slideLayout" Target="../slideLayouts/slideLayout42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46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21.xml"/><Relationship Id="rId4" Type="http://schemas.openxmlformats.org/officeDocument/2006/relationships/slideLayout" Target="../slideLayouts/slideLayout50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slideLayout" Target="../slideLayouts/slideLayout53.xml"/><Relationship Id="rId7" Type="http://schemas.openxmlformats.org/officeDocument/2006/relationships/theme" Target="../theme/theme2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7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58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59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60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61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48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9" r:id="rId2"/>
    <p:sldLayoutId id="2147483850" r:id="rId3"/>
    <p:sldLayoutId id="2147483851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slideLayout" Target="../slideLayouts/slideLayout3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102" Type="http://schemas.openxmlformats.org/officeDocument/2006/relationships/tags" Target="../tags/tag102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13" Type="http://schemas.openxmlformats.org/officeDocument/2006/relationships/tags" Target="../tags/tag113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11" Type="http://schemas.openxmlformats.org/officeDocument/2006/relationships/tags" Target="../tags/tag11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tags" Target="../tags/tag114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7826" y="3175805"/>
            <a:ext cx="6362700" cy="688964"/>
          </a:xfrm>
        </p:spPr>
        <p:txBody>
          <a:bodyPr/>
          <a:lstStyle/>
          <a:p>
            <a:r>
              <a:rPr lang="en-CA" dirty="0" smtClean="0"/>
              <a:t>Project Kick off</a:t>
            </a:r>
          </a:p>
          <a:p>
            <a:r>
              <a:rPr lang="en-CA" dirty="0" smtClean="0"/>
              <a:t>Date</a:t>
            </a:r>
            <a:r>
              <a:rPr lang="en-CA" dirty="0"/>
              <a:t>: </a:t>
            </a:r>
            <a:r>
              <a:rPr lang="en-CA" dirty="0" smtClean="0"/>
              <a:t>April 28, 2020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Personal &amp; Motive DCO Project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77826" y="1032177"/>
            <a:ext cx="8350249" cy="528638"/>
          </a:xfrm>
        </p:spPr>
        <p:txBody>
          <a:bodyPr/>
          <a:lstStyle/>
          <a:p>
            <a:r>
              <a:rPr lang="en-CA" sz="3600" dirty="0" smtClean="0"/>
              <a:t>Digital Client Onboarding Stream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020451" y="432391"/>
            <a:ext cx="3854190" cy="456491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Project Background</a:t>
            </a:r>
            <a:endParaRPr lang="en-US" dirty="0">
              <a:solidFill>
                <a:srgbClr val="0F0F0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Benefits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Project </a:t>
            </a:r>
            <a:r>
              <a:rPr lang="en-US" dirty="0">
                <a:solidFill>
                  <a:srgbClr val="0F0F0F"/>
                </a:solidFill>
              </a:rPr>
              <a:t>Scope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Measures of Success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Constraints/Dependencies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Assumptions/Risks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High Level Timeline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Project </a:t>
            </a:r>
            <a:r>
              <a:rPr lang="en-US" dirty="0" smtClean="0">
                <a:solidFill>
                  <a:srgbClr val="0F0F0F"/>
                </a:solidFill>
              </a:rPr>
              <a:t>Team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Issue Management and Escalation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Project Management Methodology</a:t>
            </a:r>
            <a:endParaRPr lang="en-US" dirty="0">
              <a:solidFill>
                <a:srgbClr val="0F0F0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Thank You</a:t>
            </a:r>
            <a:endParaRPr lang="en-CA" dirty="0">
              <a:solidFill>
                <a:srgbClr val="0F0F0F"/>
              </a:solidFill>
            </a:endParaRPr>
          </a:p>
          <a:p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744132"/>
            <a:ext cx="2832297" cy="665568"/>
          </a:xfrm>
        </p:spPr>
        <p:txBody>
          <a:bodyPr/>
          <a:lstStyle/>
          <a:p>
            <a:r>
              <a:rPr lang="en-US" dirty="0" smtClean="0"/>
              <a:t>Kick Off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674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89274" y="1507124"/>
            <a:ext cx="7340600" cy="530225"/>
          </a:xfrm>
        </p:spPr>
        <p:txBody>
          <a:bodyPr/>
          <a:lstStyle/>
          <a:p>
            <a:pPr algn="ctr"/>
            <a:r>
              <a:rPr lang="en-US" dirty="0" smtClean="0"/>
              <a:t>Welcome to the Digital Program</a:t>
            </a:r>
          </a:p>
          <a:p>
            <a:pPr algn="ctr"/>
            <a:r>
              <a:rPr lang="en-US" sz="2000" dirty="0" smtClean="0"/>
              <a:t>Personal &amp; Motive Digital Client Onboarding Project</a:t>
            </a:r>
          </a:p>
          <a:p>
            <a:pPr algn="ctr"/>
            <a:r>
              <a:rPr lang="en-US" sz="2000" dirty="0" smtClean="0"/>
              <a:t>Under the Digital Client Onboarding Stream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33016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Project Background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204" y="1190691"/>
            <a:ext cx="8280400" cy="3017772"/>
          </a:xfrm>
        </p:spPr>
        <p:txBody>
          <a:bodyPr/>
          <a:lstStyle/>
          <a:p>
            <a:r>
              <a:rPr lang="en-US" sz="1400" dirty="0" smtClean="0"/>
              <a:t>The Personal &amp;  Motive Digital Client Onboarding Project is part of the overall Digital Program and the Digital Client Onboarding (DCO) </a:t>
            </a:r>
            <a:r>
              <a:rPr lang="en-US" sz="1400" dirty="0"/>
              <a:t>P</a:t>
            </a:r>
            <a:r>
              <a:rPr lang="en-US" sz="1400" dirty="0" smtClean="0"/>
              <a:t>rogram stream. The DCO Program stream includes the following Projects: </a:t>
            </a:r>
          </a:p>
          <a:p>
            <a:r>
              <a:rPr lang="en-US" sz="1400" dirty="0"/>
              <a:t>	</a:t>
            </a:r>
            <a:endParaRPr lang="en-US" sz="1400" dirty="0" smtClean="0"/>
          </a:p>
          <a:p>
            <a:r>
              <a:rPr lang="en-US" sz="1400" dirty="0"/>
              <a:t>	</a:t>
            </a:r>
            <a:r>
              <a:rPr lang="en-US" sz="1400" dirty="0" smtClean="0"/>
              <a:t>Motive DCO Minimal Viable Product (MVP)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Motive Full/Personal/In Branch DCO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Small Business DCO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Small Business Lending</a:t>
            </a:r>
          </a:p>
          <a:p>
            <a:endParaRPr lang="en-CA" sz="1400" dirty="0" smtClean="0"/>
          </a:p>
          <a:p>
            <a:r>
              <a:rPr lang="en-CA" sz="1400" dirty="0" smtClean="0"/>
              <a:t>The </a:t>
            </a:r>
            <a:r>
              <a:rPr lang="en-CA" sz="1400" dirty="0"/>
              <a:t>purpose of this P</a:t>
            </a:r>
            <a:r>
              <a:rPr lang="en-CA" sz="1400" dirty="0" smtClean="0"/>
              <a:t>rogram stream is </a:t>
            </a:r>
            <a:r>
              <a:rPr lang="en-CA" sz="1400" dirty="0"/>
              <a:t>to </a:t>
            </a:r>
            <a:r>
              <a:rPr lang="en-CA" sz="1400" dirty="0" smtClean="0"/>
              <a:t>enhance and implement </a:t>
            </a:r>
            <a:r>
              <a:rPr lang="en-CA" sz="1400" dirty="0"/>
              <a:t>the Temenos digital </a:t>
            </a:r>
            <a:r>
              <a:rPr lang="en-CA" sz="1400" dirty="0" smtClean="0"/>
              <a:t>client onboarding </a:t>
            </a:r>
            <a:r>
              <a:rPr lang="en-CA" sz="1400" dirty="0"/>
              <a:t>platform </a:t>
            </a:r>
            <a:r>
              <a:rPr lang="en-CA" sz="1400" dirty="0" smtClean="0"/>
              <a:t>called Infinity.  </a:t>
            </a:r>
          </a:p>
          <a:p>
            <a:endParaRPr lang="en-US" sz="1400" dirty="0" smtClean="0"/>
          </a:p>
          <a:p>
            <a:r>
              <a:rPr lang="en-US" sz="1400" dirty="0" smtClean="0"/>
              <a:t>Problem Statement: </a:t>
            </a:r>
            <a:r>
              <a:rPr lang="en-US" sz="1400" dirty="0"/>
              <a:t>The current </a:t>
            </a:r>
            <a:r>
              <a:rPr lang="en-US" sz="1400" dirty="0" smtClean="0"/>
              <a:t>digital client onboarding service is manual and needs to be conducted in/by a branch. There is no current functionality for a client to open an account online independently except for Motive. 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66869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High Level Benefits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1190847"/>
            <a:ext cx="8280400" cy="3189066"/>
          </a:xfrm>
        </p:spPr>
        <p:txBody>
          <a:bodyPr/>
          <a:lstStyle/>
          <a:p>
            <a:r>
              <a:rPr lang="en-US" sz="1400" dirty="0"/>
              <a:t>The following high level benefits have been identified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Reduce manual efforts that are currently required to open new accounts, and improve compliance and data integrity</a:t>
            </a:r>
            <a:r>
              <a:rPr lang="en-CA" sz="1400" dirty="0" smtClean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400" dirty="0" smtClean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Digital Client Onboarding will offer personal and small business clients a much faster way to open deposit and lending products remotely, which will benefits prospective new clients who are outside of CWB’s current geographic branch footprint. </a:t>
            </a:r>
            <a:endParaRPr lang="en-CA" sz="1400" dirty="0" smtClean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Reducing manual efforts required by CWB staff will improve the employee experience and allow them to focus on more value-add activities.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5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621785" y="753665"/>
            <a:ext cx="4378007" cy="4103476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The scope of the </a:t>
            </a:r>
            <a:r>
              <a:rPr lang="en-US" sz="1400" dirty="0" smtClean="0"/>
              <a:t>Digital Client Onboarding program stream includes the Motive MVP, Motive Full/Personal/In Branch DCO, Small Business DCO and Small Business Lending projects. Each project will entail:</a:t>
            </a:r>
          </a:p>
          <a:p>
            <a:pPr marL="0" indent="0">
              <a:buNone/>
            </a:pPr>
            <a:endParaRPr lang="en-US" sz="1400" dirty="0"/>
          </a:p>
          <a:p>
            <a:pPr marL="285750" indent="-285750"/>
            <a:r>
              <a:rPr lang="en-US" sz="1400" dirty="0"/>
              <a:t>Requirements </a:t>
            </a:r>
            <a:r>
              <a:rPr lang="en-US" sz="1400" dirty="0" smtClean="0"/>
              <a:t>Definition/Current State Assessment/Gap Analysis</a:t>
            </a:r>
            <a:endParaRPr lang="en-US" sz="1400" dirty="0"/>
          </a:p>
          <a:p>
            <a:pPr marL="285750" indent="-285750"/>
            <a:r>
              <a:rPr lang="en-US" sz="1400" dirty="0" smtClean="0"/>
              <a:t>Solution design</a:t>
            </a:r>
          </a:p>
          <a:p>
            <a:pPr marL="285750" indent="-285750"/>
            <a:r>
              <a:rPr lang="en-US" sz="1400" dirty="0" smtClean="0"/>
              <a:t>Development</a:t>
            </a:r>
            <a:endParaRPr lang="en-US" sz="1400" dirty="0"/>
          </a:p>
          <a:p>
            <a:pPr marL="285750" indent="-285750"/>
            <a:r>
              <a:rPr lang="en-US" sz="1400" dirty="0" smtClean="0"/>
              <a:t>Testing</a:t>
            </a:r>
          </a:p>
          <a:p>
            <a:pPr marL="285750" indent="-285750"/>
            <a:r>
              <a:rPr lang="en-US" sz="1400" dirty="0" smtClean="0"/>
              <a:t>Training</a:t>
            </a:r>
            <a:endParaRPr lang="en-US" sz="1400" dirty="0"/>
          </a:p>
          <a:p>
            <a:pPr marL="285750" indent="-285750"/>
            <a:r>
              <a:rPr lang="en-US" sz="1400" dirty="0"/>
              <a:t>Deployment</a:t>
            </a:r>
          </a:p>
          <a:p>
            <a:endParaRPr lang="en-CA" sz="14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Project Scope Overview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332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Measures of Success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6203" y="1350963"/>
            <a:ext cx="8280400" cy="289956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CA" b="1" u="sng" dirty="0"/>
              <a:t>Scope</a:t>
            </a:r>
            <a:endParaRPr lang="en-CA" u="sng" dirty="0"/>
          </a:p>
          <a:p>
            <a:pPr lvl="0">
              <a:spcBef>
                <a:spcPts val="0"/>
              </a:spcBef>
            </a:pPr>
            <a:r>
              <a:rPr lang="en-CA" dirty="0"/>
              <a:t>The scope of the project aligns to the Project Charter and managed within the PMO </a:t>
            </a:r>
            <a:r>
              <a:rPr lang="en-CA" dirty="0" smtClean="0"/>
              <a:t>framework.</a:t>
            </a:r>
          </a:p>
          <a:p>
            <a:pPr>
              <a:spcBef>
                <a:spcPts val="0"/>
              </a:spcBef>
            </a:pPr>
            <a:r>
              <a:rPr lang="en-CA" dirty="0" smtClean="0"/>
              <a:t> </a:t>
            </a:r>
          </a:p>
          <a:p>
            <a:pPr>
              <a:spcBef>
                <a:spcPts val="0"/>
              </a:spcBef>
            </a:pPr>
            <a:r>
              <a:rPr lang="en-CA" b="1" u="sng" dirty="0" smtClean="0"/>
              <a:t>Time</a:t>
            </a:r>
            <a:endParaRPr lang="en-CA" u="sng" dirty="0" smtClean="0"/>
          </a:p>
          <a:p>
            <a:pPr lvl="0">
              <a:spcBef>
                <a:spcPts val="0"/>
              </a:spcBef>
            </a:pPr>
            <a:r>
              <a:rPr lang="en-CA" dirty="0" smtClean="0"/>
              <a:t>Delivery </a:t>
            </a:r>
            <a:r>
              <a:rPr lang="en-CA" dirty="0"/>
              <a:t>of the project within the planned schedule</a:t>
            </a:r>
            <a:r>
              <a:rPr lang="en-CA" dirty="0" smtClean="0"/>
              <a:t>.</a:t>
            </a:r>
          </a:p>
          <a:p>
            <a:pPr lvl="0">
              <a:spcBef>
                <a:spcPts val="0"/>
              </a:spcBef>
            </a:pPr>
            <a:endParaRPr lang="en-CA" sz="1000" dirty="0"/>
          </a:p>
          <a:p>
            <a:pPr>
              <a:spcBef>
                <a:spcPts val="0"/>
              </a:spcBef>
            </a:pPr>
            <a:r>
              <a:rPr lang="en-CA" b="1" u="sng" dirty="0" smtClean="0"/>
              <a:t>Budget</a:t>
            </a:r>
            <a:endParaRPr lang="en-CA" u="sng" dirty="0"/>
          </a:p>
          <a:p>
            <a:pPr lvl="0">
              <a:spcBef>
                <a:spcPts val="0"/>
              </a:spcBef>
            </a:pPr>
            <a:r>
              <a:rPr lang="en-CA" dirty="0"/>
              <a:t>The project is completed within </a:t>
            </a:r>
            <a:r>
              <a:rPr lang="en-CA" dirty="0" smtClean="0"/>
              <a:t>budget.</a:t>
            </a:r>
            <a:endParaRPr lang="en-CA" b="1" dirty="0" smtClean="0"/>
          </a:p>
          <a:p>
            <a:pPr>
              <a:spcBef>
                <a:spcPts val="0"/>
              </a:spcBef>
            </a:pPr>
            <a:r>
              <a:rPr lang="en-CA" b="1" u="sng" dirty="0" smtClean="0"/>
              <a:t>Quality</a:t>
            </a:r>
            <a:endParaRPr lang="en-CA" u="sng" dirty="0" smtClean="0"/>
          </a:p>
          <a:p>
            <a:pPr lvl="0">
              <a:spcBef>
                <a:spcPts val="0"/>
              </a:spcBef>
            </a:pPr>
            <a:r>
              <a:rPr lang="en-CA" dirty="0" smtClean="0"/>
              <a:t>The digital client onboarding service is implemented per the agreed to requirements.</a:t>
            </a:r>
            <a:endParaRPr lang="en-CA" sz="1000" dirty="0"/>
          </a:p>
          <a:p>
            <a:pPr lvl="0">
              <a:spcBef>
                <a:spcPts val="0"/>
              </a:spcBef>
            </a:pPr>
            <a:endParaRPr lang="en-US" sz="1000" b="1" u="sng" dirty="0"/>
          </a:p>
          <a:p>
            <a:pPr lvl="0">
              <a:spcBef>
                <a:spcPts val="0"/>
              </a:spcBef>
            </a:pPr>
            <a:endParaRPr lang="en-US" b="1" u="sng" dirty="0" smtClean="0"/>
          </a:p>
          <a:p>
            <a:r>
              <a:rPr lang="en-US" b="1" u="sng" dirty="0" smtClean="0"/>
              <a:t>Benefits</a:t>
            </a:r>
          </a:p>
          <a:p>
            <a:r>
              <a:rPr lang="en-US" dirty="0" smtClean="0"/>
              <a:t>Achieve the benefits identified in the Program Charter.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993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212391" y="1074889"/>
            <a:ext cx="4931609" cy="4068611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/>
              <a:t>Constraints</a:t>
            </a:r>
          </a:p>
          <a:p>
            <a:r>
              <a:rPr lang="en-US" sz="1400" dirty="0" smtClean="0"/>
              <a:t>The project will be using the Agile methodology with two week sprints, therefore work will be broken into multiple, two-week intervals.</a:t>
            </a:r>
          </a:p>
          <a:p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Dependencies</a:t>
            </a:r>
          </a:p>
          <a:p>
            <a:pPr lvl="0"/>
            <a:r>
              <a:rPr lang="en-CA" sz="1400" dirty="0"/>
              <a:t>Digital Online Banking Project for Small Business and Personal;</a:t>
            </a:r>
          </a:p>
          <a:p>
            <a:pPr lvl="0"/>
            <a:r>
              <a:rPr lang="en-CA" sz="1400" dirty="0"/>
              <a:t>CWB Mulesoft and Infrastructure Implementation Project;</a:t>
            </a:r>
          </a:p>
          <a:p>
            <a:pPr lvl="0"/>
            <a:r>
              <a:rPr lang="en-CA" sz="1400" dirty="0"/>
              <a:t>AML Financial Crimes Project; </a:t>
            </a:r>
          </a:p>
          <a:p>
            <a:pPr lvl="0"/>
            <a:r>
              <a:rPr lang="en-CA" sz="1400" dirty="0"/>
              <a:t>T24 Virtualization; </a:t>
            </a:r>
          </a:p>
          <a:p>
            <a:pPr lvl="0"/>
            <a:r>
              <a:rPr lang="en-CA" sz="1400" dirty="0"/>
              <a:t>Sitecore Upgrade; and</a:t>
            </a:r>
          </a:p>
          <a:p>
            <a:r>
              <a:rPr lang="en-CA" sz="1400" dirty="0"/>
              <a:t>Identity and Access </a:t>
            </a:r>
            <a:r>
              <a:rPr lang="en-CA" sz="1400" dirty="0" smtClean="0"/>
              <a:t>Management.</a:t>
            </a:r>
            <a:r>
              <a:rPr lang="en-CA" sz="1400" dirty="0"/>
              <a:t>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399966"/>
            <a:ext cx="3342837" cy="1009734"/>
          </a:xfrm>
        </p:spPr>
        <p:txBody>
          <a:bodyPr/>
          <a:lstStyle/>
          <a:p>
            <a:r>
              <a:rPr lang="en-US" dirty="0" smtClean="0"/>
              <a:t>Constraints/</a:t>
            </a:r>
          </a:p>
          <a:p>
            <a:r>
              <a:rPr lang="en-US" dirty="0" smtClean="0"/>
              <a:t>Dependencies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129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3514" y="282827"/>
            <a:ext cx="8280401" cy="397483"/>
          </a:xfrm>
        </p:spPr>
        <p:txBody>
          <a:bodyPr/>
          <a:lstStyle/>
          <a:p>
            <a:r>
              <a:rPr lang="en-US" dirty="0" smtClean="0"/>
              <a:t>Risks/Assumptions</a:t>
            </a:r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45692"/>
              </p:ext>
            </p:extLst>
          </p:nvPr>
        </p:nvGraphicFramePr>
        <p:xfrm>
          <a:off x="368889" y="966060"/>
          <a:ext cx="8355026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7513">
                  <a:extLst>
                    <a:ext uri="{9D8B030D-6E8A-4147-A177-3AD203B41FA5}">
                      <a16:colId xmlns:a16="http://schemas.microsoft.com/office/drawing/2014/main" val="3233878785"/>
                    </a:ext>
                  </a:extLst>
                </a:gridCol>
                <a:gridCol w="4177513">
                  <a:extLst>
                    <a:ext uri="{9D8B030D-6E8A-4147-A177-3AD203B41FA5}">
                      <a16:colId xmlns:a16="http://schemas.microsoft.com/office/drawing/2014/main" val="1542125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RISKS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MITIGATION STRATEGY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79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Solution does not meet business needs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Define business requirements and assess against products.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8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Resistance to change by stakeholders.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Engage the Organizational Change Management team to address change and training requirements.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50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Inadequate testing due to complexities and dependencies of systems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Establish a formal test plan with dedicated test lead to facilitate each of the testing cycles.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201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Application may not function as expected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Testing will be performed on applications to ensure they function as expected. Any issues identified will be addressed prior to deployment.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Resource Constraints with same team members on DCO and Digital Banking.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Will work</a:t>
                      </a:r>
                      <a:r>
                        <a:rPr lang="en-US" sz="1400" baseline="0" dirty="0" smtClean="0"/>
                        <a:t> with the schedule to align resources as best as possible to minimize project impacts. 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0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18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04726" y="883927"/>
            <a:ext cx="2415323" cy="24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750" dirty="0">
                <a:solidFill>
                  <a:schemeClr val="tx1"/>
                </a:solidFill>
              </a:rPr>
              <a:t>Note: Dates may shift over 2020/21 as the team iterates </a:t>
            </a:r>
            <a:endParaRPr lang="en-CA" sz="750" dirty="0">
              <a:solidFill>
                <a:schemeClr val="tx1"/>
              </a:solidFill>
            </a:endParaRPr>
          </a:p>
        </p:txBody>
      </p:sp>
      <p:sp>
        <p:nvSpPr>
          <p:cNvPr id="484" name="Rounded Rectangle 483"/>
          <p:cNvSpPr/>
          <p:nvPr/>
        </p:nvSpPr>
        <p:spPr>
          <a:xfrm>
            <a:off x="429491" y="2962751"/>
            <a:ext cx="8617527" cy="17531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71" name="Rounded Rectangle 2370"/>
          <p:cNvSpPr/>
          <p:nvPr/>
        </p:nvSpPr>
        <p:spPr>
          <a:xfrm>
            <a:off x="429492" y="1308411"/>
            <a:ext cx="8617526" cy="15682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2295" name="OTLSHAPE_M_01b12018c08241e6b94de0ca476d9e6b_Connector1"/>
          <p:cNvCxnSpPr/>
          <p:nvPr>
            <p:custDataLst>
              <p:tags r:id="rId2"/>
            </p:custDataLst>
          </p:nvPr>
        </p:nvCxnSpPr>
        <p:spPr>
          <a:xfrm>
            <a:off x="6533132" y="3342739"/>
            <a:ext cx="0" cy="411449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/>
          <p:cNvSpPr txBox="1">
            <a:spLocks/>
          </p:cNvSpPr>
          <p:nvPr/>
        </p:nvSpPr>
        <p:spPr>
          <a:xfrm>
            <a:off x="462223" y="44031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spc="-100" dirty="0">
                <a:solidFill>
                  <a:srgbClr val="0097A9"/>
                </a:solidFill>
                <a:cs typeface="Arial" panose="020B0604020202020204" pitchFamily="34" charset="0"/>
              </a:rPr>
              <a:t>Digital Program – Roadmap Summary</a:t>
            </a:r>
            <a:endParaRPr lang="en-CA" sz="2700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2276" name="OTLSHAPE_TB_00000000000000000000000000000000_LeftEndCaps" hidden="1"/>
          <p:cNvSpPr txBox="1"/>
          <p:nvPr>
            <p:custDataLst>
              <p:tags r:id="rId3"/>
            </p:custDataLst>
          </p:nvPr>
        </p:nvSpPr>
        <p:spPr>
          <a:xfrm>
            <a:off x="190382" y="926931"/>
            <a:ext cx="352662" cy="20774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350" b="1" dirty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2277" name="OTLSHAPE_TB_00000000000000000000000000000000_RightEndCaps" hidden="1"/>
          <p:cNvSpPr txBox="1"/>
          <p:nvPr>
            <p:custDataLst>
              <p:tags r:id="rId4"/>
            </p:custDataLst>
          </p:nvPr>
        </p:nvSpPr>
        <p:spPr>
          <a:xfrm>
            <a:off x="8605782" y="926931"/>
            <a:ext cx="352662" cy="20774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350" b="1" dirty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</a:p>
        </p:txBody>
      </p:sp>
      <p:sp>
        <p:nvSpPr>
          <p:cNvPr id="2278" name="OTLSHAPE_TB_00000000000000000000000000000000_ScaleContainer"/>
          <p:cNvSpPr/>
          <p:nvPr>
            <p:custDataLst>
              <p:tags r:id="rId5"/>
            </p:custDataLst>
          </p:nvPr>
        </p:nvSpPr>
        <p:spPr>
          <a:xfrm>
            <a:off x="633349" y="715418"/>
            <a:ext cx="7886700" cy="190500"/>
          </a:xfrm>
          <a:prstGeom prst="roundRect">
            <a:avLst/>
          </a:prstGeom>
          <a:gradFill flip="none" rotWithShape="1">
            <a:gsLst>
              <a:gs pos="0">
                <a:srgbClr val="2D7175"/>
              </a:gs>
              <a:gs pos="100000">
                <a:srgbClr val="317B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79" name="OTLSHAPE_TB_00000000000000000000000000000000_ElapsedTim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80" name="OTLSHAPE_TB_00000000000000000000000000000000_TodayMarkerShape" hidden="1"/>
          <p:cNvSpPr/>
          <p:nvPr>
            <p:custDataLst>
              <p:tags r:id="rId7"/>
            </p:custDataLst>
          </p:nvPr>
        </p:nvSpPr>
        <p:spPr>
          <a:xfrm>
            <a:off x="1470956" y="1126054"/>
            <a:ext cx="54429" cy="635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81" name="OTLSHAPE_TB_00000000000000000000000000000000_TodayMarkerText" hidden="1"/>
          <p:cNvSpPr txBox="1"/>
          <p:nvPr>
            <p:custDataLst>
              <p:tags r:id="rId8"/>
            </p:custDataLst>
          </p:nvPr>
        </p:nvSpPr>
        <p:spPr>
          <a:xfrm>
            <a:off x="1491766" y="1189556"/>
            <a:ext cx="285335" cy="1384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900" dirty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2282" name="OTLSHAPE_TB_00000000000000000000000000000000_TimescaleInterval1"/>
          <p:cNvSpPr txBox="1"/>
          <p:nvPr>
            <p:custDataLst>
              <p:tags r:id="rId9"/>
            </p:custDataLst>
          </p:nvPr>
        </p:nvSpPr>
        <p:spPr>
          <a:xfrm>
            <a:off x="680975" y="743993"/>
            <a:ext cx="269593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283" name="OTLSHAPE_TB_00000000000000000000000000000000_TimescaleInterval2"/>
          <p:cNvSpPr txBox="1"/>
          <p:nvPr>
            <p:custDataLst>
              <p:tags r:id="rId10"/>
            </p:custDataLst>
          </p:nvPr>
        </p:nvSpPr>
        <p:spPr>
          <a:xfrm>
            <a:off x="1471297" y="743993"/>
            <a:ext cx="22039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284" name="OTLSHAPE_TB_00000000000000000000000000000000_TimescaleInterval3"/>
          <p:cNvSpPr txBox="1"/>
          <p:nvPr>
            <p:custDataLst>
              <p:tags r:id="rId11"/>
            </p:custDataLst>
          </p:nvPr>
        </p:nvSpPr>
        <p:spPr>
          <a:xfrm>
            <a:off x="2248662" y="743993"/>
            <a:ext cx="29094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285" name="OTLSHAPE_TB_00000000000000000000000000000000_TimescaleInterval4"/>
          <p:cNvSpPr txBox="1"/>
          <p:nvPr>
            <p:custDataLst>
              <p:tags r:id="rId12"/>
            </p:custDataLst>
          </p:nvPr>
        </p:nvSpPr>
        <p:spPr>
          <a:xfrm>
            <a:off x="3038983" y="743993"/>
            <a:ext cx="30575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286" name="OTLSHAPE_TB_00000000000000000000000000000000_TimescaleInterval5"/>
          <p:cNvSpPr txBox="1"/>
          <p:nvPr>
            <p:custDataLst>
              <p:tags r:id="rId13"/>
            </p:custDataLst>
          </p:nvPr>
        </p:nvSpPr>
        <p:spPr>
          <a:xfrm>
            <a:off x="3829305" y="743993"/>
            <a:ext cx="17884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287" name="OTLSHAPE_TB_00000000000000000000000000000000_TimescaleInterval6"/>
          <p:cNvSpPr txBox="1"/>
          <p:nvPr>
            <p:custDataLst>
              <p:tags r:id="rId14"/>
            </p:custDataLst>
          </p:nvPr>
        </p:nvSpPr>
        <p:spPr>
          <a:xfrm>
            <a:off x="4632583" y="743993"/>
            <a:ext cx="24689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288" name="OTLSHAPE_TB_00000000000000000000000000000000_TimescaleInterval7"/>
          <p:cNvSpPr txBox="1"/>
          <p:nvPr>
            <p:custDataLst>
              <p:tags r:id="rId15"/>
            </p:custDataLst>
          </p:nvPr>
        </p:nvSpPr>
        <p:spPr>
          <a:xfrm>
            <a:off x="5422904" y="743993"/>
            <a:ext cx="269593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289" name="OTLSHAPE_TB_00000000000000000000000000000000_TimescaleInterval8"/>
          <p:cNvSpPr txBox="1"/>
          <p:nvPr>
            <p:custDataLst>
              <p:tags r:id="rId16"/>
            </p:custDataLst>
          </p:nvPr>
        </p:nvSpPr>
        <p:spPr>
          <a:xfrm>
            <a:off x="6213226" y="743993"/>
            <a:ext cx="22039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290" name="OTLSHAPE_TB_00000000000000000000000000000000_TimescaleInterval9"/>
          <p:cNvSpPr txBox="1"/>
          <p:nvPr>
            <p:custDataLst>
              <p:tags r:id="rId17"/>
            </p:custDataLst>
          </p:nvPr>
        </p:nvSpPr>
        <p:spPr>
          <a:xfrm>
            <a:off x="6977635" y="743993"/>
            <a:ext cx="29094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291" name="OTLSHAPE_TB_00000000000000000000000000000000_TimescaleInterval10"/>
          <p:cNvSpPr txBox="1"/>
          <p:nvPr>
            <p:custDataLst>
              <p:tags r:id="rId18"/>
            </p:custDataLst>
          </p:nvPr>
        </p:nvSpPr>
        <p:spPr>
          <a:xfrm>
            <a:off x="7767956" y="743993"/>
            <a:ext cx="30575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292" name="OTLSHAPE_TB_00000000000000000000000000000000_ScaleMarking1"/>
          <p:cNvSpPr txBox="1"/>
          <p:nvPr>
            <p:custDataLst>
              <p:tags r:id="rId19"/>
            </p:custDataLst>
          </p:nvPr>
        </p:nvSpPr>
        <p:spPr>
          <a:xfrm>
            <a:off x="680975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2293" name="OTLSHAPE_TB_00000000000000000000000000000000_ScaleMarking2"/>
          <p:cNvSpPr txBox="1"/>
          <p:nvPr>
            <p:custDataLst>
              <p:tags r:id="rId20"/>
            </p:custDataLst>
          </p:nvPr>
        </p:nvSpPr>
        <p:spPr>
          <a:xfrm>
            <a:off x="1471296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2020</a:t>
            </a:r>
          </a:p>
        </p:txBody>
      </p:sp>
      <p:sp>
        <p:nvSpPr>
          <p:cNvPr id="2294" name="OTLSHAPE_TB_00000000000000000000000000000000_ScaleMarking3"/>
          <p:cNvSpPr txBox="1"/>
          <p:nvPr>
            <p:custDataLst>
              <p:tags r:id="rId21"/>
            </p:custDataLst>
          </p:nvPr>
        </p:nvSpPr>
        <p:spPr>
          <a:xfrm>
            <a:off x="6213225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2021</a:t>
            </a:r>
          </a:p>
        </p:txBody>
      </p:sp>
      <p:sp>
        <p:nvSpPr>
          <p:cNvPr id="2296" name="OTLSHAPE_M_01b12018c08241e6b94de0ca476d9e6b_Title"/>
          <p:cNvSpPr txBox="1"/>
          <p:nvPr>
            <p:custDataLst>
              <p:tags r:id="rId22"/>
            </p:custDataLst>
          </p:nvPr>
        </p:nvSpPr>
        <p:spPr>
          <a:xfrm>
            <a:off x="6741095" y="3220216"/>
            <a:ext cx="2371725" cy="37204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Banking Launch </a:t>
            </a:r>
          </a:p>
          <a:p>
            <a:r>
              <a:rPr lang="en-US" sz="750" dirty="0">
                <a:solidFill>
                  <a:srgbClr val="000000"/>
                </a:solidFill>
                <a:latin typeface="Calibri" panose="020F0502020204030204" pitchFamily="34" charset="0"/>
              </a:rPr>
              <a:t>(Initial Focused Launch)</a:t>
            </a:r>
            <a:endParaRPr lang="en-CA" sz="7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297" name="OTLSHAPE_M_01b12018c08241e6b94de0ca476d9e6b_Date" hidden="1"/>
          <p:cNvSpPr txBox="1"/>
          <p:nvPr>
            <p:custDataLst>
              <p:tags r:id="rId23"/>
            </p:custDataLst>
          </p:nvPr>
        </p:nvSpPr>
        <p:spPr>
          <a:xfrm>
            <a:off x="6741095" y="792680"/>
            <a:ext cx="0" cy="57708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Jan 29</a:t>
            </a:r>
          </a:p>
        </p:txBody>
      </p:sp>
      <p:sp>
        <p:nvSpPr>
          <p:cNvPr id="2299" name="OTLSHAPE_T_e32a174009c141dc9a6e62a96dcf677c_Shape"/>
          <p:cNvSpPr/>
          <p:nvPr>
            <p:custDataLst>
              <p:tags r:id="rId24"/>
            </p:custDataLst>
          </p:nvPr>
        </p:nvSpPr>
        <p:spPr>
          <a:xfrm>
            <a:off x="853604" y="1151636"/>
            <a:ext cx="1343025" cy="95250"/>
          </a:xfrm>
          <a:prstGeom prst="round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00" name="OTLSHAPE_T_e32a174009c141dc9a6e62a96dcf677c_ShapePercentage" hidden="1"/>
          <p:cNvSpPr/>
          <p:nvPr>
            <p:custDataLst>
              <p:tags r:id="rId25"/>
            </p:custDataLst>
          </p:nvPr>
        </p:nvSpPr>
        <p:spPr>
          <a:xfrm>
            <a:off x="853603" y="1515706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01" name="OTLSHAPE_T_e32a174009c141dc9a6e62a96dcf677c_Duration" hidden="1"/>
          <p:cNvSpPr txBox="1"/>
          <p:nvPr>
            <p:custDataLst>
              <p:tags r:id="rId26"/>
            </p:custDataLst>
          </p:nvPr>
        </p:nvSpPr>
        <p:spPr>
          <a:xfrm>
            <a:off x="1" y="1278881"/>
            <a:ext cx="295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75 days</a:t>
            </a:r>
          </a:p>
        </p:txBody>
      </p:sp>
      <p:sp>
        <p:nvSpPr>
          <p:cNvPr id="2302" name="OTLSHAPE_T_e32a174009c141dc9a6e62a96dcf677c_TextPercentage" hidden="1"/>
          <p:cNvSpPr txBox="1"/>
          <p:nvPr>
            <p:custDataLst>
              <p:tags r:id="rId27"/>
            </p:custDataLst>
          </p:nvPr>
        </p:nvSpPr>
        <p:spPr>
          <a:xfrm>
            <a:off x="0" y="139472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03" name="OTLSHAPE_T_e32a174009c141dc9a6e62a96dcf677c_JoinedDate" hidden="1"/>
          <p:cNvSpPr txBox="1"/>
          <p:nvPr>
            <p:custDataLst>
              <p:tags r:id="rId28"/>
            </p:custDataLst>
          </p:nvPr>
        </p:nvSpPr>
        <p:spPr>
          <a:xfrm>
            <a:off x="0" y="139472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04" name="OTLSHAPE_T_e32a174009c141dc9a6e62a96dcf677c_StartDate"/>
          <p:cNvSpPr txBox="1"/>
          <p:nvPr>
            <p:custDataLst>
              <p:tags r:id="rId29"/>
            </p:custDataLst>
          </p:nvPr>
        </p:nvSpPr>
        <p:spPr>
          <a:xfrm>
            <a:off x="151388" y="1141553"/>
            <a:ext cx="66675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Nov 18, 2019</a:t>
            </a:r>
          </a:p>
        </p:txBody>
      </p:sp>
      <p:sp>
        <p:nvSpPr>
          <p:cNvPr id="2305" name="OTLSHAPE_T_e32a174009c141dc9a6e62a96dcf677c_Title"/>
          <p:cNvSpPr txBox="1"/>
          <p:nvPr>
            <p:custDataLst>
              <p:tags r:id="rId30"/>
            </p:custDataLst>
          </p:nvPr>
        </p:nvSpPr>
        <p:spPr>
          <a:xfrm>
            <a:off x="853604" y="939785"/>
            <a:ext cx="29241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Program Setup + Governance Established</a:t>
            </a:r>
          </a:p>
        </p:txBody>
      </p:sp>
      <p:sp>
        <p:nvSpPr>
          <p:cNvPr id="2306" name="OTLSHAPE_T_e32a174009c141dc9a6e62a96dcf677c_EndDate"/>
          <p:cNvSpPr txBox="1"/>
          <p:nvPr>
            <p:custDataLst>
              <p:tags r:id="rId31"/>
            </p:custDataLst>
          </p:nvPr>
        </p:nvSpPr>
        <p:spPr>
          <a:xfrm>
            <a:off x="2226171" y="1141553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Feb 28, 2020</a:t>
            </a:r>
          </a:p>
        </p:txBody>
      </p:sp>
      <p:sp>
        <p:nvSpPr>
          <p:cNvPr id="2307" name="OTLSHAPE_T_da3f1c3adf114f3bb18df83aad2c89d2_Shape"/>
          <p:cNvSpPr/>
          <p:nvPr>
            <p:custDataLst>
              <p:tags r:id="rId32"/>
            </p:custDataLst>
          </p:nvPr>
        </p:nvSpPr>
        <p:spPr>
          <a:xfrm>
            <a:off x="1125680" y="1538113"/>
            <a:ext cx="2527255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08" name="OTLSHAPE_T_da3f1c3adf114f3bb18df83aad2c89d2_ShapePercentage" hidden="1"/>
          <p:cNvSpPr/>
          <p:nvPr>
            <p:custDataLst>
              <p:tags r:id="rId33"/>
            </p:custDataLst>
          </p:nvPr>
        </p:nvSpPr>
        <p:spPr>
          <a:xfrm>
            <a:off x="1125680" y="1876783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09" name="OTLSHAPE_T_da3f1c3adf114f3bb18df83aad2c89d2_Duration" hidden="1"/>
          <p:cNvSpPr txBox="1"/>
          <p:nvPr>
            <p:custDataLst>
              <p:tags r:id="rId34"/>
            </p:custDataLst>
          </p:nvPr>
        </p:nvSpPr>
        <p:spPr>
          <a:xfrm>
            <a:off x="0" y="1667913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116 days</a:t>
            </a:r>
          </a:p>
        </p:txBody>
      </p:sp>
      <p:sp>
        <p:nvSpPr>
          <p:cNvPr id="2310" name="OTLSHAPE_T_da3f1c3adf114f3bb18df83aad2c89d2_TextPercentage" hidden="1"/>
          <p:cNvSpPr txBox="1"/>
          <p:nvPr>
            <p:custDataLst>
              <p:tags r:id="rId35"/>
            </p:custDataLst>
          </p:nvPr>
        </p:nvSpPr>
        <p:spPr>
          <a:xfrm>
            <a:off x="0" y="1783755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11" name="OTLSHAPE_T_da3f1c3adf114f3bb18df83aad2c89d2_JoinedDate" hidden="1"/>
          <p:cNvSpPr txBox="1"/>
          <p:nvPr>
            <p:custDataLst>
              <p:tags r:id="rId36"/>
            </p:custDataLst>
          </p:nvPr>
        </p:nvSpPr>
        <p:spPr>
          <a:xfrm>
            <a:off x="0" y="1783756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12" name="OTLSHAPE_T_da3f1c3adf114f3bb18df83aad2c89d2_StartDate"/>
          <p:cNvSpPr txBox="1"/>
          <p:nvPr>
            <p:custDataLst>
              <p:tags r:id="rId37"/>
            </p:custDataLst>
          </p:nvPr>
        </p:nvSpPr>
        <p:spPr>
          <a:xfrm>
            <a:off x="496714" y="1528029"/>
            <a:ext cx="6000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Dec 9, 2019</a:t>
            </a:r>
          </a:p>
        </p:txBody>
      </p:sp>
      <p:sp>
        <p:nvSpPr>
          <p:cNvPr id="2313" name="OTLSHAPE_T_da3f1c3adf114f3bb18df83aad2c89d2_Title"/>
          <p:cNvSpPr txBox="1"/>
          <p:nvPr>
            <p:custDataLst>
              <p:tags r:id="rId38"/>
            </p:custDataLst>
          </p:nvPr>
        </p:nvSpPr>
        <p:spPr>
          <a:xfrm>
            <a:off x="1125679" y="1359991"/>
            <a:ext cx="2527256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15" dirty="0">
                <a:solidFill>
                  <a:srgbClr val="000000"/>
                </a:solidFill>
                <a:latin typeface="Calibri" panose="020F0502020204030204" pitchFamily="34" charset="0"/>
              </a:rPr>
              <a:t>Motive DCO Project </a:t>
            </a:r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–  </a:t>
            </a:r>
            <a:r>
              <a:rPr lang="en-CA" sz="750" b="1" spc="-15" dirty="0">
                <a:solidFill>
                  <a:srgbClr val="000000"/>
                </a:solidFill>
                <a:latin typeface="Calibri" panose="020F0502020204030204" pitchFamily="34" charset="0"/>
              </a:rPr>
              <a:t>Initial Implementation</a:t>
            </a:r>
          </a:p>
        </p:txBody>
      </p:sp>
      <p:sp>
        <p:nvSpPr>
          <p:cNvPr id="2314" name="OTLSHAPE_T_da3f1c3adf114f3bb18df83aad2c89d2_EndDate"/>
          <p:cNvSpPr txBox="1"/>
          <p:nvPr>
            <p:custDataLst>
              <p:tags r:id="rId39"/>
            </p:custDataLst>
          </p:nvPr>
        </p:nvSpPr>
        <p:spPr>
          <a:xfrm>
            <a:off x="4256130" y="1418386"/>
            <a:ext cx="745493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July 13, 2020</a:t>
            </a:r>
          </a:p>
        </p:txBody>
      </p:sp>
      <p:sp>
        <p:nvSpPr>
          <p:cNvPr id="2315" name="OTLSHAPE_T_7d7a3f33bb024005950d8874ec22e8f9_Shape"/>
          <p:cNvSpPr/>
          <p:nvPr>
            <p:custDataLst>
              <p:tags r:id="rId40"/>
            </p:custDataLst>
          </p:nvPr>
        </p:nvSpPr>
        <p:spPr>
          <a:xfrm>
            <a:off x="1125680" y="1887483"/>
            <a:ext cx="3375000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16" name="OTLSHAPE_T_7d7a3f33bb024005950d8874ec22e8f9_ShapePercentage" hidden="1"/>
          <p:cNvSpPr/>
          <p:nvPr>
            <p:custDataLst>
              <p:tags r:id="rId41"/>
            </p:custDataLst>
          </p:nvPr>
        </p:nvSpPr>
        <p:spPr>
          <a:xfrm>
            <a:off x="1125680" y="231344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17" name="OTLSHAPE_T_7d7a3f33bb024005950d8874ec22e8f9_Duration" hidden="1"/>
          <p:cNvSpPr txBox="1"/>
          <p:nvPr>
            <p:custDataLst>
              <p:tags r:id="rId42"/>
            </p:custDataLst>
          </p:nvPr>
        </p:nvSpPr>
        <p:spPr>
          <a:xfrm>
            <a:off x="0" y="2104572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201 days</a:t>
            </a:r>
          </a:p>
        </p:txBody>
      </p:sp>
      <p:sp>
        <p:nvSpPr>
          <p:cNvPr id="2318" name="OTLSHAPE_T_7d7a3f33bb024005950d8874ec22e8f9_TextPercentage" hidden="1"/>
          <p:cNvSpPr txBox="1"/>
          <p:nvPr>
            <p:custDataLst>
              <p:tags r:id="rId43"/>
            </p:custDataLst>
          </p:nvPr>
        </p:nvSpPr>
        <p:spPr>
          <a:xfrm>
            <a:off x="0" y="222041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319" name="OTLSHAPE_T_7d7a3f33bb024005950d8874ec22e8f9_JoinedDate" hidden="1"/>
          <p:cNvSpPr txBox="1"/>
          <p:nvPr>
            <p:custDataLst>
              <p:tags r:id="rId44"/>
            </p:custDataLst>
          </p:nvPr>
        </p:nvSpPr>
        <p:spPr>
          <a:xfrm>
            <a:off x="0" y="222041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20" name="OTLSHAPE_T_7d7a3f33bb024005950d8874ec22e8f9_StartDate"/>
          <p:cNvSpPr txBox="1"/>
          <p:nvPr>
            <p:custDataLst>
              <p:tags r:id="rId45"/>
            </p:custDataLst>
          </p:nvPr>
        </p:nvSpPr>
        <p:spPr>
          <a:xfrm>
            <a:off x="496714" y="1877401"/>
            <a:ext cx="6000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Dec 9, 2019</a:t>
            </a:r>
          </a:p>
        </p:txBody>
      </p:sp>
      <p:sp>
        <p:nvSpPr>
          <p:cNvPr id="2321" name="OTLSHAPE_T_7d7a3f33bb024005950d8874ec22e8f9_Title"/>
          <p:cNvSpPr txBox="1"/>
          <p:nvPr>
            <p:custDataLst>
              <p:tags r:id="rId46"/>
            </p:custDataLst>
          </p:nvPr>
        </p:nvSpPr>
        <p:spPr>
          <a:xfrm>
            <a:off x="1125680" y="1696893"/>
            <a:ext cx="36480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Personal Online DCO Project &amp; Motive DCO Project – Full Implementation</a:t>
            </a:r>
          </a:p>
        </p:txBody>
      </p:sp>
      <p:sp>
        <p:nvSpPr>
          <p:cNvPr id="2322" name="OTLSHAPE_T_7d7a3f33bb024005950d8874ec22e8f9_EndDate"/>
          <p:cNvSpPr txBox="1"/>
          <p:nvPr>
            <p:custDataLst>
              <p:tags r:id="rId47"/>
            </p:custDataLst>
          </p:nvPr>
        </p:nvSpPr>
        <p:spPr>
          <a:xfrm>
            <a:off x="4941901" y="1821070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Sep 14, 2020</a:t>
            </a:r>
          </a:p>
        </p:txBody>
      </p:sp>
      <p:sp>
        <p:nvSpPr>
          <p:cNvPr id="2323" name="OTLSHAPE_T_7bfb8a382a9944389375dbf246013bf7_Shape"/>
          <p:cNvSpPr/>
          <p:nvPr>
            <p:custDataLst>
              <p:tags r:id="rId48"/>
            </p:custDataLst>
          </p:nvPr>
        </p:nvSpPr>
        <p:spPr>
          <a:xfrm>
            <a:off x="3392996" y="2438620"/>
            <a:ext cx="2333625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24" name="OTLSHAPE_T_7bfb8a382a9944389375dbf246013bf7_ShapePercentage" hidden="1"/>
          <p:cNvSpPr/>
          <p:nvPr>
            <p:custDataLst>
              <p:tags r:id="rId49"/>
            </p:custDataLst>
          </p:nvPr>
        </p:nvSpPr>
        <p:spPr>
          <a:xfrm>
            <a:off x="3392996" y="2702473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25" name="OTLSHAPE_T_7bfb8a382a9944389375dbf246013bf7_Duration" hidden="1"/>
          <p:cNvSpPr txBox="1"/>
          <p:nvPr>
            <p:custDataLst>
              <p:tags r:id="rId50"/>
            </p:custDataLst>
          </p:nvPr>
        </p:nvSpPr>
        <p:spPr>
          <a:xfrm>
            <a:off x="0" y="2465648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130 days</a:t>
            </a:r>
          </a:p>
        </p:txBody>
      </p:sp>
      <p:sp>
        <p:nvSpPr>
          <p:cNvPr id="2326" name="OTLSHAPE_T_7bfb8a382a9944389375dbf246013bf7_TextPercentage" hidden="1"/>
          <p:cNvSpPr txBox="1"/>
          <p:nvPr>
            <p:custDataLst>
              <p:tags r:id="rId51"/>
            </p:custDataLst>
          </p:nvPr>
        </p:nvSpPr>
        <p:spPr>
          <a:xfrm>
            <a:off x="0" y="2581490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27" name="OTLSHAPE_T_7bfb8a382a9944389375dbf246013bf7_JoinedDate" hidden="1"/>
          <p:cNvSpPr txBox="1"/>
          <p:nvPr>
            <p:custDataLst>
              <p:tags r:id="rId52"/>
            </p:custDataLst>
          </p:nvPr>
        </p:nvSpPr>
        <p:spPr>
          <a:xfrm>
            <a:off x="0" y="2581491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28" name="OTLSHAPE_T_7bfb8a382a9944389375dbf246013bf7_StartDate"/>
          <p:cNvSpPr txBox="1"/>
          <p:nvPr>
            <p:custDataLst>
              <p:tags r:id="rId53"/>
            </p:custDataLst>
          </p:nvPr>
        </p:nvSpPr>
        <p:spPr>
          <a:xfrm>
            <a:off x="2784539" y="2428538"/>
            <a:ext cx="5715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Jun 1, 2020</a:t>
            </a:r>
          </a:p>
        </p:txBody>
      </p:sp>
      <p:sp>
        <p:nvSpPr>
          <p:cNvPr id="2329" name="OTLSHAPE_T_7bfb8a382a9944389375dbf246013bf7_Title"/>
          <p:cNvSpPr txBox="1"/>
          <p:nvPr>
            <p:custDataLst>
              <p:tags r:id="rId54"/>
            </p:custDataLst>
          </p:nvPr>
        </p:nvSpPr>
        <p:spPr>
          <a:xfrm>
            <a:off x="3392996" y="2257482"/>
            <a:ext cx="2059137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DCO Project (Go Live Ready) </a:t>
            </a:r>
            <a:endParaRPr lang="en-CA" sz="750" b="1" spc="-5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30" name="OTLSHAPE_T_7bfb8a382a9944389375dbf246013bf7_EndDate"/>
          <p:cNvSpPr txBox="1"/>
          <p:nvPr>
            <p:custDataLst>
              <p:tags r:id="rId55"/>
            </p:custDataLst>
          </p:nvPr>
        </p:nvSpPr>
        <p:spPr>
          <a:xfrm>
            <a:off x="5763183" y="2428538"/>
            <a:ext cx="66675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Nov 2020</a:t>
            </a:r>
          </a:p>
        </p:txBody>
      </p:sp>
      <p:sp>
        <p:nvSpPr>
          <p:cNvPr id="2331" name="OTLSHAPE_T_81f59d815daf4227a6f0ac41529bf715_Shape"/>
          <p:cNvSpPr/>
          <p:nvPr>
            <p:custDataLst>
              <p:tags r:id="rId56"/>
            </p:custDataLst>
          </p:nvPr>
        </p:nvSpPr>
        <p:spPr>
          <a:xfrm>
            <a:off x="4869991" y="2724880"/>
            <a:ext cx="2352675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32" name="OTLSHAPE_T_81f59d815daf4227a6f0ac41529bf715_ShapePercentage" hidden="1"/>
          <p:cNvSpPr/>
          <p:nvPr>
            <p:custDataLst>
              <p:tags r:id="rId57"/>
            </p:custDataLst>
          </p:nvPr>
        </p:nvSpPr>
        <p:spPr>
          <a:xfrm>
            <a:off x="4869990" y="306355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33" name="OTLSHAPE_T_81f59d815daf4227a6f0ac41529bf715_Duration" hidden="1"/>
          <p:cNvSpPr txBox="1"/>
          <p:nvPr>
            <p:custDataLst>
              <p:tags r:id="rId58"/>
            </p:custDataLst>
          </p:nvPr>
        </p:nvSpPr>
        <p:spPr>
          <a:xfrm>
            <a:off x="0" y="2854681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129 days</a:t>
            </a:r>
          </a:p>
        </p:txBody>
      </p:sp>
      <p:sp>
        <p:nvSpPr>
          <p:cNvPr id="2334" name="OTLSHAPE_T_81f59d815daf4227a6f0ac41529bf715_TextPercentage" hidden="1"/>
          <p:cNvSpPr txBox="1"/>
          <p:nvPr>
            <p:custDataLst>
              <p:tags r:id="rId59"/>
            </p:custDataLst>
          </p:nvPr>
        </p:nvSpPr>
        <p:spPr>
          <a:xfrm>
            <a:off x="0" y="297052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35" name="OTLSHAPE_T_81f59d815daf4227a6f0ac41529bf715_JoinedDate" hidden="1"/>
          <p:cNvSpPr txBox="1"/>
          <p:nvPr>
            <p:custDataLst>
              <p:tags r:id="rId60"/>
            </p:custDataLst>
          </p:nvPr>
        </p:nvSpPr>
        <p:spPr>
          <a:xfrm>
            <a:off x="0" y="2970523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36" name="OTLSHAPE_T_81f59d815daf4227a6f0ac41529bf715_StartDate"/>
          <p:cNvSpPr txBox="1"/>
          <p:nvPr>
            <p:custDataLst>
              <p:tags r:id="rId61"/>
            </p:custDataLst>
          </p:nvPr>
        </p:nvSpPr>
        <p:spPr>
          <a:xfrm>
            <a:off x="4184825" y="2714798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Sep 23, 2020</a:t>
            </a:r>
          </a:p>
        </p:txBody>
      </p:sp>
      <p:sp>
        <p:nvSpPr>
          <p:cNvPr id="2337" name="OTLSHAPE_T_81f59d815daf4227a6f0ac41529bf715_Title"/>
          <p:cNvSpPr txBox="1"/>
          <p:nvPr>
            <p:custDataLst>
              <p:tags r:id="rId62"/>
            </p:custDataLst>
          </p:nvPr>
        </p:nvSpPr>
        <p:spPr>
          <a:xfrm>
            <a:off x="4863757" y="2546758"/>
            <a:ext cx="2325119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6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Lending Project (Go Live Ready)</a:t>
            </a:r>
          </a:p>
        </p:txBody>
      </p:sp>
      <p:sp>
        <p:nvSpPr>
          <p:cNvPr id="2338" name="OTLSHAPE_T_81f59d815daf4227a6f0ac41529bf715_EndDate"/>
          <p:cNvSpPr txBox="1"/>
          <p:nvPr>
            <p:custDataLst>
              <p:tags r:id="rId63"/>
            </p:custDataLst>
          </p:nvPr>
        </p:nvSpPr>
        <p:spPr>
          <a:xfrm>
            <a:off x="7253135" y="2714798"/>
            <a:ext cx="676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2021</a:t>
            </a:r>
          </a:p>
        </p:txBody>
      </p:sp>
      <p:sp>
        <p:nvSpPr>
          <p:cNvPr id="2339" name="OTLSHAPE_T_0be93c1881d14d2da09745387d4e46c5_Shape"/>
          <p:cNvSpPr/>
          <p:nvPr>
            <p:custDataLst>
              <p:tags r:id="rId64"/>
            </p:custDataLst>
          </p:nvPr>
        </p:nvSpPr>
        <p:spPr>
          <a:xfrm>
            <a:off x="1488452" y="3334048"/>
            <a:ext cx="962025" cy="95250"/>
          </a:xfrm>
          <a:prstGeom prst="roundRect">
            <a:avLst/>
          </a:prstGeom>
          <a:solidFill>
            <a:srgbClr val="96D6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40" name="OTLSHAPE_T_0be93c1881d14d2da09745387d4e46c5_ShapePercentage" hidden="1"/>
          <p:cNvSpPr/>
          <p:nvPr>
            <p:custDataLst>
              <p:tags r:id="rId65"/>
            </p:custDataLst>
          </p:nvPr>
        </p:nvSpPr>
        <p:spPr>
          <a:xfrm>
            <a:off x="1488451" y="3452582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41" name="OTLSHAPE_T_0be93c1881d14d2da09745387d4e46c5_Duration" hidden="1"/>
          <p:cNvSpPr txBox="1"/>
          <p:nvPr>
            <p:custDataLst>
              <p:tags r:id="rId66"/>
            </p:custDataLst>
          </p:nvPr>
        </p:nvSpPr>
        <p:spPr>
          <a:xfrm>
            <a:off x="1" y="3215758"/>
            <a:ext cx="295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54 days</a:t>
            </a:r>
          </a:p>
        </p:txBody>
      </p:sp>
      <p:sp>
        <p:nvSpPr>
          <p:cNvPr id="2342" name="OTLSHAPE_T_0be93c1881d14d2da09745387d4e46c5_TextPercentage" hidden="1"/>
          <p:cNvSpPr txBox="1"/>
          <p:nvPr>
            <p:custDataLst>
              <p:tags r:id="rId67"/>
            </p:custDataLst>
          </p:nvPr>
        </p:nvSpPr>
        <p:spPr>
          <a:xfrm>
            <a:off x="0" y="3331599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43" name="OTLSHAPE_T_0be93c1881d14d2da09745387d4e46c5_JoinedDate" hidden="1"/>
          <p:cNvSpPr txBox="1"/>
          <p:nvPr>
            <p:custDataLst>
              <p:tags r:id="rId68"/>
            </p:custDataLst>
          </p:nvPr>
        </p:nvSpPr>
        <p:spPr>
          <a:xfrm>
            <a:off x="0" y="3331600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44" name="OTLSHAPE_T_0be93c1881d14d2da09745387d4e46c5_StartDate"/>
          <p:cNvSpPr txBox="1"/>
          <p:nvPr>
            <p:custDataLst>
              <p:tags r:id="rId69"/>
            </p:custDataLst>
          </p:nvPr>
        </p:nvSpPr>
        <p:spPr>
          <a:xfrm>
            <a:off x="885741" y="3323966"/>
            <a:ext cx="5715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Jan 6, 2020</a:t>
            </a:r>
          </a:p>
        </p:txBody>
      </p:sp>
      <p:sp>
        <p:nvSpPr>
          <p:cNvPr id="2345" name="OTLSHAPE_T_0be93c1881d14d2da09745387d4e46c5_Title"/>
          <p:cNvSpPr txBox="1"/>
          <p:nvPr>
            <p:custDataLst>
              <p:tags r:id="rId70"/>
            </p:custDataLst>
          </p:nvPr>
        </p:nvSpPr>
        <p:spPr>
          <a:xfrm>
            <a:off x="1488452" y="3096798"/>
            <a:ext cx="33813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+ Personal Banking Pre-Planning</a:t>
            </a:r>
            <a:endParaRPr lang="en-CA" sz="750" b="1" spc="-3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46" name="OTLSHAPE_T_0be93c1881d14d2da09745387d4e46c5_EndDate"/>
          <p:cNvSpPr txBox="1"/>
          <p:nvPr>
            <p:custDataLst>
              <p:tags r:id="rId71"/>
            </p:custDataLst>
          </p:nvPr>
        </p:nvSpPr>
        <p:spPr>
          <a:xfrm>
            <a:off x="2485292" y="3323966"/>
            <a:ext cx="676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19, 2020</a:t>
            </a:r>
          </a:p>
        </p:txBody>
      </p:sp>
      <p:sp>
        <p:nvSpPr>
          <p:cNvPr id="2347" name="OTLSHAPE_T_f71eaf0876c645f491db5f18b9a4ad9f_Shape"/>
          <p:cNvSpPr/>
          <p:nvPr>
            <p:custDataLst>
              <p:tags r:id="rId72"/>
            </p:custDataLst>
          </p:nvPr>
        </p:nvSpPr>
        <p:spPr>
          <a:xfrm>
            <a:off x="2447201" y="3695125"/>
            <a:ext cx="4086225" cy="95250"/>
          </a:xfrm>
          <a:prstGeom prst="roundRect">
            <a:avLst/>
          </a:prstGeom>
          <a:solidFill>
            <a:srgbClr val="96D6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48" name="OTLSHAPE_T_f71eaf0876c645f491db5f18b9a4ad9f_ShapePercentage" hidden="1"/>
          <p:cNvSpPr/>
          <p:nvPr>
            <p:custDataLst>
              <p:tags r:id="rId73"/>
            </p:custDataLst>
          </p:nvPr>
        </p:nvSpPr>
        <p:spPr>
          <a:xfrm>
            <a:off x="2447201" y="3813659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49" name="OTLSHAPE_T_f71eaf0876c645f491db5f18b9a4ad9f_Duration" hidden="1"/>
          <p:cNvSpPr txBox="1"/>
          <p:nvPr>
            <p:custDataLst>
              <p:tags r:id="rId74"/>
            </p:custDataLst>
          </p:nvPr>
        </p:nvSpPr>
        <p:spPr>
          <a:xfrm>
            <a:off x="0" y="3604791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225 days</a:t>
            </a:r>
          </a:p>
        </p:txBody>
      </p:sp>
      <p:sp>
        <p:nvSpPr>
          <p:cNvPr id="2350" name="OTLSHAPE_T_f71eaf0876c645f491db5f18b9a4ad9f_TextPercentage" hidden="1"/>
          <p:cNvSpPr txBox="1"/>
          <p:nvPr>
            <p:custDataLst>
              <p:tags r:id="rId75"/>
            </p:custDataLst>
          </p:nvPr>
        </p:nvSpPr>
        <p:spPr>
          <a:xfrm>
            <a:off x="0" y="3720632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51" name="OTLSHAPE_T_f71eaf0876c645f491db5f18b9a4ad9f_JoinedDate" hidden="1"/>
          <p:cNvSpPr txBox="1"/>
          <p:nvPr>
            <p:custDataLst>
              <p:tags r:id="rId76"/>
            </p:custDataLst>
          </p:nvPr>
        </p:nvSpPr>
        <p:spPr>
          <a:xfrm>
            <a:off x="0" y="372063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52" name="OTLSHAPE_T_f71eaf0876c645f491db5f18b9a4ad9f_StartDate"/>
          <p:cNvSpPr txBox="1"/>
          <p:nvPr>
            <p:custDataLst>
              <p:tags r:id="rId77"/>
            </p:custDataLst>
          </p:nvPr>
        </p:nvSpPr>
        <p:spPr>
          <a:xfrm>
            <a:off x="1737240" y="3685041"/>
            <a:ext cx="679704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20, 2020</a:t>
            </a:r>
          </a:p>
        </p:txBody>
      </p:sp>
      <p:sp>
        <p:nvSpPr>
          <p:cNvPr id="2353" name="OTLSHAPE_T_f71eaf0876c645f491db5f18b9a4ad9f_Title"/>
          <p:cNvSpPr txBox="1"/>
          <p:nvPr>
            <p:custDataLst>
              <p:tags r:id="rId78"/>
            </p:custDataLst>
          </p:nvPr>
        </p:nvSpPr>
        <p:spPr>
          <a:xfrm>
            <a:off x="2447201" y="3485829"/>
            <a:ext cx="2838450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Banking Implementation</a:t>
            </a:r>
          </a:p>
        </p:txBody>
      </p:sp>
      <p:sp>
        <p:nvSpPr>
          <p:cNvPr id="2354" name="OTLSHAPE_T_f71eaf0876c645f491db5f18b9a4ad9f_EndDate"/>
          <p:cNvSpPr txBox="1"/>
          <p:nvPr>
            <p:custDataLst>
              <p:tags r:id="rId79"/>
            </p:custDataLst>
          </p:nvPr>
        </p:nvSpPr>
        <p:spPr>
          <a:xfrm>
            <a:off x="6566460" y="3685043"/>
            <a:ext cx="62865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Jan 2021</a:t>
            </a:r>
          </a:p>
        </p:txBody>
      </p:sp>
      <p:sp>
        <p:nvSpPr>
          <p:cNvPr id="2355" name="OTLSHAPE_T_7da4274af3d5420aadf4aaced861acac_Shape"/>
          <p:cNvSpPr/>
          <p:nvPr>
            <p:custDataLst>
              <p:tags r:id="rId80"/>
            </p:custDataLst>
          </p:nvPr>
        </p:nvSpPr>
        <p:spPr>
          <a:xfrm>
            <a:off x="2447201" y="4131783"/>
            <a:ext cx="4457700" cy="95250"/>
          </a:xfrm>
          <a:prstGeom prst="roundRect">
            <a:avLst/>
          </a:prstGeom>
          <a:solidFill>
            <a:srgbClr val="96D6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56" name="OTLSHAPE_T_7da4274af3d5420aadf4aaced861acac_ShapePercentage" hidden="1"/>
          <p:cNvSpPr/>
          <p:nvPr>
            <p:custDataLst>
              <p:tags r:id="rId81"/>
            </p:custDataLst>
          </p:nvPr>
        </p:nvSpPr>
        <p:spPr>
          <a:xfrm>
            <a:off x="2447201" y="4250318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57" name="OTLSHAPE_T_7da4274af3d5420aadf4aaced861acac_Duration" hidden="1"/>
          <p:cNvSpPr txBox="1"/>
          <p:nvPr>
            <p:custDataLst>
              <p:tags r:id="rId82"/>
            </p:custDataLst>
          </p:nvPr>
        </p:nvSpPr>
        <p:spPr>
          <a:xfrm>
            <a:off x="0" y="4041448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246 days</a:t>
            </a:r>
          </a:p>
        </p:txBody>
      </p:sp>
      <p:sp>
        <p:nvSpPr>
          <p:cNvPr id="2358" name="OTLSHAPE_T_7da4274af3d5420aadf4aaced861acac_TextPercentage" hidden="1"/>
          <p:cNvSpPr txBox="1"/>
          <p:nvPr>
            <p:custDataLst>
              <p:tags r:id="rId83"/>
            </p:custDataLst>
          </p:nvPr>
        </p:nvSpPr>
        <p:spPr>
          <a:xfrm>
            <a:off x="0" y="4157290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59" name="OTLSHAPE_T_7da4274af3d5420aadf4aaced861acac_JoinedDate" hidden="1"/>
          <p:cNvSpPr txBox="1"/>
          <p:nvPr>
            <p:custDataLst>
              <p:tags r:id="rId84"/>
            </p:custDataLst>
          </p:nvPr>
        </p:nvSpPr>
        <p:spPr>
          <a:xfrm>
            <a:off x="0" y="4157290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60" name="OTLSHAPE_T_7da4274af3d5420aadf4aaced861acac_StartDate"/>
          <p:cNvSpPr txBox="1"/>
          <p:nvPr>
            <p:custDataLst>
              <p:tags r:id="rId85"/>
            </p:custDataLst>
          </p:nvPr>
        </p:nvSpPr>
        <p:spPr>
          <a:xfrm>
            <a:off x="1737241" y="4121700"/>
            <a:ext cx="676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20, 2020</a:t>
            </a:r>
          </a:p>
        </p:txBody>
      </p:sp>
      <p:sp>
        <p:nvSpPr>
          <p:cNvPr id="2361" name="OTLSHAPE_T_7da4274af3d5420aadf4aaced861acac_Title"/>
          <p:cNvSpPr txBox="1"/>
          <p:nvPr>
            <p:custDataLst>
              <p:tags r:id="rId86"/>
            </p:custDataLst>
          </p:nvPr>
        </p:nvSpPr>
        <p:spPr>
          <a:xfrm>
            <a:off x="2447201" y="3922488"/>
            <a:ext cx="355282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Personal Banking Implementation (Go Live Ready)</a:t>
            </a:r>
            <a:endParaRPr lang="en-CA" sz="750" b="1" spc="-3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62" name="OTLSHAPE_T_7da4274af3d5420aadf4aaced861acac_EndDate"/>
          <p:cNvSpPr txBox="1"/>
          <p:nvPr>
            <p:custDataLst>
              <p:tags r:id="rId87"/>
            </p:custDataLst>
          </p:nvPr>
        </p:nvSpPr>
        <p:spPr>
          <a:xfrm>
            <a:off x="6942188" y="4121700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Feb 2021</a:t>
            </a:r>
          </a:p>
        </p:txBody>
      </p:sp>
      <p:sp>
        <p:nvSpPr>
          <p:cNvPr id="2363" name="OTLSHAPE_T_4cea4452dbfb47b5bd115d5c2ac1a1ba_Shape"/>
          <p:cNvSpPr/>
          <p:nvPr>
            <p:custDataLst>
              <p:tags r:id="rId88"/>
            </p:custDataLst>
          </p:nvPr>
        </p:nvSpPr>
        <p:spPr>
          <a:xfrm>
            <a:off x="5025464" y="4492859"/>
            <a:ext cx="3476625" cy="95250"/>
          </a:xfrm>
          <a:prstGeom prst="roundRect">
            <a:avLst/>
          </a:prstGeom>
          <a:solidFill>
            <a:srgbClr val="96D6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64" name="OTLSHAPE_T_4cea4452dbfb47b5bd115d5c2ac1a1ba_ShapePercentage" hidden="1"/>
          <p:cNvSpPr/>
          <p:nvPr>
            <p:custDataLst>
              <p:tags r:id="rId89"/>
            </p:custDataLst>
          </p:nvPr>
        </p:nvSpPr>
        <p:spPr>
          <a:xfrm>
            <a:off x="5025463" y="4611394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65" name="OTLSHAPE_T_4cea4452dbfb47b5bd115d5c2ac1a1ba_Duration" hidden="1"/>
          <p:cNvSpPr txBox="1"/>
          <p:nvPr>
            <p:custDataLst>
              <p:tags r:id="rId90"/>
            </p:custDataLst>
          </p:nvPr>
        </p:nvSpPr>
        <p:spPr>
          <a:xfrm>
            <a:off x="0" y="4402525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192 days</a:t>
            </a:r>
          </a:p>
        </p:txBody>
      </p:sp>
      <p:sp>
        <p:nvSpPr>
          <p:cNvPr id="2366" name="OTLSHAPE_T_4cea4452dbfb47b5bd115d5c2ac1a1ba_TextPercentage" hidden="1"/>
          <p:cNvSpPr txBox="1"/>
          <p:nvPr>
            <p:custDataLst>
              <p:tags r:id="rId91"/>
            </p:custDataLst>
          </p:nvPr>
        </p:nvSpPr>
        <p:spPr>
          <a:xfrm>
            <a:off x="0" y="4518367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67" name="OTLSHAPE_T_4cea4452dbfb47b5bd115d5c2ac1a1ba_JoinedDate" hidden="1"/>
          <p:cNvSpPr txBox="1"/>
          <p:nvPr>
            <p:custDataLst>
              <p:tags r:id="rId92"/>
            </p:custDataLst>
          </p:nvPr>
        </p:nvSpPr>
        <p:spPr>
          <a:xfrm>
            <a:off x="0" y="4518367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68" name="OTLSHAPE_T_4cea4452dbfb47b5bd115d5c2ac1a1ba_StartDate"/>
          <p:cNvSpPr txBox="1"/>
          <p:nvPr>
            <p:custDataLst>
              <p:tags r:id="rId93"/>
            </p:custDataLst>
          </p:nvPr>
        </p:nvSpPr>
        <p:spPr>
          <a:xfrm>
            <a:off x="4410815" y="4482777"/>
            <a:ext cx="58102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Oct 5, 2020</a:t>
            </a:r>
          </a:p>
        </p:txBody>
      </p:sp>
      <p:sp>
        <p:nvSpPr>
          <p:cNvPr id="2369" name="OTLSHAPE_T_4cea4452dbfb47b5bd115d5c2ac1a1ba_Title"/>
          <p:cNvSpPr txBox="1"/>
          <p:nvPr>
            <p:custDataLst>
              <p:tags r:id="rId94"/>
            </p:custDataLst>
          </p:nvPr>
        </p:nvSpPr>
        <p:spPr>
          <a:xfrm>
            <a:off x="5025463" y="4283565"/>
            <a:ext cx="3635201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Corporate Banking Implementation (Go Live Ready)</a:t>
            </a:r>
          </a:p>
        </p:txBody>
      </p:sp>
      <p:sp>
        <p:nvSpPr>
          <p:cNvPr id="2370" name="OTLSHAPE_T_4cea4452dbfb47b5bd115d5c2ac1a1ba_EndDate"/>
          <p:cNvSpPr txBox="1"/>
          <p:nvPr>
            <p:custDataLst>
              <p:tags r:id="rId95"/>
            </p:custDataLst>
          </p:nvPr>
        </p:nvSpPr>
        <p:spPr>
          <a:xfrm>
            <a:off x="8535787" y="4482777"/>
            <a:ext cx="511232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Jun 2021</a:t>
            </a:r>
          </a:p>
        </p:txBody>
      </p:sp>
      <p:sp>
        <p:nvSpPr>
          <p:cNvPr id="2372" name="TextBox 2371"/>
          <p:cNvSpPr txBox="1"/>
          <p:nvPr/>
        </p:nvSpPr>
        <p:spPr>
          <a:xfrm>
            <a:off x="569643" y="2421862"/>
            <a:ext cx="1626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Program Stream 1</a:t>
            </a:r>
            <a:endParaRPr lang="en-CA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586989" y="4303601"/>
            <a:ext cx="159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Program Stream 2</a:t>
            </a:r>
            <a:endParaRPr lang="en-CA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8" name="OTLSHAPE_T_7d7a3f33bb024005950d8874ec22e8f9_StartDate"/>
          <p:cNvSpPr txBox="1"/>
          <p:nvPr>
            <p:custDataLst>
              <p:tags r:id="rId96"/>
            </p:custDataLst>
          </p:nvPr>
        </p:nvSpPr>
        <p:spPr>
          <a:xfrm>
            <a:off x="5137627" y="2139994"/>
            <a:ext cx="791426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Oct 2020 - TBC</a:t>
            </a:r>
          </a:p>
        </p:txBody>
      </p:sp>
      <p:sp>
        <p:nvSpPr>
          <p:cNvPr id="119" name="OTLSHAPE_T_7d7a3f33bb024005950d8874ec22e8f9_Shape"/>
          <p:cNvSpPr/>
          <p:nvPr>
            <p:custDataLst>
              <p:tags r:id="rId97"/>
            </p:custDataLst>
          </p:nvPr>
        </p:nvSpPr>
        <p:spPr>
          <a:xfrm>
            <a:off x="3142905" y="2158575"/>
            <a:ext cx="1994722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20" name="OTLSHAPE_T_7d7a3f33bb024005950d8874ec22e8f9_Title"/>
          <p:cNvSpPr txBox="1"/>
          <p:nvPr>
            <p:custDataLst>
              <p:tags r:id="rId98"/>
            </p:custDataLst>
          </p:nvPr>
        </p:nvSpPr>
        <p:spPr>
          <a:xfrm>
            <a:off x="3161567" y="2000960"/>
            <a:ext cx="2304807" cy="15697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4" dirty="0">
                <a:solidFill>
                  <a:srgbClr val="000000"/>
                </a:solidFill>
                <a:latin typeface="Calibri" panose="020F0502020204030204" pitchFamily="34" charset="0"/>
              </a:rPr>
              <a:t>Personal In Branch DCO Project - Full Implementation</a:t>
            </a:r>
          </a:p>
        </p:txBody>
      </p:sp>
      <p:sp>
        <p:nvSpPr>
          <p:cNvPr id="121" name="OTLSHAPE_T_7d7a3f33bb024005950d8874ec22e8f9_StartDate"/>
          <p:cNvSpPr txBox="1"/>
          <p:nvPr>
            <p:custDataLst>
              <p:tags r:id="rId99"/>
            </p:custDataLst>
          </p:nvPr>
        </p:nvSpPr>
        <p:spPr>
          <a:xfrm>
            <a:off x="2539607" y="2141015"/>
            <a:ext cx="569366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May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9643" y="2618325"/>
            <a:ext cx="143020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Digital Client Onboarding (DCO)</a:t>
            </a:r>
            <a:endParaRPr lang="en-CA" sz="750" dirty="0"/>
          </a:p>
        </p:txBody>
      </p:sp>
      <p:sp>
        <p:nvSpPr>
          <p:cNvPr id="123" name="TextBox 122"/>
          <p:cNvSpPr txBox="1"/>
          <p:nvPr/>
        </p:nvSpPr>
        <p:spPr>
          <a:xfrm>
            <a:off x="590335" y="4501636"/>
            <a:ext cx="96212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Digital Banking (DB)</a:t>
            </a:r>
            <a:endParaRPr lang="en-CA" sz="750" dirty="0"/>
          </a:p>
        </p:txBody>
      </p:sp>
      <p:sp>
        <p:nvSpPr>
          <p:cNvPr id="124" name="OTLSHAPE_T_da3f1c3adf114f3bb18df83aad2c89d2_Shape"/>
          <p:cNvSpPr/>
          <p:nvPr>
            <p:custDataLst>
              <p:tags r:id="rId100"/>
            </p:custDataLst>
          </p:nvPr>
        </p:nvSpPr>
        <p:spPr>
          <a:xfrm>
            <a:off x="3658260" y="1534052"/>
            <a:ext cx="564373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125" name="OTLSHAPE_M_7da4274af3d5420aadf4aaced861acac_Connector1"/>
          <p:cNvCxnSpPr/>
          <p:nvPr>
            <p:custDataLst>
              <p:tags r:id="rId101"/>
            </p:custDataLst>
          </p:nvPr>
        </p:nvCxnSpPr>
        <p:spPr>
          <a:xfrm>
            <a:off x="3652934" y="1359991"/>
            <a:ext cx="0" cy="174062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TLSHAPE_M_7da4274af3d5420aadf4aaced861acac_Shape"/>
          <p:cNvSpPr/>
          <p:nvPr>
            <p:custDataLst>
              <p:tags r:id="rId102"/>
            </p:custDataLst>
          </p:nvPr>
        </p:nvSpPr>
        <p:spPr>
          <a:xfrm rot="16200000">
            <a:off x="3668363" y="1245095"/>
            <a:ext cx="88648" cy="130184"/>
          </a:xfrm>
          <a:prstGeom prst="flowChartMerge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28" name="OTLSHAPE_M_7da4274af3d5420aadf4aaced861acac_Title"/>
          <p:cNvSpPr txBox="1"/>
          <p:nvPr>
            <p:custDataLst>
              <p:tags r:id="rId103"/>
            </p:custDataLst>
          </p:nvPr>
        </p:nvSpPr>
        <p:spPr>
          <a:xfrm>
            <a:off x="3658260" y="944772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Motive DCO - Friends &amp; Family Launch</a:t>
            </a:r>
          </a:p>
        </p:txBody>
      </p:sp>
      <p:cxnSp>
        <p:nvCxnSpPr>
          <p:cNvPr id="129" name="OTLSHAPE_M_7bfb8a382a9944389375dbf246013bf7_Connector1"/>
          <p:cNvCxnSpPr/>
          <p:nvPr>
            <p:custDataLst>
              <p:tags r:id="rId104"/>
            </p:custDataLst>
          </p:nvPr>
        </p:nvCxnSpPr>
        <p:spPr>
          <a:xfrm flipH="1">
            <a:off x="4209970" y="1436269"/>
            <a:ext cx="719" cy="138500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TLSHAPE_M_7bfb8a382a9944389375dbf246013bf7_Shape"/>
          <p:cNvSpPr/>
          <p:nvPr>
            <p:custDataLst>
              <p:tags r:id="rId105"/>
            </p:custDataLst>
          </p:nvPr>
        </p:nvSpPr>
        <p:spPr>
          <a:xfrm>
            <a:off x="4206645" y="1363196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37" name="OTLSHAPE_M_7bfb8a382a9944389375dbf246013bf7_Title"/>
          <p:cNvSpPr txBox="1"/>
          <p:nvPr>
            <p:custDataLst>
              <p:tags r:id="rId106"/>
            </p:custDataLst>
          </p:nvPr>
        </p:nvSpPr>
        <p:spPr>
          <a:xfrm>
            <a:off x="4372689" y="1319540"/>
            <a:ext cx="986818" cy="1414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5" dirty="0">
                <a:solidFill>
                  <a:srgbClr val="000000"/>
                </a:solidFill>
                <a:latin typeface="Calibri" panose="020F0502020204030204" pitchFamily="34" charset="0"/>
              </a:rPr>
              <a:t>Motive DCO - Full Launch </a:t>
            </a:r>
          </a:p>
        </p:txBody>
      </p:sp>
      <p:sp>
        <p:nvSpPr>
          <p:cNvPr id="138" name="OTLSHAPE_T_da3f1c3adf114f3bb18df83aad2c89d2_EndDate"/>
          <p:cNvSpPr txBox="1"/>
          <p:nvPr>
            <p:custDataLst>
              <p:tags r:id="rId107"/>
            </p:custDataLst>
          </p:nvPr>
        </p:nvSpPr>
        <p:spPr>
          <a:xfrm>
            <a:off x="3540898" y="1089950"/>
            <a:ext cx="745493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June 22, 2020</a:t>
            </a:r>
          </a:p>
        </p:txBody>
      </p:sp>
      <p:sp>
        <p:nvSpPr>
          <p:cNvPr id="139" name="OTLSHAPE_T_da3f1c3adf114f3bb18df83aad2c89d2_Shape"/>
          <p:cNvSpPr/>
          <p:nvPr>
            <p:custDataLst>
              <p:tags r:id="rId108"/>
            </p:custDataLst>
          </p:nvPr>
        </p:nvSpPr>
        <p:spPr>
          <a:xfrm>
            <a:off x="4500680" y="1887383"/>
            <a:ext cx="337500" cy="94500"/>
          </a:xfrm>
          <a:prstGeom prst="roundRect">
            <a:avLst/>
          </a:prstGeom>
          <a:solidFill>
            <a:srgbClr val="009AA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140" name="OTLSHAPE_M_7da4274af3d5420aadf4aaced861acac_Connector1"/>
          <p:cNvCxnSpPr/>
          <p:nvPr>
            <p:custDataLst>
              <p:tags r:id="rId109"/>
            </p:custDataLst>
          </p:nvPr>
        </p:nvCxnSpPr>
        <p:spPr>
          <a:xfrm>
            <a:off x="4492670" y="1742511"/>
            <a:ext cx="0" cy="174062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TLSHAPE_M_7da4274af3d5420aadf4aaced861acac_Shape"/>
          <p:cNvSpPr/>
          <p:nvPr>
            <p:custDataLst>
              <p:tags r:id="rId110"/>
            </p:custDataLst>
          </p:nvPr>
        </p:nvSpPr>
        <p:spPr>
          <a:xfrm rot="16200000">
            <a:off x="4517075" y="1617238"/>
            <a:ext cx="90663" cy="140354"/>
          </a:xfrm>
          <a:prstGeom prst="flowChartMerge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43" name="OTLSHAPE_M_7da4274af3d5420aadf4aaced861acac_Title"/>
          <p:cNvSpPr txBox="1"/>
          <p:nvPr>
            <p:custDataLst>
              <p:tags r:id="rId111"/>
            </p:custDataLst>
          </p:nvPr>
        </p:nvSpPr>
        <p:spPr>
          <a:xfrm>
            <a:off x="4676389" y="1526454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Personal DCO - Friends &amp; Family Launch</a:t>
            </a:r>
          </a:p>
        </p:txBody>
      </p:sp>
      <p:sp>
        <p:nvSpPr>
          <p:cNvPr id="144" name="OTLSHAPE_M_7da4274af3d5420aadf4aaced861acac_Title"/>
          <p:cNvSpPr txBox="1"/>
          <p:nvPr>
            <p:custDataLst>
              <p:tags r:id="rId112"/>
            </p:custDataLst>
          </p:nvPr>
        </p:nvSpPr>
        <p:spPr>
          <a:xfrm>
            <a:off x="5012794" y="1664988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Personal Online DCO – Full Launch</a:t>
            </a:r>
          </a:p>
        </p:txBody>
      </p:sp>
      <p:cxnSp>
        <p:nvCxnSpPr>
          <p:cNvPr id="145" name="OTLSHAPE_M_7bfb8a382a9944389375dbf246013bf7_Connector1"/>
          <p:cNvCxnSpPr/>
          <p:nvPr>
            <p:custDataLst>
              <p:tags r:id="rId113"/>
            </p:custDataLst>
          </p:nvPr>
        </p:nvCxnSpPr>
        <p:spPr>
          <a:xfrm flipH="1">
            <a:off x="4829595" y="1837781"/>
            <a:ext cx="719" cy="138500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TLSHAPE_M_7bfb8a382a9944389375dbf246013bf7_Shape"/>
          <p:cNvSpPr/>
          <p:nvPr>
            <p:custDataLst>
              <p:tags r:id="rId114"/>
            </p:custDataLst>
          </p:nvPr>
        </p:nvSpPr>
        <p:spPr>
          <a:xfrm>
            <a:off x="4826269" y="1758474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47" name="OTLSHAPE_T_7d7a3f33bb024005950d8874ec22e8f9_EndDate"/>
          <p:cNvSpPr txBox="1"/>
          <p:nvPr>
            <p:custDataLst>
              <p:tags r:id="rId115"/>
            </p:custDataLst>
          </p:nvPr>
        </p:nvSpPr>
        <p:spPr>
          <a:xfrm>
            <a:off x="6165298" y="1585737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Aug 17, 2020</a:t>
            </a:r>
          </a:p>
        </p:txBody>
      </p:sp>
      <p:sp>
        <p:nvSpPr>
          <p:cNvPr id="148" name="OTLSHAPE_M_7bfb8a382a9944389375dbf246013bf7_Shape"/>
          <p:cNvSpPr/>
          <p:nvPr>
            <p:custDataLst>
              <p:tags r:id="rId116"/>
            </p:custDataLst>
          </p:nvPr>
        </p:nvSpPr>
        <p:spPr>
          <a:xfrm>
            <a:off x="6532839" y="3270170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49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325356"/>
            <a:ext cx="8280401" cy="397483"/>
          </a:xfrm>
        </p:spPr>
        <p:txBody>
          <a:bodyPr/>
          <a:lstStyle/>
          <a:p>
            <a:r>
              <a:rPr lang="en-US" dirty="0" smtClean="0"/>
              <a:t>High Level Estimated Timeline – Motive MVP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31" y="752750"/>
            <a:ext cx="8154938" cy="36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77850" y="325356"/>
            <a:ext cx="8280401" cy="397483"/>
          </a:xfrm>
        </p:spPr>
        <p:txBody>
          <a:bodyPr/>
          <a:lstStyle/>
          <a:p>
            <a:r>
              <a:rPr lang="en-US" sz="2400" dirty="0" smtClean="0"/>
              <a:t>High Level Estimated Timeline – Motive Full/Personal/In Branch DCO</a:t>
            </a:r>
            <a:endParaRPr lang="en-CA" sz="2400" dirty="0"/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2" y="776035"/>
            <a:ext cx="7699627" cy="37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9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325356"/>
            <a:ext cx="8280401" cy="397483"/>
          </a:xfrm>
        </p:spPr>
        <p:txBody>
          <a:bodyPr/>
          <a:lstStyle/>
          <a:p>
            <a:r>
              <a:rPr lang="en-US" dirty="0" smtClean="0"/>
              <a:t>High Level Estimated Timeline – Small Business DCO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31" y="656416"/>
            <a:ext cx="8154938" cy="38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325356"/>
            <a:ext cx="8280401" cy="397483"/>
          </a:xfrm>
        </p:spPr>
        <p:txBody>
          <a:bodyPr/>
          <a:lstStyle/>
          <a:p>
            <a:r>
              <a:rPr lang="en-US" dirty="0" smtClean="0"/>
              <a:t>High Level Timeline – Small Business Lending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31" y="656416"/>
            <a:ext cx="8154938" cy="38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9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63673" y="119794"/>
            <a:ext cx="8280401" cy="397483"/>
          </a:xfrm>
        </p:spPr>
        <p:txBody>
          <a:bodyPr/>
          <a:lstStyle/>
          <a:p>
            <a:r>
              <a:rPr lang="en-US" dirty="0" smtClean="0"/>
              <a:t>Project Organization</a:t>
            </a:r>
            <a:endParaRPr lang="en-CA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676" y="1072767"/>
            <a:ext cx="1562057" cy="71393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504" y="1066277"/>
            <a:ext cx="1553901" cy="72691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415" y="1047106"/>
            <a:ext cx="1441899" cy="82598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538" y="2101536"/>
            <a:ext cx="6206163" cy="15925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538" y="3694077"/>
            <a:ext cx="6206163" cy="79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63673" y="119794"/>
            <a:ext cx="8280401" cy="397483"/>
          </a:xfrm>
        </p:spPr>
        <p:txBody>
          <a:bodyPr/>
          <a:lstStyle/>
          <a:p>
            <a:r>
              <a:rPr lang="en-US" dirty="0" smtClean="0"/>
              <a:t>Issue Management and Escalation Process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8" y="766916"/>
            <a:ext cx="7283063" cy="36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9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184" y="342900"/>
            <a:ext cx="7659303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Management Project Delivery Lifecycle</a:t>
            </a:r>
            <a:endParaRPr lang="en-CA" dirty="0"/>
          </a:p>
        </p:txBody>
      </p:sp>
      <p:sp>
        <p:nvSpPr>
          <p:cNvPr id="3" name="Rounded Rectangle 2"/>
          <p:cNvSpPr/>
          <p:nvPr/>
        </p:nvSpPr>
        <p:spPr>
          <a:xfrm>
            <a:off x="813185" y="1202380"/>
            <a:ext cx="1451384" cy="313209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Monitoring and Controlling ensuring controls are in place to manage the project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Performing Integrated Change Control</a:t>
            </a:r>
            <a:endParaRPr lang="en-CA" sz="1000" dirty="0"/>
          </a:p>
        </p:txBody>
      </p:sp>
      <p:sp>
        <p:nvSpPr>
          <p:cNvPr id="5" name="Rectangle 4"/>
          <p:cNvSpPr/>
          <p:nvPr/>
        </p:nvSpPr>
        <p:spPr>
          <a:xfrm>
            <a:off x="2968219" y="1202381"/>
            <a:ext cx="23717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Initiation Phase</a:t>
            </a:r>
            <a:endParaRPr lang="en-CA" sz="1600" dirty="0"/>
          </a:p>
        </p:txBody>
      </p:sp>
      <p:sp>
        <p:nvSpPr>
          <p:cNvPr id="7" name="Rectangle 6"/>
          <p:cNvSpPr/>
          <p:nvPr/>
        </p:nvSpPr>
        <p:spPr>
          <a:xfrm>
            <a:off x="2926552" y="2217389"/>
            <a:ext cx="23717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Planning Phase</a:t>
            </a:r>
            <a:endParaRPr lang="en-CA" sz="1600" dirty="0"/>
          </a:p>
        </p:txBody>
      </p:sp>
      <p:sp>
        <p:nvSpPr>
          <p:cNvPr id="8" name="Rectangle 7"/>
          <p:cNvSpPr/>
          <p:nvPr/>
        </p:nvSpPr>
        <p:spPr>
          <a:xfrm>
            <a:off x="2926552" y="3048295"/>
            <a:ext cx="23717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Execution Phase</a:t>
            </a:r>
            <a:endParaRPr lang="en-CA" sz="1600" dirty="0"/>
          </a:p>
        </p:txBody>
      </p:sp>
      <p:sp>
        <p:nvSpPr>
          <p:cNvPr id="10" name="Rectangle 9"/>
          <p:cNvSpPr/>
          <p:nvPr/>
        </p:nvSpPr>
        <p:spPr>
          <a:xfrm>
            <a:off x="2926555" y="4048722"/>
            <a:ext cx="237172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Closure </a:t>
            </a:r>
            <a:r>
              <a:rPr lang="en-US" sz="1600" dirty="0" smtClean="0"/>
              <a:t>Phase</a:t>
            </a:r>
            <a:endParaRPr lang="en-CA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5710238" y="1123355"/>
            <a:ext cx="2762250" cy="835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Project Kick 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Project Charter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New Initiative/Change Risk Assessment Tool</a:t>
            </a:r>
            <a:endParaRPr lang="en-CA" sz="900" dirty="0"/>
          </a:p>
        </p:txBody>
      </p:sp>
      <p:sp>
        <p:nvSpPr>
          <p:cNvPr id="12" name="Rounded Rectangle 11"/>
          <p:cNvSpPr/>
          <p:nvPr/>
        </p:nvSpPr>
        <p:spPr>
          <a:xfrm>
            <a:off x="5710238" y="2027337"/>
            <a:ext cx="2762250" cy="6872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Project Management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Develop project schedule and plans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SDLC: Requirements Gathering</a:t>
            </a:r>
            <a:endParaRPr lang="en-CA" sz="800" dirty="0"/>
          </a:p>
        </p:txBody>
      </p:sp>
      <p:sp>
        <p:nvSpPr>
          <p:cNvPr id="16" name="Rectangle 15"/>
          <p:cNvSpPr/>
          <p:nvPr/>
        </p:nvSpPr>
        <p:spPr>
          <a:xfrm rot="16200000">
            <a:off x="1050349" y="2625551"/>
            <a:ext cx="3132089" cy="285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Monitoring and Controlling Phase</a:t>
            </a:r>
            <a:endParaRPr lang="en-CA"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5710238" y="2782789"/>
            <a:ext cx="2762250" cy="835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Direct and manage the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Manage Communications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Perform quality assurance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Conduct procurement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SDLC: Design, Build, Test, Go Live</a:t>
            </a:r>
            <a:endParaRPr lang="en-CA" sz="800" dirty="0"/>
          </a:p>
        </p:txBody>
      </p:sp>
      <p:sp>
        <p:nvSpPr>
          <p:cNvPr id="19" name="Rounded Rectangle 18"/>
          <p:cNvSpPr/>
          <p:nvPr/>
        </p:nvSpPr>
        <p:spPr>
          <a:xfrm>
            <a:off x="5710238" y="3686771"/>
            <a:ext cx="2762250" cy="6477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Close of project or phase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Lessons Learned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Closure Report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222494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655846"/>
            <a:ext cx="2832297" cy="753854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746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IuMCIsIk9yaWdpbmFsQXNzZW1ibHlWZXJzaW9uIjoiMy42Mi4xMS4wMCIsIkVkaXRpb24iOiJQcm8iLCJJc1BsdXNFZGl0aW9uIjp0cnVlLCJJc1Byb0VkaXRpb24iOnRydWV9LCJFZmZlY3QiOjEsIlN0eWxlIjp7IiRpZCI6IjMiLCJUaW1lYmFuZFN0eWxlIjp7IiRpZCI6IjQiLCJTY2FsZU1hcmtpbmciOjEsIlNoYXBlIjoxMCwiU2hhcGVTdHlsZSI6eyIkaWQiOiI1IiwiTWFyZ2luIjp7IiRpZCI6IjYiLCJUb3AiOjAsIkxlZnQiOjEwLCJSaWdodCI6MTAsIkJvdHRvbSI6MH0sIlBhZGRpbmciOnsiJGlkIjoiNyIsIlRvcCI6MywiTGVmdCI6MCwiUmlnaHQiOjAsIkJvdHRvbSI6M30sIkJhY2tncm91bmQiOnsiJGlkIjoiOCIsIkNvbG9yIjp7IiRpZCI6IjkiLCJBIjoyNTUsIlIiOjQ1LCJHIjoxMTMsIkIiOjExN3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I1NSwiUiI6MjU1LCJHIjoyNTUsIkIiOjI1NX19LCJJc1Zpc2libGUiOmZhbHN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UiLCJUb3AiOjAsIkxlZnQiOjIwLCJSaWdodCI6MCwiQm90dG9tIjowfSwiUGFkZGluZyI6eyIkaWQiOiIyNiIsIlRvcCI6MCwiTGVmdCI6MCwiUmlnaHQiOjAsIkJvdHRvbSI6MH0sIkJhY2tncm91bmQiOnsiJGlkIjoiMjciLCJDb2xvciI6eyIkaWQiOiIyOCIsIkEiOjg5LCJSIjowLCJHIjowLCJCIjowfX0sIklzVmlzaWJsZSI6ZmFsc2UsIldpZHRoIjowLjAsIkhlaWdodCI6MC4wLCJCb3JkZXJTdHlsZSI6bnVsbCwiUGFyZW50U3R5bGUiOm51bGx9LCJUb2RheVRleHRTdHlsZSI6eyIkaWQiOiIyOSIsIkZvbnRTZXR0aW5ncyI6eyIkaWQiOiIzMCIsIkZvbnRTaXplIjoxMiwiRm9udE5hbWUiOiJDYWxpYnJpIiwiSXNCb2xkIjpmYWxzZSwiSXNJdGFsaWMiOmZhbHNlLCJJc1VuZGVybGluZWQiOmZhbHNlLCJQYXJlbnRTdHlsZSI6bnVsbH0sIkF1dG9TaXplIjowLCJGb3JlZ3JvdW5kIjp7IiRpZCI6IjMxIiwiQ29sb3IiOnsiJGlkIjoi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MiLCJUb3AiOjAsIkxlZnQiOjAsIlJpZ2h0IjowLCJCb3R0b20iOjB9LCJQYWRkaW5nIjp7IiRpZCI6IjM0IiwiVG9wIjowLCJMZWZ0IjowLCJSaWdodCI6MCwiQm90dG9tIjowfSwiQmFja2dyb3VuZCI6eyIkaWQiOiIzNSIsIkNvbG9yIjp7IiRyZWYiOiIyOCJ9fSwiSXNWaXNpYmxlIjp0cnVlLCJXaWR0aCI6MC4wLCJIZWlnaHQiOjAuMCwiQm9yZGVyU3R5bGUiOm51bGwsIlBhcmVudFN0eWxlIjpudWxsfSwiVG9kYXlNYXJrZXJTdHlsZSI6eyIkaWQiOiIzNiIsIk1hcmdpbiI6eyIkaWQiOiIzNyIsIlRvcCI6MCwiTGVmdCI6MCwiUmlnaHQiOjAsIkJvdHRvbSI6MH0sIlBhZGRpbmciOnsiJGlkIjoiMzgiLCJUb3AiOjAsIkxlZnQiOjAsIlJpZ2h0IjowLCJCb3R0b20iOjB9LCJCYWNrZ3JvdW5kIjp7IiRpZCI6IjM5IiwiQ29sb3IiOnsiJGlkIjoiNDAiLCJBIjoyNTUsIlIiOjI1NSwiRyI6MCwiQiI6MH19LCJJc1Zpc2libGUiOnRydWUsIldpZHRoIjowLjAsIkhlaWdodCI6MC4wLCJCb3JkZXJTdHlsZSI6bnVsbCwiUGFyZW50U3R5bGUiOm51bGx9LCJTY2FsZVN0eWxlIjp7IiRpZCI6IjQxIiwiU2hvd1NlZ21lbnRTZXBhcmF0b3JzIjpmYWxzZSwiU2VnbWVudFNlcGFyYXRvck9wYWNpdHkiOjMwLCJGb250U2V0dGluZ3MiOnsiJGlkIjoiNDIiLCJGb250U2l6ZSI6MTgsIkZvbnROYW1lIjoiQ2FsaWJyaSIsIklzQm9sZCI6ZmFsc2UsIklzSXRhbGljIjpmYWxzZSwiSXNVbmRlcmxpbmVkIjpmYWxzZSwiUGFyZW50U3R5bGUiOm51bGx9LCJBdXRvU2l6ZSI6MCwiRm9yZWdyb3VuZCI6eyIkaWQiOiI0MyIsIkNvbG9yIjp7IiRpZCI6IjQ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1IiwiVG9wIjowLCJMZWZ0Ijo1LCJSaWdodCI6MCwiQm90dG9tIjowfSwiUGFkZGluZyI6eyIkaWQiOiI0NiIsIlRvcCI6MCwiTGVmdCI6MCwiUmlnaHQiOjAsIkJvdHRvbSI6MH0sIkJhY2tncm91bmQiOnsiJGlkIjoiNDciLCJDb2xvciI6eyIkcmVmIjoiMjgifX0sIklzVmlzaWJsZSI6dHJ1ZSwiV2lkdGgiOjAuMCwiSGVpZ2h0IjowLjAsIkJvcmRlclN0eWxlIjpudWxsLCJQYXJlbnRTdHlsZSI6bnVsbH0sIkVsYXBzZWRUaW1lQmFja2dyb3VuZCI6eyIkaWQiOiI0OCIsIkNvbG9yIjp7IiRpZCI6IjQ5IiwiQSI6MTkxLCJSIjoyNTUsIkciOjAsIkIiOjB9fSwiQXBwZW5kWWVhck9uWWVhckNoYW5nZSI6ZmFsc2UsIkVsYXBzZWRUaW1lRm9ybWF0IjowLCJUb2RheU1hcmtlclBvc2l0aW9uIjowLCJRdWlja1Bvc2l0aW9uIjozLCJBYnNvbHV0ZVBvc2l0aW9uIjo5OC4yMjA4NiwiTWFyZ2luIjp7IiRpZCI6IjUwIiwiVG9wIjowLCJMZWZ0IjoxMCwiUmlnaHQiOjEwLCJCb3R0b20iOjB9LCJQYWRkaW5nIjp7IiRpZCI6IjUxIiwiVG9wIjowLCJMZWZ0IjowLCJSaWdodCI6MCwiQm90dG9tIjowfSwiQmFja2dyb3VuZCI6eyIkaWQiOiI1MiIsIkNvbG9yIjp7IiRpZCI6IjUzIiwiQSI6MjU1LCJSIjo0NywiRyI6NTQsIkIiOjE1M319LCJJc1Zpc2libGUiOnRydWUsIldpZHRoIjowLjAsIkhlaWdodCI6MC4wLCJCb3JkZXJTdHlsZSI6bnVsbCwiUGFyZW50U3R5bGUiOm51bGx9LCJEZWZhdWx0TWlsZXN0b25lU3R5bGUiOnsiJGlkIjoiNTQiLCJTaGFwZSI6MiwiQ29ubmVjdG9yTWFyZ2luIjp7IiRpZCI6IjU1IiwiVG9wIjowLCJMZWZ0IjoyLCJSaWdodCI6MiwiQm90dG9tIjowfSwiQ29ubmVjdG9yU3R5bGUiOnsiJGlkIjoiNTYiLCJMaW5lQ29sb3IiOnsiJGlkIjoiNTciLCIkdHlwZSI6Ik5MUkUuQ29tbW9uLkRvbS5Tb2xpZENvbG9yQnJ1c2gsIE5MUkUuQ29tbW9uIiwiQ29sb3IiOnsiJGlkIjoiNTgiLCJBIjoxMjcsIlIiOjY4LCJHIjo4NCwiQiI6MTA2fX0sIkxpbmVXZWlnaHQiOjEuMCwiTGluZVR5cGUiOjAsIlBhcmVudFN0eWxlIjpudWxsfSwiSXNCZWxvd1RpbWViYW5kIjpmYWxzZSwiUG9zaXRpb25PblRhc2siOjAsIkhpZGVEYXRlIjpmYWxzZSwiU2hhcGVTaXplIjoxLCJTcGFjaW5nIjoyLjAsIlBhZGRpbmciOnsiJGlkIjoiNTkiLCJUb3AiOjcsIkxlZnQiOjMsIlJpZ2h0IjowLCJCb3R0b20iOjJ9LCJTaGFwZVN0eWxlIjp7IiRpZCI6IjYwIiwiTWFyZ2luIjp7IiRpZCI6IjYxIiwiVG9wIjowLCJMZWZ0IjowLCJSaWdodCI6MCwiQm90dG9tIjowfSwiUGFkZGluZyI6eyIkaWQiOiI2MiIsIlRvcCI6MCwiTGVmdCI6MCwiUmlnaHQiOjAsIkJvdHRvbSI6MH0sIkJhY2tncm91bmQiOnsiJGlkIjoiNjMiLCJDb2xvciI6eyIkaWQiOiI2NCIsIkEiOjI1NSwiUiI6NjgsIkciOjg0LCJCIjoxMDZ9fSwiSXNWaXNpYmxlIjp0cnVlLCJXaWR0aCI6MTMuMCwiSGVpZ2h0IjoxMy4wLCJCb3JkZXJTdHlsZSI6eyIkaWQiOiI2NSIsIkxpbmVDb2xvciI6eyIkaWQiOiI2NiIsIiR0eXBlIjoiTkxSRS5Db21tb24uRG9tLlNvbGlkQ29sb3JCcnVzaCwgTkxSRS5Db21tb24iLCJDb2xvciI6eyIkaWQiOiI2NyIsIkEiOjI1NSwiUiI6MjU1LCJHIjowLCJCIjowfX0sIkxpbmVXZWlnaHQiOjAuMCwiTGluZVR5cGUiOjAsIlBhcmVudFN0eWxlIjpudWxsfSwiUGFyZW50U3R5bGUiOm51bGx9LCJUaXRsZVN0eWxlIjp7IiRpZCI6IjY4IiwiRm9udFNldHRpbmdzIjp7IiRpZCI6IjY5IiwiRm9udFNpemUiOjEyLCJGb250TmFtZSI6IkNhbGlicmkiLCJJc0JvbGQiOmZhbHNlLCJJc0l0YWxpYyI6ZmFsc2UsIklzVW5kZXJsaW5lZCI6ZmFsc2UsIlBhcmVudFN0eWxlIjpudWxsfSwiQXV0b1NpemUiOjAsIkZvcmVncm91bmQiOnsiJGlkIjoiNzAiLCJDb2xvciI6eyIkaWQiOiI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3MiIsIlRvcCI6MCwiTGVmdCI6MCwiUmlnaHQiOjAsIkJvdHRvbSI6MH0sIlBhZGRpbmciOnsiJGlkIjoiNzMiLCJUb3AiOjAsIkxlZnQiOjAsIlJpZ2h0IjowLCJCb3R0b20iOjB9LCJCYWNrZ3JvdW5kIjp7IiRpZCI6Ijc0IiwiQ29sb3IiOnsiJHJlZiI6IjI4In19LCJJc1Zpc2libGUiOnRydWUsIldpZHRoIjowLjAsIkhlaWdodCI6MC4wLCJCb3JkZXJTdHlsZSI6bnVsbCwiUGFyZW50U3R5bGUiOm51bGx9LCJEYXRlU3R5bGUiOnsiJGlkIjoiNzUiLCJGb250U2V0dGluZ3MiOnsiJGlkIjoiNzYiLCJGb250U2l6ZSI6MTAsIkZvbnROYW1lIjoiQ2FsaWJyaSIsIklzQm9sZCI6ZmFsc2UsIklzSXRhbGljIjpmYWxzZSwiSXNVbmRlcmxpbmVkIjpmYWxzZSwiUGFyZW50U3R5bGUiOm51bGx9LCJBdXRvU2l6ZSI6MCwiRm9yZWdyb3VuZCI6eyIkaWQiOiI3NyIsIkNvbG9yIjp7IiRpZCI6Ij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OSIsIlRvcCI6MCwiTGVmdCI6MCwiUmlnaHQiOjAsIkJvdHRvbSI6MH0sIlBhZGRpbmciOnsiJGlkIjoiODAiLCJUb3AiOjAsIkxlZnQiOjAsIlJpZ2h0IjowLCJCb3R0b20iOjB9LCJCYWNrZ3JvdW5kIjp7IiRpZCI6IjgxIiwiQ29sb3IiOnsiJHJlZiI6IjI4In19LCJJc1Zpc2libGUiOmZhbHNlLCJXaWR0aCI6MC4wLCJIZWlnaHQiOjAuMCwiQm9yZGVyU3R5bGUiOm51bGwsIlBhcmVudFN0eWxlIjpudWxsfSwiRGF0ZUZvcm1hdCI6eyIkaWQiOiI4Mi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gzIiwiRGF0ZVBhcnRJc1Zpc2libGUiOmZhbHNlLCJUaW1lUGFydElzVmlzaWJsZSI6ZmFsc2V9fSwiSXNWaXNpYmxlIjp0cnVlLCJQYXJlbnRTdHlsZSI6bnVsbH0sIkRlZmF1bHRUYXNrU3R5bGUiOnsiJGlkIjoiODQiLCJTaGFwZSI6MSwiU2hhcGVUaGlja25lc3MiOjAsIkR1cmF0aW9uRm9ybWF0IjowLCJJbmNsdWRlTm9uV29ya2luZ0RheXNJbkR1cmF0aW9uIjpmYWxzZSwiUGVyY2VudGFnZUNvbXBsZXRlU3R5bGUiOnsiJGlkIjoiODUiLCJGb250U2V0dGluZ3MiOnsiJGlkIjoiODYiLCJGb250U2l6ZSI6MTAsIkZvbnROYW1lIjoiQ2FsaWJyaSIsIklzQm9sZCI6ZmFsc2UsIklzSXRhbGljIjpmYWxzZSwiSXNVbmRlcmxpbmVkIjpmYWxzZSwiUGFyZW50U3R5bGUiOm51bGx9LCJBdXRvU2l6ZSI6MCwiRm9yZWdyb3VuZCI6eyIkaWQiOiI4NyIsIkNvbG9yIjp7IiRpZCI6Ijg4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OSIsIlRvcCI6MCwiTGVmdCI6MCwiUmlnaHQiOjAsIkJvdHRvbSI6MH0sIlBhZGRpbmciOnsiJGlkIjoiOTAiLCJUb3AiOjAsIkxlZnQiOjAsIlJpZ2h0IjowLCJCb3R0b20iOjB9LCJCYWNrZ3JvdW5kIjp7IiRpZCI6IjkxIiwiQ29sb3IiOnsiJHJlZiI6IjI4In19LCJJc1Zpc2libGUiOnRydWUsIldpZHRoIjowLjAsIkhlaWdodCI6MC4wLCJCb3JkZXJTdHlsZSI6bnVsbCwiUGFyZW50U3R5bGUiOm51bGx9LCJEdXJhdGlvblN0eWxlIjp7IiRpZCI6IjkyIiwiRm9udFNldHRpbmdzIjp7IiRpZCI6IjkzIiwiRm9udFNpemUiOjEwLCJGb250TmFtZSI6IkNhbGlicmkiLCJJc0JvbGQiOmZhbHNlLCJJc0l0YWxpYyI6ZmFsc2UsIklzVW5kZXJsaW5lZCI6ZmFsc2UsIlBhcmVudFN0eWxlIjpudWxsfSwiQXV0b1NpemUiOjAsIkZvcmVncm91bmQiOnsiJGlkIjoiOTQiLCJDb2xvciI6eyIkaWQiOiI5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2IiwiVG9wIjowLCJMZWZ0IjowLCJSaWdodCI6MCwiQm90dG9tIjowfSwiUGFkZGluZyI6eyIkaWQiOiI5NyIsIlRvcCI6MCwiTGVmdCI6MCwiUmlnaHQiOjAsIkJvdHRvbSI6MH0sIkJhY2tncm91bmQiOnsiJGlkIjoiOTgiLCJDb2xvciI6eyIkcmVmIjoiMjgifX0sIklzVmlzaWJsZSI6dHJ1ZSwiV2lkdGgiOjAuMCwiSGVpZ2h0IjowLjAsIkJvcmRlclN0eWxlIjpudWxsLCJQYXJlbnRTdHlsZSI6bnVsbH0sIkhvcml6b250YWxDb25uZWN0b3JTdHlsZSI6eyIkaWQiOiI5OSIsIkxpbmVDb2xvciI6eyIkaWQiOiIxMDAiLCIkdHlwZSI6Ik5MUkUuQ29tbW9uLkRvbS5Tb2xpZENvbG9yQnJ1c2gsIE5MUkUuQ29tbW9uIiwiQ29sb3IiOnsiJGlkIjoiMTAxIiwiQSI6MjU1LCJSIjoyMDQsIkciOjIwNCwiQiI6MjA0fX0sIkxpbmVXZWlnaHQiOjEuMCwiTGluZVR5cGUiOjAsIlBhcmVudFN0eWxlIjpudWxsfSwiVmVydGljYWxDb25uZWN0b3JTdHlsZSI6eyIkaWQiOiIxMDIiLCJMaW5lQ29sb3IiOnsiJGlkIjoiMTAzIiwiJHR5cGUiOiJOTFJFLkNvbW1vbi5Eb20uU29saWRDb2xvckJydXNoLCBOTFJFLkNvbW1vbiIsIkNvbG9yIjp7IiRpZCI6IjEwNCIsIkEiOjI1NSwiUiI6MjA0LCJHIjoyMDQsIkIiOjIwNH1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MywiSXNCZWxvd1RpbWViYW5kIjp0cnVlLCJQZXJjZW50YWdlQ29tcGxldGVTaGFwZU9wYWNpdHkiOjM1LCJTaGFwZVN0eWxlIjp7IiRpZCI6IjEwNSIsIk1hcmdpbiI6eyIkaWQiOiIxMDYiLCJUb3AiOjAsIkxlZnQiOjQsIlJpZ2h0Ijo0LCJCb3R0b20iOjB9LCJQYWRkaW5nIjp7IiRpZCI6IjEwNyIsIlRvcCI6MCwiTGVmdCI6MCwiUmlnaHQiOjAsIkJvdHRvbSI6MH0sIkJhY2tncm91bmQiOnsiJGlkIjoiMTA4IiwiQ29sb3IiOnsiJGlkIjoiMTA5IiwiQSI6MjU1LCJSIjowLCJHIjoxMTQsIkIiOjE4OH19LCJJc1Zpc2libGUiOnRydWUsIldpZHRoIjowLjAsIkhlaWdodCI6MTAuMCwiQm9yZGVyU3R5bGUiOnsiJGlkIjoiMTEwIiwiTGluZUNvbG9yIjp7IiRpZCI6IjExMSIsIiR0eXBlIjoiTkxSRS5Db21tb24uRG9tLlNvbGlkQ29sb3JCcnVzaCwgTkxSRS5Db21tb24iLCJDb2xvciI6eyIkaWQiOiIxMTIiLCJBIjoyNTUsIlIiOjI1NSwiRyI6MCwiQiI6MH19LCJMaW5lV2VpZ2h0IjowLjAsIkxpbmVUeXBlIjowLCJQYXJlbnRTdHlsZSI6bnVsbH0sIlBhcmVudFN0eWxlIjpudWxsfSwiVGl0bGVTdHlsZSI6eyIkaWQiOiIxMTMiLCJGb250U2V0dGluZ3MiOnsiJGlkIjoiMTE0IiwiRm9udFNpemUiOjE0LCJGb250TmFtZSI6IkNhbGlicmkiLCJJc0JvbGQiOnRydWUsIklzSXRhbGljIjpmYWxzZSwiSXNVbmRlcmxpbmVkIjpmYWxzZSwiUGFyZW50U3R5bGUiOm51bGx9LCJBdXRvU2l6ZSI6MCwiRm9yZWdyb3VuZCI6eyIkaWQiOiIxMTUiLCJDb2xvciI6eyIkaWQiOiIxMTY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3IiwiVG9wIjowLCJMZWZ0IjowLCJSaWdodCI6MCwiQm90dG9tIjowfSwiUGFkZGluZyI6eyIkaWQiOiIxMTgiLCJUb3AiOjAsIkxlZnQiOjAsIlJpZ2h0IjowLCJCb3R0b20iOjB9LCJCYWNrZ3JvdW5kIjp7IiRpZCI6IjExOSIsIkNvbG9yIjp7IiRyZWYiOiIyOCJ9fSwiSXNWaXNpYmxlIjp0cnVlLCJXaWR0aCI6MC4wLCJIZWlnaHQiOjAuMCwiQm9yZGVyU3R5bGUiOm51bGwsIlBhcmVudFN0eWxlIjpudWxsfSwiRGF0ZVN0eWxlIjp7IiRpZCI6IjEyMCIsIkZvbnRTZXR0aW5ncyI6eyIkaWQiOiIxMjEiLCJGb250U2l6ZSI6MTAsIkZvbnROYW1lIjoiQ2FsaWJyaSIsIklzQm9sZCI6ZmFsc2UsIklzSXRhbGljIjpmYWxzZSwiSXNVbmRlcmxpbmVkIjpmYWxzZSwiUGFyZW50U3R5bGUiOm51bGx9LCJBdXRvU2l6ZSI6MCwiRm9yZWdyb3VuZCI6eyIkaWQiOiIxMjIiLCJDb2xvciI6eyIkaWQiOiIxM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NCIsIlRvcCI6MCwiTGVmdCI6MCwiUmlnaHQiOjAsIkJvdHRvbSI6MH0sIlBhZGRpbmciOnsiJGlkIjoiMTI1IiwiVG9wIjowLCJMZWZ0IjowLCJSaWdodCI6MCwiQm90dG9tIjowfSwiQmFja2dyb3VuZCI6eyIkaWQiOiIxMjYiLCJDb2xvciI6eyIkcmVmIjoiMjgifX0sIklzVmlzaWJsZSI6dHJ1ZSwiV2lkdGgiOjAuMCwiSGVpZ2h0IjowLjAsIkJvcmRlclN0eWxlIjpudWxsLCJQYXJlbnRTdHlsZSI6bnVsbH0sIkRhdGVGb3JtYXQiOnsiJGlkIjoiMTI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LCJfZXhwbGljaXRseVNldCI6eyIkaWQiOiIxM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HcmlkbGluZVBhbmVsU3R5bGUiOnsiJGlkIjoiMTI5IiwiR3JpZGxpbmVTdHlsZSI6eyIkaWQiOiIxMzAiLCJMaW5lQ29sb3IiOnsiJGlkIjoiMTMxIiwiJHR5cGUiOiJOTFJFLkNvbW1vbi5Eb20uU29saWRDb2xvckJydXNoLCBOTFJFLkNvbW1vbiIsIkNvbG9yIjp7IiRpZCI6IjEzMiIsIkEiOjM4LCJSIjo5MSwiRyI6MTU1LCJCIjoyMTN9fSwiTGluZVdlaWdodCI6MS4wLCJMaW5lVHlwZSI6MCwiUGFyZW50U3R5bGUiOm51bGx9LCJNYXJnaW4iOnsiJGlkIjoiMTMzIiwiVG9wIjowLCJMZWZ0IjowLCJSaWdodCI6MCwiQm90dG9tIjowfSwiUGFkZGluZyI6eyIkaWQiOiIxMzQiLCJUb3AiOjAsIkxlZnQiOjAsIlJpZ2h0IjowLCJCb3R0b20iOjB9LCJCYWNrZ3JvdW5kIjpudWxsLCJJc1Zpc2libGUiOnRydWUsIldpZHRoIjowLjAsIkhlaWdodCI6MC4wLCJCb3JkZXJTdHlsZSI6bnVsbCwiUGFyZW50U3R5bGUiOm51bGx9LCJTaG93RWxhcHNlZFRpbWVHcmFkaWVudFN0eWxlIjpmYWxzZSwiRGVmYXVsdFN3aW1sYW5lU3R5bGUiOnsiJGlkIjoiMTM1IiwiSGVhZGVyU3R5bGUiOnsiJGlkIjoiMTM2IiwiVGV4dFN0eWxlIjp7IiRpZCI6IjEzNyIsIkZvbnRTZXR0aW5ncyI6eyIkaWQiOiIxMzgiLCJGb250U2l6ZSI6MTIsIkZvbnROYW1lIjoiQ2FsaWJyaSIsIklzQm9sZCI6ZmFsc2UsIklzSXRhbGljIjpmYWxzZSwiSXNVbmRlcmxpbmVkIjpmYWxzZSwiUGFyZW50U3R5bGUiOm51bGx9LCJBdXRvU2l6ZSI6MCwiRm9yZWdyb3VuZCI6eyIkaWQiOiIxMzkiLCJDb2xvciI6eyIkaWQiOiIxNDAiLCJBIjoyNTUsIlIiOjMyLCJHIjo1NiwiQiI6MTAwfX0sIk1heFdpZHRoIjoiSW5maW5pdHkiLCJNYXhIZWlnaHQiOiJJbmZpbml0eSIsIlNtYXJ0Rm9yZWdyb3VuZElzQWN0aXZlIjpmYWxzZSwiSG9yaXpvbnRhbEFsaWdubWVudCI6MCwiVmVydGljYWxBbGlnbm1lbnQiOjAsIlNtYXJ0Rm9yZWdyb3VuZCI6bnVsbCwiQmFja2dyb3VuZEZpbGxUeXBlIjowLCJNYXJnaW4iOnsiJGlkIjoiMTQxIiwiVG9wIjowLCJMZWZ0IjowLCJSaWdodCI6MCwiQm90dG9tIjowfSwiUGFkZGluZyI6eyIkaWQiOiIxNDIiLCJUb3AiOjAsIkxlZnQiOjAsIlJpZ2h0IjowLCJCb3R0b20iOjB9LCJCYWNrZ3JvdW5kIjpudWxsLCJJc1Zpc2libGUiOnRydWUsIldpZHRoIjowLjAsIkhlaWdodCI6MC4wLCJCb3JkZXJTdHlsZSI6bnVsbCwiUGFyZW50U3R5bGUiOm51bGx9LCJSZWN0YW5nbGVTdHlsZSI6eyIkaWQiOiIxNDMiLCJNYXJnaW4iOnsiJGlkIjoiMTQ0IiwiVG9wIjowLCJMZWZ0IjowLCJSaWdodCI6MCwiQm90dG9tIjowfSwiUGFkZGluZyI6eyIkaWQiOiIxNDUiLCJUb3AiOjAsIkxlZnQiOjAsIlJpZ2h0IjowLCJCb3R0b20iOjB9LCJCYWNrZ3JvdW5kIjp7IiRpZCI6IjE0NiIsIkNvbG9yIjp7IiRpZCI6IjE0NyIsIkEiOjEyNywiUiI6OTEsIkciOjE1NSwiQiI6MjEzfX0sIklzVmlzaWJsZSI6dHJ1ZSwiV2lkdGgiOjAuMCwiSGVpZ2h0IjowLjAsIkJvcmRlclN0eWxlIjp7IiRpZCI6IjE0OCIsIkxpbmVDb2xvciI6eyIkaWQiOiIxNDkiLCIkdHlwZSI6Ik5MUkUuQ29tbW9uLkRvbS5Tb2xpZENvbG9yQnJ1c2gsIE5MUkUuQ29tbW9uIiwiQ29sb3IiOnsiJGlkIjoiMTUwIiwiQSI6MjU1LCJSIjoyNTUsIkciOjAsIkIiOjB9fSwiTGluZVdlaWdodCI6MC4wLCJMaW5lVHlwZSI6MCwiUGFyZW50U3R5bGUiOm51bGx9LCJQYXJlbnRTdHlsZSI6bnVsbH0sIk1hcmdpbiI6eyIkaWQiOiIxNTEiLCJUb3AiOjAsIkxlZnQiOjAsIlJpZ2h0IjowLCJCb3R0b20iOjB9LCJQYWRkaW5nIjp7IiRpZCI6IjE1MiIsIlRvcCI6MCwiTGVmdCI6MCwiUmlnaHQiOjAsIkJvdHRvbSI6MH0sIkJhY2tncm91bmQiOm51bGwsIklzVmlzaWJsZSI6dHJ1ZSwiV2lkdGgiOjAuMCwiSGVpZ2h0IjowLjAsIkJvcmRlclN0eWxlIjpudWxsLCJQYXJlbnRTdHlsZSI6bnVsbH0sIkJhY2tncm91bmRTdHlsZSI6eyIkaWQiOiIxNTMiLCJNYXJnaW4iOnsiJGlkIjoiMTU0IiwiVG9wIjowLCJMZWZ0IjowLCJSaWdodCI6MCwiQm90dG9tIjowfSwiUGFkZGluZyI6eyIkaWQiOiIxNTUiLCJUb3AiOjAsIkxlZnQiOjAsIlJpZ2h0IjowLCJCb3R0b20iOjB9LCJCYWNrZ3JvdW5kIjp7IiRpZCI6IjE1NiIsIkNvbG9yIjp7IiRpZCI6IjE1NyIsIkEiOjM4LCJSIjo5MSwiRyI6MTU1LCJCIjoyMTN9fSwiSXNWaXNpYmxlIjp0cnVlLCJXaWR0aCI6MC4wLCJIZWlnaHQiOjAuMCwiQm9yZGVyU3R5bGUiOnsiJGlkIjoiMTU4IiwiTGluZUNvbG9yIjp7IiRpZCI6IjE1OSIsIiR0eXBlIjoiTkxSRS5Db21tb24uRG9tLlNvbGlkQ29sb3JCcnVzaCwgTkxSRS5Db21tb24iLCJDb2xvciI6eyIkaWQiOiIxNjAiLCJBIjoyNTUsIlIiOjI1NSwiRyI6MCwiQiI6MH19LCJMaW5lV2VpZ2h0IjowLjAsIkxpbmVUeXBlIjowLCJQYXJlbnRTdHlsZSI6bnVsbH0sIlBhcmVudFN0eWxlIjpudWxsfSwiSXNBYm92ZVRpbWViYW5kIjpmYWxzZSwiTWFyZ2luIjp7IiRpZCI6IjE2MSIsIlRvcCI6MCwiTGVmdCI6MCwiUmlnaHQiOjAsIkJvdHRvbSI6MH0sIlBhZGRpbmciOnsiJGlkIjoiMTYyIiwiVG9wIjowLCJMZWZ0IjowLCJSaWdodCI6MCwiQm90dG9tIjowfSwiSXNWaXNpYmxlIjp0cnVlLCJXaWR0aCI6MC4wLCJIZWlnaHQiOjAuMCwiQm9yZGVyU3R5bGUiOm51bGwsIlBhcmVudFN0eWxlIjpudWxsfX0sIlNjYWxlIjp7IiRpZCI6IjE2MyIsIlN0YXJ0RGF0ZSI6IjAwMDEtMDEtMDFUMDA6MDA6MDAiLCJFbmREYXRlIjoiMjAyMS0xMS0zMFQwMDowMDowMCIsIkZvcm1hdCI6Ik1NTSIsIlR5cGUiOjIsIkF1dG9EYXRlUmFuZ2UiOnRydWUsIldvcmtpbmdEYXlzIjozMSwiVG9kYXlNYXJrZXJUZXh0IjoiVG9kYXkiLCJBdXRvU2NhbGVUeXBlIjp0cnVlfSwiTWlsZXN0b25lcyI6W3siJGlkIjoiMTY0IiwiRGF0ZSI6IjIwMjEtMDEtMjlUMDA6MDA6MDAiLCJTdHlsZSI6eyIkaWQiOiIxNjUiLCJTaGFwZSI6MTksIkNvbm5lY3Rvck1hcmdpbiI6eyIkcmVmIjoiNTUifSwiQ29ubmVjdG9yU3R5bGUiOnsiJGlkIjoiMTY2IiwiTGluZUNvbG9yIjp7IiRyZWYiOiI1NyJ9LCJMaW5lV2VpZ2h0IjoxLjAsIkxpbmVUeXBlIjowLCJQYXJlbnRTdHlsZSI6bnVsbH0sIklzQmVsb3dUaW1lYmFuZCI6ZmFsc2UsIlBvc2l0aW9uT25UYXNrIjowLCJIaWRlRGF0ZSI6ZmFsc2UsIlNoYXBlU2l6ZSI6MywiU3BhY2luZyI6Mi4wLCJQYWRkaW5nIjp7IiRyZWYiOiI1OSJ9LCJTaGFwZVN0eWxlIjp7IiRpZCI6IjE2NyIsIk1hcmdpbiI6eyIkcmVmIjoiNjEifSwiUGFkZGluZyI6eyIkcmVmIjoiNjIifSwiQmFja2dyb3VuZCI6eyIkaWQiOiIxNjgiLCJDb2xvciI6eyIkaWQiOiIxNjkiLCJBIjoyNTUsIlIiOjI1NSwiRyI6MjEwLCJCIjowfX0sIklzVmlzaWJsZSI6dHJ1ZSwiV2lkdGgiOjE3LjMzMzMwNzI2NjIzNTM1MiwiSGVpZ2h0IjoxNy4zMzMzMDcyNjYyMzUzNTIsIkJvcmRlclN0eWxlIjp7IiRpZCI6IjE3MCIsIkxpbmVDb2xvciI6eyIkcmVmIjoiNjYifSwiTGluZVdlaWdodCI6MC4wLCJMaW5lVHlwZSI6MCwiUGFyZW50U3R5bGUiOm51bGx9LCJQYXJlbnRTdHlsZSI6bnVsbH0sIlRpdGxlU3R5bGUiOnsiJGlkIjoiMTcxIiwiRm9udFNldHRpbmdzIjp7IiRpZCI6IjE3MiIsIkZvbnRTaXplIjoxNiwiRm9udE5hbWUiOiJDYWxpYnJpIiwiSXNCb2xkIjpmYWxzZSwiSXNJdGFsaWMiOmZhbHNlLCJJc1VuZGVybGluZWQiOmZhbHNlLCJQYXJlbnRTdHlsZSI6bnVsbH0sIkF1dG9TaXplIjoyLCJGb3JlZ3JvdW5kIjp7IiRpZCI6IjE3MyIsIkNvbG9yIjp7IiRpZCI6IjE3NCIsIkEiOjI1NSwiUiI6MCwiRyI6MCwiQiI6MH19LCJNYXhXaWR0aCI6MjQ5LjMzMzMxMjk4ODI4MTI1LCJNYXhIZWlnaHQiOiJJbmZpbml0eSIsIlNtYXJ0Rm9yZWdyb3VuZElzQWN0aXZlIjpmYWxzZSwiSG9yaXpvbnRhbEFsaWdubWVudCI6MCwiVmVydGljYWxBbGlnbm1lbnQiOjAsIlNtYXJ0Rm9yZWdyb3VuZCI6bnVsbCwiQmFja2dyb3VuZEZpbGxUeXBlIjowLCJNYXJnaW4iOnsiJHJlZiI6IjcyIn0sIlBhZGRpbmciOnsiJHJlZiI6IjczIn0sIkJhY2tncm91bmQiOnsiJHJlZiI6Ijc0In0sIklzVmlzaWJsZSI6dHJ1ZSwiV2lkdGgiOjAuMCwiSGVpZ2h0IjowLjAsIkJvcmRlclN0eWxlIjp7IiRpZCI6IjE3NSIsIkxpbmVDb2xvciI6bnVsbCwiTGluZVdlaWdodCI6MC4wLCJMaW5lVHlwZSI6MCwiUGFyZW50U3R5bGUiOm51bGx9LCJQYXJlbnRTdHlsZSI6bnVsbH0sIkRhdGVTdHlsZSI6eyIkaWQiOiIxNzYiLCJGb250U2V0dGluZ3MiOnsiJGlkIjoiMTc3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yZWYiOiI3OSJ9LCJQYWRkaW5nIjp7IiRyZWYiOiI4MCJ9LCJCYWNrZ3JvdW5kIjp7IiRyZWYiOiI4MSJ9LCJJc1Zpc2libGUiOmZhbHNlLCJXaWR0aCI6MC4wLCJIZWlnaHQiOjAuMCwiQm9yZGVyU3R5bGUiOnsiJGlkIjoiMTc4IiwiTGluZUNvbG9yIjpudWxsLCJMaW5lV2VpZ2h0IjowLjAsIkxpbmVUeXBlIjowLCJQYXJlbnRTdHlsZSI6bnVsbH0sIlBhcmVudFN0eWxlIjpudWxsfSwiRGF0ZUZvcm1hdCI6eyIkcmVmIjoiODIifSwiSXNWaXNpYmxlIjp0cnVlLCJQYXJlbnRTdHlsZSI6bnVsbH0sIkluZGV4Ijo4LCJQZXJjZW50YWdlQ29tcGxldGUiOm51bGwsIlBvc2l0aW9uIjp7IlJhdGlvIjowLjM5MDgzMTMwNDQ3OTUyODM1LCJJc0N1c3RvbSI6ZmFsc2V9LCJEYXRlRm9ybWF0Ijp7IiRyZWYiOiI4MiJ9LCJSZWxhdGVkVGFza0lkIjoiMDAwMDAwMDAtMDAwMC0wMDAwLTAwMDAtMDAwMDAwMDAwMDAwIiwiSWQiOiIwMWIxMjAxOC1jMDgyLTQxZTYtYjk0ZC1lMGNhNDc2ZDllNmIiLCJJbXBvcnRJZCI6bnVsbCwiVGl0bGUiOiJTbWFsbCBCdXNpbmVzcyBCYW5raW5nIExhdW5jaCAoSW5pdGlhbCBGb2N1c2VkIExhdW5jaCkiLCJOb3RlIjpudWxsLCJIeXBlcmxpbmsiOnsiJGlkIjoiMTc5IiwiQWRkcmVzcyI6bnVsbCwiU3ViQWRkcmVzcyI6bnVsbH0sIklzQ2hhbmdlZCI6ZmFsc2UsIklzTmV3IjpmYWxzZX1dLCJUYXNrcyI6W3siJGlkIjoiMTgwIiwiR3JvdXBOYW1lIjpudWxsLCJTdGFydERhdGUiOiIyMDE5LTExLTE4VDAwOjAwOjAwWiIsIkVuZERhdGUiOiIyMDIwLTAyLTI4VDIzOjU5OjAwWiIsIlBlcmNlbnRhZ2VDb21wbGV0ZSI6bnVsbCwiU3R5bGUiOnsiJGlkIjoiMTgxIiwiU2hhcGUiOjEsIlNoYXBlVGhpY2tuZXNzIjowLCJEdXJhdGlvbkZvcm1hdCI6MCwiSW5jbHVkZU5vbldvcmtpbmdEYXlzSW5EdXJhdGlvbiI6ZmFsc2UsIlBlcmNlbnRhZ2VDb21wbGV0ZVN0eWxlIjp7IiRpZCI6IjE4MiIsIkZvbnRTZXR0aW5ncyI6eyIkaWQiOiIxODMiLCJGb250U2l6ZSI6MTAsIkZvbnROYW1lIjoiQ2FsaWJyaSIsIklzQm9sZCI6ZmFsc2UsIklzSXRhbGljIjpmYWxzZSwiSXNVbmRlcmxpbmVkIjpmYWxzZSwiUGFyZW50U3R5bGUiOm51bGx9LCJBdXRvU2l6ZSI6MCwiRm9yZWdyb3VuZCI6eyIkaWQiOiIxODQiLCJDb2xvciI6eyIkaWQiOiIxODU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xODYiLCJMaW5lQ29sb3IiOm51bGwsIkxpbmVXZWlnaHQiOjAuMCwiTGluZVR5cGUiOjAsIlBhcmVudFN0eWxlIjpudWxsfSwiUGFyZW50U3R5bGUiOm51bGx9LCJEdXJhdGlvblN0eWxlIjp7IiRpZCI6IjE4NyIsIkZvbnRTZXR0aW5ncyI6eyIkaWQiOiIxODg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E4OSIsIkxpbmVDb2xvciI6bnVsbCwiTGluZVdlaWdodCI6MC4wLCJMaW5lVHlwZSI6MCwiUGFyZW50U3R5bGUiOm51bGx9LCJQYXJlbnRTdHlsZSI6bnVsbH0sIkhvcml6b250YWxDb25uZWN0b3JTdHlsZSI6eyIkaWQiOiIxOTAiLCJMaW5lQ29sb3IiOnsiJHJlZiI6IjEwMCJ9LCJMaW5lV2VpZ2h0IjoxLjAsIkxpbmVUeXBlIjowLCJQYXJlbnRTdHlsZSI6bnVsbH0sIlZlcnRpY2FsQ29ubmVjdG9yU3R5bGUiOnsiJGlkIjoiMTkx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E5MiIsIk1hcmdpbiI6eyIkcmVmIjoiMTA2In0sIlBhZGRpbmciOnsiJHJlZiI6IjEwNyJ9LCJCYWNrZ3JvdW5kIjp7IiRpZCI6IjE5MyIsIkNvbG9yIjp7IiRpZCI6IjE5NCIsIkEiOjI1NSwiUiI6MTMyLCJHIjoxMTcsIkIiOjc4fX0sIklzVmlzaWJsZSI6dHJ1ZSwiV2lkdGgiOjAuMCwiSGVpZ2h0IjoxMC4wLCJCb3JkZXJTdHlsZSI6eyIkaWQiOiIxOTUiLCJMaW5lQ29sb3IiOnsiJHJlZiI6IjExMSJ9LCJMaW5lV2VpZ2h0IjowLjAsIkxpbmVUeXBlIjowLCJQYXJlbnRTdHlsZSI6bnVsbH0sIlBhcmVudFN0eWxlIjpudWxsfSwiVGl0bGVTdHlsZSI6eyIkaWQiOiIxOTYiLCJGb250U2V0dGluZ3MiOnsiJGlkIjoiMTk3IiwiRm9udFNpemUiOjE4LCJGb250TmFtZSI6IkNhbGlicmkiLCJJc0JvbGQiOnRydWUsIklzSXRhbGljIjpmYWxzZSwiSXNVbmRlcmxpbmVkIjpmYWxzZSwiUGFyZW50U3R5bGUiOm51bGx9LCJBdXRvU2l6ZSI6MiwiRm9yZWdyb3VuZCI6eyIkaWQiOiIxOTgiLCJDb2xvciI6eyIkaWQiOiIxOTkiLCJBIjoyNTUsIlIiOjAsIkciOjAsIkIiOjB9fSwiTWF4V2lkdGgiOjMxOC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yMDAiLCJMaW5lQ29sb3IiOm51bGwsIkxpbmVXZWlnaHQiOjAuMCwiTGluZVR5cGUiOjAsIlBhcmVudFN0eWxlIjpudWxsfSwiUGFyZW50U3R5bGUiOm51bGx9LCJEYXRlU3R5bGUiOnsiJGlkIjoiMjAxIiwiRm9udFNldHRpbmdzIjp7IiRpZCI6IjIwMiIsIkZvbnRTaXplIjoxMywiRm9udE5hbWUiOiJDYWxpYnJpIiwiSXNCb2xkIjpmYWxzZSwiSXNJdGFsaWMiOmZhbHNlLCJJc1VuZGVybGluZWQiOmZhbHNlLCJQYXJlbnRTdHlsZSI6bnVsbH0sIkF1dG9TaXplIjoyLCJGb3JlZ3JvdW5kIjp7IiRpZCI6IjIwMyIsIkNvbG9yIjp7IiRpZCI6IjIwNCIsIkEiOjI1NSwiUiI6NjgsIkciOjg0LCJCIjoxMDZ9fSwiTWF4V2lkdGgiOjcwLjY2NjY5NDY0MTExMzI4MSwiTWF4SGVpZ2h0IjoiSW5maW5pdHkiLCJTbWFydEZvcmVncm91bmRJc0FjdGl2ZSI6ZmFsc2UsIkhvcml6b250YWxBbGlnbm1lbnQiOjI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yMDUiLCJMaW5lQ29sb3IiOm51bGwsIkxpbmVXZWlnaHQiOjAuMCwiTGluZVR5cGUiOjAsIlBhcmVudFN0eWxlIjpudWxsfSwiUGFyZW50U3R5bGUiOm51bGx9LCJEYXRlRm9ybWF0Ijp7IiRpZCI6IjIwNiIsIkZvcm1hdFN0cmluZyI6Ik1NTSBkLCB5eXl5IiwiU2VwYXJhdG9yIjoiLyIsIlVzZUludGVybmF0aW9uYWxEYXRlRm9ybWF0IjpmYWxzZSwiRGF0ZUlzVmlzaWJsZSI6dHJ1ZSwiVGltZUlzVmlzaWJsZSI6ZmFsc2UsIkhvdXJEaWdpdHMiOjEsIkFtUG1EZXNpZ25hdG9yIjoyLCJUcmltMDBNaW51dGVzIjpmYWxzZSwiTGFzdEtub3duVmlzaWJpbGl0eVN0YXRlIjp7IiRpZCI6IjIwNyIsIkRhdGVQYXJ0SXNWaXNpYmxlIjpmYWxzZSwiVGltZVBhcnRJc1Zpc2libGUiOmZhbHNlfX0sIklzVmlzaWJsZSI6dHJ1ZSwiUGFyZW50U3R5bGUiOm51bGx9LCJJbmRleCI6MSwiU21hcnREdXJhdGlvbkFjdGl2YXRlZCI6ZmFsc2UsIkRhdGVGb3JtYXQiOnsiJHJlZiI6IjIwNiJ9LCJJZCI6ImUzMmExNzQwLTA5YzEtNDFkYy05YTZlLTYyYTk2ZGNmNjc3YyIsIkltcG9ydElkIjpudWxsLCJUaXRsZSI6IlByb2dyYW0gU2V0dXAgKyBHb3Zlcm5hbmNlIEVzdGFibGlzaGVkIiwiTm90ZSI6bnVsbCwiSHlwZXJsaW5rIjp7IiRpZCI6IjIwOCIsIkFkZHJlc3MiOm51bGwsIlN1YkFkZHJlc3MiOm51bGx9LCJJc0NoYW5nZWQiOmZhbHNlLCJJc05ldyI6ZmFsc2V9LHsiJGlkIjoiMjA5IiwiR3JvdXBOYW1lIjpudWxsLCJTdGFydERhdGUiOiIyMDE5LTEyLTA5VDAwOjAwOjAwWiIsIkVuZERhdGUiOiIyMDIwLTA1LTE4VDIzOjU5OjAwWiIsIlBlcmNlbnRhZ2VDb21wbGV0ZSI6bnVsbCwiU3R5bGUiOnsiJGlkIjoiMjEwIiwiU2hhcGUiOjEsIlNoYXBlVGhpY2tuZXNzIjowLCJEdXJhdGlvbkZvcm1hdCI6MCwiSW5jbHVkZU5vbldvcmtpbmdEYXlzSW5EdXJhdGlvbiI6ZmFsc2UsIlBlcmNlbnRhZ2VDb21wbGV0ZV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yMTUiLCJMaW5lQ29sb3IiOm51bGwsIkxpbmVXZWlnaHQiOjAuMCwiTGluZVR5cGUiOjAsIlBhcmVudFN0eWxlIjpudWxsfSwiUGFyZW50U3R5bGUiOm51bGx9LCJEdXJhdGlvblN0eWxlIjp7IiRpZCI6IjIxNiIsIkZvbnRTZXR0aW5ncyI6eyIkaWQiOiIyMTc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IxOCIsIkxpbmVDb2xvciI6bnVsbCwiTGluZVdlaWdodCI6MC4wLCJMaW5lVHlwZSI6MCwiUGFyZW50U3R5bGUiOm51bGx9LCJQYXJlbnRTdHlsZSI6bnVsbH0sIkhvcml6b250YWxDb25uZWN0b3JTdHlsZSI6eyIkaWQiOiIyMTkiLCJMaW5lQ29sb3IiOnsiJHJlZiI6IjEwMCJ9LCJMaW5lV2VpZ2h0IjoxLjAsIkxpbmVUeXBlIjowLCJQYXJlbnRTdHlsZSI6bnVsbH0sIlZlcnRpY2FsQ29ubmVjdG9yU3R5bGUiOnsiJGlkIjoiMjIw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IyMSIsIk1hcmdpbiI6eyIkcmVmIjoiMTA2In0sIlBhZGRpbmciOnsiJHJlZiI6IjEwNyJ9LCJCYWNrZ3JvdW5kIjp7IiRpZCI6IjIyMiIsIkNvbG9yIjp7IiRpZCI6IjIyMyIsIkEiOjI1NSwiUiI6MCwiRyI6MTU0LCJCIjoxNjZ9fSwiSXNWaXNpYmxlIjp0cnVlLCJXaWR0aCI6MC4wLCJIZWlnaHQiOjEwLjAsIkJvcmRlclN0eWxlIjp7IiRpZCI6IjIyNCIsIkxpbmVDb2xvciI6eyIkcmVmIjoiMTExIn0sIkxpbmVXZWlnaHQiOjAuMCwiTGluZVR5cGUiOjAsIlBhcmVudFN0eWxlIjpudWxsfSwiUGFyZW50U3R5bGUiOm51bGx9LCJUaXRsZVN0eWxlIjp7IiRpZCI6IjIyNSIsIkZvbnRTZXR0aW5ncyI6eyIkaWQiOiIyMjYiLCJGb250U2l6ZSI6MTgsIkZvbnROYW1lIjoiQ2FsaWJyaSIsIklzQm9sZCI6dHJ1ZSwiSXNJdGFsaWMiOmZhbHNlLCJJc1VuZGVybGluZWQiOmZhbHNlLCJQYXJlbnRTdHlsZSI6bnVsbH0sIkF1dG9TaXplIjoyLCJGb3JlZ3JvdW5kIjp7IiRpZCI6IjIyNyIsIkNvbG9yIjp7IiRpZCI6IjIyOCIsIkEiOjI1NSwiUiI6MCwiRyI6MCwiQiI6MH19LCJNYXhXaWR0aCI6OTQuNjY2Njk0NjQxMTEzMjgx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IyOSIsIkxpbmVDb2xvciI6bnVsbCwiTGluZVdlaWdodCI6MC4wLCJMaW5lVHlwZSI6MCwiUGFyZW50U3R5bGUiOm51bGx9LCJQYXJlbnRTdHlsZSI6bnVsbH0sIkRhdGVTdHlsZSI6eyIkaWQiOiIyMzAiLCJGb250U2V0dGluZ3MiOnsiJGlkIjoiMjMxIiwiRm9udFNpemUiOjEzLCJGb250TmFtZSI6IkNhbGlicmkiLCJJc0JvbGQiOmZhbHNlLCJJc0l0YWxpYyI6ZmFsc2UsIklzVW5kZXJsaW5lZCI6ZmFsc2UsIlBhcmVudFN0eWxlIjpudWxsfSwiQXV0b1NpemUiOjIsIkZvcmVncm91bmQiOnsiJGlkIjoiMjMyIiwiQ29sb3IiOnsiJGlkIjoiMjMzIiwiQSI6MjU1LCJSIjo2OCwiRyI6ODQsIkIiOjEwNn19LCJNYXhXaWR0aCI6NjkuMzMzMzA1MzU4ODg2NzE5LCJNYXhIZWlnaHQiOiJJbmZpbml0eSIsIlNtYXJ0Rm9yZWdyb3VuZElzQWN0aXZlIjpmYWxzZSwiSG9yaXpvbnRhbEFsaWdubWVudCI6Mi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zNCIsIkxpbmVDb2xvciI6bnVsbCwiTGluZVdlaWdodCI6MC4wLCJMaW5lVHlwZSI6MCwiUGFyZW50U3R5bGUiOm51bGx9LCJQYXJlbnRTdHlsZSI6bnVsbH0sIkRhdGVGb3JtYXQiOnsiJHJlZiI6IjIwNiJ9LCJJc1Zpc2libGUiOnRydWUsIlBhcmVudFN0eWxlIjpudWxsfSwiSW5kZXgiOjIsIlNtYXJ0RHVyYXRpb25BY3RpdmF0ZWQiOmZhbHNlLCJEYXRlRm9ybWF0Ijp7IiRyZWYiOiIyMDYifSwiSWQiOiJkYTNmMWMzYS1kZjExLTRmM2ItYjE4ZC1mODNhYWQyYzg5ZDIiLCJJbXBvcnRJZCI6bnVsbCwiVGl0bGUiOiJEQU8gTW90aXZlIiwiTm90ZSI6bnVsbCwiSHlwZXJsaW5rIjp7IiRpZCI6IjIzNSIsIkFkZHJlc3MiOm51bGwsIlN1YkFkZHJlc3MiOm51bGx9LCJJc0NoYW5nZWQiOmZhbHNlLCJJc05ldyI6ZmFsc2V9LHsiJGlkIjoiMjM2IiwiR3JvdXBOYW1lIjpudWxsLCJTdGFydERhdGUiOiIyMDE5LTEyLTA5VDAwOjAwOjAwWiIsIkVuZERhdGUiOiIyMDIwLTA5LTE0VDIzOjU5OjAwWiIsIlBlcmNlbnRhZ2VDb21wbGV0ZSI6bnVsbCwiU3R5bGUiOnsiJGlkIjoiMjM3IiwiU2hhcGUiOjEsIlNoYXBlVGhpY2tuZXNzIjowLCJEdXJhdGlvbkZvcm1hdCI6MCwiSW5jbHVkZU5vbldvcmtpbmdEYXlzSW5EdXJhdGlvbiI6ZmFsc2UsIlBlcmNlbnRhZ2VDb21wbGV0ZVN0eWxlIjp7IiRpZCI6IjIzOCIsIkZvbnRTZXR0aW5ncyI6eyIkaWQiOiIyMzkiLCJGb250U2l6ZSI6MTAsIkZvbnROYW1lIjoiQ2FsaWJyaSIsIklzQm9sZCI6ZmFsc2UsIklzSXRhbGljIjpmYWxzZSwiSXNVbmRlcmxpbmVkIjpmYWxzZSwiUGFyZW50U3R5bGUiOm51bGx9LCJBdXRvU2l6ZSI6MCwiRm9yZWdyb3VuZCI6eyIkaWQiOiIyNDAiLCJDb2xvciI6eyIkaWQiOiIy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jQyIiwiTGluZUNvbG9yIjpudWxsLCJMaW5lV2VpZ2h0IjowLjAsIkxpbmVUeXBlIjowLCJQYXJlbnRTdHlsZSI6bnVsbH0sIlBhcmVudFN0eWxlIjpudWxsfSwiRHVyYXRpb25TdHlsZSI6eyIkaWQiOiIyNDMiLCJGb250U2V0dGluZ3MiOnsiJGlkIjoiMjQ0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yNDUiLCJMaW5lQ29sb3IiOm51bGwsIkxpbmVXZWlnaHQiOjAuMCwiTGluZVR5cGUiOjAsIlBhcmVudFN0eWxlIjpudWxsfSwiUGFyZW50U3R5bGUiOm51bGx9LCJIb3Jpem9udGFsQ29ubmVjdG9yU3R5bGUiOnsiJGlkIjoiMjQ2IiwiTGluZUNvbG9yIjp7IiRyZWYiOiIxMDAifSwiTGluZVdlaWdodCI6MS4wLCJMaW5lVHlwZSI6MCwiUGFyZW50U3R5bGUiOm51bGx9LCJWZXJ0aWNhbENvbm5lY3RvclN0eWxlIjp7IiRpZCI6IjI0Ny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yNDgiLCJNYXJnaW4iOnsiJHJlZiI6IjEwNiJ9LCJQYWRkaW5nIjp7IiRyZWYiOiIxMDcifSwiQmFja2dyb3VuZCI6eyIkaWQiOiIyNDkiLCJDb2xvciI6eyIkaWQiOiIyNTAiLCJBIjoyNTUsIlIiOjAsIkciOjE1NCwiQiI6MTY2fX0sIklzVmlzaWJsZSI6dHJ1ZSwiV2lkdGgiOjAuMCwiSGVpZ2h0IjoxMC4wLCJCb3JkZXJTdHlsZSI6eyIkaWQiOiIyNTEiLCJMaW5lQ29sb3IiOnsiJHJlZiI6IjExMSJ9LCJMaW5lV2VpZ2h0IjowLjAsIkxpbmVUeXBlIjowLCJQYXJlbnRTdHlsZSI6bnVsbH0sIlBhcmVudFN0eWxlIjpudWxsfSwiVGl0bGVTdHlsZSI6eyIkaWQiOiIyNTIiLCJGb250U2V0dGluZ3MiOnsiJGlkIjoiMjUzIiwiRm9udFNpemUiOjE4LCJGb250TmFtZSI6IkNhbGlicmkiLCJJc0JvbGQiOnRydWUsIklzSXRhbGljIjpmYWxzZSwiSXNVbmRlcmxpbmVkIjpmYWxzZSwiUGFyZW50U3R5bGUiOm51bGx9LCJBdXRvU2l6ZSI6MiwiRm9yZWdyb3VuZCI6eyIkaWQiOiIyNTQiLCJDb2xvciI6eyIkaWQiOiIyNTUiLCJBIjoyNTUsIlIiOjAsIkciOjAsIkIiOjB9fSwiTWF4V2lkdGgiOjI1Ni4w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I1NiIsIkxpbmVDb2xvciI6bnVsbCwiTGluZVdlaWdodCI6MC4wLCJMaW5lVHlwZSI6MCwiUGFyZW50U3R5bGUiOm51bGx9LCJQYXJlbnRTdHlsZSI6bnVsbH0sIkRhdGVTdHlsZSI6eyIkaWQiOiIyNTciLCJGb250U2V0dGluZ3MiOnsiJGlkIjoiMjU4IiwiRm9udFNpemUiOjEzLCJGb250TmFtZSI6IkNhbGlicmkiLCJJc0JvbGQiOmZhbHNlLCJJc0l0YWxpYyI6ZmFsc2UsIklzVW5kZXJsaW5lZCI6ZmFsc2UsIlBhcmVudFN0eWxlIjpudWxsfSwiQXV0b1NpemUiOjIsIkZvcmVncm91bmQiOnsiJGlkIjoiMjU5IiwiQ29sb3IiOnsiJGlkIjoiMjYwIiwiQSI6MjU1LCJSIjo2OCwiRyI6ODQsIkIiOjEwNn19LCJNYXhXaWR0aCI6NzAuNjY2Njk0NjQxMTEzMjgxLCJNYXhIZWlnaHQiOiJJbmZpbml0eSIsIlNtYXJ0Rm9yZWdyb3VuZElzQWN0aXZlIjpmYWxzZSwiSG9yaXpvbnRhbEFsaWdubWVudCI6Mi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2MSIsIkxpbmVDb2xvciI6bnVsbCwiTGluZVdlaWdodCI6MC4wLCJMaW5lVHlwZSI6MCwiUGFyZW50U3R5bGUiOm51bGx9LCJQYXJlbnRTdHlsZSI6bnVsbH0sIkRhdGVGb3JtYXQiOnsiJHJlZiI6IjIwNiJ9LCJJc1Zpc2libGUiOnRydWUsIlBhcmVudFN0eWxlIjpudWxsfSwiSW5kZXgiOjMsIlNtYXJ0RHVyYXRpb25BY3RpdmF0ZWQiOmZhbHNlLCJEYXRlRm9ybWF0Ijp7IiRyZWYiOiIyMDYifSwiSWQiOiI3ZDdhM2YzMy1iYjAyLTQwMDUtOTUwZC04ODc0ZWMyMmU4ZjkiLCJJbXBvcnRJZCI6bnVsbCwiVGl0bGUiOiJEQU8gUGVyc29uYWwgKEZ1bGwgRnVuY3Rpb25hbGl0eSkiLCJOb3RlIjpudWxsLCJIeXBlcmxpbmsiOnsiJGlkIjoiMjYyIiwiQWRkcmVzcyI6bnVsbCwiU3ViQWRkcmVzcyI6bnVsbH0sIklzQ2hhbmdlZCI6ZmFsc2UsIklzTmV3IjpmYWxzZX0seyIkaWQiOiIyNjMiLCJHcm91cE5hbWUiOm51bGwsIlN0YXJ0RGF0ZSI6IjIwMjAtMDYtMDFUMDA6MDA6MDBaIiwiRW5kRGF0ZSI6IjIwMjAtMTEtMjdUMjM6NTk6MDBaIiwiUGVyY2VudGFnZUNvbXBsZXRlIjpudWxsLCJTdHlsZSI6eyIkaWQiOiIyNjQiLCJTaGFwZSI6MSwiU2hhcGVUaGlja25lc3MiOjAsIkR1cmF0aW9uRm9ybWF0IjowLCJJbmNsdWRlTm9uV29ya2luZ0RheXNJbkR1cmF0aW9uIjpmYWxzZSwiUGVyY2VudGFnZUNvbXBsZXRlU3R5bGUiOnsiJGlkIjoiMjY1IiwiRm9udFNldHRpbmdzIjp7IiRpZCI6IjI2NiIsIkZvbnRTaXplIjoxMCwiRm9udE5hbWUiOiJDYWxpYnJpIiwiSXNCb2xkIjpmYWxzZSwiSXNJdGFsaWMiOmZhbHNlLCJJc1VuZGVybGluZWQiOmZhbHNlLCJQYXJlbnRTdHlsZSI6bnVsbH0sIkF1dG9TaXplIjowLCJGb3JlZ3JvdW5kIjp7IiRpZCI6IjI2NyIsIkNvbG9yIjp7IiRpZCI6IjI2O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g5In0sIlBhZGRpbmciOnsiJHJlZiI6IjkwIn0sIkJhY2tncm91bmQiOnsiJHJlZiI6IjkxIn0sIklzVmlzaWJsZSI6dHJ1ZSwiV2lkdGgiOjAuMCwiSGVpZ2h0IjowLjAsIkJvcmRlclN0eWxlIjp7IiRpZCI6IjI2OSIsIkxpbmVDb2xvciI6bnVsbCwiTGluZVdlaWdodCI6MC4wLCJMaW5lVHlwZSI6MCwiUGFyZW50U3R5bGUiOm51bGx9LCJQYXJlbnRTdHlsZSI6bnVsbH0sIkR1cmF0aW9uU3R5bGUiOnsiJGlkIjoiMjcwIiwiRm9udFNldHRpbmdzIjp7IiRpZCI6IjI3MSIsIkZvbnRTaXplIjoxMCwiRm9udE5hbWUiOiJDYWxpYnJpIiwiSXNCb2xkIjpmYWxzZSwiSXNJdGFsaWMiOmZhbHNlLCJJc1VuZGVybGluZWQiOmZhbHNlLCJQYXJlbnRTdHlsZSI6bnVsbH0sIkF1dG9TaXplIjowLCJGb3JlZ3JvdW5kIjp7IiRyZWYiOiI5NCJ9LCJNYXhXaWR0aCI6MjAwLjAsIk1heEhlaWdodCI6IkluZmluaXR5IiwiU21hcnRGb3JlZ3JvdW5kSXNBY3RpdmUiOmZhbHNlLCJIb3Jpem9udGFsQWxpZ25tZW50IjowLCJWZXJ0aWNhbEFsaWdubWVudCI6MCwiU21hcnRGb3JlZ3JvdW5kIjpudWxsLCJCYWNrZ3JvdW5kRmlsbFR5cGUiOjAsIk1hcmdpbiI6eyIkcmVmIjoiOTYifSwiUGFkZGluZyI6eyIkcmVmIjoiOTcifSwiQmFja2dyb3VuZCI6eyIkcmVmIjoiOTgifSwiSXNWaXNpYmxlIjp0cnVlLCJXaWR0aCI6MC4wLCJIZWlnaHQiOjAuMCwiQm9yZGVyU3R5bGUiOnsiJGlkIjoiMjcyIiwiTGluZUNvbG9yIjpudWxsLCJMaW5lV2VpZ2h0IjowLjAsIkxpbmVUeXBlIjowLCJQYXJlbnRTdHlsZSI6bnVsbH0sIlBhcmVudFN0eWxlIjpudWxsfSwiSG9yaXpvbnRhbENvbm5lY3RvclN0eWxlIjp7IiRpZCI6IjI3MyIsIkxpbmVDb2xvciI6eyIkcmVmIjoiMTAwIn0sIkxpbmVXZWlnaHQiOjEuMCwiTGluZVR5cGUiOjAsIlBhcmVudFN0eWxlIjpudWxsfSwiVmVydGljYWxDb25uZWN0b3JTdHlsZSI6eyIkaWQiOiIyNzQiLCJMaW5lQ29sb3IiOnsiJHJlZiI6IjEwMyJ9LCJMaW5lV2VpZ2h0IjowLjAsIkxpbmVUeXBlIjowLCJQYXJlbnRTdHlsZSI6bnVsbH0sIk1hcmdpbiI6bnVsbCwiU3RhcnREYXRlUG9zaXRpb24iOjMsIkVuZERhdGVQb3NpdGlvbiI6NCwiRGF0ZUlzVmlzaWJsZSI6dHJ1ZSwiVGl0bGVQb3NpdGlvbiI6MCwiRHVyYXRpb25Qb3NpdGlvbiI6NiwiUGVyY2VudGFnZUNvbXBsZXRlZFBvc2l0aW9uIjo2LCJTcGFjaW5nIjozLCJJc0JlbG93VGltZWJhbmQiOnRydWUsIlBlcmNlbnRhZ2VDb21wbGV0ZVNoYXBlT3BhY2l0eSI6MzUsIlNoYXBlU3R5bGUiOnsiJGlkIjoiMjc1IiwiTWFyZ2luIjp7IiRyZWYiOiIxMDYifSwiUGFkZGluZyI6eyIkcmVmIjoiMTA3In0sIkJhY2tncm91bmQiOnsiJGlkIjoiMjc2IiwiQ29sb3IiOnsiJGlkIjoiMjc3IiwiQSI6MjU1LCJSIjowLCJHIjoxNTQsIkIiOjE2Nn19LCJJc1Zpc2libGUiOnRydWUsIldpZHRoIjowLjAsIkhlaWdodCI6MTAuMCwiQm9yZGVyU3R5bGUiOnsiJGlkIjoiMjc4IiwiTGluZUNvbG9yIjp7IiRyZWYiOiIxMTEifSwiTGluZVdlaWdodCI6MC4wLCJMaW5lVHlwZSI6MCwiUGFyZW50U3R5bGUiOm51bGx9LCJQYXJlbnRTdHlsZSI6bnVsbH0sIlRpdGxlU3R5bGUiOnsiJGlkIjoiMjc5IiwiRm9udFNldHRpbmdzIjp7IiRpZCI6IjI4MCIsIkZvbnRTaXplIjoxOCwiRm9udE5hbWUiOiJDYWxpYnJpIiwiSXNCb2xkIjp0cnVlLCJJc0l0YWxpYyI6ZmFsc2UsIklzVW5kZXJsaW5lZCI6ZmFsc2UsIlBhcmVudFN0eWxlIjpudWxsfSwiQXV0b1NpemUiOjIsIkZvcmVncm91bmQiOnsiJGlkIjoiMjgxIiwiQ29sb3IiOnsiJGlkIjoiMjgyIiwiQSI6MjU1LCJSIjowLCJHIjowLCJCIjowfX0sIk1heFdpZHRoIjoyODIuNjY2Njg3MDExNzE4NzU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MjgzIiwiTGluZUNvbG9yIjpudWxsLCJMaW5lV2VpZ2h0IjowLjAsIkxpbmVUeXBlIjowLCJQYXJlbnRTdHlsZSI6bnVsbH0sIlBhcmVudFN0eWxlIjpudWxsfSwiRGF0ZVN0eWxlIjp7IiRpZCI6IjI4NCIsIkZvbnRTZXR0aW5ncyI6eyIkaWQiOiIyODUiLCJGb250U2l6ZSI6MTMsIkZvbnROYW1lIjoiQ2FsaWJyaSIsIklzQm9sZCI6ZmFsc2UsIklzSXRhbGljIjpmYWxzZSwiSXNVbmRlcmxpbmVkIjpmYWxzZSwiUGFyZW50U3R5bGUiOm51bGx9LCJBdXRvU2l6ZSI6MiwiRm9yZWdyb3VuZCI6eyIkaWQiOiIyODYiLCJDb2xvciI6eyIkaWQiOiIyODciLCJBIjoyNTUsIlIiOjY4LCJHIjo4NCwiQiI6MTA2fX0sIk1heFdpZHRoIjo3Mi4w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4OCIsIkxpbmVDb2xvciI6bnVsbCwiTGluZVdlaWdodCI6MC4wLCJMaW5lVHlwZSI6MCwiUGFyZW50U3R5bGUiOm51bGx9LCJQYXJlbnRTdHlsZSI6bnVsbH0sIkRhdGVGb3JtYXQiOnsiJHJlZiI6IjIwNiJ9LCJJc1Zpc2libGUiOnRydWUsIlBhcmVudFN0eWxlIjpudWxsfSwiSW5kZXgiOjQsIlNtYXJ0RHVyYXRpb25BY3RpdmF0ZWQiOmZhbHNlLCJEYXRlRm9ybWF0Ijp7IiRyZWYiOiIyMDYifSwiSWQiOiI3YmZiOGEzOC0yYTk5LTQ0MzgtOTM3NS1kYmYyNDYwMTNiZjciLCJJbXBvcnRJZCI6bnVsbCwiVGl0bGUiOiJTbWFsbCBCdXNpbmVzcyBEQU8gKEdvIExpdmUgUmVhZHkpICIsIk5vdGUiOm51bGwsIkh5cGVybGluayI6eyIkaWQiOiIyODkiLCJBZGRyZXNzIjpudWxsLCJTdWJBZGRyZXNzIjpudWxsfSwiSXNDaGFuZ2VkIjpmYWxzZSwiSXNOZXciOmZhbHNlfSx7IiRpZCI6IjI5MCIsIkdyb3VwTmFtZSI6bnVsbCwiU3RhcnREYXRlIjoiMjAyMC0wOS0yM1QwMDowMDowMFoiLCJFbmREYXRlIjoiMjAyMS0wMy0yMlQyMzo1OTowMFoiLCJQZXJjZW50YWdlQ29tcGxldGUiOm51bGwsIlN0eWxlIjp7IiRpZCI6IjI5MSIsIlNoYXBlIjoxLCJTaGFwZVRoaWNrbmVzcyI6MCwiRHVyYXRpb25Gb3JtYXQiOjAsIkluY2x1ZGVOb25Xb3JraW5nRGF5c0luRHVyYXRpb24iOmZhbHNlLCJQZXJjZW50YWdlQ29tcGxldGVTdHlsZSI6eyIkaWQiOiIyOTIiLCJGb250U2V0dGluZ3MiOnsiJGlkIjoiMjkzIiwiRm9udFNpemUiOjEwLCJGb250TmFtZSI6IkNhbGlicmkiLCJJc0JvbGQiOmZhbHNlLCJJc0l0YWxpYyI6ZmFsc2UsIklzVW5kZXJsaW5lZCI6ZmFsc2UsIlBhcmVudFN0eWxlIjpudWxsfSwiQXV0b1NpemUiOjAsIkZvcmVncm91bmQiOnsiJGlkIjoiMjk0IiwiQ29sb3IiOnsiJGlkIjoiMjk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jk2IiwiTGluZUNvbG9yIjpudWxsLCJMaW5lV2VpZ2h0IjowLjAsIkxpbmVUeXBlIjowLCJQYXJlbnRTdHlsZSI6bnVsbH0sIlBhcmVudFN0eWxlIjpudWxsfSwiRHVyYXRpb25TdHlsZSI6eyIkaWQiOiIyOTciLCJGb250U2V0dGluZ3MiOnsiJGlkIjoiMjk4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yOTkiLCJMaW5lQ29sb3IiOm51bGwsIkxpbmVXZWlnaHQiOjAuMCwiTGluZVR5cGUiOjAsIlBhcmVudFN0eWxlIjpudWxsfSwiUGFyZW50U3R5bGUiOm51bGx9LCJIb3Jpem9udGFsQ29ubmVjdG9yU3R5bGUiOnsiJGlkIjoiMzAwIiwiTGluZUNvbG9yIjp7IiRyZWYiOiIxMDAifSwiTGluZVdlaWdodCI6MS4wLCJMaW5lVHlwZSI6MCwiUGFyZW50U3R5bGUiOm51bGx9LCJWZXJ0aWNhbENvbm5lY3RvclN0eWxlIjp7IiRpZCI6IjMwMS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MDIiLCJNYXJnaW4iOnsiJHJlZiI6IjEwNiJ9LCJQYWRkaW5nIjp7IiRyZWYiOiIxMDcifSwiQmFja2dyb3VuZCI6eyIkaWQiOiIzMDMiLCJDb2xvciI6eyIkaWQiOiIzMDQiLCJBIjoyNTUsIlIiOjAsIkciOjE1NCwiQiI6MTY2fX0sIklzVmlzaWJsZSI6dHJ1ZSwiV2lkdGgiOjAuMCwiSGVpZ2h0IjoxMC4wLCJCb3JkZXJTdHlsZSI6eyIkaWQiOiIzMDUiLCJMaW5lQ29sb3IiOnsiJHJlZiI6IjExMSJ9LCJMaW5lV2VpZ2h0IjowLjAsIkxpbmVUeXBlIjowLCJQYXJlbnRTdHlsZSI6bnVsbH0sIlBhcmVudFN0eWxlIjpudWxsfSwiVGl0bGVTdHlsZSI6eyIkaWQiOiIzMDYiLCJGb250U2V0dGluZ3MiOnsiJGlkIjoiMzA3IiwiRm9udFNpemUiOjE4LCJGb250TmFtZSI6IkNhbGlicmkiLCJJc0JvbGQiOnRydWUsIklzSXRhbGljIjpmYWxzZSwiSXNVbmRlcmxpbmVkIjpmYWxzZSwiUGFyZW50U3R5bGUiOm51bGx9LCJBdXRvU2l6ZSI6MiwiRm9yZWdyb3VuZCI6eyIkaWQiOiIzMDgiLCJDb2xvciI6eyIkaWQiOiIzMDkiLCJBIjoyNTUsIlIiOjAsIkciOjAsIkIiOjB9fSwiTWF4V2lkdGgiOjE3OC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MTAiLCJMaW5lQ29sb3IiOm51bGwsIkxpbmVXZWlnaHQiOjAuMCwiTGluZVR5cGUiOjAsIlBhcmVudFN0eWxlIjpudWxsfSwiUGFyZW50U3R5bGUiOm51bGx9LCJEYXRlU3R5bGUiOnsiJGlkIjoiMzExIiwiRm9udFNldHRpbmdzIjp7IiRpZCI6IjMxMiIsIkZvbnRTaXplIjoxMywiRm9udE5hbWUiOiJDYWxpYnJpIiwiSXNCb2xkIjpmYWxzZSwiSXNJdGFsaWMiOmZhbHNlLCJJc1VuZGVybGluZWQiOmZhbHNlLCJQYXJlbnRTdHlsZSI6bnVsbH0sIkF1dG9TaXplIjoyLCJGb3JlZ3JvdW5kIjp7IiRpZCI6IjMxMyIsIkNvbG9yIjp7IiRpZCI6IjMxNCIsIkEiOjI1NSwiUiI6NjgsIkciOjg0LCJCIjoxMDZ9fSwiTWF4V2lkdGgiOjczLjMzMzMwNTM1ODg4NjcxOSwiTWF4SGVpZ2h0IjoiSW5maW5pdHkiLCJTbWFydEZvcmVncm91bmRJc0FjdGl2ZSI6ZmFsc2UsIkhvcml6b250YWxBbGlnbm1lbnQiOjA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MTUiLCJMaW5lQ29sb3IiOm51bGwsIkxpbmVXZWlnaHQiOjAuMCwiTGluZVR5cGUiOjAsIlBhcmVudFN0eWxlIjpudWxsfSwiUGFyZW50U3R5bGUiOm51bGx9LCJEYXRlRm9ybWF0Ijp7IiRyZWYiOiIyMDYifSwiSXNWaXNpYmxlIjp0cnVlLCJQYXJlbnRTdHlsZSI6bnVsbH0sIkluZGV4Ijo1LCJTbWFydER1cmF0aW9uQWN0aXZhdGVkIjpmYWxzZSwiRGF0ZUZvcm1hdCI6eyIkcmVmIjoiMjA2In0sIklkIjoiODFmNTlkODEtNWRhZi00MjI3LWE2ZjAtYWM0MTUyOWJmNzE1IiwiSW1wb3J0SWQiOm51bGwsIlRpdGxlIjoiU21hbGwgQnVzaW5lc3MgTGVuZGluZyIsIk5vdGUiOm51bGwsIkh5cGVybGluayI6eyIkaWQiOiIzMTYiLCJBZGRyZXNzIjpudWxsLCJTdWJBZGRyZXNzIjpudWxsfSwiSXNDaGFuZ2VkIjpmYWxzZSwiSXNOZXciOmZhbHNlfSx7IiRpZCI6IjMxNyIsIkdyb3VwTmFtZSI6bnVsbCwiU3RhcnREYXRlIjoiMjAyMC0wMS0wNlQwMDowMDowMFoiLCJFbmREYXRlIjoiMjAyMC0wMy0xOVQyMzo1OTowMFoiLCJQZXJjZW50YWdlQ29tcGxldGUiOm51bGwsIlN0eWxlIjp7IiRpZCI6IjMxOCIsIlNoYXBlIjoxLCJTaGFwZVRoaWNrbmVzcyI6MCwiRHVyYXRpb25Gb3JtYXQiOjAsIkluY2x1ZGVOb25Xb3JraW5nRGF5c0luRHVyYXRpb24iOmZhbHNlLCJQZXJjZW50YWdlQ29tcGxldGVTdHlsZSI6eyIkaWQiOiIzMTkiLCJGb250U2V0dGluZ3MiOnsiJGlkIjoiMzIwIiwiRm9udFNpemUiOjEwLCJGb250TmFtZSI6IkNhbGlicmkiLCJJc0JvbGQiOmZhbHNlLCJJc0l0YWxpYyI6ZmFsc2UsIklzVW5kZXJsaW5lZCI6ZmFsc2UsIlBhcmVudFN0eWxlIjpudWxsfSwiQXV0b1NpemUiOjAsIkZvcmVncm91bmQiOnsiJGlkIjoiMzIxIiwiQ29sb3IiOnsiJGlkIjoiMzI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zIzIiwiTGluZUNvbG9yIjpudWxsLCJMaW5lV2VpZ2h0IjowLjAsIkxpbmVUeXBlIjowLCJQYXJlbnRTdHlsZSI6bnVsbH0sIlBhcmVudFN0eWxlIjpudWxsfSwiRHVyYXRpb25TdHlsZSI6eyIkaWQiOiIzMjQiLCJGb250U2V0dGluZ3MiOnsiJGlkIjoiMzI1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zMjYiLCJMaW5lQ29sb3IiOm51bGwsIkxpbmVXZWlnaHQiOjAuMCwiTGluZVR5cGUiOjAsIlBhcmVudFN0eWxlIjpudWxsfSwiUGFyZW50U3R5bGUiOm51bGx9LCJIb3Jpem9udGFsQ29ubmVjdG9yU3R5bGUiOnsiJGlkIjoiMzI3IiwiTGluZUNvbG9yIjp7IiRyZWYiOiIxMDAifSwiTGluZVdlaWdodCI6MS4wLCJMaW5lVHlwZSI6MCwiUGFyZW50U3R5bGUiOm51bGx9LCJWZXJ0aWNhbENvbm5lY3RvclN0eWxlIjp7IiRpZCI6IjMyOC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MjkiLCJNYXJnaW4iOnsiJHJlZiI6IjEwNiJ9LCJQYWRkaW5nIjp7IiRyZWYiOiIxMDcifSwiQmFja2dyb3VuZCI6eyIkaWQiOiIzMzAiLCJDb2xvciI6eyIkaWQiOiIzMzEiLCJBIjoyNTUsIlIiOjE1MCwiRyI6MjE0LCJCIjo2Nn19LCJJc1Zpc2libGUiOnRydWUsIldpZHRoIjowLjAsIkhlaWdodCI6MTAuMCwiQm9yZGVyU3R5bGUiOnsiJGlkIjoiMzMyIiwiTGluZUNvbG9yIjp7IiRyZWYiOiIxMTEifSwiTGluZVdlaWdodCI6MC4wLCJMaW5lVHlwZSI6MCwiUGFyZW50U3R5bGUiOm51bGx9LCJQYXJlbnRTdHlsZSI6bnVsbH0sIlRpdGxlU3R5bGUiOnsiJGlkIjoiMzMzIiwiRm9udFNldHRpbmdzIjp7IiRpZCI6IjMzNCIsIkZvbnRTaXplIjoxOCwiRm9udE5hbWUiOiJDYWxpYnJpIiwiSXNCb2xkIjp0cnVlLCJJc0l0YWxpYyI6ZmFsc2UsIklzVW5kZXJsaW5lZCI6ZmFsc2UsIlBhcmVudFN0eWxlIjpudWxsfSwiQXV0b1NpemUiOjIsIkZvcmVncm91bmQiOnsiJGlkIjoiMzM1IiwiQ29sb3IiOnsiJGlkIjoiMzM2IiwiQSI6MjU1LCJSIjowLCJHIjowLCJCIjowfX0sIk1heFdpZHRoIjozNjguMC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MzciLCJMaW5lQ29sb3IiOm51bGwsIkxpbmVXZWlnaHQiOjAuMCwiTGluZVR5cGUiOjAsIlBhcmVudFN0eWxlIjpudWxsfSwiUGFyZW50U3R5bGUiOm51bGx9LCJEYXRlU3R5bGUiOnsiJGlkIjoiMzM4IiwiRm9udFNldHRpbmdzIjp7IiRpZCI6IjMzOSIsIkZvbnRTaXplIjoxMywiRm9udE5hbWUiOiJDYWxpYnJpIiwiSXNCb2xkIjpmYWxzZSwiSXNJdGFsaWMiOmZhbHNlLCJJc1VuZGVybGluZWQiOmZhbHNlLCJQYXJlbnRTdHlsZSI6bnVsbH0sIkF1dG9TaXplIjoyLCJGb3JlZ3JvdW5kIjp7IiRpZCI6IjM0MCIsIkNvbG9yIjp7IiRpZCI6IjM0MSIsIkEiOjI1NSwiUiI6NjgsIkciOjg0LCJCIjoxMDZ9fSwiTWF4V2lkdGgiOjczLjMzMzMwNTM1ODg4NjcxOSwiTWF4SGVpZ2h0IjoiSW5maW5pdHkiLCJTbWFydEZvcmVncm91bmRJc0FjdGl2ZSI6ZmFsc2UsIkhvcml6b250YWxBbGlnbm1lbnQiOjI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NDIiLCJMaW5lQ29sb3IiOm51bGwsIkxpbmVXZWlnaHQiOjAuMCwiTGluZVR5cGUiOjAsIlBhcmVudFN0eWxlIjpudWxsfSwiUGFyZW50U3R5bGUiOm51bGx9LCJEYXRlRm9ybWF0Ijp7IiRyZWYiOiIyMDYifSwiSXNWaXNpYmxlIjp0cnVlLCJQYXJlbnRTdHlsZSI6bnVsbH0sIkluZGV4Ijo2LCJTbWFydER1cmF0aW9uQWN0aXZhdGVkIjpmYWxzZSwiRGF0ZUZvcm1hdCI6eyIkcmVmIjoiMjA2In0sIklkIjoiMGJlOTNjMTgtODFkMS00ZDJkLWEwOTctNDUzODdkNGU0NmM1IiwiSW1wb3J0SWQiOm51bGwsIlRpdGxlIjoiU21hbGwgQnVzaW5lc3MgKyBQZXJzb25hbCBCYW5raW5nIFByZS1QbGFubmluZyIsIk5vdGUiOm51bGwsIkh5cGVybGluayI6eyIkaWQiOiIzNDMiLCJBZGRyZXNzIjpudWxsLCJTdWJBZGRyZXNzIjpudWxsfSwiSXNDaGFuZ2VkIjpmYWxzZSwiSXNOZXciOmZhbHNlfSx7IiRpZCI6IjM0NCIsIkdyb3VwTmFtZSI6bnVsbCwiU3RhcnREYXRlIjoiMjAyMC0wMy0yMFQwMDowMDowMFoiLCJFbmREYXRlIjoiMjAyMS0wMS0yOFQyMzo1OTowMFoiLCJQZXJjZW50YWdlQ29tcGxldGUiOm51bGwsIlN0eWxlIjp7IiRpZCI6IjM0NSIsIlNoYXBlIjoxLCJTaGFwZVRoaWNrbmVzcyI6MCwiRHVyYXRpb25Gb3JtYXQiOjAsIkluY2x1ZGVOb25Xb3JraW5nRGF5c0luRHVyYXRpb24iOmZhbHNlLCJQZXJjZW50YWdlQ29tcGxldGVTdHlsZSI6eyIkaWQiOiIzNDYiLCJGb250U2V0dGluZ3MiOnsiJGlkIjoiMzQ3IiwiRm9udFNpemUiOjEwLCJGb250TmFtZSI6IkNhbGlicmkiLCJJc0JvbGQiOmZhbHNlLCJJc0l0YWxpYyI6ZmFsc2UsIklzVW5kZXJsaW5lZCI6ZmFsc2UsIlBhcmVudFN0eWxlIjpudWxsfSwiQXV0b1NpemUiOjAsIkZvcmVncm91bmQiOnsiJGlkIjoiMzQ4IiwiQ29sb3IiOnsiJGlkIjoiMzQ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zUwIiwiTGluZUNvbG9yIjpudWxsLCJMaW5lV2VpZ2h0IjowLjAsIkxpbmVUeXBlIjowLCJQYXJlbnRTdHlsZSI6bnVsbH0sIlBhcmVudFN0eWxlIjpudWxsfSwiRHVyYXRpb25TdHlsZSI6eyIkaWQiOiIzNTEiLCJGb250U2V0dGluZ3MiOnsiJGlkIjoiMzUy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zNTMiLCJMaW5lQ29sb3IiOm51bGwsIkxpbmVXZWlnaHQiOjAuMCwiTGluZVR5cGUiOjAsIlBhcmVudFN0eWxlIjpudWxsfSwiUGFyZW50U3R5bGUiOm51bGx9LCJIb3Jpem9udGFsQ29ubmVjdG9yU3R5bGUiOnsiJGlkIjoiMzU0IiwiTGluZUNvbG9yIjp7IiRyZWYiOiIxMDAifSwiTGluZVdlaWdodCI6MS4wLCJMaW5lVHlwZSI6MCwiUGFyZW50U3R5bGUiOm51bGx9LCJWZXJ0aWNhbENvbm5lY3RvclN0eWxlIjp7IiRpZCI6IjM1NS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NTYiLCJNYXJnaW4iOnsiJHJlZiI6IjEwNiJ9LCJQYWRkaW5nIjp7IiRyZWYiOiIxMDcifSwiQmFja2dyb3VuZCI6eyIkaWQiOiIzNTciLCJDb2xvciI6eyIkaWQiOiIzNTgiLCJBIjoyNTUsIlIiOjE1MCwiRyI6MjE0LCJCIjo2Nn19LCJJc1Zpc2libGUiOnRydWUsIldpZHRoIjowLjAsIkhlaWdodCI6MTAuMCwiQm9yZGVyU3R5bGUiOnsiJGlkIjoiMzU5IiwiTGluZUNvbG9yIjp7IiRyZWYiOiIxMTEifSwiTGluZVdlaWdodCI6MC4wLCJMaW5lVHlwZSI6MCwiUGFyZW50U3R5bGUiOm51bGx9LCJQYXJlbnRTdHlsZSI6bnVsbH0sIlRpdGxlU3R5bGUiOnsiJGlkIjoiMzYwIiwiRm9udFNldHRpbmdzIjp7IiRpZCI6IjM2MSIsIkZvbnRTaXplIjoxOCwiRm9udE5hbWUiOiJDYWxpYnJpIiwiSXNCb2xkIjp0cnVlLCJJc0l0YWxpYyI6ZmFsc2UsIklzVW5kZXJsaW5lZCI6ZmFsc2UsIlBhcmVudFN0eWxlIjpudWxsfSwiQXV0b1NpemUiOjIsIkZvcmVncm91bmQiOnsiJGlkIjoiMzYyIiwiQ29sb3IiOnsiJGlkIjoiMzYzIiwiQSI6MjU1LCJSIjowLCJHIjowLCJCIjowfX0sIk1heFdpZHRoIjozMDkuMzMzMzEyOTg4MjgxMjU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MzY0IiwiTGluZUNvbG9yIjpudWxsLCJMaW5lV2VpZ2h0IjowLjAsIkxpbmVUeXBlIjowLCJQYXJlbnRTdHlsZSI6bnVsbH0sIlBhcmVudFN0eWxlIjpudWxsfSwiRGF0ZVN0eWxlIjp7IiRpZCI6IjM2NSIsIkZvbnRTZXR0aW5ncyI6eyIkaWQiOiIzNjYiLCJGb250U2l6ZSI6MTMsIkZvbnROYW1lIjoiQ2FsaWJyaSIsIklzQm9sZCI6ZmFsc2UsIklzSXRhbGljIjpmYWxzZSwiSXNVbmRlcmxpbmVkIjpmYWxzZSwiUGFyZW50U3R5bGUiOm51bGx9LCJBdXRvU2l6ZSI6MiwiRm9yZWdyb3VuZCI6eyIkaWQiOiIzNjciLCJDb2xvciI6eyIkaWQiOiIzNjgiLCJBIjoyNTUsIlIiOjY4LCJHIjo4NCwiQiI6MTA2fX0sIk1heFdpZHRoIjo2OC4w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M2OSIsIkxpbmVDb2xvciI6bnVsbCwiTGluZVdlaWdodCI6MC4wLCJMaW5lVHlwZSI6MCwiUGFyZW50U3R5bGUiOm51bGx9LCJQYXJlbnRTdHlsZSI6bnVsbH0sIkRhdGVGb3JtYXQiOnsiJHJlZiI6IjIwNiJ9LCJJc1Zpc2libGUiOnRydWUsIlBhcmVudFN0eWxlIjpudWxsfSwiSW5kZXgiOjcsIlNtYXJ0RHVyYXRpb25BY3RpdmF0ZWQiOmZhbHNlLCJEYXRlRm9ybWF0Ijp7IiRyZWYiOiIyMDYifSwiSWQiOiJmNzFlYWYwOC03NmM2LTQ1ZjQtOTFkYi01ZjE4YjlhNGFkOWYiLCJJbXBvcnRJZCI6bnVsbCwiVGl0bGUiOiJTbWFsbCBCdXNpbmVzcyBCYW5raW5nIEltcGxlbWVudGF0aW9uIiwiTm90ZSI6bnVsbCwiSHlwZXJsaW5rIjp7IiRpZCI6IjM3MCIsIkFkZHJlc3MiOm51bGwsIlN1YkFkZHJlc3MiOm51bGx9LCJJc0NoYW5nZWQiOmZhbHNlLCJJc05ldyI6ZmFsc2V9LHsiJGlkIjoiMzcxIiwiR3JvdXBOYW1lIjpudWxsLCJTdGFydERhdGUiOiIyMDIwLTAzLTIwVDAwOjAwOjAwWiIsIkVuZERhdGUiOiIyMDIxLTAyLTI2VDIzOjU5OjAwWiIsIlBlcmNlbnRhZ2VDb21wbGV0ZSI6bnVsbCwiU3R5bGUiOnsiJGlkIjoiMzcyIiwiU2hhcGUiOjEsIlNoYXBlVGhpY2tuZXNzIjowLCJEdXJhdGlvbkZvcm1hdCI6MCwiSW5jbHVkZU5vbldvcmtpbmdEYXlzSW5EdXJhdGlvbiI6ZmFsc2UsIlBlcmNlbnRhZ2VDb21wbGV0ZVN0eWxlIjp7IiRpZCI6IjM3MyIsIkZvbnRTZXR0aW5ncyI6eyIkaWQiOiIzNzQiLCJGb250U2l6ZSI6MTAsIkZvbnROYW1lIjoiQ2FsaWJyaSIsIklzQm9sZCI6ZmFsc2UsIklzSXRhbGljIjpmYWxzZSwiSXNVbmRlcmxpbmVkIjpmYWxzZSwiUGFyZW50U3R5bGUiOm51bGx9LCJBdXRvU2l6ZSI6MCwiRm9yZWdyb3VuZCI6eyIkaWQiOiIzNzUiLCJDb2xvciI6eyIkaWQiOiIzNz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zNzciLCJMaW5lQ29sb3IiOm51bGwsIkxpbmVXZWlnaHQiOjAuMCwiTGluZVR5cGUiOjAsIlBhcmVudFN0eWxlIjpudWxsfSwiUGFyZW50U3R5bGUiOm51bGx9LCJEdXJhdGlvblN0eWxlIjp7IiRpZCI6IjM3OCIsIkZvbnRTZXR0aW5ncyI6eyIkaWQiOiIzNzk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M4MCIsIkxpbmVDb2xvciI6bnVsbCwiTGluZVdlaWdodCI6MC4wLCJMaW5lVHlwZSI6MCwiUGFyZW50U3R5bGUiOm51bGx9LCJQYXJlbnRTdHlsZSI6bnVsbH0sIkhvcml6b250YWxDb25uZWN0b3JTdHlsZSI6eyIkaWQiOiIzODEiLCJMaW5lQ29sb3IiOnsiJHJlZiI6IjEwMCJ9LCJMaW5lV2VpZ2h0IjoxLjAsIkxpbmVUeXBlIjowLCJQYXJlbnRTdHlsZSI6bnVsbH0sIlZlcnRpY2FsQ29ubmVjdG9yU3R5bGUiOnsiJGlkIjoiMzgy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M4MyIsIk1hcmdpbiI6eyIkcmVmIjoiMTA2In0sIlBhZGRpbmciOnsiJHJlZiI6IjEwNyJ9LCJCYWNrZ3JvdW5kIjp7IiRpZCI6IjM4NCIsIkNvbG9yIjp7IiRpZCI6IjM4NSIsIkEiOjI1NSwiUiI6MTUwLCJHIjoyMTQsIkIiOjY2fX0sIklzVmlzaWJsZSI6dHJ1ZSwiV2lkdGgiOjAuMCwiSGVpZ2h0IjoxMC4wLCJCb3JkZXJTdHlsZSI6eyIkaWQiOiIzODYiLCJMaW5lQ29sb3IiOnsiJHJlZiI6IjExMSJ9LCJMaW5lV2VpZ2h0IjowLjAsIkxpbmVUeXBlIjowLCJQYXJlbnRTdHlsZSI6bnVsbH0sIlBhcmVudFN0eWxlIjpudWxsfSwiVGl0bGVTdHlsZSI6eyIkaWQiOiIzODciLCJGb250U2V0dGluZ3MiOnsiJGlkIjoiMzg4IiwiRm9udFNpemUiOjE4LCJGb250TmFtZSI6IkNhbGlicmkiLCJJc0JvbGQiOnRydWUsIklzSXRhbGljIjpmYWxzZSwiSXNVbmRlcmxpbmVkIjpmYWxzZSwiUGFyZW50U3R5bGUiOm51bGx9LCJBdXRvU2l6ZSI6MiwiRm9yZWdyb3VuZCI6eyIkaWQiOiIzODkiLCJDb2xvciI6eyIkaWQiOiIzOTAiLCJBIjoyNTUsIlIiOjAsIkciOjAsIkIiOjB9fSwiTWF4V2lkdGgiOjM4Ni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OTEiLCJMaW5lQ29sb3IiOm51bGwsIkxpbmVXZWlnaHQiOjAuMCwiTGluZVR5cGUiOjAsIlBhcmVudFN0eWxlIjpudWxsfSwiUGFyZW50U3R5bGUiOm51bGx9LCJEYXRlU3R5bGUiOnsiJGlkIjoiMzkyIiwiRm9udFNldHRpbmdzIjp7IiRpZCI6IjM5MyIsIkZvbnRTaXplIjoxMywiRm9udE5hbWUiOiJDYWxpYnJpIiwiSXNCb2xkIjpmYWxzZSwiSXNJdGFsaWMiOmZhbHNlLCJJc1VuZGVybGluZWQiOmZhbHNlLCJQYXJlbnRTdHlsZSI6bnVsbH0sIkF1dG9TaXplIjoyLCJGb3JlZ3JvdW5kIjp7IiRpZCI6IjM5NCIsIkNvbG9yIjp7IiRpZCI6IjM5NSIsIkEiOjI1NSwiUiI6NjgsIkciOjg0LCJCIjoxMDZ9fSwiTWF4V2lkdGgiOjcwLjY2NjY5NDY0MTExMzI4MSwiTWF4SGVpZ2h0IjoiSW5maW5pdHkiLCJTbWFydEZvcmVncm91bmRJc0FjdGl2ZSI6ZmFsc2UsIkhvcml6b250YWxBbGlnbm1lbnQiOjA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OTYiLCJMaW5lQ29sb3IiOm51bGwsIkxpbmVXZWlnaHQiOjAuMCwiTGluZVR5cGUiOjAsIlBhcmVudFN0eWxlIjpudWxsfSwiUGFyZW50U3R5bGUiOm51bGx9LCJEYXRlRm9ybWF0Ijp7IiRyZWYiOiIyMDYifSwiSXNWaXNpYmxlIjp0cnVlLCJQYXJlbnRTdHlsZSI6bnVsbH0sIkluZGV4Ijo5LCJTbWFydER1cmF0aW9uQWN0aXZhdGVkIjpmYWxzZSwiRGF0ZUZvcm1hdCI6eyIkcmVmIjoiMjA2In0sIklkIjoiN2RhNDI3NGEtZjNkNS00MjBhLWFkZjQtYWFjZWQ4NjFhY2FjIiwiSW1wb3J0SWQiOm51bGwsIlRpdGxlIjoiUGVyc29uYWwgQmFua2luZyBJbXBsZW1lbnRhdGlvbiAoR28gTGl2ZSBSZWFkeSkiLCJOb3RlIjpudWxsLCJIeXBlcmxpbmsiOnsiJGlkIjoiMzk3IiwiQWRkcmVzcyI6bnVsbCwiU3ViQWRkcmVzcyI6bnVsbH0sIklzQ2hhbmdlZCI6ZmFsc2UsIklzTmV3IjpmYWxzZX0seyIkaWQiOiIzOTgiLCJHcm91cE5hbWUiOm51bGwsIlN0YXJ0RGF0ZSI6IjIwMjAtMTAtMDVUMDA6MDA6MDBaIiwiRW5kRGF0ZSI6IjIwMjEtMDYtMjlUMjM6NTk6MDBaIiwiUGVyY2VudGFnZUNvbXBsZXRlIjpudWxsLCJTdHlsZSI6eyIkaWQiOiIzOTkiLCJTaGFwZSI6MSwiU2hhcGVUaGlja25lc3MiOjAsIkR1cmF0aW9uRm9ybWF0IjowLCJJbmNsdWRlTm9uV29ya2luZ0RheXNJbkR1cmF0aW9uIjpmYWxzZSwiUGVyY2VudGFnZUNvbXBsZXRlU3R5bGUiOnsiJGlkIjoiNDAwIiwiRm9udFNldHRpbmdzIjp7IiRpZCI6IjQwMSIsIkZvbnRTaXplIjoxMCwiRm9udE5hbWUiOiJDYWxpYnJpIiwiSXNCb2xkIjpmYWxzZSwiSXNJdGFsaWMiOmZhbHNlLCJJc1VuZGVybGluZWQiOmZhbHNlLCJQYXJlbnRTdHlsZSI6bnVsbH0sIkF1dG9TaXplIjowLCJGb3JlZ3JvdW5kIjp7IiRpZCI6IjQwMiIsIkNvbG9yIjp7IiRpZCI6IjQwM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g5In0sIlBhZGRpbmciOnsiJHJlZiI6IjkwIn0sIkJhY2tncm91bmQiOnsiJHJlZiI6IjkxIn0sIklzVmlzaWJsZSI6dHJ1ZSwiV2lkdGgiOjAuMCwiSGVpZ2h0IjowLjAsIkJvcmRlclN0eWxlIjp7IiRpZCI6IjQwNCIsIkxpbmVDb2xvciI6bnVsbCwiTGluZVdlaWdodCI6MC4wLCJMaW5lVHlwZSI6MCwiUGFyZW50U3R5bGUiOm51bGx9LCJQYXJlbnRTdHlsZSI6bnVsbH0sIkR1cmF0aW9uU3R5bGUiOnsiJGlkIjoiNDA1IiwiRm9udFNldHRpbmdzIjp7IiRpZCI6IjQwNiIsIkZvbnRTaXplIjoxMCwiRm9udE5hbWUiOiJDYWxpYnJpIiwiSXNCb2xkIjpmYWxzZSwiSXNJdGFsaWMiOmZhbHNlLCJJc1VuZGVybGluZWQiOmZhbHNlLCJQYXJlbnRTdHlsZSI6bnVsbH0sIkF1dG9TaXplIjowLCJGb3JlZ3JvdW5kIjp7IiRyZWYiOiI5NCJ9LCJNYXhXaWR0aCI6MjAwLjAsIk1heEhlaWdodCI6IkluZmluaXR5IiwiU21hcnRGb3JlZ3JvdW5kSXNBY3RpdmUiOmZhbHNlLCJIb3Jpem9udGFsQWxpZ25tZW50IjowLCJWZXJ0aWNhbEFsaWdubWVudCI6MCwiU21hcnRGb3JlZ3JvdW5kIjpudWxsLCJCYWNrZ3JvdW5kRmlsbFR5cGUiOjAsIk1hcmdpbiI6eyIkcmVmIjoiOTYifSwiUGFkZGluZyI6eyIkcmVmIjoiOTcifSwiQmFja2dyb3VuZCI6eyIkcmVmIjoiOTgifSwiSXNWaXNpYmxlIjp0cnVlLCJXaWR0aCI6MC4wLCJIZWlnaHQiOjAuMCwiQm9yZGVyU3R5bGUiOnsiJGlkIjoiNDA3IiwiTGluZUNvbG9yIjpudWxsLCJMaW5lV2VpZ2h0IjowLjAsIkxpbmVUeXBlIjowLCJQYXJlbnRTdHlsZSI6bnVsbH0sIlBhcmVudFN0eWxlIjpudWxsfSwiSG9yaXpvbnRhbENvbm5lY3RvclN0eWxlIjp7IiRpZCI6IjQwOCIsIkxpbmVDb2xvciI6eyIkcmVmIjoiMTAwIn0sIkxpbmVXZWlnaHQiOjEuMCwiTGluZVR5cGUiOjAsIlBhcmVudFN0eWxlIjpudWxsfSwiVmVydGljYWxDb25uZWN0b3JTdHlsZSI6eyIkaWQiOiI0MDkiLCJMaW5lQ29sb3IiOnsiJHJlZiI6IjEwMyJ9LCJMaW5lV2VpZ2h0IjowLjAsIkxpbmVUeXBlIjowLCJQYXJlbnRTdHlsZSI6bnVsbH0sIk1hcmdpbiI6bnVsbCwiU3RhcnREYXRlUG9zaXRpb24iOjMsIkVuZERhdGVQb3NpdGlvbiI6NCwiRGF0ZUlzVmlzaWJsZSI6dHJ1ZSwiVGl0bGVQb3NpdGlvbiI6MCwiRHVyYXRpb25Qb3NpdGlvbiI6NiwiUGVyY2VudGFnZUNvbXBsZXRlZFBvc2l0aW9uIjo2LCJTcGFjaW5nIjozLCJJc0JlbG93VGltZWJhbmQiOnRydWUsIlBlcmNlbnRhZ2VDb21wbGV0ZVNoYXBlT3BhY2l0eSI6MzUsIlNoYXBlU3R5bGUiOnsiJGlkIjoiNDEwIiwiTWFyZ2luIjp7IiRyZWYiOiIxMDYifSwiUGFkZGluZyI6eyIkcmVmIjoiMTA3In0sIkJhY2tncm91bmQiOnsiJGlkIjoiNDExIiwiQ29sb3IiOnsiJGlkIjoiNDEyIiwiQSI6MjU1LCJSIjoxNTAsIkciOjIxNCwiQiI6NjZ9fSwiSXNWaXNpYmxlIjp0cnVlLCJXaWR0aCI6MC4wLCJIZWlnaHQiOjEwLjAsIkJvcmRlclN0eWxlIjp7IiRpZCI6IjQxMyIsIkxpbmVDb2xvciI6eyIkcmVmIjoiMTExIn0sIkxpbmVXZWlnaHQiOjAuMCwiTGluZVR5cGUiOjAsIlBhcmVudFN0eWxlIjpudWxsfSwiUGFyZW50U3R5bGUiOm51bGx9LCJUaXRsZVN0eWxlIjp7IiRpZCI6IjQxNCIsIkZvbnRTZXR0aW5ncyI6eyIkaWQiOiI0MTUiLCJGb250U2l6ZSI6MTgsIkZvbnROYW1lIjoiQ2FsaWJyaSIsIklzQm9sZCI6dHJ1ZSwiSXNJdGFsaWMiOmZhbHNlLCJJc1VuZGVybGluZWQiOmZhbHNlLCJQYXJlbnRTdHlsZSI6bnVsbH0sIkF1dG9TaXplIjoyLCJGb3JlZ3JvdW5kIjp7IiRpZCI6IjQxNiIsIkNvbG9yIjp7IiRpZCI6IjQxNyIsIkEiOjI1NSwiUiI6MCwiRyI6MCwiQiI6MH19LCJNYXhXaWR0aCI6MjczLjMzMzMxMjk4ODI4MTI1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QxOCIsIkxpbmVDb2xvciI6bnVsbCwiTGluZVdlaWdodCI6MC4wLCJMaW5lVHlwZSI6MCwiUGFyZW50U3R5bGUiOm51bGx9LCJQYXJlbnRTdHlsZSI6bnVsbH0sIkRhdGVTdHlsZSI6eyIkaWQiOiI0MTkiLCJGb250U2V0dGluZ3MiOnsiJGlkIjoiNDIwIiwiRm9udFNpemUiOjEzLCJGb250TmFtZSI6IkNhbGlicmkiLCJJc0JvbGQiOmZhbHNlLCJJc0l0YWxpYyI6ZmFsc2UsIklzVW5kZXJsaW5lZCI6ZmFsc2UsIlBhcmVudFN0eWxlIjpudWxsfSwiQXV0b1NpemUiOjIsIkZvcmVncm91bmQiOnsiJGlkIjoiNDIxIiwiQ29sb3IiOnsiJGlkIjoiNDIyIiwiQSI6MjU1LCJSIjo2OCwiRyI6ODQsIkIiOjEwNn19LCJNYXhXaWR0aCI6NjkuMzMzMzA1MzU4ODg2NzE5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QyMyIsIkxpbmVDb2xvciI6bnVsbCwiTGluZVdlaWdodCI6MC4wLCJMaW5lVHlwZSI6MCwiUGFyZW50U3R5bGUiOm51bGx9LCJQYXJlbnRTdHlsZSI6bnVsbH0sIkRhdGVGb3JtYXQiOnsiJHJlZiI6IjIwNiJ9LCJJc1Zpc2libGUiOnRydWUsIlBhcmVudFN0eWxlIjpudWxsfSwiSW5kZXgiOjEwLCJTbWFydER1cmF0aW9uQWN0aXZhdGVkIjpmYWxzZSwiRGF0ZUZvcm1hdCI6eyIkcmVmIjoiMjA2In0sIklkIjoiNGNlYTQ0NTItZGJmYi00N2I1LWJkMTEtNWQ1YzJhYzFhMWJhIiwiSW1wb3J0SWQiOm51bGwsIlRpdGxlIjoiQ29ycG9yYXRlIEJhbmtpbmcgSW1wbGVtZW50YXRpb24iLCJOb3RlIjpudWxsLCJIeXBlcmxpbmsiOnsiJGlkIjoiNDI0IiwiQWRkcmVzcyI6bnVsbCwiU3ViQWRkcmVzcyI6bnVsbH0sIklzQ2hhbmdlZCI6ZmFsc2UsIklzTmV3IjpmYWxzZX1dLCJTd2ltbGFuZXMiOltdLCJNc1Byb2plY3RJdGVtc1RyZWUiOnsiJGlkIjoiNDI1IiwiUm9vdCI6eyJJbXBvcnRJZCI6bnVsbCwiSXNJbXBvcnRlZCI6ZmFsc2UsIkNoaWxkcmVuIjpbXX19LCJNZXRhZGF0YSI6eyIkaWQiOiI0MjYiLCJSZWNlbnRDb2xvcnNDb2xsZWN0aW9uIjoiW1wiI0ZGOTZENjQyXCIsXCIjRkYzNTYxOTVcIixcIiNGRjAwOUFBNlwiLFwiI0ZGMUFBQTQyXCIsXCIjRkZGRkQyMDBcIixcIiNGRjZGMzE5OFwiLFwiI0ZGMkRDQ0QzXCIsXCIjRkY4NDc1NEVcIl0ifSwiU2V0dGluZ3MiOnsiJGlkIjoiNDI3IiwiSW1wYU9wdGlvbnMiOnsiJGlkIjoiNDI4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0MjkiLCJVc2VUaW1lIjpmYWxzZSwiV29ya0RheVN0YXJ0IjoiMDA6MDA6MDAiLCJXb3JrRGF5RW5kIjoiMjM6NTk6MDAifSwiTGFzdFVzZWRUZW1wbGF0ZUlkIjoiY2MyNmY4NjMtMjdjZS00ODBlLWE1ODktYjNmMTJmMmQ2ZWIwIn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7E95BB7-831E-4E25-80F3-94728565E23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035E62-F7A9-4709-9788-2DAD6D496E76}"/>
    </a:ext>
  </a:extLst>
</a:theme>
</file>

<file path=ppt/theme/theme3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23DD20-C299-45FE-BE38-3ECFBE876F77}"/>
    </a:ext>
  </a:extLst>
</a:theme>
</file>

<file path=ppt/theme/theme4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401E65E-5FE9-4F80-8D58-5DEB6F901CAD}"/>
    </a:ext>
  </a:extLst>
</a:theme>
</file>

<file path=ppt/theme/theme5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B1C4462-D851-490F-A071-83D9978A48A1}"/>
    </a:ext>
  </a:extLst>
</a:theme>
</file>

<file path=ppt/theme/theme6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035B87-CB5B-410B-9AAC-64B535A96964}"/>
    </a:ext>
  </a:extLst>
</a:theme>
</file>

<file path=ppt/theme/theme7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8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DB0E078-49A4-415F-AB6F-6218604714D1}"/>
    </a:ext>
  </a:extLst>
</a:theme>
</file>

<file path=ppt/theme/theme9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C5C860-9E7D-46C5-84E0-F852A12412EF}"/>
    </a:ext>
  </a:extLst>
</a:theme>
</file>

<file path=ppt/theme/theme10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A915C-8F2B-4AF5-A5F6-2308CCC4A1F7}"/>
    </a:ext>
  </a:extLst>
</a:theme>
</file>

<file path=ppt/theme/theme11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3E576D2-46C1-4D06-A356-1A502FF846C1}"/>
    </a:ext>
  </a:extLst>
</a:theme>
</file>

<file path=ppt/theme/theme12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2007AE9-90AD-4EAB-9E6A-8A0B25333A29}"/>
    </a:ext>
  </a:extLst>
</a:theme>
</file>

<file path=ppt/theme/theme13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BD8E73B-8D44-47DC-B9DD-454DC4A8F8C3}"/>
    </a:ext>
  </a:extLst>
</a:theme>
</file>

<file path=ppt/theme/theme14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10C14875-9AB3-47ED-AB71-4C919763E1CD}"/>
    </a:ext>
  </a:extLst>
</a:theme>
</file>

<file path=ppt/theme/theme15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ABA026F-A002-44BA-9B18-62C016E99774}"/>
    </a:ext>
  </a:extLst>
</a:theme>
</file>

<file path=ppt/theme/theme16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287062D-3723-4591-A086-D05B2BEB5C2A}"/>
    </a:ext>
  </a:extLst>
</a:theme>
</file>

<file path=ppt/theme/theme17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308C4A-9746-4EC0-AB22-C9FF9D13EBFE}"/>
    </a:ext>
  </a:extLst>
</a:theme>
</file>

<file path=ppt/theme/theme18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5D8BE8D6-2228-4BBE-AD7B-EA5B02113C31}"/>
    </a:ext>
  </a:extLst>
</a:theme>
</file>

<file path=ppt/theme/theme19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B5999AE-FE2E-47A0-9234-DB1B1F6C3304}"/>
    </a:ext>
  </a:extLst>
</a:theme>
</file>

<file path=ppt/theme/theme20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5733D46-7F88-4C62-A70E-AEFB56884803}"/>
    </a:ext>
  </a:extLst>
</a:theme>
</file>

<file path=ppt/theme/theme21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65B855E7-18DA-4632-A2AC-82399EFB56B2}"/>
    </a:ext>
  </a:extLst>
</a:theme>
</file>

<file path=ppt/theme/theme22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3B8F19F-AEBC-40C9-B21D-FDA96295FBE3}"/>
    </a:ext>
  </a:extLst>
</a:theme>
</file>

<file path=ppt/theme/theme23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8F04F41E-E41C-497B-B29F-CF6A3B05936B}"/>
    </a:ext>
  </a:extLst>
</a:theme>
</file>

<file path=ppt/theme/theme24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7C077-D013-4410-ADA1-95E6C454497A}"/>
    </a:ext>
  </a:extLst>
</a:theme>
</file>

<file path=ppt/theme/theme25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454C1E6-EFBD-401B-AB4C-34E045B7B88A}"/>
    </a:ext>
  </a:extLst>
</a:theme>
</file>

<file path=ppt/theme/theme26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FFE18D8-FEE5-44D0-A7A9-579D76B662FD}"/>
    </a:ext>
  </a:extLst>
</a:theme>
</file>

<file path=ppt/theme/theme27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F7E41F-42DE-4DB4-8A8A-5D9990EA9F79}"/>
    </a:ext>
  </a:extLst>
</a:theme>
</file>

<file path=ppt/theme/theme28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3B89475-9F16-4323-A97E-5AD303D66C1F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E1CE2D-8860-45EE-B42B-7F1F2DFE5D1A}"/>
</file>

<file path=customXml/itemProps2.xml><?xml version="1.0" encoding="utf-8"?>
<ds:datastoreItem xmlns:ds="http://schemas.openxmlformats.org/officeDocument/2006/customXml" ds:itemID="{CC100BFB-05BA-43A2-A6A8-CCD857AB6036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4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2F37C70-958F-4DCA-AB92-6D4B36489C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1453</TotalTime>
  <Words>949</Words>
  <Application>Microsoft Office PowerPoint</Application>
  <PresentationFormat>On-screen Show (16:9)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28</vt:i4>
      </vt:variant>
      <vt:variant>
        <vt:lpstr>Slide Titles</vt:lpstr>
      </vt:variant>
      <vt:variant>
        <vt:i4>18</vt:i4>
      </vt:variant>
    </vt:vector>
  </HeadingPairs>
  <TitlesOfParts>
    <vt:vector size="51" baseType="lpstr">
      <vt:lpstr>Arial</vt:lpstr>
      <vt:lpstr>Calibri</vt:lpstr>
      <vt:lpstr>Calibri Light</vt:lpstr>
      <vt:lpstr>Frutiger LT Std 57 Cn</vt:lpstr>
      <vt:lpstr>Wingdings</vt:lpstr>
      <vt:lpstr>Title Slide Option 1</vt:lpstr>
      <vt:lpstr>Custom Design</vt:lpstr>
      <vt:lpstr>1 Primary Gold - Section Title</vt:lpstr>
      <vt:lpstr>1 Primary Gold - Section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Jekabson</dc:creator>
  <cp:lastModifiedBy>Jogi Nijjar</cp:lastModifiedBy>
  <cp:revision>75</cp:revision>
  <cp:lastPrinted>2014-01-17T22:29:57Z</cp:lastPrinted>
  <dcterms:created xsi:type="dcterms:W3CDTF">2019-08-22T20:18:03Z</dcterms:created>
  <dcterms:modified xsi:type="dcterms:W3CDTF">2020-04-28T13:18:30Z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149000</vt:r8>
  </property>
  <property fmtid="{D5CDD505-2E9C-101B-9397-08002B2CF9AE}" pid="4" name="URL">
    <vt:lpwstr/>
  </property>
</Properties>
</file>