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slides/slide36.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37.xml" ContentType="application/vnd.openxmlformats-officedocument.presentationml.slide+xml"/>
  <Override PartName="/ppt/presentation.xml" ContentType="application/vnd.openxmlformats-officedocument.presentationml.presentation.main+xml"/>
  <Override PartName="/ppt/slides/slide35.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0.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6.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29.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20.xml" ContentType="application/vnd.openxmlformats-officedocument.presentationml.slideMaster+xml"/>
  <Override PartName="/ppt/slideMasters/slideMaster19.xml" ContentType="application/vnd.openxmlformats-officedocument.presentationml.slideMaster+xml"/>
  <Override PartName="/ppt/slideMasters/slideMaster18.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7.xml" ContentType="application/vnd.openxmlformats-officedocument.presentationml.slideMaster+xml"/>
  <Override PartName="/ppt/slideMasters/slideMaster26.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15.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4.xml" ContentType="application/vnd.openxmlformats-officedocument.presentationml.slideMaster+xml"/>
  <Override PartName="/ppt/slideMasters/slideMaster13.xml" ContentType="application/vnd.openxmlformats-officedocument.presentationml.slideMaster+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slideLayouts/slideLayout4.xml" ContentType="application/vnd.openxmlformats-officedocument.presentationml.slideLayout+xml"/>
  <Override PartName="/ppt/slideLayouts/slideLayout20.xml" ContentType="application/vnd.openxmlformats-officedocument.presentationml.slideLayout+xml"/>
  <Override PartName="/ppt/slideLayouts/slideLayout30.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23.xml" ContentType="application/vnd.openxmlformats-officedocument.presentationml.slideLayout+xml"/>
  <Override PartName="/ppt/slideLayouts/slideLayout31.xml" ContentType="application/vnd.openxmlformats-officedocument.presentationml.slideLayout+xml"/>
  <Override PartName="/ppt/slideLayouts/slideLayout33.xml" ContentType="application/vnd.openxmlformats-officedocument.presentationml.slideLayout+xml"/>
  <Override PartName="/ppt/slideLayouts/slideLayout1.xml" ContentType="application/vnd.openxmlformats-officedocument.presentationml.slideLayout+xml"/>
  <Override PartName="/ppt/slideLayouts/slideLayout32.xml" ContentType="application/vnd.openxmlformats-officedocument.presentationml.slideLayout+xml"/>
  <Override PartName="/ppt/slideLayouts/slideLayout2.xml" ContentType="application/vnd.openxmlformats-officedocument.presentationml.slideLayout+xml"/>
  <Override PartName="/ppt/slideLayouts/slideLayout27.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28.xml" ContentType="application/vnd.openxmlformats-officedocument.presentationml.slideLayout+xml"/>
  <Override PartName="/ppt/slideLayouts/slideLayout13.xml" ContentType="application/vnd.openxmlformats-officedocument.presentationml.slideLayout+xml"/>
  <Override PartName="/ppt/slideLayouts/slideLayout18.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9.xml" ContentType="application/vnd.openxmlformats-officedocument.presentationml.slideLayout+xml"/>
  <Override PartName="/ppt/slideLayouts/slideLayout12.xml" ContentType="application/vnd.openxmlformats-officedocument.presentationml.slideLayout+xml"/>
  <Override PartName="/ppt/slideLayouts/slideLayout29.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7.xml" ContentType="application/vnd.openxmlformats-officedocument.presentationml.slideLayout+xml"/>
  <Override PartName="/ppt/slideLayouts/slideLayout57.xml" ContentType="application/vnd.openxmlformats-officedocument.presentationml.slideLayout+xml"/>
  <Override PartName="/ppt/slideLayouts/slideLayout35.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40.xml" ContentType="application/vnd.openxmlformats-officedocument.presentationml.slideLayout+xml"/>
  <Override PartName="/ppt/slideLayouts/slideLayout47.xml" ContentType="application/vnd.openxmlformats-officedocument.presentationml.slideLayout+xml"/>
  <Override PartName="/ppt/slideLayouts/slideLayout46.xml" ContentType="application/vnd.openxmlformats-officedocument.presentationml.slideLayout+xml"/>
  <Override PartName="/ppt/slideLayouts/slideLayout41.xml" ContentType="application/vnd.openxmlformats-officedocument.presentationml.slideLayout+xml"/>
  <Override PartName="/ppt/slideLayouts/slideLayout44.xml" ContentType="application/vnd.openxmlformats-officedocument.presentationml.slideLayout+xml"/>
  <Override PartName="/ppt/slideLayouts/slideLayout43.xml" ContentType="application/vnd.openxmlformats-officedocument.presentationml.slideLayout+xml"/>
  <Override PartName="/ppt/slideLayouts/slideLayout42.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39.xml" ContentType="application/vnd.openxmlformats-officedocument.presentationml.slideLayout+xml"/>
  <Override PartName="/ppt/slideLayouts/slideLayout38.xml" ContentType="application/vnd.openxmlformats-officedocument.presentationml.slideLayout+xml"/>
  <Override PartName="/ppt/slideLayouts/slideLayout36.xml" ContentType="application/vnd.openxmlformats-officedocument.presentationml.slideLayout+xml"/>
  <Override PartName="/ppt/slideLayouts/slideLayout55.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56.xml" ContentType="application/vnd.openxmlformats-officedocument.presentationml.slideLayout+xml"/>
  <Override PartName="/ppt/slideLayouts/slideLayout52.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24.xml" ContentType="application/vnd.openxmlformats-officedocument.presentationml.slideLayout+xml"/>
  <Override PartName="/ppt/slideLayouts/slideLayout37.xml" ContentType="application/vnd.openxmlformats-officedocument.presentationml.slideLayout+xml"/>
  <Override PartName="/ppt/theme/theme12.xml" ContentType="application/vnd.openxmlformats-officedocument.theme+xml"/>
  <Override PartName="/ppt/charts/style8.xml" ContentType="application/vnd.ms-office.chartstyle+xml"/>
  <Override PartName="/ppt/theme/theme13.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theme/theme18.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4.xml" ContentType="application/vnd.openxmlformats-officedocument.theme+xml"/>
  <Override PartName="/ppt/theme/theme3.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11.xml" ContentType="application/vnd.openxmlformats-officedocument.theme+xml"/>
  <Override PartName="/ppt/charts/chart8.xml" ContentType="application/vnd.openxmlformats-officedocument.drawingml.chart+xml"/>
  <Override PartName="/ppt/theme/theme19.xml" ContentType="application/vnd.openxmlformats-officedocument.theme+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hart19.xml" ContentType="application/vnd.openxmlformats-officedocument.drawingml.chart+xml"/>
  <Override PartName="/ppt/charts/colors18.xml" ContentType="application/vnd.ms-office.chartcolorstyle+xml"/>
  <Override PartName="/ppt/charts/style18.xml" ContentType="application/vnd.ms-office.chartstyle+xml"/>
  <Override PartName="/ppt/charts/chart18.xml" ContentType="application/vnd.openxmlformats-officedocument.drawingml.chart+xml"/>
  <Override PartName="/ppt/charts/colors17.xml" ContentType="application/vnd.ms-office.chartcolorstyle+xml"/>
  <Override PartName="/ppt/charts/style17.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3.xml" ContentType="application/vnd.ms-office.chartcolorstyl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charts/style23.xml" ContentType="application/vnd.ms-office.chartstyle+xml"/>
  <Override PartName="/ppt/charts/chart23.xml" ContentType="application/vnd.openxmlformats-officedocument.drawingml.chart+xml"/>
  <Override PartName="/ppt/charts/colors22.xml" ContentType="application/vnd.ms-office.chartcolorstyle+xml"/>
  <Override PartName="/ppt/charts/style22.xml" ContentType="application/vnd.ms-office.chartstyle+xml"/>
  <Override PartName="/ppt/charts/chart22.xml" ContentType="application/vnd.openxmlformats-officedocument.drawingml.chart+xml"/>
  <Override PartName="/ppt/charts/colors21.xml" ContentType="application/vnd.ms-office.chartcolorstyle+xml"/>
  <Override PartName="/ppt/charts/chart17.xml" ContentType="application/vnd.openxmlformats-officedocument.drawingml.chart+xml"/>
  <Override PartName="/ppt/charts/colors16.xml" ContentType="application/vnd.ms-office.chartcolorstyle+xml"/>
  <Override PartName="/ppt/charts/style16.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style10.xml" ContentType="application/vnd.ms-office.chartstyle+xml"/>
  <Override PartName="/ppt/charts/chart10.xml" ContentType="application/vnd.openxmlformats-officedocument.drawingml.chart+xml"/>
  <Override PartName="/ppt/charts/colors9.xml" ContentType="application/vnd.ms-office.chartcolorstyle+xml"/>
  <Override PartName="/ppt/charts/style9.xml" ContentType="application/vnd.ms-office.chartstyle+xml"/>
  <Override PartName="/ppt/charts/chart9.xml" ContentType="application/vnd.openxmlformats-officedocument.drawingml.chart+xml"/>
  <Override PartName="/ppt/charts/colors8.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colors14.xml" ContentType="application/vnd.ms-office.chartcolorstyle+xml"/>
  <Override PartName="/ppt/charts/style14.xml" ContentType="application/vnd.ms-office.chartstyle+xml"/>
  <Override PartName="/ppt/charts/chart14.xml" ContentType="application/vnd.openxmlformats-officedocument.drawingml.chart+xml"/>
  <Override PartName="/ppt/charts/colors13.xml" ContentType="application/vnd.ms-office.chartcolorstyle+xml"/>
  <Override PartName="/ppt/charts/style13.xml" ContentType="application/vnd.ms-office.chartstyle+xml"/>
  <Override PartName="/ppt/charts/chart13.xml" ContentType="application/vnd.openxmlformats-officedocument.drawingml.chart+xml"/>
  <Override PartName="/ppt/charts/chart25.xml" ContentType="application/vnd.openxmlformats-officedocument.drawingml.chart+xml"/>
  <Override PartName="/ppt/charts/colors25.xml" ContentType="application/vnd.ms-office.chartcolorstyle+xml"/>
  <Override PartName="/ppt/theme/theme29.xml" ContentType="application/vnd.openxmlformats-officedocument.theme+xml"/>
  <Override PartName="/ppt/theme/theme28.xml" ContentType="application/vnd.openxmlformats-officedocument.theme+xml"/>
  <Override PartName="/ppt/theme/theme27.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2.xml" ContentType="application/vnd.ms-office.chartcolorstyle+xml"/>
  <Override PartName="/ppt/charts/style2.xml" ContentType="application/vnd.ms-office.chartstyle+xml"/>
  <Override PartName="/ppt/charts/chart2.xml" ContentType="application/vnd.openxmlformats-officedocument.drawingml.chart+xml"/>
  <Override PartName="/ppt/charts/colors1.xml" ContentType="application/vnd.ms-office.chartcolorstyle+xml"/>
  <Override PartName="/ppt/theme/theme26.xml" ContentType="application/vnd.openxmlformats-officedocument.theme+xml"/>
  <Override PartName="/ppt/theme/theme21.xml" ContentType="application/vnd.openxmlformats-officedocument.theme+xml"/>
  <Override PartName="/ppt/theme/theme20.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5.xml" ContentType="application/vnd.openxmlformats-officedocument.theme+xml"/>
  <Override PartName="/ppt/theme/theme24.xml" ContentType="application/vnd.openxmlformats-officedocument.them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olors7.xml" ContentType="application/vnd.ms-office.chartcolorstyle+xml"/>
  <Override PartName="/ppt/charts/style7.xml" ContentType="application/vnd.ms-office.chartstyle+xml"/>
  <Override PartName="/ppt/charts/chart7.xml" ContentType="application/vnd.openxmlformats-officedocument.drawingml.chart+xml"/>
  <Override PartName="/ppt/charts/colors27.xml" ContentType="application/vnd.ms-office.chartcolorstyle+xml"/>
  <Override PartName="/ppt/charts/style27.xml" ContentType="application/vnd.ms-office.chartstyle+xml"/>
  <Override PartName="/ppt/charts/chart27.xml" ContentType="application/vnd.openxmlformats-officedocument.drawingml.chart+xml"/>
  <Override PartName="/ppt/charts/colors26.xml" ContentType="application/vnd.ms-office.chartcolorstyle+xml"/>
  <Override PartName="/ppt/charts/style26.xml" ContentType="application/vnd.ms-office.chartstyle+xml"/>
  <Override PartName="/ppt/charts/chart26.xml" ContentType="application/vnd.openxmlformats-officedocument.drawingml.chart+xml"/>
  <Override PartName="/ppt/charts/style25.xml" ContentType="application/vnd.ms-office.chartstyle+xml"/>
  <Override PartName="/ppt/charts/colors6.xml" ContentType="application/vnd.ms-office.chartcolorstyle+xml"/>
  <Override PartName="/ppt/charts/chart6.xml" ContentType="application/vnd.openxmlformats-officedocument.drawingml.chart+xml"/>
  <Override PartName="/ppt/charts/chart4.xml" ContentType="application/vnd.openxmlformats-officedocument.drawingml.chart+xml"/>
  <Override PartName="/ppt/charts/style4.xml" ContentType="application/vnd.ms-office.chartstyle+xml"/>
  <Override PartName="/ppt/charts/style6.xml" ContentType="application/vnd.ms-office.chartstyle+xml"/>
  <Override PartName="/ppt/charts/chart5.xml" ContentType="application/vnd.openxmlformats-officedocument.drawingml.chart+xml"/>
  <Override PartName="/ppt/charts/colors4.xml" ContentType="application/vnd.ms-office.chartcolorstyle+xml"/>
  <Override PartName="/ppt/charts/colors5.xml" ContentType="application/vnd.ms-office.chartcolorstyle+xml"/>
  <Override PartName="/ppt/charts/style5.xml" ContentType="application/vnd.ms-office.chartstyl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 Id="rId6" Type="http://schemas.microsoft.com/office/2020/02/relationships/classificationlabels" Target="docMetadata/LabelInfo.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4" r:id="rId1"/>
    <p:sldMasterId id="2147483701" r:id="rId2"/>
    <p:sldMasterId id="2147483709" r:id="rId3"/>
    <p:sldMasterId id="2147483699" r:id="rId4"/>
    <p:sldMasterId id="2147483711" r:id="rId5"/>
    <p:sldMasterId id="2147483800" r:id="rId6"/>
    <p:sldMasterId id="2147483758" r:id="rId7"/>
    <p:sldMasterId id="2147483715" r:id="rId8"/>
    <p:sldMasterId id="2147483808" r:id="rId9"/>
    <p:sldMasterId id="2147483785" r:id="rId10"/>
    <p:sldMasterId id="2147483707" r:id="rId11"/>
    <p:sldMasterId id="2147483816" r:id="rId12"/>
    <p:sldMasterId id="2147483783" r:id="rId13"/>
    <p:sldMasterId id="2147483713" r:id="rId14"/>
    <p:sldMasterId id="2147483823" r:id="rId15"/>
    <p:sldMasterId id="2147483763" r:id="rId16"/>
    <p:sldMasterId id="2147483717" r:id="rId17"/>
    <p:sldMasterId id="2147483830" r:id="rId18"/>
    <p:sldMasterId id="2147483773" r:id="rId19"/>
    <p:sldMasterId id="2147483719" r:id="rId20"/>
    <p:sldMasterId id="2147483837" r:id="rId21"/>
    <p:sldMasterId id="2147483729" r:id="rId22"/>
    <p:sldMasterId id="2147483796" r:id="rId23"/>
    <p:sldMasterId id="2147483846" r:id="rId24"/>
    <p:sldMasterId id="2147483727" r:id="rId25"/>
    <p:sldMasterId id="2147483725" r:id="rId26"/>
    <p:sldMasterId id="2147483798" r:id="rId27"/>
  </p:sldMasterIdLst>
  <p:notesMasterIdLst>
    <p:notesMasterId r:id="rId75"/>
  </p:notesMasterIdLst>
  <p:handoutMasterIdLst>
    <p:handoutMasterId r:id="rId76"/>
  </p:handoutMasterIdLst>
  <p:sldIdLst>
    <p:sldId id="394" r:id="rId28"/>
    <p:sldId id="446" r:id="rId29"/>
    <p:sldId id="447" r:id="rId30"/>
    <p:sldId id="449" r:id="rId31"/>
    <p:sldId id="451" r:id="rId32"/>
    <p:sldId id="452" r:id="rId33"/>
    <p:sldId id="453" r:id="rId34"/>
    <p:sldId id="455" r:id="rId35"/>
    <p:sldId id="458" r:id="rId36"/>
    <p:sldId id="459" r:id="rId37"/>
    <p:sldId id="460" r:id="rId38"/>
    <p:sldId id="495" r:id="rId39"/>
    <p:sldId id="457" r:id="rId40"/>
    <p:sldId id="462" r:id="rId41"/>
    <p:sldId id="463" r:id="rId42"/>
    <p:sldId id="419" r:id="rId43"/>
    <p:sldId id="420" r:id="rId44"/>
    <p:sldId id="434" r:id="rId45"/>
    <p:sldId id="464" r:id="rId46"/>
    <p:sldId id="465" r:id="rId47"/>
    <p:sldId id="466" r:id="rId48"/>
    <p:sldId id="467" r:id="rId49"/>
    <p:sldId id="468" r:id="rId50"/>
    <p:sldId id="469" r:id="rId51"/>
    <p:sldId id="470" r:id="rId52"/>
    <p:sldId id="471" r:id="rId53"/>
    <p:sldId id="472" r:id="rId54"/>
    <p:sldId id="473" r:id="rId55"/>
    <p:sldId id="474" r:id="rId56"/>
    <p:sldId id="475" r:id="rId57"/>
    <p:sldId id="476" r:id="rId58"/>
    <p:sldId id="477" r:id="rId59"/>
    <p:sldId id="478" r:id="rId60"/>
    <p:sldId id="479" r:id="rId61"/>
    <p:sldId id="480" r:id="rId62"/>
    <p:sldId id="483" r:id="rId63"/>
    <p:sldId id="484" r:id="rId64"/>
    <p:sldId id="485" r:id="rId65"/>
    <p:sldId id="486" r:id="rId66"/>
    <p:sldId id="487" r:id="rId67"/>
    <p:sldId id="490" r:id="rId68"/>
    <p:sldId id="491" r:id="rId69"/>
    <p:sldId id="492" r:id="rId70"/>
    <p:sldId id="494" r:id="rId71"/>
    <p:sldId id="493" r:id="rId72"/>
    <p:sldId id="482" r:id="rId73"/>
    <p:sldId id="415" r:id="rId74"/>
  </p:sldIdLst>
  <p:sldSz cx="9144000" cy="5143500" type="screen16x9"/>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6F996B7-47AF-4247-8670-70E5F65A34DD}">
          <p14:sldIdLst>
            <p14:sldId id="394"/>
            <p14:sldId id="446"/>
            <p14:sldId id="447"/>
            <p14:sldId id="449"/>
            <p14:sldId id="451"/>
            <p14:sldId id="452"/>
            <p14:sldId id="453"/>
            <p14:sldId id="455"/>
            <p14:sldId id="458"/>
            <p14:sldId id="459"/>
            <p14:sldId id="460"/>
            <p14:sldId id="495"/>
            <p14:sldId id="457"/>
            <p14:sldId id="462"/>
            <p14:sldId id="463"/>
            <p14:sldId id="419"/>
            <p14:sldId id="420"/>
            <p14:sldId id="434"/>
            <p14:sldId id="464"/>
            <p14:sldId id="465"/>
            <p14:sldId id="466"/>
            <p14:sldId id="467"/>
            <p14:sldId id="468"/>
            <p14:sldId id="469"/>
            <p14:sldId id="470"/>
            <p14:sldId id="471"/>
            <p14:sldId id="472"/>
            <p14:sldId id="473"/>
            <p14:sldId id="474"/>
            <p14:sldId id="475"/>
            <p14:sldId id="476"/>
            <p14:sldId id="477"/>
            <p14:sldId id="478"/>
            <p14:sldId id="479"/>
            <p14:sldId id="480"/>
            <p14:sldId id="483"/>
            <p14:sldId id="484"/>
            <p14:sldId id="485"/>
            <p14:sldId id="486"/>
            <p14:sldId id="487"/>
            <p14:sldId id="490"/>
            <p14:sldId id="491"/>
            <p14:sldId id="492"/>
            <p14:sldId id="494"/>
            <p14:sldId id="493"/>
            <p14:sldId id="482"/>
            <p14:sldId id="415"/>
          </p14:sldIdLst>
        </p14:section>
      </p14:sectionLst>
    </p:ext>
    <p:ext uri="{EFAFB233-063F-42B5-8137-9DF3F51BA10A}">
      <p15:sldGuideLst xmlns:p15="http://schemas.microsoft.com/office/powerpoint/2012/main">
        <p15:guide id="1" orient="horz" pos="1620">
          <p15:clr>
            <a:srgbClr val="A4A3A4"/>
          </p15:clr>
        </p15:guide>
        <p15:guide id="2" pos="2879">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7A9"/>
    <a:srgbClr val="003B5C"/>
    <a:srgbClr val="E7EFF1"/>
    <a:srgbClr val="BAC5B9"/>
    <a:srgbClr val="A9ACA0"/>
    <a:srgbClr val="2DCCD3"/>
    <a:srgbClr val="FF8200"/>
    <a:srgbClr val="84754E"/>
    <a:srgbClr val="DAAA00"/>
    <a:srgbClr val="FFD2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23" autoAdjust="0"/>
    <p:restoredTop sz="94935" autoAdjust="0"/>
  </p:normalViewPr>
  <p:slideViewPr>
    <p:cSldViewPr snapToGrid="0">
      <p:cViewPr varScale="1">
        <p:scale>
          <a:sx n="152" d="100"/>
          <a:sy n="152" d="100"/>
        </p:scale>
        <p:origin x="378" y="156"/>
      </p:cViewPr>
      <p:guideLst>
        <p:guide orient="horz" pos="1620"/>
        <p:guide pos="2879"/>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3" d="100"/>
          <a:sy n="83" d="100"/>
        </p:scale>
        <p:origin x="3816" y="108"/>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Master" Target="slideMasters/slideMaster26.xml"/><Relationship Id="rId21" Type="http://schemas.openxmlformats.org/officeDocument/2006/relationships/slideMaster" Target="slideMasters/slideMaster21.xml"/><Relationship Id="rId42" Type="http://schemas.openxmlformats.org/officeDocument/2006/relationships/slide" Target="slides/slide15.xml"/><Relationship Id="rId47" Type="http://schemas.openxmlformats.org/officeDocument/2006/relationships/slide" Target="slides/slide20.xml"/><Relationship Id="rId63" Type="http://schemas.openxmlformats.org/officeDocument/2006/relationships/slide" Target="slides/slide36.xml"/><Relationship Id="rId68" Type="http://schemas.openxmlformats.org/officeDocument/2006/relationships/slide" Target="slides/slide41.xml"/><Relationship Id="rId16" Type="http://schemas.openxmlformats.org/officeDocument/2006/relationships/slideMaster" Target="slideMasters/slideMaster16.xml"/><Relationship Id="rId11" Type="http://schemas.openxmlformats.org/officeDocument/2006/relationships/slideMaster" Target="slideMasters/slideMaster11.xml"/><Relationship Id="rId32" Type="http://schemas.openxmlformats.org/officeDocument/2006/relationships/slide" Target="slides/slide5.xml"/><Relationship Id="rId37" Type="http://schemas.openxmlformats.org/officeDocument/2006/relationships/slide" Target="slides/slide10.xml"/><Relationship Id="rId53" Type="http://schemas.openxmlformats.org/officeDocument/2006/relationships/slide" Target="slides/slide26.xml"/><Relationship Id="rId58" Type="http://schemas.openxmlformats.org/officeDocument/2006/relationships/slide" Target="slides/slide31.xml"/><Relationship Id="rId74" Type="http://schemas.openxmlformats.org/officeDocument/2006/relationships/slide" Target="slides/slide47.xml"/><Relationship Id="rId79" Type="http://schemas.openxmlformats.org/officeDocument/2006/relationships/theme" Target="theme/theme1.xml"/><Relationship Id="rId5" Type="http://schemas.openxmlformats.org/officeDocument/2006/relationships/slideMaster" Target="slideMasters/slideMaster5.xml"/><Relationship Id="rId61" Type="http://schemas.openxmlformats.org/officeDocument/2006/relationships/slide" Target="slides/slide34.xml"/><Relationship Id="rId82" Type="http://schemas.openxmlformats.org/officeDocument/2006/relationships/customXml" Target="../customXml/item2.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30" Type="http://schemas.openxmlformats.org/officeDocument/2006/relationships/slide" Target="slides/slide3.xml"/><Relationship Id="rId35" Type="http://schemas.openxmlformats.org/officeDocument/2006/relationships/slide" Target="slides/slide8.xml"/><Relationship Id="rId43" Type="http://schemas.openxmlformats.org/officeDocument/2006/relationships/slide" Target="slides/slide16.xml"/><Relationship Id="rId48" Type="http://schemas.openxmlformats.org/officeDocument/2006/relationships/slide" Target="slides/slide21.xml"/><Relationship Id="rId56" Type="http://schemas.openxmlformats.org/officeDocument/2006/relationships/slide" Target="slides/slide29.xml"/><Relationship Id="rId64" Type="http://schemas.openxmlformats.org/officeDocument/2006/relationships/slide" Target="slides/slide37.xml"/><Relationship Id="rId69" Type="http://schemas.openxmlformats.org/officeDocument/2006/relationships/slide" Target="slides/slide42.xml"/><Relationship Id="rId77"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slide" Target="slides/slide24.xml"/><Relationship Id="rId72" Type="http://schemas.openxmlformats.org/officeDocument/2006/relationships/slide" Target="slides/slide45.xml"/><Relationship Id="rId80"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 Target="slides/slide6.xml"/><Relationship Id="rId38" Type="http://schemas.openxmlformats.org/officeDocument/2006/relationships/slide" Target="slides/slide11.xml"/><Relationship Id="rId46" Type="http://schemas.openxmlformats.org/officeDocument/2006/relationships/slide" Target="slides/slide19.xml"/><Relationship Id="rId59" Type="http://schemas.openxmlformats.org/officeDocument/2006/relationships/slide" Target="slides/slide32.xml"/><Relationship Id="rId67" Type="http://schemas.openxmlformats.org/officeDocument/2006/relationships/slide" Target="slides/slide40.xml"/><Relationship Id="rId20" Type="http://schemas.openxmlformats.org/officeDocument/2006/relationships/slideMaster" Target="slideMasters/slideMaster20.xml"/><Relationship Id="rId41" Type="http://schemas.openxmlformats.org/officeDocument/2006/relationships/slide" Target="slides/slide14.xml"/><Relationship Id="rId54" Type="http://schemas.openxmlformats.org/officeDocument/2006/relationships/slide" Target="slides/slide27.xml"/><Relationship Id="rId62" Type="http://schemas.openxmlformats.org/officeDocument/2006/relationships/slide" Target="slides/slide35.xml"/><Relationship Id="rId70" Type="http://schemas.openxmlformats.org/officeDocument/2006/relationships/slide" Target="slides/slide43.xml"/><Relationship Id="rId75" Type="http://schemas.openxmlformats.org/officeDocument/2006/relationships/notesMaster" Target="notesMasters/notesMaster1.xml"/><Relationship Id="rId83"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 Target="slides/slide1.xml"/><Relationship Id="rId36" Type="http://schemas.openxmlformats.org/officeDocument/2006/relationships/slide" Target="slides/slide9.xml"/><Relationship Id="rId49" Type="http://schemas.openxmlformats.org/officeDocument/2006/relationships/slide" Target="slides/slide22.xml"/><Relationship Id="rId57" Type="http://schemas.openxmlformats.org/officeDocument/2006/relationships/slide" Target="slides/slide30.xml"/><Relationship Id="rId10" Type="http://schemas.openxmlformats.org/officeDocument/2006/relationships/slideMaster" Target="slideMasters/slideMaster10.xml"/><Relationship Id="rId31" Type="http://schemas.openxmlformats.org/officeDocument/2006/relationships/slide" Target="slides/slide4.xml"/><Relationship Id="rId44" Type="http://schemas.openxmlformats.org/officeDocument/2006/relationships/slide" Target="slides/slide17.xml"/><Relationship Id="rId52" Type="http://schemas.openxmlformats.org/officeDocument/2006/relationships/slide" Target="slides/slide25.xml"/><Relationship Id="rId60" Type="http://schemas.openxmlformats.org/officeDocument/2006/relationships/slide" Target="slides/slide33.xml"/><Relationship Id="rId65" Type="http://schemas.openxmlformats.org/officeDocument/2006/relationships/slide" Target="slides/slide38.xml"/><Relationship Id="rId73" Type="http://schemas.openxmlformats.org/officeDocument/2006/relationships/slide" Target="slides/slide46.xml"/><Relationship Id="rId78" Type="http://schemas.openxmlformats.org/officeDocument/2006/relationships/viewProps" Target="viewProps.xml"/><Relationship Id="rId81" Type="http://schemas.openxmlformats.org/officeDocument/2006/relationships/customXml" Target="../customXml/item1.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 Target="slides/slide12.xml"/><Relationship Id="rId34" Type="http://schemas.openxmlformats.org/officeDocument/2006/relationships/slide" Target="slides/slide7.xml"/><Relationship Id="rId50" Type="http://schemas.openxmlformats.org/officeDocument/2006/relationships/slide" Target="slides/slide23.xml"/><Relationship Id="rId55" Type="http://schemas.openxmlformats.org/officeDocument/2006/relationships/slide" Target="slides/slide28.xml"/><Relationship Id="rId76" Type="http://schemas.openxmlformats.org/officeDocument/2006/relationships/handoutMaster" Target="handoutMasters/handoutMaster1.xml"/><Relationship Id="rId7" Type="http://schemas.openxmlformats.org/officeDocument/2006/relationships/slideMaster" Target="slideMasters/slideMaster7.xml"/><Relationship Id="rId71" Type="http://schemas.openxmlformats.org/officeDocument/2006/relationships/slide" Target="slides/slide44.xml"/><Relationship Id="rId2" Type="http://schemas.openxmlformats.org/officeDocument/2006/relationships/slideMaster" Target="slideMasters/slideMaster2.xml"/><Relationship Id="rId29" Type="http://schemas.openxmlformats.org/officeDocument/2006/relationships/slide" Target="slides/slide2.xml"/><Relationship Id="rId24" Type="http://schemas.openxmlformats.org/officeDocument/2006/relationships/slideMaster" Target="slideMasters/slideMaster24.xml"/><Relationship Id="rId40" Type="http://schemas.openxmlformats.org/officeDocument/2006/relationships/slide" Target="slides/slide13.xml"/><Relationship Id="rId45" Type="http://schemas.openxmlformats.org/officeDocument/2006/relationships/slide" Target="slides/slide18.xml"/><Relationship Id="rId66" Type="http://schemas.openxmlformats.org/officeDocument/2006/relationships/slide" Target="slides/slide39.xml"/></Relationships>
</file>

<file path=ppt/charts/_rels/chart1.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24.xml"/><Relationship Id="rId1" Type="http://schemas.microsoft.com/office/2011/relationships/chartStyle" Target="style24.xml"/></Relationships>
</file>

<file path=ppt/charts/_rels/chart25.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25.xml"/><Relationship Id="rId1" Type="http://schemas.microsoft.com/office/2011/relationships/chartStyle" Target="style25.xml"/></Relationships>
</file>

<file path=ppt/charts/_rels/chart26.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26.xml"/><Relationship Id="rId1" Type="http://schemas.microsoft.com/office/2011/relationships/chartStyle" Target="style26.xml"/></Relationships>
</file>

<file path=ppt/charts/_rels/chart27.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27.xml"/><Relationship Id="rId1" Type="http://schemas.microsoft.com/office/2011/relationships/chartStyle" Target="style2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Outstanding Balance by Province</a:t>
            </a:r>
          </a:p>
        </c:rich>
      </c:tx>
      <c:layout>
        <c:manualLayout>
          <c:xMode val="edge"/>
          <c:yMode val="edge"/>
          <c:x val="0.22862222222222223"/>
          <c:y val="2.3518518518518518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Composition'!$G$3:$G$11</c:f>
              <c:strCache>
                <c:ptCount val="9"/>
                <c:pt idx="0">
                  <c:v>ON</c:v>
                </c:pt>
                <c:pt idx="1">
                  <c:v>AB</c:v>
                </c:pt>
                <c:pt idx="2">
                  <c:v>QC</c:v>
                </c:pt>
                <c:pt idx="3">
                  <c:v>BC</c:v>
                </c:pt>
                <c:pt idx="4">
                  <c:v>SK</c:v>
                </c:pt>
                <c:pt idx="5">
                  <c:v>MB</c:v>
                </c:pt>
                <c:pt idx="6">
                  <c:v>NB</c:v>
                </c:pt>
                <c:pt idx="7">
                  <c:v>NS</c:v>
                </c:pt>
                <c:pt idx="8">
                  <c:v>Other</c:v>
                </c:pt>
              </c:strCache>
            </c:strRef>
          </c:cat>
          <c:val>
            <c:numRef>
              <c:f>'SBE2 Composition'!$H$3:$H$11</c:f>
              <c:numCache>
                <c:formatCode>0.00%</c:formatCode>
                <c:ptCount val="9"/>
                <c:pt idx="0">
                  <c:v>0.2904432841928804</c:v>
                </c:pt>
                <c:pt idx="1">
                  <c:v>0.21113320135479616</c:v>
                </c:pt>
                <c:pt idx="2">
                  <c:v>0.16394043627146562</c:v>
                </c:pt>
                <c:pt idx="3">
                  <c:v>0.13529710625813554</c:v>
                </c:pt>
                <c:pt idx="4">
                  <c:v>7.9472309821123507E-2</c:v>
                </c:pt>
                <c:pt idx="5">
                  <c:v>5.4826329856663344E-2</c:v>
                </c:pt>
                <c:pt idx="6">
                  <c:v>2.6621933977459822E-2</c:v>
                </c:pt>
                <c:pt idx="7">
                  <c:v>2.3992745023151563E-2</c:v>
                </c:pt>
                <c:pt idx="8">
                  <c:v>1.4272653244324009E-2</c:v>
                </c:pt>
              </c:numCache>
            </c:numRef>
          </c:val>
          <c:extLst>
            <c:ext xmlns:c16="http://schemas.microsoft.com/office/drawing/2014/chart" uri="{C3380CC4-5D6E-409C-BE32-E72D297353CC}">
              <c16:uniqueId val="{00000000-65A4-404A-83E2-BB818CC32CE5}"/>
            </c:ext>
          </c:extLst>
        </c:ser>
        <c:dLbls>
          <c:dLblPos val="outEnd"/>
          <c:showLegendKey val="0"/>
          <c:showVal val="1"/>
          <c:showCatName val="0"/>
          <c:showSerName val="0"/>
          <c:showPercent val="0"/>
          <c:showBubbleSize val="0"/>
        </c:dLbls>
        <c:gapWidth val="182"/>
        <c:axId val="693129072"/>
        <c:axId val="693129400"/>
      </c:barChart>
      <c:catAx>
        <c:axId val="693129072"/>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93129400"/>
        <c:crosses val="autoZero"/>
        <c:auto val="1"/>
        <c:lblAlgn val="ctr"/>
        <c:lblOffset val="100"/>
        <c:noMultiLvlLbl val="0"/>
      </c:catAx>
      <c:valAx>
        <c:axId val="693129400"/>
        <c:scaling>
          <c:orientation val="minMax"/>
        </c:scaling>
        <c:delete val="1"/>
        <c:axPos val="t"/>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crossAx val="6931290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Distribution of Clients by Outstanding Balance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Composition'!$A$23:$A$33</c:f>
              <c:strCache>
                <c:ptCount val="11"/>
                <c:pt idx="0">
                  <c:v>&lt;= $10K</c:v>
                </c:pt>
                <c:pt idx="1">
                  <c:v>$10K to $25K</c:v>
                </c:pt>
                <c:pt idx="2">
                  <c:v>$25K to $50K</c:v>
                </c:pt>
                <c:pt idx="3">
                  <c:v>$50K to $75K</c:v>
                </c:pt>
                <c:pt idx="4">
                  <c:v>$75K to $100K</c:v>
                </c:pt>
                <c:pt idx="5">
                  <c:v>$100K to $150K</c:v>
                </c:pt>
                <c:pt idx="6">
                  <c:v>$150K to $200K</c:v>
                </c:pt>
                <c:pt idx="7">
                  <c:v>$200K to $300K</c:v>
                </c:pt>
                <c:pt idx="8">
                  <c:v>$300K to $400K</c:v>
                </c:pt>
                <c:pt idx="9">
                  <c:v>$400K to $500K</c:v>
                </c:pt>
                <c:pt idx="10">
                  <c:v>&gt; $500K</c:v>
                </c:pt>
              </c:strCache>
            </c:strRef>
          </c:cat>
          <c:val>
            <c:numRef>
              <c:f>'SBE2 Composition'!$D$23:$D$33</c:f>
              <c:numCache>
                <c:formatCode>0.00%</c:formatCode>
                <c:ptCount val="11"/>
                <c:pt idx="0">
                  <c:v>0.34822423201102659</c:v>
                </c:pt>
                <c:pt idx="1">
                  <c:v>0.20204671185544626</c:v>
                </c:pt>
                <c:pt idx="2">
                  <c:v>0.15550478636028925</c:v>
                </c:pt>
                <c:pt idx="3">
                  <c:v>8.5153786605743631E-2</c:v>
                </c:pt>
                <c:pt idx="4">
                  <c:v>5.366010233559277E-2</c:v>
                </c:pt>
                <c:pt idx="5">
                  <c:v>6.7518833902913356E-2</c:v>
                </c:pt>
                <c:pt idx="6">
                  <c:v>4.0990880425957742E-2</c:v>
                </c:pt>
                <c:pt idx="7">
                  <c:v>2.9095783849102202E-2</c:v>
                </c:pt>
                <c:pt idx="8">
                  <c:v>1.1819572154145346E-2</c:v>
                </c:pt>
                <c:pt idx="9">
                  <c:v>5.9097860770726731E-3</c:v>
                </c:pt>
                <c:pt idx="10">
                  <c:v>7.5524422710193906E-5</c:v>
                </c:pt>
              </c:numCache>
            </c:numRef>
          </c:val>
          <c:extLst>
            <c:ext xmlns:c16="http://schemas.microsoft.com/office/drawing/2014/chart" uri="{C3380CC4-5D6E-409C-BE32-E72D297353CC}">
              <c16:uniqueId val="{00000000-325B-4425-A3E7-D41919E50BC0}"/>
            </c:ext>
          </c:extLst>
        </c:ser>
        <c:dLbls>
          <c:dLblPos val="outEnd"/>
          <c:showLegendKey val="0"/>
          <c:showVal val="1"/>
          <c:showCatName val="0"/>
          <c:showSerName val="0"/>
          <c:showPercent val="0"/>
          <c:showBubbleSize val="0"/>
        </c:dLbls>
        <c:gapWidth val="182"/>
        <c:axId val="556092552"/>
        <c:axId val="556093208"/>
      </c:barChart>
      <c:catAx>
        <c:axId val="556092552"/>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6093208"/>
        <c:crosses val="autoZero"/>
        <c:auto val="1"/>
        <c:lblAlgn val="ctr"/>
        <c:lblOffset val="100"/>
        <c:noMultiLvlLbl val="0"/>
      </c:catAx>
      <c:valAx>
        <c:axId val="556093208"/>
        <c:scaling>
          <c:orientation val="minMax"/>
        </c:scaling>
        <c:delete val="1"/>
        <c:axPos val="t"/>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crossAx val="55609255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Outstanding Balance by Industry</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Composition'!$G$39:$G$52</c:f>
              <c:strCache>
                <c:ptCount val="14"/>
                <c:pt idx="0">
                  <c:v>48</c:v>
                </c:pt>
                <c:pt idx="1">
                  <c:v>23</c:v>
                </c:pt>
                <c:pt idx="2">
                  <c:v>11</c:v>
                </c:pt>
                <c:pt idx="3">
                  <c:v>56</c:v>
                </c:pt>
                <c:pt idx="4">
                  <c:v>62</c:v>
                </c:pt>
                <c:pt idx="5">
                  <c:v>54</c:v>
                </c:pt>
                <c:pt idx="6">
                  <c:v>33</c:v>
                </c:pt>
                <c:pt idx="7">
                  <c:v>81</c:v>
                </c:pt>
                <c:pt idx="8">
                  <c:v>71</c:v>
                </c:pt>
                <c:pt idx="9">
                  <c:v>53</c:v>
                </c:pt>
                <c:pt idx="10">
                  <c:v>21</c:v>
                </c:pt>
                <c:pt idx="11">
                  <c:v>32</c:v>
                </c:pt>
                <c:pt idx="12">
                  <c:v>41</c:v>
                </c:pt>
                <c:pt idx="13">
                  <c:v>Other</c:v>
                </c:pt>
              </c:strCache>
            </c:strRef>
          </c:cat>
          <c:val>
            <c:numRef>
              <c:f>'SBE2 Composition'!$H$39:$H$52</c:f>
              <c:numCache>
                <c:formatCode>0.00%</c:formatCode>
                <c:ptCount val="14"/>
                <c:pt idx="0">
                  <c:v>0.34509778400289143</c:v>
                </c:pt>
                <c:pt idx="1">
                  <c:v>0.14011295868460663</c:v>
                </c:pt>
                <c:pt idx="2">
                  <c:v>0.11480536747556398</c:v>
                </c:pt>
                <c:pt idx="3">
                  <c:v>4.1039046326995648E-2</c:v>
                </c:pt>
                <c:pt idx="4">
                  <c:v>4.0123859451691307E-2</c:v>
                </c:pt>
                <c:pt idx="5">
                  <c:v>4.0012350354944118E-2</c:v>
                </c:pt>
                <c:pt idx="6">
                  <c:v>3.4311193239971852E-2</c:v>
                </c:pt>
                <c:pt idx="7">
                  <c:v>3.2325485425059176E-2</c:v>
                </c:pt>
                <c:pt idx="8">
                  <c:v>2.9913795622028398E-2</c:v>
                </c:pt>
                <c:pt idx="9">
                  <c:v>2.8468911548746423E-2</c:v>
                </c:pt>
                <c:pt idx="10">
                  <c:v>2.4943033752317472E-2</c:v>
                </c:pt>
                <c:pt idx="11">
                  <c:v>2.3618528722917691E-2</c:v>
                </c:pt>
                <c:pt idx="12">
                  <c:v>2.1148779969114486E-2</c:v>
                </c:pt>
                <c:pt idx="13">
                  <c:v>8.4078905423151593E-2</c:v>
                </c:pt>
              </c:numCache>
            </c:numRef>
          </c:val>
          <c:extLst>
            <c:ext xmlns:c16="http://schemas.microsoft.com/office/drawing/2014/chart" uri="{C3380CC4-5D6E-409C-BE32-E72D297353CC}">
              <c16:uniqueId val="{00000000-9F3B-4A8C-B119-B2B16C25C951}"/>
            </c:ext>
          </c:extLst>
        </c:ser>
        <c:dLbls>
          <c:dLblPos val="outEnd"/>
          <c:showLegendKey val="0"/>
          <c:showVal val="1"/>
          <c:showCatName val="0"/>
          <c:showSerName val="0"/>
          <c:showPercent val="0"/>
          <c:showBubbleSize val="0"/>
        </c:dLbls>
        <c:gapWidth val="182"/>
        <c:axId val="2056131424"/>
        <c:axId val="2056131752"/>
      </c:barChart>
      <c:catAx>
        <c:axId val="2056131424"/>
        <c:scaling>
          <c:orientation val="maxMin"/>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NAICS2 Code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6131752"/>
        <c:crosses val="autoZero"/>
        <c:auto val="1"/>
        <c:lblAlgn val="ctr"/>
        <c:lblOffset val="100"/>
        <c:noMultiLvlLbl val="0"/>
      </c:catAx>
      <c:valAx>
        <c:axId val="2056131752"/>
        <c:scaling>
          <c:orientation val="minMax"/>
        </c:scaling>
        <c:delete val="1"/>
        <c:axPos val="t"/>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crossAx val="205613142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Outstanding Balance by Collateral</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Composition'!$G$69:$G$79</c:f>
              <c:strCache>
                <c:ptCount val="11"/>
                <c:pt idx="0">
                  <c:v>Vehicles</c:v>
                </c:pt>
                <c:pt idx="1">
                  <c:v>Construction Equipment</c:v>
                </c:pt>
                <c:pt idx="2">
                  <c:v>Trailers</c:v>
                </c:pt>
                <c:pt idx="3">
                  <c:v>Industrial Equipment</c:v>
                </c:pt>
                <c:pt idx="4">
                  <c:v>Agricultural Buildings and Equipment</c:v>
                </c:pt>
                <c:pt idx="5">
                  <c:v>Medical Equipment</c:v>
                </c:pt>
                <c:pt idx="6">
                  <c:v>Real Estate Collateral</c:v>
                </c:pt>
                <c:pt idx="7">
                  <c:v>Golf Turf</c:v>
                </c:pt>
                <c:pt idx="8">
                  <c:v>Fax Photocopiers</c:v>
                </c:pt>
                <c:pt idx="9">
                  <c:v>Business Operation Equipment</c:v>
                </c:pt>
                <c:pt idx="10">
                  <c:v>Other</c:v>
                </c:pt>
              </c:strCache>
            </c:strRef>
          </c:cat>
          <c:val>
            <c:numRef>
              <c:f>'SBE2 Composition'!$H$69:$H$79</c:f>
              <c:numCache>
                <c:formatCode>0.00%</c:formatCode>
                <c:ptCount val="11"/>
                <c:pt idx="0">
                  <c:v>0.40247223369141222</c:v>
                </c:pt>
                <c:pt idx="1">
                  <c:v>9.6014909402458298E-2</c:v>
                </c:pt>
                <c:pt idx="2">
                  <c:v>8.7307210857125825E-2</c:v>
                </c:pt>
                <c:pt idx="3">
                  <c:v>7.9477459594241961E-2</c:v>
                </c:pt>
                <c:pt idx="4">
                  <c:v>7.4326030555257841E-2</c:v>
                </c:pt>
                <c:pt idx="5">
                  <c:v>4.8483858131036416E-2</c:v>
                </c:pt>
                <c:pt idx="6">
                  <c:v>3.6167466892495358E-2</c:v>
                </c:pt>
                <c:pt idx="7">
                  <c:v>2.4101874592881316E-2</c:v>
                </c:pt>
                <c:pt idx="8">
                  <c:v>1.9695329263103304E-2</c:v>
                </c:pt>
                <c:pt idx="9">
                  <c:v>1.9427382146125761E-2</c:v>
                </c:pt>
                <c:pt idx="10">
                  <c:v>0.11252624487386155</c:v>
                </c:pt>
              </c:numCache>
            </c:numRef>
          </c:val>
          <c:extLst>
            <c:ext xmlns:c16="http://schemas.microsoft.com/office/drawing/2014/chart" uri="{C3380CC4-5D6E-409C-BE32-E72D297353CC}">
              <c16:uniqueId val="{00000000-2146-4FAB-B2F3-7069A2CCBA04}"/>
            </c:ext>
          </c:extLst>
        </c:ser>
        <c:dLbls>
          <c:dLblPos val="outEnd"/>
          <c:showLegendKey val="0"/>
          <c:showVal val="1"/>
          <c:showCatName val="0"/>
          <c:showSerName val="0"/>
          <c:showPercent val="0"/>
          <c:showBubbleSize val="0"/>
        </c:dLbls>
        <c:gapWidth val="182"/>
        <c:axId val="556090584"/>
        <c:axId val="556090912"/>
      </c:barChart>
      <c:catAx>
        <c:axId val="556090584"/>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6090912"/>
        <c:crosses val="autoZero"/>
        <c:auto val="1"/>
        <c:lblAlgn val="ctr"/>
        <c:lblOffset val="100"/>
        <c:noMultiLvlLbl val="0"/>
      </c:catAx>
      <c:valAx>
        <c:axId val="556090912"/>
        <c:scaling>
          <c:orientation val="minMax"/>
        </c:scaling>
        <c:delete val="1"/>
        <c:axPos val="t"/>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crossAx val="55609058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Outstading Balance by Facility Type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Composition'!$A$101:$A$108</c:f>
              <c:strCache>
                <c:ptCount val="8"/>
                <c:pt idx="0">
                  <c:v>NL Lease</c:v>
                </c:pt>
                <c:pt idx="1">
                  <c:v>Bank Lease</c:v>
                </c:pt>
                <c:pt idx="2">
                  <c:v>Term Loan</c:v>
                </c:pt>
                <c:pt idx="3">
                  <c:v>Mortgage</c:v>
                </c:pt>
                <c:pt idx="4">
                  <c:v>Line of Credit</c:v>
                </c:pt>
                <c:pt idx="5">
                  <c:v>Business Credit Card</c:v>
                </c:pt>
                <c:pt idx="6">
                  <c:v>Letter of Credit</c:v>
                </c:pt>
                <c:pt idx="7">
                  <c:v>Personal Overdraft Protection</c:v>
                </c:pt>
              </c:strCache>
            </c:strRef>
          </c:cat>
          <c:val>
            <c:numRef>
              <c:f>'SBE2 Composition'!$D$101:$D$108</c:f>
              <c:numCache>
                <c:formatCode>0.00%</c:formatCode>
                <c:ptCount val="8"/>
                <c:pt idx="0">
                  <c:v>0.69175512617194312</c:v>
                </c:pt>
                <c:pt idx="1">
                  <c:v>0.15343362618651718</c:v>
                </c:pt>
                <c:pt idx="2">
                  <c:v>9.2089911250200496E-2</c:v>
                </c:pt>
                <c:pt idx="3">
                  <c:v>3.1630222535125686E-2</c:v>
                </c:pt>
                <c:pt idx="4">
                  <c:v>2.1824516999427612E-2</c:v>
                </c:pt>
                <c:pt idx="5">
                  <c:v>7.1275542162938061E-3</c:v>
                </c:pt>
                <c:pt idx="6">
                  <c:v>2.1390414101936594E-3</c:v>
                </c:pt>
                <c:pt idx="7">
                  <c:v>1.2302984023493432E-9</c:v>
                </c:pt>
              </c:numCache>
            </c:numRef>
          </c:val>
          <c:extLst>
            <c:ext xmlns:c16="http://schemas.microsoft.com/office/drawing/2014/chart" uri="{C3380CC4-5D6E-409C-BE32-E72D297353CC}">
              <c16:uniqueId val="{00000000-BC1A-4E0A-B35F-28092E9EE46B}"/>
            </c:ext>
          </c:extLst>
        </c:ser>
        <c:dLbls>
          <c:dLblPos val="outEnd"/>
          <c:showLegendKey val="0"/>
          <c:showVal val="1"/>
          <c:showCatName val="0"/>
          <c:showSerName val="0"/>
          <c:showPercent val="0"/>
          <c:showBubbleSize val="0"/>
        </c:dLbls>
        <c:gapWidth val="182"/>
        <c:axId val="799362648"/>
        <c:axId val="799359368"/>
      </c:barChart>
      <c:catAx>
        <c:axId val="799362648"/>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99359368"/>
        <c:crosses val="autoZero"/>
        <c:auto val="1"/>
        <c:lblAlgn val="ctr"/>
        <c:lblOffset val="100"/>
        <c:noMultiLvlLbl val="0"/>
      </c:catAx>
      <c:valAx>
        <c:axId val="799359368"/>
        <c:scaling>
          <c:orientation val="minMax"/>
        </c:scaling>
        <c:delete val="1"/>
        <c:axPos val="t"/>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crossAx val="79936264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Outstanding Balance by Maturity</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Composition'!$A$114:$A$119</c:f>
              <c:strCache>
                <c:ptCount val="6"/>
                <c:pt idx="0">
                  <c:v> &lt;= 1 yr</c:v>
                </c:pt>
                <c:pt idx="1">
                  <c:v>1 yr to 2 yr</c:v>
                </c:pt>
                <c:pt idx="2">
                  <c:v>2 yr to 3 yr</c:v>
                </c:pt>
                <c:pt idx="3">
                  <c:v>3 yr to 4 yr</c:v>
                </c:pt>
                <c:pt idx="4">
                  <c:v>4 yr to 5 yr</c:v>
                </c:pt>
                <c:pt idx="5">
                  <c:v>&gt; 5 yr</c:v>
                </c:pt>
              </c:strCache>
            </c:strRef>
          </c:cat>
          <c:val>
            <c:numRef>
              <c:f>'SBE2 Composition'!$D$114:$D$119</c:f>
              <c:numCache>
                <c:formatCode>0.00%</c:formatCode>
                <c:ptCount val="6"/>
                <c:pt idx="0">
                  <c:v>4.5289899671971438E-2</c:v>
                </c:pt>
                <c:pt idx="1">
                  <c:v>0.12843403950566848</c:v>
                </c:pt>
                <c:pt idx="2">
                  <c:v>0.21026426159104544</c:v>
                </c:pt>
                <c:pt idx="3">
                  <c:v>0.24043983626567916</c:v>
                </c:pt>
                <c:pt idx="4">
                  <c:v>0.23456888644115645</c:v>
                </c:pt>
                <c:pt idx="5">
                  <c:v>0.14100307652447922</c:v>
                </c:pt>
              </c:numCache>
            </c:numRef>
          </c:val>
          <c:extLst>
            <c:ext xmlns:c16="http://schemas.microsoft.com/office/drawing/2014/chart" uri="{C3380CC4-5D6E-409C-BE32-E72D297353CC}">
              <c16:uniqueId val="{00000000-E3EE-4BB6-96C3-96795622660E}"/>
            </c:ext>
          </c:extLst>
        </c:ser>
        <c:dLbls>
          <c:dLblPos val="outEnd"/>
          <c:showLegendKey val="0"/>
          <c:showVal val="1"/>
          <c:showCatName val="0"/>
          <c:showSerName val="0"/>
          <c:showPercent val="0"/>
          <c:showBubbleSize val="0"/>
        </c:dLbls>
        <c:gapWidth val="182"/>
        <c:axId val="1112191416"/>
        <c:axId val="1112190760"/>
      </c:barChart>
      <c:catAx>
        <c:axId val="1112191416"/>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12190760"/>
        <c:crosses val="autoZero"/>
        <c:auto val="1"/>
        <c:lblAlgn val="ctr"/>
        <c:lblOffset val="100"/>
        <c:noMultiLvlLbl val="0"/>
      </c:catAx>
      <c:valAx>
        <c:axId val="1112190760"/>
        <c:scaling>
          <c:orientation val="minMax"/>
        </c:scaling>
        <c:delete val="1"/>
        <c:axPos val="t"/>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crossAx val="11121914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solidFill>
                  <a:schemeClr val="tx2"/>
                </a:solidFill>
              </a:rPr>
              <a:t>Time Series of SBE2 Historical Default Rates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v>SBE2 Portfolio Historical Default Rates</c:v>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'SBE2 PayNet Scorecard'!$I$18:$I$32</c:f>
              <c:numCache>
                <c:formatCode>General</c:formatCode>
                <c:ptCount val="15"/>
                <c:pt idx="0">
                  <c:v>2004</c:v>
                </c:pt>
                <c:pt idx="1">
                  <c:v>2005</c:v>
                </c:pt>
                <c:pt idx="2">
                  <c:v>2006</c:v>
                </c:pt>
                <c:pt idx="3">
                  <c:v>2007</c:v>
                </c:pt>
                <c:pt idx="4">
                  <c:v>2008</c:v>
                </c:pt>
                <c:pt idx="5">
                  <c:v>2009</c:v>
                </c:pt>
                <c:pt idx="6">
                  <c:v>2010</c:v>
                </c:pt>
                <c:pt idx="7">
                  <c:v>2011</c:v>
                </c:pt>
                <c:pt idx="8">
                  <c:v>2012</c:v>
                </c:pt>
                <c:pt idx="9">
                  <c:v>2013</c:v>
                </c:pt>
                <c:pt idx="10">
                  <c:v>2014</c:v>
                </c:pt>
                <c:pt idx="11">
                  <c:v>2015</c:v>
                </c:pt>
                <c:pt idx="12">
                  <c:v>2016</c:v>
                </c:pt>
                <c:pt idx="13">
                  <c:v>2017</c:v>
                </c:pt>
                <c:pt idx="14">
                  <c:v>2018</c:v>
                </c:pt>
              </c:numCache>
            </c:numRef>
          </c:cat>
          <c:val>
            <c:numRef>
              <c:f>'SBE2 PayNet Scorecard'!$J$18:$J$32</c:f>
              <c:numCache>
                <c:formatCode>0.00%</c:formatCode>
                <c:ptCount val="15"/>
                <c:pt idx="0">
                  <c:v>3.7199999999999997E-2</c:v>
                </c:pt>
                <c:pt idx="1">
                  <c:v>3.0700000000000002E-2</c:v>
                </c:pt>
                <c:pt idx="2">
                  <c:v>2.41E-2</c:v>
                </c:pt>
                <c:pt idx="3">
                  <c:v>2.6200000000000001E-2</c:v>
                </c:pt>
                <c:pt idx="4">
                  <c:v>3.2599999999999997E-2</c:v>
                </c:pt>
                <c:pt idx="5">
                  <c:v>3.3500000000000002E-2</c:v>
                </c:pt>
                <c:pt idx="6">
                  <c:v>3.2099999999999997E-2</c:v>
                </c:pt>
                <c:pt idx="7">
                  <c:v>2.63E-2</c:v>
                </c:pt>
                <c:pt idx="8">
                  <c:v>2.41E-2</c:v>
                </c:pt>
                <c:pt idx="9">
                  <c:v>2.29E-2</c:v>
                </c:pt>
                <c:pt idx="10">
                  <c:v>2.3099999999999999E-2</c:v>
                </c:pt>
                <c:pt idx="11">
                  <c:v>2.5899999999999999E-2</c:v>
                </c:pt>
                <c:pt idx="12">
                  <c:v>2.7E-2</c:v>
                </c:pt>
                <c:pt idx="13">
                  <c:v>2.6599999999999999E-2</c:v>
                </c:pt>
                <c:pt idx="14">
                  <c:v>2.4E-2</c:v>
                </c:pt>
              </c:numCache>
            </c:numRef>
          </c:val>
          <c:smooth val="0"/>
          <c:extLst>
            <c:ext xmlns:c16="http://schemas.microsoft.com/office/drawing/2014/chart" uri="{C3380CC4-5D6E-409C-BE32-E72D297353CC}">
              <c16:uniqueId val="{00000000-FA6E-4BCB-9C81-D019726C27C5}"/>
            </c:ext>
          </c:extLst>
        </c:ser>
        <c:ser>
          <c:idx val="1"/>
          <c:order val="1"/>
          <c:tx>
            <c:v>SBE2 PayNet Model Default Rates</c:v>
          </c:tx>
          <c:spPr>
            <a:ln w="28575" cap="rnd">
              <a:solidFill>
                <a:schemeClr val="accent2"/>
              </a:solidFill>
              <a:round/>
            </a:ln>
            <a:effectLst/>
          </c:spPr>
          <c:marker>
            <c:symbol val="circle"/>
            <c:size val="5"/>
            <c:spPr>
              <a:solidFill>
                <a:schemeClr val="accent2"/>
              </a:solidFill>
              <a:ln w="9525">
                <a:solidFill>
                  <a:schemeClr val="accent2"/>
                </a:solidFill>
              </a:ln>
              <a:effectLst/>
            </c:spPr>
          </c:marker>
          <c:cat>
            <c:numRef>
              <c:f>'SBE2 PayNet Scorecard'!$I$18:$I$32</c:f>
              <c:numCache>
                <c:formatCode>General</c:formatCode>
                <c:ptCount val="15"/>
                <c:pt idx="0">
                  <c:v>2004</c:v>
                </c:pt>
                <c:pt idx="1">
                  <c:v>2005</c:v>
                </c:pt>
                <c:pt idx="2">
                  <c:v>2006</c:v>
                </c:pt>
                <c:pt idx="3">
                  <c:v>2007</c:v>
                </c:pt>
                <c:pt idx="4">
                  <c:v>2008</c:v>
                </c:pt>
                <c:pt idx="5">
                  <c:v>2009</c:v>
                </c:pt>
                <c:pt idx="6">
                  <c:v>2010</c:v>
                </c:pt>
                <c:pt idx="7">
                  <c:v>2011</c:v>
                </c:pt>
                <c:pt idx="8">
                  <c:v>2012</c:v>
                </c:pt>
                <c:pt idx="9">
                  <c:v>2013</c:v>
                </c:pt>
                <c:pt idx="10">
                  <c:v>2014</c:v>
                </c:pt>
                <c:pt idx="11">
                  <c:v>2015</c:v>
                </c:pt>
                <c:pt idx="12">
                  <c:v>2016</c:v>
                </c:pt>
                <c:pt idx="13">
                  <c:v>2017</c:v>
                </c:pt>
                <c:pt idx="14">
                  <c:v>2018</c:v>
                </c:pt>
              </c:numCache>
            </c:numRef>
          </c:cat>
          <c:val>
            <c:numRef>
              <c:f>'SBE2 PayNet Scorecard'!$K$18:$K$32</c:f>
              <c:numCache>
                <c:formatCode>0.00%</c:formatCode>
                <c:ptCount val="15"/>
                <c:pt idx="0">
                  <c:v>#N/A</c:v>
                </c:pt>
                <c:pt idx="1">
                  <c:v>#N/A</c:v>
                </c:pt>
                <c:pt idx="2">
                  <c:v>#N/A</c:v>
                </c:pt>
                <c:pt idx="3">
                  <c:v>#N/A</c:v>
                </c:pt>
                <c:pt idx="4">
                  <c:v>#N/A</c:v>
                </c:pt>
                <c:pt idx="5">
                  <c:v>#N/A</c:v>
                </c:pt>
                <c:pt idx="6">
                  <c:v>#N/A</c:v>
                </c:pt>
                <c:pt idx="7">
                  <c:v>#N/A</c:v>
                </c:pt>
                <c:pt idx="8">
                  <c:v>2.24E-2</c:v>
                </c:pt>
                <c:pt idx="9">
                  <c:v>2.07E-2</c:v>
                </c:pt>
                <c:pt idx="10">
                  <c:v>2.29E-2</c:v>
                </c:pt>
                <c:pt idx="11">
                  <c:v>2.3900000000000001E-2</c:v>
                </c:pt>
                <c:pt idx="12">
                  <c:v>2.5399999999999999E-2</c:v>
                </c:pt>
                <c:pt idx="13">
                  <c:v>#N/A</c:v>
                </c:pt>
                <c:pt idx="14">
                  <c:v>#N/A</c:v>
                </c:pt>
              </c:numCache>
            </c:numRef>
          </c:val>
          <c:smooth val="0"/>
          <c:extLst>
            <c:ext xmlns:c16="http://schemas.microsoft.com/office/drawing/2014/chart" uri="{C3380CC4-5D6E-409C-BE32-E72D297353CC}">
              <c16:uniqueId val="{00000001-FA6E-4BCB-9C81-D019726C27C5}"/>
            </c:ext>
          </c:extLst>
        </c:ser>
        <c:dLbls>
          <c:showLegendKey val="0"/>
          <c:showVal val="0"/>
          <c:showCatName val="0"/>
          <c:showSerName val="0"/>
          <c:showPercent val="0"/>
          <c:showBubbleSize val="0"/>
        </c:dLbls>
        <c:marker val="1"/>
        <c:smooth val="0"/>
        <c:axId val="2056132736"/>
        <c:axId val="2056131752"/>
      </c:lineChart>
      <c:catAx>
        <c:axId val="205613273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solidFill>
                      <a:schemeClr val="tx2"/>
                    </a:solidFill>
                  </a:rPr>
                  <a:t>Year</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6131752"/>
        <c:crosses val="autoZero"/>
        <c:auto val="1"/>
        <c:lblAlgn val="ctr"/>
        <c:lblOffset val="100"/>
        <c:noMultiLvlLbl val="0"/>
      </c:catAx>
      <c:valAx>
        <c:axId val="20561317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solidFill>
                      <a:schemeClr val="tx2"/>
                    </a:solidFill>
                  </a:rPr>
                  <a:t>Default Rate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61327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Current Portfolio</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PayNet BRR Distributions'!$B$23:$B$29</c:f>
              <c:strCache>
                <c:ptCount val="7"/>
                <c:pt idx="0">
                  <c:v>7 (6H)</c:v>
                </c:pt>
                <c:pt idx="1">
                  <c:v>9 (6L)</c:v>
                </c:pt>
                <c:pt idx="2">
                  <c:v>10 (7H)</c:v>
                </c:pt>
                <c:pt idx="3">
                  <c:v>11 (7M)</c:v>
                </c:pt>
                <c:pt idx="4">
                  <c:v>13 (8H)</c:v>
                </c:pt>
                <c:pt idx="5">
                  <c:v>14 (8M)</c:v>
                </c:pt>
                <c:pt idx="6">
                  <c:v>18 (9L)</c:v>
                </c:pt>
              </c:strCache>
            </c:strRef>
          </c:cat>
          <c:val>
            <c:numRef>
              <c:f>'SBE2 PayNet BRR Distributions'!$J$23:$J$29</c:f>
              <c:numCache>
                <c:formatCode>0.00%</c:formatCode>
                <c:ptCount val="7"/>
                <c:pt idx="0">
                  <c:v>2.457304337142155E-5</c:v>
                </c:pt>
                <c:pt idx="1">
                  <c:v>0.17579555227914978</c:v>
                </c:pt>
                <c:pt idx="2">
                  <c:v>0.19393045828725888</c:v>
                </c:pt>
                <c:pt idx="3">
                  <c:v>0.26000737191301143</c:v>
                </c:pt>
                <c:pt idx="4">
                  <c:v>0.21651308514559528</c:v>
                </c:pt>
                <c:pt idx="5">
                  <c:v>9.1215136994716797E-2</c:v>
                </c:pt>
                <c:pt idx="6">
                  <c:v>6.2513822336896424E-2</c:v>
                </c:pt>
              </c:numCache>
            </c:numRef>
          </c:val>
          <c:extLst>
            <c:ext xmlns:c16="http://schemas.microsoft.com/office/drawing/2014/chart" uri="{C3380CC4-5D6E-409C-BE32-E72D297353CC}">
              <c16:uniqueId val="{00000000-89C5-47E8-BA1B-A5D37C4799DF}"/>
            </c:ext>
          </c:extLst>
        </c:ser>
        <c:ser>
          <c:idx val="1"/>
          <c:order val="1"/>
          <c:tx>
            <c:v>Historical Data (2011 - 2018)</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PayNet BRR Distributions'!$B$23:$B$29</c:f>
              <c:strCache>
                <c:ptCount val="7"/>
                <c:pt idx="0">
                  <c:v>7 (6H)</c:v>
                </c:pt>
                <c:pt idx="1">
                  <c:v>9 (6L)</c:v>
                </c:pt>
                <c:pt idx="2">
                  <c:v>10 (7H)</c:v>
                </c:pt>
                <c:pt idx="3">
                  <c:v>11 (7M)</c:v>
                </c:pt>
                <c:pt idx="4">
                  <c:v>13 (8H)</c:v>
                </c:pt>
                <c:pt idx="5">
                  <c:v>14 (8M)</c:v>
                </c:pt>
                <c:pt idx="6">
                  <c:v>18 (9L)</c:v>
                </c:pt>
              </c:strCache>
            </c:strRef>
          </c:cat>
          <c:val>
            <c:numRef>
              <c:f>'SBE2 PayNet BRR Distributions'!$L$23:$L$29</c:f>
              <c:numCache>
                <c:formatCode>0.00%</c:formatCode>
                <c:ptCount val="7"/>
                <c:pt idx="0">
                  <c:v>3.0932835280661368E-2</c:v>
                </c:pt>
                <c:pt idx="1">
                  <c:v>0.14777975647540864</c:v>
                </c:pt>
                <c:pt idx="2">
                  <c:v>0.18657429526994745</c:v>
                </c:pt>
                <c:pt idx="3">
                  <c:v>0.2954581650233824</c:v>
                </c:pt>
                <c:pt idx="4">
                  <c:v>0.19308228003880179</c:v>
                </c:pt>
                <c:pt idx="5">
                  <c:v>0.11106285019328498</c:v>
                </c:pt>
                <c:pt idx="6">
                  <c:v>3.5109817718513368E-2</c:v>
                </c:pt>
              </c:numCache>
            </c:numRef>
          </c:val>
          <c:extLst>
            <c:ext xmlns:c16="http://schemas.microsoft.com/office/drawing/2014/chart" uri="{C3380CC4-5D6E-409C-BE32-E72D297353CC}">
              <c16:uniqueId val="{00000001-89C5-47E8-BA1B-A5D37C4799DF}"/>
            </c:ext>
          </c:extLst>
        </c:ser>
        <c:dLbls>
          <c:dLblPos val="outEnd"/>
          <c:showLegendKey val="0"/>
          <c:showVal val="1"/>
          <c:showCatName val="0"/>
          <c:showSerName val="0"/>
          <c:showPercent val="0"/>
          <c:showBubbleSize val="0"/>
        </c:dLbls>
        <c:gapWidth val="219"/>
        <c:overlap val="-27"/>
        <c:axId val="1122341240"/>
        <c:axId val="1122339600"/>
      </c:barChart>
      <c:catAx>
        <c:axId val="112234124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BRR</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22339600"/>
        <c:crosses val="autoZero"/>
        <c:auto val="1"/>
        <c:lblAlgn val="ctr"/>
        <c:lblOffset val="100"/>
        <c:noMultiLvlLbl val="0"/>
      </c:catAx>
      <c:valAx>
        <c:axId val="112233960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2234124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Non-EFG/Non-NL</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PayNet BRR Distributions'!$B$23:$B$29</c:f>
              <c:strCache>
                <c:ptCount val="7"/>
                <c:pt idx="0">
                  <c:v>7 (6H)</c:v>
                </c:pt>
                <c:pt idx="1">
                  <c:v>9 (6L)</c:v>
                </c:pt>
                <c:pt idx="2">
                  <c:v>10 (7H)</c:v>
                </c:pt>
                <c:pt idx="3">
                  <c:v>11 (7M)</c:v>
                </c:pt>
                <c:pt idx="4">
                  <c:v>13 (8H)</c:v>
                </c:pt>
                <c:pt idx="5">
                  <c:v>14 (8M)</c:v>
                </c:pt>
                <c:pt idx="6">
                  <c:v>18 (9L)</c:v>
                </c:pt>
              </c:strCache>
            </c:strRef>
          </c:cat>
          <c:val>
            <c:numRef>
              <c:f>'SBE2 PayNet BRR Distributions'!$D$23:$D$29</c:f>
              <c:numCache>
                <c:formatCode>0%</c:formatCode>
                <c:ptCount val="7"/>
                <c:pt idx="0">
                  <c:v>0</c:v>
                </c:pt>
                <c:pt idx="1">
                  <c:v>0.20495495495495494</c:v>
                </c:pt>
                <c:pt idx="2">
                  <c:v>0.24774774774774774</c:v>
                </c:pt>
                <c:pt idx="3">
                  <c:v>0.32207207207207206</c:v>
                </c:pt>
                <c:pt idx="4">
                  <c:v>0.17567567567567569</c:v>
                </c:pt>
                <c:pt idx="5">
                  <c:v>3.6036036036036036E-2</c:v>
                </c:pt>
                <c:pt idx="6">
                  <c:v>1.3513513513513514E-2</c:v>
                </c:pt>
              </c:numCache>
            </c:numRef>
          </c:val>
          <c:extLst>
            <c:ext xmlns:c16="http://schemas.microsoft.com/office/drawing/2014/chart" uri="{C3380CC4-5D6E-409C-BE32-E72D297353CC}">
              <c16:uniqueId val="{00000000-B824-4E93-A364-6B70AD58D461}"/>
            </c:ext>
          </c:extLst>
        </c:ser>
        <c:ser>
          <c:idx val="1"/>
          <c:order val="1"/>
          <c:tx>
            <c:v>EFG</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PayNet BRR Distributions'!$B$23:$B$29</c:f>
              <c:strCache>
                <c:ptCount val="7"/>
                <c:pt idx="0">
                  <c:v>7 (6H)</c:v>
                </c:pt>
                <c:pt idx="1">
                  <c:v>9 (6L)</c:v>
                </c:pt>
                <c:pt idx="2">
                  <c:v>10 (7H)</c:v>
                </c:pt>
                <c:pt idx="3">
                  <c:v>11 (7M)</c:v>
                </c:pt>
                <c:pt idx="4">
                  <c:v>13 (8H)</c:v>
                </c:pt>
                <c:pt idx="5">
                  <c:v>14 (8M)</c:v>
                </c:pt>
                <c:pt idx="6">
                  <c:v>18 (9L)</c:v>
                </c:pt>
              </c:strCache>
            </c:strRef>
          </c:cat>
          <c:val>
            <c:numRef>
              <c:f>'SBE2 PayNet BRR Distributions'!$F$23:$F$29</c:f>
              <c:numCache>
                <c:formatCode>0%</c:formatCode>
                <c:ptCount val="7"/>
                <c:pt idx="0">
                  <c:v>0</c:v>
                </c:pt>
                <c:pt idx="1">
                  <c:v>3.4687222057515565E-2</c:v>
                </c:pt>
                <c:pt idx="2">
                  <c:v>0.11888526534242515</c:v>
                </c:pt>
                <c:pt idx="3">
                  <c:v>0.31811443818559149</c:v>
                </c:pt>
                <c:pt idx="4">
                  <c:v>0.31426030240142305</c:v>
                </c:pt>
                <c:pt idx="5">
                  <c:v>0.14260302401423067</c:v>
                </c:pt>
                <c:pt idx="6">
                  <c:v>7.1449747998814109E-2</c:v>
                </c:pt>
              </c:numCache>
            </c:numRef>
          </c:val>
          <c:extLst>
            <c:ext xmlns:c16="http://schemas.microsoft.com/office/drawing/2014/chart" uri="{C3380CC4-5D6E-409C-BE32-E72D297353CC}">
              <c16:uniqueId val="{00000001-B824-4E93-A364-6B70AD58D461}"/>
            </c:ext>
          </c:extLst>
        </c:ser>
        <c:ser>
          <c:idx val="2"/>
          <c:order val="2"/>
          <c:tx>
            <c:v>NL</c:v>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PayNet BRR Distributions'!$B$23:$B$29</c:f>
              <c:strCache>
                <c:ptCount val="7"/>
                <c:pt idx="0">
                  <c:v>7 (6H)</c:v>
                </c:pt>
                <c:pt idx="1">
                  <c:v>9 (6L)</c:v>
                </c:pt>
                <c:pt idx="2">
                  <c:v>10 (7H)</c:v>
                </c:pt>
                <c:pt idx="3">
                  <c:v>11 (7M)</c:v>
                </c:pt>
                <c:pt idx="4">
                  <c:v>13 (8H)</c:v>
                </c:pt>
                <c:pt idx="5">
                  <c:v>14 (8M)</c:v>
                </c:pt>
                <c:pt idx="6">
                  <c:v>18 (9L)</c:v>
                </c:pt>
              </c:strCache>
            </c:strRef>
          </c:cat>
          <c:val>
            <c:numRef>
              <c:f>'SBE2 PayNet BRR Distributions'!$H$23:$H$29</c:f>
              <c:numCache>
                <c:formatCode>0%</c:formatCode>
                <c:ptCount val="7"/>
                <c:pt idx="0">
                  <c:v>2.711643798470633E-5</c:v>
                </c:pt>
                <c:pt idx="1">
                  <c:v>0.18835077824177016</c:v>
                </c:pt>
                <c:pt idx="2">
                  <c:v>0.2001464287651174</c:v>
                </c:pt>
                <c:pt idx="3">
                  <c:v>0.25394544172677475</c:v>
                </c:pt>
                <c:pt idx="4">
                  <c:v>0.20806442865665167</c:v>
                </c:pt>
                <c:pt idx="5">
                  <c:v>8.7179348120830849E-2</c:v>
                </c:pt>
                <c:pt idx="6">
                  <c:v>6.2286458050870436E-2</c:v>
                </c:pt>
              </c:numCache>
            </c:numRef>
          </c:val>
          <c:extLst>
            <c:ext xmlns:c16="http://schemas.microsoft.com/office/drawing/2014/chart" uri="{C3380CC4-5D6E-409C-BE32-E72D297353CC}">
              <c16:uniqueId val="{00000002-B824-4E93-A364-6B70AD58D461}"/>
            </c:ext>
          </c:extLst>
        </c:ser>
        <c:dLbls>
          <c:dLblPos val="outEnd"/>
          <c:showLegendKey val="0"/>
          <c:showVal val="1"/>
          <c:showCatName val="0"/>
          <c:showSerName val="0"/>
          <c:showPercent val="0"/>
          <c:showBubbleSize val="0"/>
        </c:dLbls>
        <c:gapWidth val="219"/>
        <c:overlap val="-27"/>
        <c:axId val="1102274352"/>
        <c:axId val="1102274680"/>
      </c:barChart>
      <c:catAx>
        <c:axId val="110227435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BRR</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2274680"/>
        <c:crosses val="autoZero"/>
        <c:auto val="1"/>
        <c:lblAlgn val="ctr"/>
        <c:lblOffset val="100"/>
        <c:noMultiLvlLbl val="0"/>
      </c:catAx>
      <c:valAx>
        <c:axId val="110227468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22743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PayNet BRR Distributions'!$B$5:$B$15</c:f>
              <c:strCache>
                <c:ptCount val="11"/>
                <c:pt idx="0">
                  <c:v>7 (6H)</c:v>
                </c:pt>
                <c:pt idx="1">
                  <c:v>9 (6L)</c:v>
                </c:pt>
                <c:pt idx="2">
                  <c:v>10 (7H)</c:v>
                </c:pt>
                <c:pt idx="3">
                  <c:v>11 (7M)</c:v>
                </c:pt>
                <c:pt idx="4">
                  <c:v>13 (8H)</c:v>
                </c:pt>
                <c:pt idx="5">
                  <c:v>14 (8M)</c:v>
                </c:pt>
                <c:pt idx="6">
                  <c:v>16 (9H)</c:v>
                </c:pt>
                <c:pt idx="7">
                  <c:v>17 (9M)</c:v>
                </c:pt>
                <c:pt idx="8">
                  <c:v>18 (9L)</c:v>
                </c:pt>
                <c:pt idx="9">
                  <c:v>19 (10H)</c:v>
                </c:pt>
                <c:pt idx="10">
                  <c:v>20 (10L)</c:v>
                </c:pt>
              </c:strCache>
            </c:strRef>
          </c:cat>
          <c:val>
            <c:numRef>
              <c:f>'SBE2 PayNet BRR Distributions'!$J$5:$J$15</c:f>
              <c:numCache>
                <c:formatCode>0.00%</c:formatCode>
                <c:ptCount val="11"/>
                <c:pt idx="0">
                  <c:v>2.4489995836700708E-5</c:v>
                </c:pt>
                <c:pt idx="1">
                  <c:v>0.17520143021575688</c:v>
                </c:pt>
                <c:pt idx="2">
                  <c:v>0.19327504714324198</c:v>
                </c:pt>
                <c:pt idx="3">
                  <c:v>0.25912864594813018</c:v>
                </c:pt>
                <c:pt idx="4">
                  <c:v>0.21578135331716994</c:v>
                </c:pt>
                <c:pt idx="5">
                  <c:v>9.0906864545833022E-2</c:v>
                </c:pt>
                <c:pt idx="6">
                  <c:v>3.6734993755051064E-4</c:v>
                </c:pt>
                <c:pt idx="7">
                  <c:v>1.9591996669360566E-4</c:v>
                </c:pt>
                <c:pt idx="8">
                  <c:v>6.2400509391913404E-2</c:v>
                </c:pt>
                <c:pt idx="9">
                  <c:v>1.2244997918350355E-4</c:v>
                </c:pt>
                <c:pt idx="10">
                  <c:v>2.5959395586902748E-3</c:v>
                </c:pt>
              </c:numCache>
            </c:numRef>
          </c:val>
          <c:extLst>
            <c:ext xmlns:c16="http://schemas.microsoft.com/office/drawing/2014/chart" uri="{C3380CC4-5D6E-409C-BE32-E72D297353CC}">
              <c16:uniqueId val="{00000000-B211-4EE1-98D7-9414B5E2061E}"/>
            </c:ext>
          </c:extLst>
        </c:ser>
        <c:dLbls>
          <c:dLblPos val="outEnd"/>
          <c:showLegendKey val="0"/>
          <c:showVal val="1"/>
          <c:showCatName val="0"/>
          <c:showSerName val="0"/>
          <c:showPercent val="0"/>
          <c:showBubbleSize val="0"/>
        </c:dLbls>
        <c:gapWidth val="219"/>
        <c:overlap val="-27"/>
        <c:axId val="773995152"/>
        <c:axId val="773994168"/>
      </c:barChart>
      <c:catAx>
        <c:axId val="77399515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BRR</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73994168"/>
        <c:crosses val="autoZero"/>
        <c:auto val="1"/>
        <c:lblAlgn val="ctr"/>
        <c:lblOffset val="100"/>
        <c:noMultiLvlLbl val="0"/>
      </c:catAx>
      <c:valAx>
        <c:axId val="77399416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7399515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'SBE2 PayNet Risk Drivers'!$AB$2</c:f>
              <c:strCache>
                <c:ptCount val="1"/>
                <c:pt idx="0">
                  <c:v>Current Portfolio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PayNet Risk Drivers'!$B$34:$B$39</c:f>
              <c:strCache>
                <c:ptCount val="6"/>
                <c:pt idx="0">
                  <c:v>&lt; 630</c:v>
                </c:pt>
                <c:pt idx="1">
                  <c:v>630 - 650</c:v>
                </c:pt>
                <c:pt idx="2">
                  <c:v>650 - 678 or Missing</c:v>
                </c:pt>
                <c:pt idx="3">
                  <c:v>678 - 695</c:v>
                </c:pt>
                <c:pt idx="4">
                  <c:v>695 - 714</c:v>
                </c:pt>
                <c:pt idx="5">
                  <c:v>&gt;= 714</c:v>
                </c:pt>
              </c:strCache>
            </c:strRef>
          </c:cat>
          <c:val>
            <c:numRef>
              <c:f>'SBE2 PayNet Risk Drivers'!$G$34:$G$39</c:f>
              <c:numCache>
                <c:formatCode>0%</c:formatCode>
                <c:ptCount val="6"/>
                <c:pt idx="0">
                  <c:v>0</c:v>
                </c:pt>
                <c:pt idx="1">
                  <c:v>0</c:v>
                </c:pt>
                <c:pt idx="2">
                  <c:v>1</c:v>
                </c:pt>
                <c:pt idx="3">
                  <c:v>0</c:v>
                </c:pt>
                <c:pt idx="4">
                  <c:v>0</c:v>
                </c:pt>
                <c:pt idx="5">
                  <c:v>0</c:v>
                </c:pt>
              </c:numCache>
            </c:numRef>
          </c:val>
          <c:extLst>
            <c:ext xmlns:c16="http://schemas.microsoft.com/office/drawing/2014/chart" uri="{C3380CC4-5D6E-409C-BE32-E72D297353CC}">
              <c16:uniqueId val="{00000000-D735-4324-B4D3-95E16912E209}"/>
            </c:ext>
          </c:extLst>
        </c:ser>
        <c:ser>
          <c:idx val="1"/>
          <c:order val="1"/>
          <c:tx>
            <c:strRef>
              <c:f>'SBE2 PayNet Risk Drivers'!$AB$3</c:f>
              <c:strCache>
                <c:ptCount val="1"/>
                <c:pt idx="0">
                  <c:v>Historical Data (2011 - 2018)</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'SBE2 PayNet Risk Drivers'!$I$34:$I$39</c:f>
              <c:numCache>
                <c:formatCode>0.00%</c:formatCode>
                <c:ptCount val="6"/>
                <c:pt idx="0">
                  <c:v>1.2494751625186408E-2</c:v>
                </c:pt>
                <c:pt idx="1">
                  <c:v>3.6434579912840784E-2</c:v>
                </c:pt>
                <c:pt idx="2">
                  <c:v>0.24491450578407101</c:v>
                </c:pt>
                <c:pt idx="3">
                  <c:v>0.30222675874849786</c:v>
                </c:pt>
                <c:pt idx="4">
                  <c:v>0.24966338009816272</c:v>
                </c:pt>
                <c:pt idx="5">
                  <c:v>0.15426602383124122</c:v>
                </c:pt>
              </c:numCache>
            </c:numRef>
          </c:val>
          <c:extLst>
            <c:ext xmlns:c16="http://schemas.microsoft.com/office/drawing/2014/chart" uri="{C3380CC4-5D6E-409C-BE32-E72D297353CC}">
              <c16:uniqueId val="{00000001-D735-4324-B4D3-95E16912E209}"/>
            </c:ext>
          </c:extLst>
        </c:ser>
        <c:dLbls>
          <c:dLblPos val="outEnd"/>
          <c:showLegendKey val="0"/>
          <c:showVal val="1"/>
          <c:showCatName val="0"/>
          <c:showSerName val="0"/>
          <c:showPercent val="0"/>
          <c:showBubbleSize val="0"/>
        </c:dLbls>
        <c:gapWidth val="219"/>
        <c:overlap val="-27"/>
        <c:axId val="661032888"/>
        <c:axId val="661035512"/>
      </c:barChart>
      <c:catAx>
        <c:axId val="66103288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Master Score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1035512"/>
        <c:crosses val="autoZero"/>
        <c:auto val="1"/>
        <c:lblAlgn val="ctr"/>
        <c:lblOffset val="100"/>
        <c:noMultiLvlLbl val="0"/>
      </c:catAx>
      <c:valAx>
        <c:axId val="66103551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1032888"/>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'SBE2 PayNet Risk Drivers'!$AB$2</c:f>
              <c:strCache>
                <c:ptCount val="1"/>
                <c:pt idx="0">
                  <c:v>Current Portfolio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PayNet Risk Drivers'!$B$3:$B$7</c:f>
              <c:strCache>
                <c:ptCount val="5"/>
                <c:pt idx="0">
                  <c:v>&lt; 0.02</c:v>
                </c:pt>
                <c:pt idx="1">
                  <c:v>0.02 - 0.4 or Missing</c:v>
                </c:pt>
                <c:pt idx="2">
                  <c:v>0.4 - 1.48</c:v>
                </c:pt>
                <c:pt idx="3">
                  <c:v>1.48 - 30</c:v>
                </c:pt>
                <c:pt idx="4">
                  <c:v>&gt;= 30</c:v>
                </c:pt>
              </c:strCache>
            </c:strRef>
          </c:cat>
          <c:val>
            <c:numRef>
              <c:f>'SBE2 PayNet Risk Drivers'!$G$3:$G$7</c:f>
              <c:numCache>
                <c:formatCode>0.00%</c:formatCode>
                <c:ptCount val="5"/>
                <c:pt idx="0">
                  <c:v>0.82179628947045091</c:v>
                </c:pt>
                <c:pt idx="1">
                  <c:v>0.10753163779334071</c:v>
                </c:pt>
                <c:pt idx="2">
                  <c:v>2.2238604251136503E-2</c:v>
                </c:pt>
                <c:pt idx="3">
                  <c:v>4.5804152844329774E-2</c:v>
                </c:pt>
                <c:pt idx="4">
                  <c:v>2.6293156407421058E-3</c:v>
                </c:pt>
              </c:numCache>
            </c:numRef>
          </c:val>
          <c:extLst>
            <c:ext xmlns:c16="http://schemas.microsoft.com/office/drawing/2014/chart" uri="{C3380CC4-5D6E-409C-BE32-E72D297353CC}">
              <c16:uniqueId val="{00000000-0279-43C5-A686-B989D1E25D27}"/>
            </c:ext>
          </c:extLst>
        </c:ser>
        <c:ser>
          <c:idx val="1"/>
          <c:order val="1"/>
          <c:tx>
            <c:strRef>
              <c:f>'SBE2 PayNet Risk Drivers'!$AB$3</c:f>
              <c:strCache>
                <c:ptCount val="1"/>
                <c:pt idx="0">
                  <c:v>Historical Data (2011 - 2018)</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'SBE2 PayNet Risk Drivers'!$I$3:$I$7</c:f>
              <c:numCache>
                <c:formatCode>0.00%</c:formatCode>
                <c:ptCount val="5"/>
                <c:pt idx="0">
                  <c:v>0.82283658370614887</c:v>
                </c:pt>
                <c:pt idx="1">
                  <c:v>0.11148272017837235</c:v>
                </c:pt>
                <c:pt idx="2">
                  <c:v>1.9741128436780612E-2</c:v>
                </c:pt>
                <c:pt idx="3">
                  <c:v>4.208834643617252E-2</c:v>
                </c:pt>
                <c:pt idx="4">
                  <c:v>3.8512212425255905E-3</c:v>
                </c:pt>
              </c:numCache>
            </c:numRef>
          </c:val>
          <c:extLst>
            <c:ext xmlns:c16="http://schemas.microsoft.com/office/drawing/2014/chart" uri="{C3380CC4-5D6E-409C-BE32-E72D297353CC}">
              <c16:uniqueId val="{00000001-0279-43C5-A686-B989D1E25D27}"/>
            </c:ext>
          </c:extLst>
        </c:ser>
        <c:dLbls>
          <c:dLblPos val="outEnd"/>
          <c:showLegendKey val="0"/>
          <c:showVal val="1"/>
          <c:showCatName val="0"/>
          <c:showSerName val="0"/>
          <c:showPercent val="0"/>
          <c:showBubbleSize val="0"/>
        </c:dLbls>
        <c:gapWidth val="219"/>
        <c:overlap val="-27"/>
        <c:axId val="666650696"/>
        <c:axId val="666651024"/>
      </c:barChart>
      <c:catAx>
        <c:axId val="66665069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Average Days Past Due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6651024"/>
        <c:crosses val="autoZero"/>
        <c:auto val="1"/>
        <c:lblAlgn val="ctr"/>
        <c:lblOffset val="100"/>
        <c:noMultiLvlLbl val="0"/>
      </c:catAx>
      <c:valAx>
        <c:axId val="66665102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665069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Non-EFG/Non-NL</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PayNet Risk Drivers'!$B$3:$B$7</c:f>
              <c:strCache>
                <c:ptCount val="5"/>
                <c:pt idx="0">
                  <c:v>&lt; 0.02</c:v>
                </c:pt>
                <c:pt idx="1">
                  <c:v>0.02 - 0.4 or Missing</c:v>
                </c:pt>
                <c:pt idx="2">
                  <c:v>0.4 - 1.48</c:v>
                </c:pt>
                <c:pt idx="3">
                  <c:v>1.48 - 30</c:v>
                </c:pt>
                <c:pt idx="4">
                  <c:v>&gt;= 30</c:v>
                </c:pt>
              </c:strCache>
            </c:strRef>
          </c:cat>
          <c:val>
            <c:numRef>
              <c:f>'SBE2 PayNet Risk Drivers'!$C$3:$C$7</c:f>
              <c:numCache>
                <c:formatCode>0.00%</c:formatCode>
                <c:ptCount val="5"/>
                <c:pt idx="0">
                  <c:v>0.56759999999999999</c:v>
                </c:pt>
                <c:pt idx="1">
                  <c:v>0.33560000000000001</c:v>
                </c:pt>
                <c:pt idx="2">
                  <c:v>2.2499999999999999E-2</c:v>
                </c:pt>
                <c:pt idx="3">
                  <c:v>6.08E-2</c:v>
                </c:pt>
                <c:pt idx="4">
                  <c:v>1.35E-2</c:v>
                </c:pt>
              </c:numCache>
            </c:numRef>
          </c:val>
          <c:extLst>
            <c:ext xmlns:c16="http://schemas.microsoft.com/office/drawing/2014/chart" uri="{C3380CC4-5D6E-409C-BE32-E72D297353CC}">
              <c16:uniqueId val="{00000000-6B45-48FC-AE07-B1033B854257}"/>
            </c:ext>
          </c:extLst>
        </c:ser>
        <c:ser>
          <c:idx val="1"/>
          <c:order val="1"/>
          <c:tx>
            <c:v>EFG</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PayNet Risk Drivers'!$B$3:$B$7</c:f>
              <c:strCache>
                <c:ptCount val="5"/>
                <c:pt idx="0">
                  <c:v>&lt; 0.02</c:v>
                </c:pt>
                <c:pt idx="1">
                  <c:v>0.02 - 0.4 or Missing</c:v>
                </c:pt>
                <c:pt idx="2">
                  <c:v>0.4 - 1.48</c:v>
                </c:pt>
                <c:pt idx="3">
                  <c:v>1.48 - 30</c:v>
                </c:pt>
                <c:pt idx="4">
                  <c:v>&gt;= 30</c:v>
                </c:pt>
              </c:strCache>
            </c:strRef>
          </c:cat>
          <c:val>
            <c:numRef>
              <c:f>'SBE2 PayNet Risk Drivers'!$D$3:$D$7</c:f>
              <c:numCache>
                <c:formatCode>0.00%</c:formatCode>
                <c:ptCount val="5"/>
                <c:pt idx="0">
                  <c:v>0.71060000000000001</c:v>
                </c:pt>
                <c:pt idx="1">
                  <c:v>0.16309999999999999</c:v>
                </c:pt>
                <c:pt idx="2">
                  <c:v>3.7400000000000003E-2</c:v>
                </c:pt>
                <c:pt idx="3">
                  <c:v>8.1500000000000003E-2</c:v>
                </c:pt>
                <c:pt idx="4">
                  <c:v>7.4000000000000003E-3</c:v>
                </c:pt>
              </c:numCache>
            </c:numRef>
          </c:val>
          <c:extLst>
            <c:ext xmlns:c16="http://schemas.microsoft.com/office/drawing/2014/chart" uri="{C3380CC4-5D6E-409C-BE32-E72D297353CC}">
              <c16:uniqueId val="{00000001-6B45-48FC-AE07-B1033B854257}"/>
            </c:ext>
          </c:extLst>
        </c:ser>
        <c:ser>
          <c:idx val="2"/>
          <c:order val="2"/>
          <c:tx>
            <c:v>NL</c:v>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PayNet Risk Drivers'!$B$3:$B$7</c:f>
              <c:strCache>
                <c:ptCount val="5"/>
                <c:pt idx="0">
                  <c:v>&lt; 0.02</c:v>
                </c:pt>
                <c:pt idx="1">
                  <c:v>0.02 - 0.4 or Missing</c:v>
                </c:pt>
                <c:pt idx="2">
                  <c:v>0.4 - 1.48</c:v>
                </c:pt>
                <c:pt idx="3">
                  <c:v>1.48 - 30</c:v>
                </c:pt>
                <c:pt idx="4">
                  <c:v>&gt;= 30</c:v>
                </c:pt>
              </c:strCache>
            </c:strRef>
          </c:cat>
          <c:val>
            <c:numRef>
              <c:f>'SBE2 PayNet Risk Drivers'!$E$3:$E$7</c:f>
              <c:numCache>
                <c:formatCode>0.00%</c:formatCode>
                <c:ptCount val="5"/>
                <c:pt idx="0">
                  <c:v>0.83499999999999996</c:v>
                </c:pt>
                <c:pt idx="1">
                  <c:v>9.9699999999999997E-2</c:v>
                </c:pt>
                <c:pt idx="2">
                  <c:v>2.0899999999999998E-2</c:v>
                </c:pt>
                <c:pt idx="3">
                  <c:v>4.24E-2</c:v>
                </c:pt>
                <c:pt idx="4">
                  <c:v>2.0999999999999999E-3</c:v>
                </c:pt>
              </c:numCache>
            </c:numRef>
          </c:val>
          <c:extLst>
            <c:ext xmlns:c16="http://schemas.microsoft.com/office/drawing/2014/chart" uri="{C3380CC4-5D6E-409C-BE32-E72D297353CC}">
              <c16:uniqueId val="{00000002-6B45-48FC-AE07-B1033B854257}"/>
            </c:ext>
          </c:extLst>
        </c:ser>
        <c:dLbls>
          <c:dLblPos val="outEnd"/>
          <c:showLegendKey val="0"/>
          <c:showVal val="1"/>
          <c:showCatName val="0"/>
          <c:showSerName val="0"/>
          <c:showPercent val="0"/>
          <c:showBubbleSize val="0"/>
        </c:dLbls>
        <c:gapWidth val="219"/>
        <c:overlap val="-27"/>
        <c:axId val="669930616"/>
        <c:axId val="669930944"/>
      </c:barChart>
      <c:catAx>
        <c:axId val="66993061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Average Days Past Due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9930944"/>
        <c:crosses val="autoZero"/>
        <c:auto val="1"/>
        <c:lblAlgn val="ctr"/>
        <c:lblOffset val="100"/>
        <c:noMultiLvlLbl val="0"/>
      </c:catAx>
      <c:valAx>
        <c:axId val="66993094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99306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'SBE2 PayNet Risk Drivers'!$AB$2</c:f>
              <c:strCache>
                <c:ptCount val="1"/>
                <c:pt idx="0">
                  <c:v>Current Portfolio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PayNet Risk Drivers'!$B$16:$B$19</c:f>
              <c:strCache>
                <c:ptCount val="4"/>
                <c:pt idx="0">
                  <c:v>New Customer</c:v>
                </c:pt>
                <c:pt idx="1">
                  <c:v>= 0%</c:v>
                </c:pt>
                <c:pt idx="2">
                  <c:v>0 - 5 %</c:v>
                </c:pt>
                <c:pt idx="3">
                  <c:v>&gt;= 5%</c:v>
                </c:pt>
              </c:strCache>
            </c:strRef>
          </c:cat>
          <c:val>
            <c:numRef>
              <c:f>'SBE2 PayNet Risk Drivers'!$G$16:$G$19</c:f>
              <c:numCache>
                <c:formatCode>0.00%</c:formatCode>
                <c:ptCount val="4"/>
                <c:pt idx="0">
                  <c:v>6.5782037105295496E-2</c:v>
                </c:pt>
                <c:pt idx="1">
                  <c:v>0.88320432485563338</c:v>
                </c:pt>
                <c:pt idx="2">
                  <c:v>4.7180243273129377E-2</c:v>
                </c:pt>
                <c:pt idx="3">
                  <c:v>3.8333947659417618E-3</c:v>
                </c:pt>
              </c:numCache>
            </c:numRef>
          </c:val>
          <c:extLst>
            <c:ext xmlns:c16="http://schemas.microsoft.com/office/drawing/2014/chart" uri="{C3380CC4-5D6E-409C-BE32-E72D297353CC}">
              <c16:uniqueId val="{00000000-9085-42A8-9243-312B6AE7A481}"/>
            </c:ext>
          </c:extLst>
        </c:ser>
        <c:ser>
          <c:idx val="1"/>
          <c:order val="1"/>
          <c:tx>
            <c:strRef>
              <c:f>'SBE2 PayNet Risk Drivers'!$AB$3</c:f>
              <c:strCache>
                <c:ptCount val="1"/>
                <c:pt idx="0">
                  <c:v>Historical Data (2011 - 2018)</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'SBE2 PayNet Risk Drivers'!$I$16:$I$19</c:f>
              <c:numCache>
                <c:formatCode>0.00%</c:formatCode>
                <c:ptCount val="4"/>
                <c:pt idx="0">
                  <c:v>7.2717137934529233E-2</c:v>
                </c:pt>
                <c:pt idx="1">
                  <c:v>0.91609839435926388</c:v>
                </c:pt>
                <c:pt idx="2">
                  <c:v>6.609332696289218E-3</c:v>
                </c:pt>
                <c:pt idx="3">
                  <c:v>4.5751350099176189E-3</c:v>
                </c:pt>
              </c:numCache>
            </c:numRef>
          </c:val>
          <c:extLst>
            <c:ext xmlns:c16="http://schemas.microsoft.com/office/drawing/2014/chart" uri="{C3380CC4-5D6E-409C-BE32-E72D297353CC}">
              <c16:uniqueId val="{00000001-9085-42A8-9243-312B6AE7A481}"/>
            </c:ext>
          </c:extLst>
        </c:ser>
        <c:dLbls>
          <c:dLblPos val="outEnd"/>
          <c:showLegendKey val="0"/>
          <c:showVal val="1"/>
          <c:showCatName val="0"/>
          <c:showSerName val="0"/>
          <c:showPercent val="0"/>
          <c:showBubbleSize val="0"/>
        </c:dLbls>
        <c:gapWidth val="219"/>
        <c:overlap val="-27"/>
        <c:axId val="601162648"/>
        <c:axId val="601161336"/>
      </c:barChart>
      <c:catAx>
        <c:axId val="60116264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smtClean="0"/>
                  <a:t>Percent of Current Delinquent Amount</a:t>
                </a:r>
                <a:endParaRPr lang="en-US" dirty="0"/>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01161336"/>
        <c:crosses val="autoZero"/>
        <c:auto val="1"/>
        <c:lblAlgn val="ctr"/>
        <c:lblOffset val="100"/>
        <c:noMultiLvlLbl val="0"/>
      </c:catAx>
      <c:valAx>
        <c:axId val="60116133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01162648"/>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Non-EFG/Non-NL</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PayNet Risk Drivers'!$B$16:$B$19</c:f>
              <c:strCache>
                <c:ptCount val="4"/>
                <c:pt idx="0">
                  <c:v>New Customer</c:v>
                </c:pt>
                <c:pt idx="1">
                  <c:v>= 0%</c:v>
                </c:pt>
                <c:pt idx="2">
                  <c:v>0 - 5 %</c:v>
                </c:pt>
                <c:pt idx="3">
                  <c:v>&gt;= 5%</c:v>
                </c:pt>
              </c:strCache>
            </c:strRef>
          </c:cat>
          <c:val>
            <c:numRef>
              <c:f>'SBE2 PayNet Risk Drivers'!$C$16:$C$19</c:f>
              <c:numCache>
                <c:formatCode>0.00%</c:formatCode>
                <c:ptCount val="4"/>
                <c:pt idx="0">
                  <c:v>7.8799999999999995E-2</c:v>
                </c:pt>
                <c:pt idx="1">
                  <c:v>0.91669999999999996</c:v>
                </c:pt>
                <c:pt idx="2">
                  <c:v>4.4999999999999997E-3</c:v>
                </c:pt>
                <c:pt idx="3">
                  <c:v>0</c:v>
                </c:pt>
              </c:numCache>
            </c:numRef>
          </c:val>
          <c:extLst>
            <c:ext xmlns:c16="http://schemas.microsoft.com/office/drawing/2014/chart" uri="{C3380CC4-5D6E-409C-BE32-E72D297353CC}">
              <c16:uniqueId val="{00000000-8B41-492A-BFB0-59E82C0CBF0E}"/>
            </c:ext>
          </c:extLst>
        </c:ser>
        <c:ser>
          <c:idx val="1"/>
          <c:order val="1"/>
          <c:tx>
            <c:v>EFG</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PayNet Risk Drivers'!$B$16:$B$19</c:f>
              <c:strCache>
                <c:ptCount val="4"/>
                <c:pt idx="0">
                  <c:v>New Customer</c:v>
                </c:pt>
                <c:pt idx="1">
                  <c:v>= 0%</c:v>
                </c:pt>
                <c:pt idx="2">
                  <c:v>0 - 5 %</c:v>
                </c:pt>
                <c:pt idx="3">
                  <c:v>&gt;= 5%</c:v>
                </c:pt>
              </c:strCache>
            </c:strRef>
          </c:cat>
          <c:val>
            <c:numRef>
              <c:f>'SBE2 PayNet Risk Drivers'!$D$16:$D$19</c:f>
              <c:numCache>
                <c:formatCode>0.00%</c:formatCode>
                <c:ptCount val="4"/>
                <c:pt idx="0">
                  <c:v>0.1186</c:v>
                </c:pt>
                <c:pt idx="1">
                  <c:v>0.84819999999999995</c:v>
                </c:pt>
                <c:pt idx="2">
                  <c:v>2.0199999999999999E-2</c:v>
                </c:pt>
                <c:pt idx="3">
                  <c:v>1.2999999999999999E-2</c:v>
                </c:pt>
              </c:numCache>
            </c:numRef>
          </c:val>
          <c:extLst>
            <c:ext xmlns:c16="http://schemas.microsoft.com/office/drawing/2014/chart" uri="{C3380CC4-5D6E-409C-BE32-E72D297353CC}">
              <c16:uniqueId val="{00000001-8B41-492A-BFB0-59E82C0CBF0E}"/>
            </c:ext>
          </c:extLst>
        </c:ser>
        <c:ser>
          <c:idx val="2"/>
          <c:order val="2"/>
          <c:tx>
            <c:v>NL</c:v>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PayNet Risk Drivers'!$B$16:$B$19</c:f>
              <c:strCache>
                <c:ptCount val="4"/>
                <c:pt idx="0">
                  <c:v>New Customer</c:v>
                </c:pt>
                <c:pt idx="1">
                  <c:v>= 0%</c:v>
                </c:pt>
                <c:pt idx="2">
                  <c:v>0 - 5 %</c:v>
                </c:pt>
                <c:pt idx="3">
                  <c:v>&gt;= 5%</c:v>
                </c:pt>
              </c:strCache>
            </c:strRef>
          </c:cat>
          <c:val>
            <c:numRef>
              <c:f>'SBE2 PayNet Risk Drivers'!$E$16:$E$19</c:f>
              <c:numCache>
                <c:formatCode>0.00%</c:formatCode>
                <c:ptCount val="4"/>
                <c:pt idx="0">
                  <c:v>6.08E-2</c:v>
                </c:pt>
                <c:pt idx="1">
                  <c:v>0.88600000000000001</c:v>
                </c:pt>
                <c:pt idx="2">
                  <c:v>5.0200000000000002E-2</c:v>
                </c:pt>
                <c:pt idx="3">
                  <c:v>3.0000000000000001E-3</c:v>
                </c:pt>
              </c:numCache>
            </c:numRef>
          </c:val>
          <c:extLst>
            <c:ext xmlns:c16="http://schemas.microsoft.com/office/drawing/2014/chart" uri="{C3380CC4-5D6E-409C-BE32-E72D297353CC}">
              <c16:uniqueId val="{00000002-8B41-492A-BFB0-59E82C0CBF0E}"/>
            </c:ext>
          </c:extLst>
        </c:ser>
        <c:dLbls>
          <c:dLblPos val="outEnd"/>
          <c:showLegendKey val="0"/>
          <c:showVal val="1"/>
          <c:showCatName val="0"/>
          <c:showSerName val="0"/>
          <c:showPercent val="0"/>
          <c:showBubbleSize val="0"/>
        </c:dLbls>
        <c:gapWidth val="219"/>
        <c:overlap val="-27"/>
        <c:axId val="535223768"/>
        <c:axId val="535225736"/>
      </c:barChart>
      <c:catAx>
        <c:axId val="53522376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smtClean="0"/>
                  <a:t>Percent of Current Delinquent Amount</a:t>
                </a:r>
                <a:endParaRPr lang="en-US" dirty="0"/>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5225736"/>
        <c:crosses val="autoZero"/>
        <c:auto val="1"/>
        <c:lblAlgn val="ctr"/>
        <c:lblOffset val="100"/>
        <c:noMultiLvlLbl val="0"/>
      </c:catAx>
      <c:valAx>
        <c:axId val="53522573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52237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'SBE2 PayNet Risk Drivers'!$AB$2</c:f>
              <c:strCache>
                <c:ptCount val="1"/>
                <c:pt idx="0">
                  <c:v>Current Portfolio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PayNet Risk Drivers'!$B$64:$B$68</c:f>
              <c:strCache>
                <c:ptCount val="5"/>
                <c:pt idx="0">
                  <c:v>&lt; 6</c:v>
                </c:pt>
                <c:pt idx="1">
                  <c:v>New Customer</c:v>
                </c:pt>
                <c:pt idx="2">
                  <c:v>6 - 30</c:v>
                </c:pt>
                <c:pt idx="3">
                  <c:v>30 - 60</c:v>
                </c:pt>
                <c:pt idx="4">
                  <c:v>&gt;= 60</c:v>
                </c:pt>
              </c:strCache>
            </c:strRef>
          </c:cat>
          <c:val>
            <c:numRef>
              <c:f>'SBE2 PayNet Risk Drivers'!$G$64:$G$68</c:f>
              <c:numCache>
                <c:formatCode>0.00%</c:formatCode>
                <c:ptCount val="5"/>
                <c:pt idx="0">
                  <c:v>0.76911168448212308</c:v>
                </c:pt>
                <c:pt idx="1">
                  <c:v>6.5782037105295496E-2</c:v>
                </c:pt>
                <c:pt idx="2">
                  <c:v>0.10880943604865463</c:v>
                </c:pt>
                <c:pt idx="3">
                  <c:v>3.8997419830446002E-2</c:v>
                </c:pt>
                <c:pt idx="4">
                  <c:v>1.7299422533480772E-2</c:v>
                </c:pt>
              </c:numCache>
            </c:numRef>
          </c:val>
          <c:extLst>
            <c:ext xmlns:c16="http://schemas.microsoft.com/office/drawing/2014/chart" uri="{C3380CC4-5D6E-409C-BE32-E72D297353CC}">
              <c16:uniqueId val="{00000000-BF0A-421E-BA2F-633C55D1464A}"/>
            </c:ext>
          </c:extLst>
        </c:ser>
        <c:ser>
          <c:idx val="1"/>
          <c:order val="1"/>
          <c:tx>
            <c:strRef>
              <c:f>'SBE2 PayNet Risk Drivers'!$AB$3</c:f>
              <c:strCache>
                <c:ptCount val="1"/>
                <c:pt idx="0">
                  <c:v>Historical Data (2011 - 2018)</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'SBE2 PayNet Risk Drivers'!$I$64:$I$68</c:f>
              <c:numCache>
                <c:formatCode>0.00%</c:formatCode>
                <c:ptCount val="5"/>
                <c:pt idx="0">
                  <c:v>0.69070784288175591</c:v>
                </c:pt>
                <c:pt idx="1">
                  <c:v>7.2717137934529233E-2</c:v>
                </c:pt>
                <c:pt idx="2">
                  <c:v>0.17136486701704093</c:v>
                </c:pt>
                <c:pt idx="3">
                  <c:v>5.2360682795465407E-2</c:v>
                </c:pt>
                <c:pt idx="4">
                  <c:v>1.2849469371208502E-2</c:v>
                </c:pt>
              </c:numCache>
            </c:numRef>
          </c:val>
          <c:extLst>
            <c:ext xmlns:c16="http://schemas.microsoft.com/office/drawing/2014/chart" uri="{C3380CC4-5D6E-409C-BE32-E72D297353CC}">
              <c16:uniqueId val="{00000001-BF0A-421E-BA2F-633C55D1464A}"/>
            </c:ext>
          </c:extLst>
        </c:ser>
        <c:dLbls>
          <c:dLblPos val="outEnd"/>
          <c:showLegendKey val="0"/>
          <c:showVal val="1"/>
          <c:showCatName val="0"/>
          <c:showSerName val="0"/>
          <c:showPercent val="0"/>
          <c:showBubbleSize val="0"/>
        </c:dLbls>
        <c:gapWidth val="219"/>
        <c:overlap val="-27"/>
        <c:axId val="709419784"/>
        <c:axId val="709425360"/>
      </c:barChart>
      <c:catAx>
        <c:axId val="70941978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Max Days Delinquent</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09425360"/>
        <c:crosses val="autoZero"/>
        <c:auto val="1"/>
        <c:lblAlgn val="ctr"/>
        <c:lblOffset val="100"/>
        <c:noMultiLvlLbl val="0"/>
      </c:catAx>
      <c:valAx>
        <c:axId val="7094253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0941978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Non-EFG/Non-NL</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PayNet Risk Drivers'!$B$64:$B$68</c:f>
              <c:strCache>
                <c:ptCount val="5"/>
                <c:pt idx="0">
                  <c:v>&lt; 6</c:v>
                </c:pt>
                <c:pt idx="1">
                  <c:v>New Customer</c:v>
                </c:pt>
                <c:pt idx="2">
                  <c:v>6 - 30</c:v>
                </c:pt>
                <c:pt idx="3">
                  <c:v>30 - 60</c:v>
                </c:pt>
                <c:pt idx="4">
                  <c:v>&gt;= 60</c:v>
                </c:pt>
              </c:strCache>
            </c:strRef>
          </c:cat>
          <c:val>
            <c:numRef>
              <c:f>'SBE2 PayNet Risk Drivers'!$C$64:$C$68</c:f>
              <c:numCache>
                <c:formatCode>0.00%</c:formatCode>
                <c:ptCount val="5"/>
                <c:pt idx="0">
                  <c:v>0.90539999999999998</c:v>
                </c:pt>
                <c:pt idx="1">
                  <c:v>7.8799999999999995E-2</c:v>
                </c:pt>
                <c:pt idx="2">
                  <c:v>4.4999999999999997E-3</c:v>
                </c:pt>
                <c:pt idx="3">
                  <c:v>1.1299999999999999E-2</c:v>
                </c:pt>
                <c:pt idx="4">
                  <c:v>0</c:v>
                </c:pt>
              </c:numCache>
            </c:numRef>
          </c:val>
          <c:extLst>
            <c:ext xmlns:c16="http://schemas.microsoft.com/office/drawing/2014/chart" uri="{C3380CC4-5D6E-409C-BE32-E72D297353CC}">
              <c16:uniqueId val="{00000000-5D35-426D-9655-D124D33CD520}"/>
            </c:ext>
          </c:extLst>
        </c:ser>
        <c:ser>
          <c:idx val="1"/>
          <c:order val="1"/>
          <c:tx>
            <c:v>EFG</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PayNet Risk Drivers'!$B$64:$B$68</c:f>
              <c:strCache>
                <c:ptCount val="5"/>
                <c:pt idx="0">
                  <c:v>&lt; 6</c:v>
                </c:pt>
                <c:pt idx="1">
                  <c:v>New Customer</c:v>
                </c:pt>
                <c:pt idx="2">
                  <c:v>6 - 30</c:v>
                </c:pt>
                <c:pt idx="3">
                  <c:v>30 - 60</c:v>
                </c:pt>
                <c:pt idx="4">
                  <c:v>&gt;= 60</c:v>
                </c:pt>
              </c:strCache>
            </c:strRef>
          </c:cat>
          <c:val>
            <c:numRef>
              <c:f>'SBE2 PayNet Risk Drivers'!$D$64:$D$68</c:f>
              <c:numCache>
                <c:formatCode>0.00%</c:formatCode>
                <c:ptCount val="5"/>
                <c:pt idx="0">
                  <c:v>0.80730000000000002</c:v>
                </c:pt>
                <c:pt idx="1">
                  <c:v>0.1186</c:v>
                </c:pt>
                <c:pt idx="2">
                  <c:v>2.1600000000000001E-2</c:v>
                </c:pt>
                <c:pt idx="3">
                  <c:v>4.0899999999999999E-2</c:v>
                </c:pt>
                <c:pt idx="4">
                  <c:v>1.1599999999999999E-2</c:v>
                </c:pt>
              </c:numCache>
            </c:numRef>
          </c:val>
          <c:extLst>
            <c:ext xmlns:c16="http://schemas.microsoft.com/office/drawing/2014/chart" uri="{C3380CC4-5D6E-409C-BE32-E72D297353CC}">
              <c16:uniqueId val="{00000001-5D35-426D-9655-D124D33CD520}"/>
            </c:ext>
          </c:extLst>
        </c:ser>
        <c:ser>
          <c:idx val="2"/>
          <c:order val="2"/>
          <c:tx>
            <c:v>NL</c:v>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PayNet Risk Drivers'!$B$64:$B$68</c:f>
              <c:strCache>
                <c:ptCount val="5"/>
                <c:pt idx="0">
                  <c:v>&lt; 6</c:v>
                </c:pt>
                <c:pt idx="1">
                  <c:v>New Customer</c:v>
                </c:pt>
                <c:pt idx="2">
                  <c:v>6 - 30</c:v>
                </c:pt>
                <c:pt idx="3">
                  <c:v>30 - 60</c:v>
                </c:pt>
                <c:pt idx="4">
                  <c:v>&gt;= 60</c:v>
                </c:pt>
              </c:strCache>
            </c:strRef>
          </c:cat>
          <c:val>
            <c:numRef>
              <c:f>'SBE2 PayNet Risk Drivers'!$E$64:$E$68</c:f>
              <c:numCache>
                <c:formatCode>0.00%</c:formatCode>
                <c:ptCount val="5"/>
                <c:pt idx="0">
                  <c:v>0.76400000000000001</c:v>
                </c:pt>
                <c:pt idx="1">
                  <c:v>6.08E-2</c:v>
                </c:pt>
                <c:pt idx="2">
                  <c:v>0.11799999999999999</c:v>
                </c:pt>
                <c:pt idx="3">
                  <c:v>3.9199999999999999E-2</c:v>
                </c:pt>
                <c:pt idx="4">
                  <c:v>1.7999999999999999E-2</c:v>
                </c:pt>
              </c:numCache>
            </c:numRef>
          </c:val>
          <c:extLst>
            <c:ext xmlns:c16="http://schemas.microsoft.com/office/drawing/2014/chart" uri="{C3380CC4-5D6E-409C-BE32-E72D297353CC}">
              <c16:uniqueId val="{00000002-5D35-426D-9655-D124D33CD520}"/>
            </c:ext>
          </c:extLst>
        </c:ser>
        <c:dLbls>
          <c:dLblPos val="outEnd"/>
          <c:showLegendKey val="0"/>
          <c:showVal val="1"/>
          <c:showCatName val="0"/>
          <c:showSerName val="0"/>
          <c:showPercent val="0"/>
          <c:showBubbleSize val="0"/>
        </c:dLbls>
        <c:gapWidth val="219"/>
        <c:overlap val="-27"/>
        <c:axId val="680002104"/>
        <c:axId val="679999808"/>
      </c:barChart>
      <c:catAx>
        <c:axId val="68000210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Max Days Delinquent</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79999808"/>
        <c:crosses val="autoZero"/>
        <c:auto val="1"/>
        <c:lblAlgn val="ctr"/>
        <c:lblOffset val="100"/>
        <c:noMultiLvlLbl val="0"/>
      </c:catAx>
      <c:valAx>
        <c:axId val="67999980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800021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'SBE2 PayNet Risk Drivers'!$AB$2</c:f>
              <c:strCache>
                <c:ptCount val="1"/>
                <c:pt idx="0">
                  <c:v>Current Portfolio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'SBE2 PayNet Risk Drivers'!$A$77:$A$80</c:f>
              <c:numCache>
                <c:formatCode>General</c:formatCode>
                <c:ptCount val="4"/>
                <c:pt idx="0">
                  <c:v>0</c:v>
                </c:pt>
                <c:pt idx="1">
                  <c:v>4</c:v>
                </c:pt>
                <c:pt idx="2">
                  <c:v>8</c:v>
                </c:pt>
                <c:pt idx="3">
                  <c:v>19</c:v>
                </c:pt>
              </c:numCache>
            </c:numRef>
          </c:cat>
          <c:val>
            <c:numRef>
              <c:f>'SBE2 PayNet Risk Drivers'!$G$77:$G$80</c:f>
              <c:numCache>
                <c:formatCode>0.00%</c:formatCode>
                <c:ptCount val="4"/>
                <c:pt idx="0">
                  <c:v>0.20289961911782775</c:v>
                </c:pt>
                <c:pt idx="1">
                  <c:v>0.16847278535446614</c:v>
                </c:pt>
                <c:pt idx="2">
                  <c:v>0.28745546135888927</c:v>
                </c:pt>
                <c:pt idx="3">
                  <c:v>0.34117213416881681</c:v>
                </c:pt>
              </c:numCache>
            </c:numRef>
          </c:val>
          <c:extLst>
            <c:ext xmlns:c16="http://schemas.microsoft.com/office/drawing/2014/chart" uri="{C3380CC4-5D6E-409C-BE32-E72D297353CC}">
              <c16:uniqueId val="{00000000-25C5-4306-ABE3-9287D7FD05E4}"/>
            </c:ext>
          </c:extLst>
        </c:ser>
        <c:ser>
          <c:idx val="1"/>
          <c:order val="1"/>
          <c:tx>
            <c:strRef>
              <c:f>'SBE2 PayNet Risk Drivers'!$AB$3</c:f>
              <c:strCache>
                <c:ptCount val="1"/>
                <c:pt idx="0">
                  <c:v>Historical Data (2011 - 2018)</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'SBE2 PayNet Risk Drivers'!$I$77:$I$80</c:f>
              <c:numCache>
                <c:formatCode>0.00%</c:formatCode>
                <c:ptCount val="4"/>
                <c:pt idx="0">
                  <c:v>0.1487932357497575</c:v>
                </c:pt>
                <c:pt idx="1">
                  <c:v>0.16440081657472963</c:v>
                </c:pt>
                <c:pt idx="2">
                  <c:v>0.32521102086319476</c:v>
                </c:pt>
                <c:pt idx="3">
                  <c:v>0.36159492681231814</c:v>
                </c:pt>
              </c:numCache>
            </c:numRef>
          </c:val>
          <c:extLst>
            <c:ext xmlns:c16="http://schemas.microsoft.com/office/drawing/2014/chart" uri="{C3380CC4-5D6E-409C-BE32-E72D297353CC}">
              <c16:uniqueId val="{00000001-25C5-4306-ABE3-9287D7FD05E4}"/>
            </c:ext>
          </c:extLst>
        </c:ser>
        <c:dLbls>
          <c:dLblPos val="outEnd"/>
          <c:showLegendKey val="0"/>
          <c:showVal val="1"/>
          <c:showCatName val="0"/>
          <c:showSerName val="0"/>
          <c:showPercent val="0"/>
          <c:showBubbleSize val="0"/>
        </c:dLbls>
        <c:gapWidth val="219"/>
        <c:overlap val="-27"/>
        <c:axId val="660091304"/>
        <c:axId val="660089008"/>
      </c:barChart>
      <c:catAx>
        <c:axId val="66009130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NAICS2 Score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0089008"/>
        <c:crosses val="autoZero"/>
        <c:auto val="1"/>
        <c:lblAlgn val="ctr"/>
        <c:lblOffset val="100"/>
        <c:noMultiLvlLbl val="0"/>
      </c:catAx>
      <c:valAx>
        <c:axId val="66008900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009130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Non-EFG/Non-NL</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'SBE2 PayNet Risk Drivers'!$A$77:$A$80</c:f>
              <c:numCache>
                <c:formatCode>General</c:formatCode>
                <c:ptCount val="4"/>
                <c:pt idx="0">
                  <c:v>0</c:v>
                </c:pt>
                <c:pt idx="1">
                  <c:v>4</c:v>
                </c:pt>
                <c:pt idx="2">
                  <c:v>8</c:v>
                </c:pt>
                <c:pt idx="3">
                  <c:v>19</c:v>
                </c:pt>
              </c:numCache>
            </c:numRef>
          </c:cat>
          <c:val>
            <c:numRef>
              <c:f>'SBE2 PayNet Risk Drivers'!$C$77:$C$80</c:f>
              <c:numCache>
                <c:formatCode>0.00%</c:formatCode>
                <c:ptCount val="4"/>
                <c:pt idx="0">
                  <c:v>9.2299999999999993E-2</c:v>
                </c:pt>
                <c:pt idx="1">
                  <c:v>0.19139999999999999</c:v>
                </c:pt>
                <c:pt idx="2">
                  <c:v>0.39410000000000001</c:v>
                </c:pt>
                <c:pt idx="3">
                  <c:v>0.3221</c:v>
                </c:pt>
              </c:numCache>
            </c:numRef>
          </c:val>
          <c:extLst>
            <c:ext xmlns:c16="http://schemas.microsoft.com/office/drawing/2014/chart" uri="{C3380CC4-5D6E-409C-BE32-E72D297353CC}">
              <c16:uniqueId val="{00000000-AF9B-4AA7-813F-3EC0823DBEAE}"/>
            </c:ext>
          </c:extLst>
        </c:ser>
        <c:ser>
          <c:idx val="1"/>
          <c:order val="1"/>
          <c:tx>
            <c:v>EFG</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'SBE2 PayNet Risk Drivers'!$A$77:$A$80</c:f>
              <c:numCache>
                <c:formatCode>General</c:formatCode>
                <c:ptCount val="4"/>
                <c:pt idx="0">
                  <c:v>0</c:v>
                </c:pt>
                <c:pt idx="1">
                  <c:v>4</c:v>
                </c:pt>
                <c:pt idx="2">
                  <c:v>8</c:v>
                </c:pt>
                <c:pt idx="3">
                  <c:v>19</c:v>
                </c:pt>
              </c:numCache>
            </c:numRef>
          </c:cat>
          <c:val>
            <c:numRef>
              <c:f>'SBE2 PayNet Risk Drivers'!$D$77:$D$80</c:f>
              <c:numCache>
                <c:formatCode>0.00%</c:formatCode>
                <c:ptCount val="4"/>
                <c:pt idx="0">
                  <c:v>0.72340000000000004</c:v>
                </c:pt>
                <c:pt idx="1">
                  <c:v>0.17249999999999999</c:v>
                </c:pt>
                <c:pt idx="2">
                  <c:v>4.8000000000000001E-2</c:v>
                </c:pt>
                <c:pt idx="3">
                  <c:v>5.6000000000000001E-2</c:v>
                </c:pt>
              </c:numCache>
            </c:numRef>
          </c:val>
          <c:extLst>
            <c:ext xmlns:c16="http://schemas.microsoft.com/office/drawing/2014/chart" uri="{C3380CC4-5D6E-409C-BE32-E72D297353CC}">
              <c16:uniqueId val="{00000001-AF9B-4AA7-813F-3EC0823DBEAE}"/>
            </c:ext>
          </c:extLst>
        </c:ser>
        <c:ser>
          <c:idx val="2"/>
          <c:order val="2"/>
          <c:tx>
            <c:v>NL</c:v>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'SBE2 PayNet Risk Drivers'!$A$77:$A$80</c:f>
              <c:numCache>
                <c:formatCode>General</c:formatCode>
                <c:ptCount val="4"/>
                <c:pt idx="0">
                  <c:v>0</c:v>
                </c:pt>
                <c:pt idx="1">
                  <c:v>4</c:v>
                </c:pt>
                <c:pt idx="2">
                  <c:v>8</c:v>
                </c:pt>
                <c:pt idx="3">
                  <c:v>19</c:v>
                </c:pt>
              </c:numCache>
            </c:numRef>
          </c:cat>
          <c:val>
            <c:numRef>
              <c:f>'SBE2 PayNet Risk Drivers'!$E$77:$E$80</c:f>
              <c:numCache>
                <c:formatCode>0.00%</c:formatCode>
                <c:ptCount val="4"/>
                <c:pt idx="0">
                  <c:v>0.15659999999999999</c:v>
                </c:pt>
                <c:pt idx="1">
                  <c:v>0.1678</c:v>
                </c:pt>
                <c:pt idx="2">
                  <c:v>0.30809999999999998</c:v>
                </c:pt>
                <c:pt idx="3">
                  <c:v>0.36749999999999999</c:v>
                </c:pt>
              </c:numCache>
            </c:numRef>
          </c:val>
          <c:extLst>
            <c:ext xmlns:c16="http://schemas.microsoft.com/office/drawing/2014/chart" uri="{C3380CC4-5D6E-409C-BE32-E72D297353CC}">
              <c16:uniqueId val="{00000002-AF9B-4AA7-813F-3EC0823DBEAE}"/>
            </c:ext>
          </c:extLst>
        </c:ser>
        <c:dLbls>
          <c:dLblPos val="outEnd"/>
          <c:showLegendKey val="0"/>
          <c:showVal val="1"/>
          <c:showCatName val="0"/>
          <c:showSerName val="0"/>
          <c:showPercent val="0"/>
          <c:showBubbleSize val="0"/>
        </c:dLbls>
        <c:gapWidth val="219"/>
        <c:overlap val="-27"/>
        <c:axId val="676046872"/>
        <c:axId val="676050152"/>
      </c:barChart>
      <c:catAx>
        <c:axId val="67604687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NAICS2 Score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76050152"/>
        <c:crosses val="autoZero"/>
        <c:auto val="1"/>
        <c:lblAlgn val="ctr"/>
        <c:lblOffset val="100"/>
        <c:noMultiLvlLbl val="0"/>
      </c:catAx>
      <c:valAx>
        <c:axId val="6760501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7604687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'SBE2 PayNet Risk Drivers'!$AB$2</c:f>
              <c:strCache>
                <c:ptCount val="1"/>
                <c:pt idx="0">
                  <c:v>Current Portfolio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PayNet Risk Drivers'!$B$27:$B$28</c:f>
              <c:strCache>
                <c:ptCount val="2"/>
                <c:pt idx="0">
                  <c:v>0 or Missing or Unknown</c:v>
                </c:pt>
                <c:pt idx="1">
                  <c:v>1</c:v>
                </c:pt>
              </c:strCache>
            </c:strRef>
          </c:cat>
          <c:val>
            <c:numRef>
              <c:f>'SBE2 PayNet Risk Drivers'!$G$27:$G$28</c:f>
              <c:numCache>
                <c:formatCode>0.00%</c:formatCode>
                <c:ptCount val="2"/>
                <c:pt idx="0">
                  <c:v>0.99808330261702916</c:v>
                </c:pt>
                <c:pt idx="1">
                  <c:v>1.9166973829708809E-3</c:v>
                </c:pt>
              </c:numCache>
            </c:numRef>
          </c:val>
          <c:extLst>
            <c:ext xmlns:c16="http://schemas.microsoft.com/office/drawing/2014/chart" uri="{C3380CC4-5D6E-409C-BE32-E72D297353CC}">
              <c16:uniqueId val="{00000000-E0D5-46A4-BFE9-02394E3AFE13}"/>
            </c:ext>
          </c:extLst>
        </c:ser>
        <c:ser>
          <c:idx val="1"/>
          <c:order val="1"/>
          <c:tx>
            <c:strRef>
              <c:f>'SBE2 PayNet Risk Drivers'!$AB$3</c:f>
              <c:strCache>
                <c:ptCount val="1"/>
                <c:pt idx="0">
                  <c:v>Historical Data (2011 - 2018)</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'SBE2 PayNet Risk Drivers'!$I$27:$I$28</c:f>
              <c:numCache>
                <c:formatCode>0.00%</c:formatCode>
                <c:ptCount val="2"/>
                <c:pt idx="0">
                  <c:v>0.9571515441080658</c:v>
                </c:pt>
                <c:pt idx="1">
                  <c:v>4.2848455891934152E-2</c:v>
                </c:pt>
              </c:numCache>
            </c:numRef>
          </c:val>
          <c:extLst>
            <c:ext xmlns:c16="http://schemas.microsoft.com/office/drawing/2014/chart" uri="{C3380CC4-5D6E-409C-BE32-E72D297353CC}">
              <c16:uniqueId val="{00000001-E0D5-46A4-BFE9-02394E3AFE13}"/>
            </c:ext>
          </c:extLst>
        </c:ser>
        <c:dLbls>
          <c:dLblPos val="outEnd"/>
          <c:showLegendKey val="0"/>
          <c:showVal val="1"/>
          <c:showCatName val="0"/>
          <c:showSerName val="0"/>
          <c:showPercent val="0"/>
          <c:showBubbleSize val="0"/>
        </c:dLbls>
        <c:gapWidth val="219"/>
        <c:overlap val="-27"/>
        <c:axId val="661048632"/>
        <c:axId val="661048960"/>
      </c:barChart>
      <c:catAx>
        <c:axId val="66104863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smtClean="0"/>
                  <a:t>Doctor Flag</a:t>
                </a:r>
                <a:endParaRPr lang="en-US" dirty="0"/>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1048960"/>
        <c:crosses val="autoZero"/>
        <c:auto val="1"/>
        <c:lblAlgn val="ctr"/>
        <c:lblOffset val="100"/>
        <c:noMultiLvlLbl val="0"/>
      </c:catAx>
      <c:valAx>
        <c:axId val="6610489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104863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Non-EFG/Non-NL</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PayNet Risk Drivers'!$B$27:$B$28</c:f>
              <c:strCache>
                <c:ptCount val="2"/>
                <c:pt idx="0">
                  <c:v>0 or Missing or Unknown</c:v>
                </c:pt>
                <c:pt idx="1">
                  <c:v>1</c:v>
                </c:pt>
              </c:strCache>
            </c:strRef>
          </c:cat>
          <c:val>
            <c:numRef>
              <c:f>'SBE2 PayNet Risk Drivers'!$C$27:$C$28</c:f>
              <c:numCache>
                <c:formatCode>0.00%</c:formatCode>
                <c:ptCount val="2"/>
                <c:pt idx="0">
                  <c:v>1</c:v>
                </c:pt>
                <c:pt idx="1">
                  <c:v>0</c:v>
                </c:pt>
              </c:numCache>
            </c:numRef>
          </c:val>
          <c:extLst>
            <c:ext xmlns:c16="http://schemas.microsoft.com/office/drawing/2014/chart" uri="{C3380CC4-5D6E-409C-BE32-E72D297353CC}">
              <c16:uniqueId val="{00000000-F071-45BC-9182-E6A59EB7FE11}"/>
            </c:ext>
          </c:extLst>
        </c:ser>
        <c:ser>
          <c:idx val="1"/>
          <c:order val="1"/>
          <c:tx>
            <c:v>EFG</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PayNet Risk Drivers'!$B$27:$B$28</c:f>
              <c:strCache>
                <c:ptCount val="2"/>
                <c:pt idx="0">
                  <c:v>0 or Missing or Unknown</c:v>
                </c:pt>
                <c:pt idx="1">
                  <c:v>1</c:v>
                </c:pt>
              </c:strCache>
            </c:strRef>
          </c:cat>
          <c:val>
            <c:numRef>
              <c:f>'SBE2 PayNet Risk Drivers'!$D$27:$D$28</c:f>
              <c:numCache>
                <c:formatCode>0.00%</c:formatCode>
                <c:ptCount val="2"/>
                <c:pt idx="0">
                  <c:v>1</c:v>
                </c:pt>
                <c:pt idx="1">
                  <c:v>0</c:v>
                </c:pt>
              </c:numCache>
            </c:numRef>
          </c:val>
          <c:extLst>
            <c:ext xmlns:c16="http://schemas.microsoft.com/office/drawing/2014/chart" uri="{C3380CC4-5D6E-409C-BE32-E72D297353CC}">
              <c16:uniqueId val="{00000001-F071-45BC-9182-E6A59EB7FE11}"/>
            </c:ext>
          </c:extLst>
        </c:ser>
        <c:ser>
          <c:idx val="2"/>
          <c:order val="2"/>
          <c:tx>
            <c:v>NL</c:v>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'SBE2 PayNet Risk Drivers'!$E$27:$E$28</c:f>
              <c:numCache>
                <c:formatCode>0.00%</c:formatCode>
                <c:ptCount val="2"/>
                <c:pt idx="0">
                  <c:v>0.99790000000000001</c:v>
                </c:pt>
                <c:pt idx="1">
                  <c:v>2.0999999999999999E-3</c:v>
                </c:pt>
              </c:numCache>
            </c:numRef>
          </c:val>
          <c:extLst>
            <c:ext xmlns:c16="http://schemas.microsoft.com/office/drawing/2014/chart" uri="{C3380CC4-5D6E-409C-BE32-E72D297353CC}">
              <c16:uniqueId val="{00000002-F071-45BC-9182-E6A59EB7FE11}"/>
            </c:ext>
          </c:extLst>
        </c:ser>
        <c:dLbls>
          <c:dLblPos val="outEnd"/>
          <c:showLegendKey val="0"/>
          <c:showVal val="1"/>
          <c:showCatName val="0"/>
          <c:showSerName val="0"/>
          <c:showPercent val="0"/>
          <c:showBubbleSize val="0"/>
        </c:dLbls>
        <c:gapWidth val="219"/>
        <c:overlap val="-27"/>
        <c:axId val="468522576"/>
        <c:axId val="468526184"/>
      </c:barChart>
      <c:catAx>
        <c:axId val="46852257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Doctor Flag</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68526184"/>
        <c:crosses val="autoZero"/>
        <c:auto val="1"/>
        <c:lblAlgn val="ctr"/>
        <c:lblOffset val="100"/>
        <c:noMultiLvlLbl val="0"/>
      </c:catAx>
      <c:valAx>
        <c:axId val="46852618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685225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'SBE2 PayNet Risk Drivers'!$AB$2</c:f>
              <c:strCache>
                <c:ptCount val="1"/>
                <c:pt idx="0">
                  <c:v>Current Portfolio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PayNet Risk Drivers'!$B$46:$B$49</c:f>
              <c:strCache>
                <c:ptCount val="4"/>
                <c:pt idx="0">
                  <c:v>&lt; 1 or Missing</c:v>
                </c:pt>
                <c:pt idx="1">
                  <c:v>1 - 3</c:v>
                </c:pt>
                <c:pt idx="2">
                  <c:v>3 - 7</c:v>
                </c:pt>
                <c:pt idx="3">
                  <c:v>&gt;= 7</c:v>
                </c:pt>
              </c:strCache>
            </c:strRef>
          </c:cat>
          <c:val>
            <c:numRef>
              <c:f>'SBE2 PayNet Risk Drivers'!$G$46:$G$49</c:f>
              <c:numCache>
                <c:formatCode>0.00%</c:formatCode>
                <c:ptCount val="4"/>
                <c:pt idx="0">
                  <c:v>8.1754515296719496E-2</c:v>
                </c:pt>
                <c:pt idx="1">
                  <c:v>0.55119793586435684</c:v>
                </c:pt>
                <c:pt idx="2">
                  <c:v>0.25504361715198426</c:v>
                </c:pt>
                <c:pt idx="3">
                  <c:v>0.11200393168693942</c:v>
                </c:pt>
              </c:numCache>
            </c:numRef>
          </c:val>
          <c:extLst>
            <c:ext xmlns:c16="http://schemas.microsoft.com/office/drawing/2014/chart" uri="{C3380CC4-5D6E-409C-BE32-E72D297353CC}">
              <c16:uniqueId val="{00000000-4CBA-44FD-AE3F-C74F0F67F926}"/>
            </c:ext>
          </c:extLst>
        </c:ser>
        <c:ser>
          <c:idx val="1"/>
          <c:order val="1"/>
          <c:tx>
            <c:strRef>
              <c:f>'SBE2 PayNet Risk Drivers'!$AB$3</c:f>
              <c:strCache>
                <c:ptCount val="1"/>
                <c:pt idx="0">
                  <c:v>Historical Data (2011 - 2018)</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'SBE2 PayNet Risk Drivers'!$I$46:$I$49</c:f>
              <c:numCache>
                <c:formatCode>0.00%</c:formatCode>
                <c:ptCount val="4"/>
                <c:pt idx="0">
                  <c:v>2.9637029637029636E-2</c:v>
                </c:pt>
                <c:pt idx="1">
                  <c:v>0.71615341180558567</c:v>
                </c:pt>
                <c:pt idx="2">
                  <c:v>0.2011249619945272</c:v>
                </c:pt>
                <c:pt idx="3">
                  <c:v>5.3084596562857432E-2</c:v>
                </c:pt>
              </c:numCache>
            </c:numRef>
          </c:val>
          <c:extLst>
            <c:ext xmlns:c16="http://schemas.microsoft.com/office/drawing/2014/chart" uri="{C3380CC4-5D6E-409C-BE32-E72D297353CC}">
              <c16:uniqueId val="{00000001-4CBA-44FD-AE3F-C74F0F67F926}"/>
            </c:ext>
          </c:extLst>
        </c:ser>
        <c:dLbls>
          <c:dLblPos val="outEnd"/>
          <c:showLegendKey val="0"/>
          <c:showVal val="1"/>
          <c:showCatName val="0"/>
          <c:showSerName val="0"/>
          <c:showPercent val="0"/>
          <c:showBubbleSize val="0"/>
        </c:dLbls>
        <c:gapWidth val="219"/>
        <c:overlap val="-27"/>
        <c:axId val="608515800"/>
        <c:axId val="608516456"/>
      </c:barChart>
      <c:catAx>
        <c:axId val="60851580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Number of Open Obligations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08516456"/>
        <c:crosses val="autoZero"/>
        <c:auto val="1"/>
        <c:lblAlgn val="ctr"/>
        <c:lblOffset val="100"/>
        <c:noMultiLvlLbl val="0"/>
      </c:catAx>
      <c:valAx>
        <c:axId val="60851645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0851580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Non-EFG/Non-NL</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PayNet Risk Drivers'!$B$46:$B$49</c:f>
              <c:strCache>
                <c:ptCount val="4"/>
                <c:pt idx="0">
                  <c:v>&lt; 1 or Missing</c:v>
                </c:pt>
                <c:pt idx="1">
                  <c:v>1 - 3</c:v>
                </c:pt>
                <c:pt idx="2">
                  <c:v>3 - 7</c:v>
                </c:pt>
                <c:pt idx="3">
                  <c:v>&gt;= 7</c:v>
                </c:pt>
              </c:strCache>
            </c:strRef>
          </c:cat>
          <c:val>
            <c:numRef>
              <c:f>'SBE2 PayNet Risk Drivers'!$C$46:$C$49</c:f>
              <c:numCache>
                <c:formatCode>0.00%</c:formatCode>
                <c:ptCount val="4"/>
                <c:pt idx="0">
                  <c:v>0.27700000000000002</c:v>
                </c:pt>
                <c:pt idx="1">
                  <c:v>0.54049999999999998</c:v>
                </c:pt>
                <c:pt idx="2">
                  <c:v>0.13739999999999999</c:v>
                </c:pt>
                <c:pt idx="3">
                  <c:v>4.4999999999999998E-2</c:v>
                </c:pt>
              </c:numCache>
            </c:numRef>
          </c:val>
          <c:extLst>
            <c:ext xmlns:c16="http://schemas.microsoft.com/office/drawing/2014/chart" uri="{C3380CC4-5D6E-409C-BE32-E72D297353CC}">
              <c16:uniqueId val="{00000000-8D23-4D03-A217-F5304BDD0C07}"/>
            </c:ext>
          </c:extLst>
        </c:ser>
        <c:ser>
          <c:idx val="1"/>
          <c:order val="1"/>
          <c:tx>
            <c:v>EFG</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PayNet Risk Drivers'!$B$46:$B$49</c:f>
              <c:strCache>
                <c:ptCount val="4"/>
                <c:pt idx="0">
                  <c:v>&lt; 1 or Missing</c:v>
                </c:pt>
                <c:pt idx="1">
                  <c:v>1 - 3</c:v>
                </c:pt>
                <c:pt idx="2">
                  <c:v>3 - 7</c:v>
                </c:pt>
                <c:pt idx="3">
                  <c:v>&gt;= 7</c:v>
                </c:pt>
              </c:strCache>
            </c:strRef>
          </c:cat>
          <c:val>
            <c:numRef>
              <c:f>'SBE2 PayNet Risk Drivers'!$D$46:$D$49</c:f>
              <c:numCache>
                <c:formatCode>0.00%</c:formatCode>
                <c:ptCount val="4"/>
                <c:pt idx="0">
                  <c:v>9.3399999999999997E-2</c:v>
                </c:pt>
                <c:pt idx="1">
                  <c:v>0.432</c:v>
                </c:pt>
                <c:pt idx="2">
                  <c:v>0.24340000000000001</c:v>
                </c:pt>
                <c:pt idx="3">
                  <c:v>0.23119999999999999</c:v>
                </c:pt>
              </c:numCache>
            </c:numRef>
          </c:val>
          <c:extLst>
            <c:ext xmlns:c16="http://schemas.microsoft.com/office/drawing/2014/chart" uri="{C3380CC4-5D6E-409C-BE32-E72D297353CC}">
              <c16:uniqueId val="{00000001-8D23-4D03-A217-F5304BDD0C07}"/>
            </c:ext>
          </c:extLst>
        </c:ser>
        <c:ser>
          <c:idx val="2"/>
          <c:order val="2"/>
          <c:tx>
            <c:v>NL</c:v>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PayNet Risk Drivers'!$B$46:$B$49</c:f>
              <c:strCache>
                <c:ptCount val="4"/>
                <c:pt idx="0">
                  <c:v>&lt; 1 or Missing</c:v>
                </c:pt>
                <c:pt idx="1">
                  <c:v>1 - 3</c:v>
                </c:pt>
                <c:pt idx="2">
                  <c:v>3 - 7</c:v>
                </c:pt>
                <c:pt idx="3">
                  <c:v>&gt;= 7</c:v>
                </c:pt>
              </c:strCache>
            </c:strRef>
          </c:cat>
          <c:val>
            <c:numRef>
              <c:f>'SBE2 PayNet Risk Drivers'!$E$46:$E$49</c:f>
              <c:numCache>
                <c:formatCode>0.00%</c:formatCode>
                <c:ptCount val="4"/>
                <c:pt idx="0">
                  <c:v>7.8299999999999995E-2</c:v>
                </c:pt>
                <c:pt idx="1">
                  <c:v>0.56220000000000003</c:v>
                </c:pt>
                <c:pt idx="2">
                  <c:v>0.25750000000000001</c:v>
                </c:pt>
                <c:pt idx="3">
                  <c:v>0.1019</c:v>
                </c:pt>
              </c:numCache>
            </c:numRef>
          </c:val>
          <c:extLst>
            <c:ext xmlns:c16="http://schemas.microsoft.com/office/drawing/2014/chart" uri="{C3380CC4-5D6E-409C-BE32-E72D297353CC}">
              <c16:uniqueId val="{00000002-8D23-4D03-A217-F5304BDD0C07}"/>
            </c:ext>
          </c:extLst>
        </c:ser>
        <c:dLbls>
          <c:dLblPos val="outEnd"/>
          <c:showLegendKey val="0"/>
          <c:showVal val="1"/>
          <c:showCatName val="0"/>
          <c:showSerName val="0"/>
          <c:showPercent val="0"/>
          <c:showBubbleSize val="0"/>
        </c:dLbls>
        <c:gapWidth val="219"/>
        <c:overlap val="-27"/>
        <c:axId val="616505920"/>
        <c:axId val="616506904"/>
      </c:barChart>
      <c:catAx>
        <c:axId val="61650592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Number of Open Obligations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6506904"/>
        <c:crosses val="autoZero"/>
        <c:auto val="1"/>
        <c:lblAlgn val="ctr"/>
        <c:lblOffset val="100"/>
        <c:noMultiLvlLbl val="0"/>
      </c:catAx>
      <c:valAx>
        <c:axId val="61650690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65059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'SBE2 PayNet Risk Drivers'!$AB$2</c:f>
              <c:strCache>
                <c:ptCount val="1"/>
                <c:pt idx="0">
                  <c:v>Current Portfolio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'SBE2 PayNet Risk Drivers'!$A$86:$A$89</c:f>
              <c:numCache>
                <c:formatCode>General</c:formatCode>
                <c:ptCount val="4"/>
                <c:pt idx="0">
                  <c:v>0</c:v>
                </c:pt>
                <c:pt idx="1">
                  <c:v>21</c:v>
                </c:pt>
                <c:pt idx="2">
                  <c:v>29</c:v>
                </c:pt>
                <c:pt idx="3">
                  <c:v>31</c:v>
                </c:pt>
              </c:numCache>
            </c:numRef>
          </c:cat>
          <c:val>
            <c:numRef>
              <c:f>'SBE2 PayNet Risk Drivers'!$G$86:$G$89</c:f>
              <c:numCache>
                <c:formatCode>0.00%</c:formatCode>
                <c:ptCount val="4"/>
                <c:pt idx="0">
                  <c:v>7.3719130114264649E-5</c:v>
                </c:pt>
                <c:pt idx="1">
                  <c:v>0.22226317729450792</c:v>
                </c:pt>
                <c:pt idx="2">
                  <c:v>0.49900479174345741</c:v>
                </c:pt>
                <c:pt idx="3">
                  <c:v>0.27865831183192036</c:v>
                </c:pt>
              </c:numCache>
            </c:numRef>
          </c:val>
          <c:extLst>
            <c:ext xmlns:c16="http://schemas.microsoft.com/office/drawing/2014/chart" uri="{C3380CC4-5D6E-409C-BE32-E72D297353CC}">
              <c16:uniqueId val="{00000000-10D3-44C7-A108-41B4F8764864}"/>
            </c:ext>
          </c:extLst>
        </c:ser>
        <c:ser>
          <c:idx val="1"/>
          <c:order val="1"/>
          <c:tx>
            <c:strRef>
              <c:f>'SBE2 PayNet Risk Drivers'!$AB$3</c:f>
              <c:strCache>
                <c:ptCount val="1"/>
                <c:pt idx="0">
                  <c:v>Historical Data (2011 - 2018)</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'SBE2 PayNet Risk Drivers'!$I$86:$I$89</c:f>
              <c:numCache>
                <c:formatCode>0.00%</c:formatCode>
                <c:ptCount val="4"/>
                <c:pt idx="0">
                  <c:v>5.7189187623970237E-4</c:v>
                </c:pt>
                <c:pt idx="1">
                  <c:v>0.20009700444483053</c:v>
                </c:pt>
                <c:pt idx="2">
                  <c:v>0.51282051282051277</c:v>
                </c:pt>
                <c:pt idx="3">
                  <c:v>0.28651059085841696</c:v>
                </c:pt>
              </c:numCache>
            </c:numRef>
          </c:val>
          <c:extLst>
            <c:ext xmlns:c16="http://schemas.microsoft.com/office/drawing/2014/chart" uri="{C3380CC4-5D6E-409C-BE32-E72D297353CC}">
              <c16:uniqueId val="{00000001-10D3-44C7-A108-41B4F8764864}"/>
            </c:ext>
          </c:extLst>
        </c:ser>
        <c:dLbls>
          <c:dLblPos val="outEnd"/>
          <c:showLegendKey val="0"/>
          <c:showVal val="1"/>
          <c:showCatName val="0"/>
          <c:showSerName val="0"/>
          <c:showPercent val="0"/>
          <c:showBubbleSize val="0"/>
        </c:dLbls>
        <c:gapWidth val="219"/>
        <c:overlap val="-27"/>
        <c:axId val="664881096"/>
        <c:axId val="664879456"/>
      </c:barChart>
      <c:catAx>
        <c:axId val="66488109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Province Score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4879456"/>
        <c:crosses val="autoZero"/>
        <c:auto val="1"/>
        <c:lblAlgn val="ctr"/>
        <c:lblOffset val="100"/>
        <c:noMultiLvlLbl val="0"/>
      </c:catAx>
      <c:valAx>
        <c:axId val="66487945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488109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Non-EFG/Non-NL</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'SBE2 PayNet Risk Drivers'!$A$86:$A$89</c:f>
              <c:numCache>
                <c:formatCode>General</c:formatCode>
                <c:ptCount val="4"/>
                <c:pt idx="0">
                  <c:v>0</c:v>
                </c:pt>
                <c:pt idx="1">
                  <c:v>21</c:v>
                </c:pt>
                <c:pt idx="2">
                  <c:v>29</c:v>
                </c:pt>
                <c:pt idx="3">
                  <c:v>31</c:v>
                </c:pt>
              </c:numCache>
            </c:numRef>
          </c:cat>
          <c:val>
            <c:numRef>
              <c:f>'SBE2 PayNet Risk Drivers'!$C$86:$C$89</c:f>
              <c:numCache>
                <c:formatCode>0.00%</c:formatCode>
                <c:ptCount val="4"/>
                <c:pt idx="0">
                  <c:v>0</c:v>
                </c:pt>
                <c:pt idx="1">
                  <c:v>2.3E-3</c:v>
                </c:pt>
                <c:pt idx="2">
                  <c:v>0.47970000000000002</c:v>
                </c:pt>
                <c:pt idx="3">
                  <c:v>0.51800000000000002</c:v>
                </c:pt>
              </c:numCache>
            </c:numRef>
          </c:val>
          <c:extLst>
            <c:ext xmlns:c16="http://schemas.microsoft.com/office/drawing/2014/chart" uri="{C3380CC4-5D6E-409C-BE32-E72D297353CC}">
              <c16:uniqueId val="{00000000-8503-44DE-8EC8-8C7BF8F899A8}"/>
            </c:ext>
          </c:extLst>
        </c:ser>
        <c:ser>
          <c:idx val="1"/>
          <c:order val="1"/>
          <c:tx>
            <c:v>EFG</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'SBE2 PayNet Risk Drivers'!$A$86:$A$89</c:f>
              <c:numCache>
                <c:formatCode>General</c:formatCode>
                <c:ptCount val="4"/>
                <c:pt idx="0">
                  <c:v>0</c:v>
                </c:pt>
                <c:pt idx="1">
                  <c:v>21</c:v>
                </c:pt>
                <c:pt idx="2">
                  <c:v>29</c:v>
                </c:pt>
                <c:pt idx="3">
                  <c:v>31</c:v>
                </c:pt>
              </c:numCache>
            </c:numRef>
          </c:cat>
          <c:val>
            <c:numRef>
              <c:f>'SBE2 PayNet Risk Drivers'!$D$86:$D$89</c:f>
              <c:numCache>
                <c:formatCode>0.00%</c:formatCode>
                <c:ptCount val="4"/>
                <c:pt idx="0">
                  <c:v>2.9999999999999997E-4</c:v>
                </c:pt>
                <c:pt idx="1">
                  <c:v>0.1293</c:v>
                </c:pt>
                <c:pt idx="2">
                  <c:v>0.52329999999999999</c:v>
                </c:pt>
                <c:pt idx="3">
                  <c:v>0.34720000000000001</c:v>
                </c:pt>
              </c:numCache>
            </c:numRef>
          </c:val>
          <c:extLst>
            <c:ext xmlns:c16="http://schemas.microsoft.com/office/drawing/2014/chart" uri="{C3380CC4-5D6E-409C-BE32-E72D297353CC}">
              <c16:uniqueId val="{00000001-8503-44DE-8EC8-8C7BF8F899A8}"/>
            </c:ext>
          </c:extLst>
        </c:ser>
        <c:ser>
          <c:idx val="2"/>
          <c:order val="2"/>
          <c:tx>
            <c:v>NL</c:v>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'SBE2 PayNet Risk Drivers'!$A$86:$A$89</c:f>
              <c:numCache>
                <c:formatCode>General</c:formatCode>
                <c:ptCount val="4"/>
                <c:pt idx="0">
                  <c:v>0</c:v>
                </c:pt>
                <c:pt idx="1">
                  <c:v>21</c:v>
                </c:pt>
                <c:pt idx="2">
                  <c:v>29</c:v>
                </c:pt>
                <c:pt idx="3">
                  <c:v>31</c:v>
                </c:pt>
              </c:numCache>
            </c:numRef>
          </c:cat>
          <c:val>
            <c:numRef>
              <c:f>'SBE2 PayNet Risk Drivers'!$E$86:$E$89</c:f>
              <c:numCache>
                <c:formatCode>0.00%</c:formatCode>
                <c:ptCount val="4"/>
                <c:pt idx="0">
                  <c:v>1E-4</c:v>
                </c:pt>
                <c:pt idx="1">
                  <c:v>0.2334</c:v>
                </c:pt>
                <c:pt idx="2">
                  <c:v>0.497</c:v>
                </c:pt>
                <c:pt idx="3">
                  <c:v>0.26950000000000002</c:v>
                </c:pt>
              </c:numCache>
            </c:numRef>
          </c:val>
          <c:extLst>
            <c:ext xmlns:c16="http://schemas.microsoft.com/office/drawing/2014/chart" uri="{C3380CC4-5D6E-409C-BE32-E72D297353CC}">
              <c16:uniqueId val="{00000002-8503-44DE-8EC8-8C7BF8F899A8}"/>
            </c:ext>
          </c:extLst>
        </c:ser>
        <c:dLbls>
          <c:dLblPos val="outEnd"/>
          <c:showLegendKey val="0"/>
          <c:showVal val="1"/>
          <c:showCatName val="0"/>
          <c:showSerName val="0"/>
          <c:showPercent val="0"/>
          <c:showBubbleSize val="0"/>
        </c:dLbls>
        <c:gapWidth val="219"/>
        <c:overlap val="-27"/>
        <c:axId val="611837808"/>
        <c:axId val="611835512"/>
      </c:barChart>
      <c:catAx>
        <c:axId val="61183780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Province Score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1835512"/>
        <c:crosses val="autoZero"/>
        <c:auto val="1"/>
        <c:lblAlgn val="ctr"/>
        <c:lblOffset val="100"/>
        <c:noMultiLvlLbl val="0"/>
      </c:catAx>
      <c:valAx>
        <c:axId val="61183551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18378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'SBE2 PayNet Risk Drivers'!$AB$2</c:f>
              <c:strCache>
                <c:ptCount val="1"/>
                <c:pt idx="0">
                  <c:v>Current Portfolio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PayNet Risk Drivers'!$B$56:$B$58</c:f>
              <c:strCache>
                <c:ptCount val="3"/>
                <c:pt idx="0">
                  <c:v>&lt; 43 or Missing</c:v>
                </c:pt>
                <c:pt idx="1">
                  <c:v>43 - 68</c:v>
                </c:pt>
                <c:pt idx="2">
                  <c:v>&gt;= 68</c:v>
                </c:pt>
              </c:strCache>
            </c:strRef>
          </c:cat>
          <c:val>
            <c:numRef>
              <c:f>'SBE2 PayNet Risk Drivers'!$G$56:$G$58</c:f>
              <c:numCache>
                <c:formatCode>0.00%</c:formatCode>
                <c:ptCount val="3"/>
                <c:pt idx="0">
                  <c:v>0.319498709915223</c:v>
                </c:pt>
                <c:pt idx="1">
                  <c:v>0.18471556702297579</c:v>
                </c:pt>
                <c:pt idx="2">
                  <c:v>0.49578572306180119</c:v>
                </c:pt>
              </c:numCache>
            </c:numRef>
          </c:val>
          <c:extLst>
            <c:ext xmlns:c16="http://schemas.microsoft.com/office/drawing/2014/chart" uri="{C3380CC4-5D6E-409C-BE32-E72D297353CC}">
              <c16:uniqueId val="{00000000-D19B-4E04-AA01-785D2C24F093}"/>
            </c:ext>
          </c:extLst>
        </c:ser>
        <c:ser>
          <c:idx val="1"/>
          <c:order val="1"/>
          <c:tx>
            <c:strRef>
              <c:f>'SBE2 PayNet Risk Drivers'!$AB$3</c:f>
              <c:strCache>
                <c:ptCount val="1"/>
                <c:pt idx="0">
                  <c:v>Historical Data (2011 - 2018)</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'SBE2 PayNet Risk Drivers'!$I$56:$I$58</c:f>
              <c:numCache>
                <c:formatCode>0.00%</c:formatCode>
                <c:ptCount val="3"/>
                <c:pt idx="0">
                  <c:v>0.54547626286756723</c:v>
                </c:pt>
                <c:pt idx="1">
                  <c:v>0.15160202116723856</c:v>
                </c:pt>
                <c:pt idx="2">
                  <c:v>0.30292171596519424</c:v>
                </c:pt>
              </c:numCache>
            </c:numRef>
          </c:val>
          <c:extLst>
            <c:ext xmlns:c16="http://schemas.microsoft.com/office/drawing/2014/chart" uri="{C3380CC4-5D6E-409C-BE32-E72D297353CC}">
              <c16:uniqueId val="{00000001-D19B-4E04-AA01-785D2C24F093}"/>
            </c:ext>
          </c:extLst>
        </c:ser>
        <c:dLbls>
          <c:dLblPos val="outEnd"/>
          <c:showLegendKey val="0"/>
          <c:showVal val="1"/>
          <c:showCatName val="0"/>
          <c:showSerName val="0"/>
          <c:showPercent val="0"/>
          <c:showBubbleSize val="0"/>
        </c:dLbls>
        <c:gapWidth val="219"/>
        <c:overlap val="-27"/>
        <c:axId val="661034200"/>
        <c:axId val="661037152"/>
      </c:barChart>
      <c:catAx>
        <c:axId val="66103420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Time in File (months)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1037152"/>
        <c:crosses val="autoZero"/>
        <c:auto val="1"/>
        <c:lblAlgn val="ctr"/>
        <c:lblOffset val="100"/>
        <c:noMultiLvlLbl val="0"/>
      </c:catAx>
      <c:valAx>
        <c:axId val="6610371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103420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Non-EFG/Non-NL</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PayNet Risk Drivers'!$B$56:$B$58</c:f>
              <c:strCache>
                <c:ptCount val="3"/>
                <c:pt idx="0">
                  <c:v>&lt; 43 or Missing</c:v>
                </c:pt>
                <c:pt idx="1">
                  <c:v>43 - 68</c:v>
                </c:pt>
                <c:pt idx="2">
                  <c:v>&gt;= 68</c:v>
                </c:pt>
              </c:strCache>
            </c:strRef>
          </c:cat>
          <c:val>
            <c:numRef>
              <c:f>'SBE2 PayNet Risk Drivers'!$C$56:$C$58</c:f>
              <c:numCache>
                <c:formatCode>0.00%</c:formatCode>
                <c:ptCount val="3"/>
                <c:pt idx="0">
                  <c:v>0.25</c:v>
                </c:pt>
                <c:pt idx="1">
                  <c:v>0.16439999999999999</c:v>
                </c:pt>
                <c:pt idx="2">
                  <c:v>0.58560000000000001</c:v>
                </c:pt>
              </c:numCache>
            </c:numRef>
          </c:val>
          <c:extLst>
            <c:ext xmlns:c16="http://schemas.microsoft.com/office/drawing/2014/chart" uri="{C3380CC4-5D6E-409C-BE32-E72D297353CC}">
              <c16:uniqueId val="{00000000-E80A-4965-8155-DF6BBBBD5B8A}"/>
            </c:ext>
          </c:extLst>
        </c:ser>
        <c:ser>
          <c:idx val="1"/>
          <c:order val="1"/>
          <c:tx>
            <c:v>EFG</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PayNet Risk Drivers'!$B$56:$B$58</c:f>
              <c:strCache>
                <c:ptCount val="3"/>
                <c:pt idx="0">
                  <c:v>&lt; 43 or Missing</c:v>
                </c:pt>
                <c:pt idx="1">
                  <c:v>43 - 68</c:v>
                </c:pt>
                <c:pt idx="2">
                  <c:v>&gt;= 68</c:v>
                </c:pt>
              </c:strCache>
            </c:strRef>
          </c:cat>
          <c:val>
            <c:numRef>
              <c:f>'SBE2 PayNet Risk Drivers'!$D$56:$D$58</c:f>
              <c:numCache>
                <c:formatCode>0.00%</c:formatCode>
                <c:ptCount val="3"/>
                <c:pt idx="0">
                  <c:v>0.29970000000000002</c:v>
                </c:pt>
                <c:pt idx="1">
                  <c:v>0.1583</c:v>
                </c:pt>
                <c:pt idx="2">
                  <c:v>0.54200000000000004</c:v>
                </c:pt>
              </c:numCache>
            </c:numRef>
          </c:val>
          <c:extLst>
            <c:ext xmlns:c16="http://schemas.microsoft.com/office/drawing/2014/chart" uri="{C3380CC4-5D6E-409C-BE32-E72D297353CC}">
              <c16:uniqueId val="{00000001-E80A-4965-8155-DF6BBBBD5B8A}"/>
            </c:ext>
          </c:extLst>
        </c:ser>
        <c:ser>
          <c:idx val="2"/>
          <c:order val="2"/>
          <c:tx>
            <c:v>NL</c:v>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PayNet Risk Drivers'!$B$56:$B$58</c:f>
              <c:strCache>
                <c:ptCount val="3"/>
                <c:pt idx="0">
                  <c:v>&lt; 43 or Missing</c:v>
                </c:pt>
                <c:pt idx="1">
                  <c:v>43 - 68</c:v>
                </c:pt>
                <c:pt idx="2">
                  <c:v>&gt;= 68</c:v>
                </c:pt>
              </c:strCache>
            </c:strRef>
          </c:cat>
          <c:val>
            <c:numRef>
              <c:f>'SBE2 PayNet Risk Drivers'!$E$56:$E$58</c:f>
              <c:numCache>
                <c:formatCode>0.00%</c:formatCode>
                <c:ptCount val="3"/>
                <c:pt idx="0">
                  <c:v>0.3221</c:v>
                </c:pt>
                <c:pt idx="1">
                  <c:v>0.18740000000000001</c:v>
                </c:pt>
                <c:pt idx="2">
                  <c:v>0.49049999999999999</c:v>
                </c:pt>
              </c:numCache>
            </c:numRef>
          </c:val>
          <c:extLst>
            <c:ext xmlns:c16="http://schemas.microsoft.com/office/drawing/2014/chart" uri="{C3380CC4-5D6E-409C-BE32-E72D297353CC}">
              <c16:uniqueId val="{00000002-E80A-4965-8155-DF6BBBBD5B8A}"/>
            </c:ext>
          </c:extLst>
        </c:ser>
        <c:dLbls>
          <c:dLblPos val="outEnd"/>
          <c:showLegendKey val="0"/>
          <c:showVal val="1"/>
          <c:showCatName val="0"/>
          <c:showSerName val="0"/>
          <c:showPercent val="0"/>
          <c:showBubbleSize val="0"/>
        </c:dLbls>
        <c:gapWidth val="219"/>
        <c:overlap val="-27"/>
        <c:axId val="611873888"/>
        <c:axId val="611871264"/>
      </c:barChart>
      <c:catAx>
        <c:axId val="61187388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Time if File (months)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1871264"/>
        <c:crosses val="autoZero"/>
        <c:auto val="1"/>
        <c:lblAlgn val="ctr"/>
        <c:lblOffset val="100"/>
        <c:noMultiLvlLbl val="0"/>
      </c:catAx>
      <c:valAx>
        <c:axId val="61187126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187388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2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CA"/>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7F320C92-5B60-47CE-AF8E-33393E468A4F}" type="datetimeFigureOut">
              <a:rPr lang="en-CA" smtClean="0"/>
              <a:t>01/25/2021</a:t>
            </a:fld>
            <a:endParaRPr lang="en-CA"/>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endParaRPr lang="en-CA"/>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D932885D-FA4E-45F3-9C34-9BE667995CEE}" type="slidenum">
              <a:rPr lang="en-CA" smtClean="0"/>
              <a:t>‹#›</a:t>
            </a:fld>
            <a:endParaRPr lang="en-CA"/>
          </a:p>
        </p:txBody>
      </p:sp>
    </p:spTree>
    <p:extLst>
      <p:ext uri="{BB962C8B-B14F-4D97-AF65-F5344CB8AC3E}">
        <p14:creationId xmlns:p14="http://schemas.microsoft.com/office/powerpoint/2010/main" val="5429650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4143375" y="0"/>
            <a:ext cx="3170238" cy="479425"/>
          </a:xfrm>
          <a:prstGeom prst="rect">
            <a:avLst/>
          </a:prstGeom>
        </p:spPr>
        <p:txBody>
          <a:bodyPr vert="horz" lIns="91440" tIns="45720" rIns="91440" bIns="45720" rtlCol="0"/>
          <a:lstStyle>
            <a:lvl1pPr algn="r">
              <a:defRPr sz="1200"/>
            </a:lvl1pPr>
          </a:lstStyle>
          <a:p>
            <a:fld id="{B0CF9F78-B7FC-4D34-B5E9-CFFF0660210F}" type="datetimeFigureOut">
              <a:rPr lang="en-CA" smtClean="0"/>
              <a:t>01/25/2021</a:t>
            </a:fld>
            <a:endParaRPr lang="en-CA"/>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731838" y="4560888"/>
            <a:ext cx="5851525" cy="4319587"/>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9120188"/>
            <a:ext cx="3170238" cy="479425"/>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4143375" y="9120188"/>
            <a:ext cx="3170238" cy="479425"/>
          </a:xfrm>
          <a:prstGeom prst="rect">
            <a:avLst/>
          </a:prstGeom>
        </p:spPr>
        <p:txBody>
          <a:bodyPr vert="horz" lIns="91440" tIns="45720" rIns="91440" bIns="45720" rtlCol="0" anchor="b"/>
          <a:lstStyle>
            <a:lvl1pPr algn="r">
              <a:defRPr sz="1200"/>
            </a:lvl1pPr>
          </a:lstStyle>
          <a:p>
            <a:fld id="{761EB8C7-5EFC-4FA9-BA9E-FFC3022A4650}" type="slidenum">
              <a:rPr lang="en-CA" smtClean="0"/>
              <a:t>‹#›</a:t>
            </a:fld>
            <a:endParaRPr lang="en-CA"/>
          </a:p>
        </p:txBody>
      </p:sp>
    </p:spTree>
    <p:extLst>
      <p:ext uri="{BB962C8B-B14F-4D97-AF65-F5344CB8AC3E}">
        <p14:creationId xmlns:p14="http://schemas.microsoft.com/office/powerpoint/2010/main" val="114102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761EB8C7-5EFC-4FA9-BA9E-FFC3022A4650}" type="slidenum">
              <a:rPr lang="en-CA" smtClean="0"/>
              <a:t>1</a:t>
            </a:fld>
            <a:endParaRPr lang="en-CA"/>
          </a:p>
        </p:txBody>
      </p:sp>
    </p:spTree>
    <p:extLst>
      <p:ext uri="{BB962C8B-B14F-4D97-AF65-F5344CB8AC3E}">
        <p14:creationId xmlns:p14="http://schemas.microsoft.com/office/powerpoint/2010/main" val="40684606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9.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25.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Master" Target="../slideMasters/slideMaster26.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Master" Target="../slideMasters/slideMaster2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3"/>
          <p:cNvSpPr>
            <a:spLocks noGrp="1"/>
          </p:cNvSpPr>
          <p:nvPr>
            <p:ph type="body" sz="quarter" idx="13" hasCustomPrompt="1"/>
          </p:nvPr>
        </p:nvSpPr>
        <p:spPr>
          <a:xfrm>
            <a:off x="377826" y="2851689"/>
            <a:ext cx="6362700" cy="398089"/>
          </a:xfrm>
          <a:prstGeom prst="rect">
            <a:avLst/>
          </a:prstGeom>
        </p:spPr>
        <p:txBody>
          <a:bodyPr lIns="0" tIns="0" rIns="0" bIns="0"/>
          <a:lstStyle>
            <a:lvl1pPr marL="0" marR="0" indent="0" algn="l" defTabSz="914400" rtl="0" eaLnBrk="1" fontAlgn="auto" latinLnBrk="0" hangingPunct="1">
              <a:lnSpc>
                <a:spcPts val="2000"/>
              </a:lnSpc>
              <a:spcBef>
                <a:spcPts val="0"/>
              </a:spcBef>
              <a:spcAft>
                <a:spcPts val="0"/>
              </a:spcAft>
              <a:buClrTx/>
              <a:buSzTx/>
              <a:buFont typeface="Arial" panose="020B0604020202020204" pitchFamily="34" charset="0"/>
              <a:buNone/>
              <a:tabLst/>
              <a:defRPr sz="1400" baseline="0">
                <a:solidFill>
                  <a:schemeClr val="bg1"/>
                </a:solidFill>
                <a:latin typeface="+mn-lt"/>
                <a:cs typeface="Arial" panose="020B0604020202020204" pitchFamily="34" charset="0"/>
              </a:defRPr>
            </a:lvl1pPr>
          </a:lstStyle>
          <a:p>
            <a:r>
              <a:rPr lang="en-CA" dirty="0" smtClean="0"/>
              <a:t>Additional text…</a:t>
            </a:r>
            <a:endParaRPr lang="en-CA" dirty="0"/>
          </a:p>
        </p:txBody>
      </p:sp>
      <p:sp>
        <p:nvSpPr>
          <p:cNvPr id="8" name="Text Placeholder 9"/>
          <p:cNvSpPr>
            <a:spLocks noGrp="1"/>
          </p:cNvSpPr>
          <p:nvPr>
            <p:ph type="body" sz="quarter" idx="12" hasCustomPrompt="1"/>
          </p:nvPr>
        </p:nvSpPr>
        <p:spPr>
          <a:xfrm>
            <a:off x="377826" y="2239233"/>
            <a:ext cx="8331201" cy="457199"/>
          </a:xfrm>
          <a:prstGeom prst="rect">
            <a:avLst/>
          </a:prstGeom>
        </p:spPr>
        <p:txBody>
          <a:bodyPr lIns="0" tIns="0" rIns="0" bIns="0"/>
          <a:lstStyle>
            <a:lvl1pPr marL="0" marR="0" indent="0" algn="l" defTabSz="914400" rtl="0" eaLnBrk="1" fontAlgn="auto" latinLnBrk="0" hangingPunct="1">
              <a:lnSpc>
                <a:spcPts val="4000"/>
              </a:lnSpc>
              <a:spcBef>
                <a:spcPts val="0"/>
              </a:spcBef>
              <a:spcAft>
                <a:spcPts val="0"/>
              </a:spcAft>
              <a:buClrTx/>
              <a:buSzTx/>
              <a:buFont typeface="Arial" panose="020B0604020202020204" pitchFamily="34" charset="0"/>
              <a:buNone/>
              <a:tabLst/>
              <a:defRPr sz="3200" spc="-100" baseline="0">
                <a:solidFill>
                  <a:schemeClr val="bg1"/>
                </a:solidFill>
                <a:latin typeface="+mn-lt"/>
                <a:cs typeface="Arial" panose="020B0604020202020204" pitchFamily="34" charset="0"/>
              </a:defRPr>
            </a:lvl1pPr>
          </a:lstStyle>
          <a:p>
            <a:pPr marL="0" marR="0" lvl="0" indent="0" algn="l" defTabSz="914400" rtl="0" eaLnBrk="1" fontAlgn="auto" latinLnBrk="0" hangingPunct="1">
              <a:lnSpc>
                <a:spcPts val="4000"/>
              </a:lnSpc>
              <a:spcBef>
                <a:spcPts val="0"/>
              </a:spcBef>
              <a:spcAft>
                <a:spcPts val="0"/>
              </a:spcAft>
              <a:buClrTx/>
              <a:buSzTx/>
              <a:buFont typeface="Arial" panose="020B0604020202020204" pitchFamily="34" charset="0"/>
              <a:buNone/>
              <a:tabLst/>
              <a:defRPr/>
            </a:pPr>
            <a:r>
              <a:rPr lang="en-CA" dirty="0" smtClean="0"/>
              <a:t>Subtitle</a:t>
            </a:r>
            <a:endParaRPr lang="en-CA" dirty="0"/>
          </a:p>
        </p:txBody>
      </p:sp>
      <p:sp>
        <p:nvSpPr>
          <p:cNvPr id="9" name="Text Placeholder 4"/>
          <p:cNvSpPr>
            <a:spLocks noGrp="1"/>
          </p:cNvSpPr>
          <p:nvPr>
            <p:ph type="body" sz="quarter" idx="14" hasCustomPrompt="1"/>
          </p:nvPr>
        </p:nvSpPr>
        <p:spPr>
          <a:xfrm>
            <a:off x="377826" y="1492530"/>
            <a:ext cx="8350249" cy="528638"/>
          </a:xfrm>
          <a:prstGeom prst="rect">
            <a:avLst/>
          </a:prstGeom>
        </p:spPr>
        <p:txBody>
          <a:bodyPr lIns="0" tIns="0" rIns="0" bIns="0"/>
          <a:lstStyle>
            <a:lvl1pPr marL="0" indent="0">
              <a:lnSpc>
                <a:spcPts val="5800"/>
              </a:lnSpc>
              <a:spcBef>
                <a:spcPts val="0"/>
              </a:spcBef>
              <a:buNone/>
              <a:defRPr sz="4800" spc="-100" baseline="0">
                <a:solidFill>
                  <a:schemeClr val="bg1"/>
                </a:solidFill>
                <a:latin typeface="+mn-lt"/>
                <a:cs typeface="Arial" panose="020B0604020202020204" pitchFamily="34" charset="0"/>
              </a:defRPr>
            </a:lvl1pPr>
          </a:lstStyle>
          <a:p>
            <a:pPr lvl="0"/>
            <a:r>
              <a:rPr lang="en-US" dirty="0" smtClean="0"/>
              <a:t>Title</a:t>
            </a:r>
            <a:endParaRPr lang="en-CA" dirty="0"/>
          </a:p>
        </p:txBody>
      </p:sp>
    </p:spTree>
    <p:extLst>
      <p:ext uri="{BB962C8B-B14F-4D97-AF65-F5344CB8AC3E}">
        <p14:creationId xmlns:p14="http://schemas.microsoft.com/office/powerpoint/2010/main" val="551424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cxnSp>
        <p:nvCxnSpPr>
          <p:cNvPr id="8" name="Straight Connector 7"/>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11" name="Rectangle 10"/>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6" name="TextBox 5"/>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13543919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8"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2" name="Straight Connector 11"/>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Rectangle 9"/>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2"/>
                </a:solidFill>
                <a:latin typeface="+mn-lt"/>
              </a:rPr>
              <a:pPr/>
              <a:t>‹#›</a:t>
            </a:fld>
            <a:endParaRPr lang="en-CA" sz="900" dirty="0">
              <a:solidFill>
                <a:schemeClr val="bg2"/>
              </a:solidFill>
              <a:latin typeface="+mn-lt"/>
            </a:endParaRPr>
          </a:p>
        </p:txBody>
      </p:sp>
      <p:sp>
        <p:nvSpPr>
          <p:cNvPr id="11" name="TextBox 10"/>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Canadian Western Bank</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155288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cxnSp>
        <p:nvCxnSpPr>
          <p:cNvPr id="7" name="Straight Connector 6"/>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9" name="Rectangle 8"/>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6" name="TextBox 5"/>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354960972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11"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15"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6" name="Straight Connector 15"/>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rgbClr val="BAC5B9"/>
                </a:solidFill>
                <a:latin typeface="+mn-lt"/>
              </a:rPr>
              <a:pPr/>
              <a:t>‹#›</a:t>
            </a:fld>
            <a:endParaRPr lang="en-CA" sz="900" dirty="0">
              <a:solidFill>
                <a:srgbClr val="BAC5B9"/>
              </a:solidFill>
              <a:latin typeface="+mn-lt"/>
            </a:endParaRPr>
          </a:p>
        </p:txBody>
      </p:sp>
      <p:sp>
        <p:nvSpPr>
          <p:cNvPr id="18" name="TextBox 17"/>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Canadian Western Bank</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165988588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669551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7"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8"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10"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111919402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383015750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2566482103"/>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49995237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1948676261"/>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cxnSp>
        <p:nvCxnSpPr>
          <p:cNvPr id="7" name="Straight Connector 6"/>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9" name="Rectangle 8"/>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6" name="TextBox 5"/>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414932219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11"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16"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7" name="Straight Connector 16"/>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Rectangle 17"/>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rgbClr val="BAC5B9"/>
                </a:solidFill>
                <a:latin typeface="+mn-lt"/>
              </a:rPr>
              <a:pPr/>
              <a:t>‹#›</a:t>
            </a:fld>
            <a:endParaRPr lang="en-CA" sz="900" dirty="0">
              <a:solidFill>
                <a:srgbClr val="BAC5B9"/>
              </a:solidFill>
              <a:latin typeface="+mn-lt"/>
            </a:endParaRPr>
          </a:p>
        </p:txBody>
      </p:sp>
      <p:sp>
        <p:nvSpPr>
          <p:cNvPr id="19" name="TextBox 18"/>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Canadian Western Bank</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80493241"/>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6551675"/>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6"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3"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4"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5"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170531984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1578816839"/>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3462974846"/>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3303480610"/>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65227931"/>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7" name="Straight Connector 6"/>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9" name="Rectangle 8"/>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6" name="TextBox 5"/>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1420550849"/>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11"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16"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7" name="Straight Connector 16"/>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Rectangle 17"/>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rgbClr val="BAC5B9"/>
                </a:solidFill>
                <a:latin typeface="+mn-lt"/>
              </a:rPr>
              <a:pPr/>
              <a:t>‹#›</a:t>
            </a:fld>
            <a:endParaRPr lang="en-CA" sz="900" dirty="0">
              <a:solidFill>
                <a:srgbClr val="BAC5B9"/>
              </a:solidFill>
              <a:latin typeface="+mn-lt"/>
            </a:endParaRPr>
          </a:p>
        </p:txBody>
      </p:sp>
      <p:sp>
        <p:nvSpPr>
          <p:cNvPr id="19" name="TextBox 18"/>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Canadian Western Bank</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4024506591"/>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6521085"/>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7"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8"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10"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1516387069"/>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1885126746"/>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4144683753"/>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2812960170"/>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2673295411"/>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7" name="Straight Connector 6"/>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9" name="Rectangle 8"/>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6" name="TextBox 5"/>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3988545723"/>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11"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16"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7" name="Straight Connector 16"/>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Rectangle 17"/>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rgbClr val="BAC5B9"/>
                </a:solidFill>
                <a:latin typeface="+mn-lt"/>
              </a:rPr>
              <a:pPr/>
              <a:t>‹#›</a:t>
            </a:fld>
            <a:endParaRPr lang="en-CA" sz="900" dirty="0">
              <a:solidFill>
                <a:srgbClr val="BAC5B9"/>
              </a:solidFill>
              <a:latin typeface="+mn-lt"/>
            </a:endParaRPr>
          </a:p>
        </p:txBody>
      </p:sp>
      <p:sp>
        <p:nvSpPr>
          <p:cNvPr id="19" name="TextBox 18"/>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Canadian Western Bank</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3054247339"/>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3284807"/>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7"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8"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10"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894991171"/>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240499159"/>
      </p:ext>
    </p:extLst>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3800380593"/>
      </p:ext>
    </p:extLst>
  </p:cSld>
  <p:clrMapOvr>
    <a:masterClrMapping/>
  </p:clrMapOvr>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4284798816"/>
      </p:ext>
    </p:extLst>
  </p:cSld>
  <p:clrMapOvr>
    <a:masterClrMapping/>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574599695"/>
      </p:ext>
    </p:extLst>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7" name="Straight Connector 6"/>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9" name="Rectangle 8"/>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6" name="TextBox 5"/>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863961546"/>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11"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16"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7" name="Straight Connector 16"/>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Rectangle 17"/>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rgbClr val="BAC5B9"/>
                </a:solidFill>
                <a:latin typeface="+mn-lt"/>
              </a:rPr>
              <a:pPr/>
              <a:t>‹#›</a:t>
            </a:fld>
            <a:endParaRPr lang="en-CA" sz="900" dirty="0">
              <a:solidFill>
                <a:srgbClr val="BAC5B9"/>
              </a:solidFill>
              <a:latin typeface="+mn-lt"/>
            </a:endParaRPr>
          </a:p>
        </p:txBody>
      </p:sp>
      <p:sp>
        <p:nvSpPr>
          <p:cNvPr id="19" name="TextBox 18"/>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Canadian Western Bank</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1394877654"/>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4529132"/>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7"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8"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10"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3874632909"/>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2046336842"/>
      </p:ext>
    </p:extLst>
  </p:cSld>
  <p:clrMapOvr>
    <a:masterClrMapping/>
  </p:clrMapOvr>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659578247"/>
      </p:ext>
    </p:extLst>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3986752294"/>
      </p:ext>
    </p:extLst>
  </p:cSld>
  <p:clrMapOvr>
    <a:masterClrMapping/>
  </p:clrMapOvr>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5"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3374922914"/>
      </p:ext>
    </p:extLst>
  </p:cSld>
  <p:clrMapOvr>
    <a:masterClrMapping/>
  </p:clrMapOvr>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7" name="Straight Connector 6"/>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9" name="Rectangle 8"/>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6" name="TextBox 5"/>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1302556131"/>
      </p:ext>
    </p:extLst>
  </p:cSld>
  <p:clrMapOvr>
    <a:masterClrMapping/>
  </p:clrMapOvr>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11"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15"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6" name="Straight Connector 15"/>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rgbClr val="BAC5B9"/>
                </a:solidFill>
                <a:latin typeface="+mn-lt"/>
              </a:rPr>
              <a:pPr/>
              <a:t>‹#›</a:t>
            </a:fld>
            <a:endParaRPr lang="en-CA" sz="900" dirty="0">
              <a:solidFill>
                <a:srgbClr val="BAC5B9"/>
              </a:solidFill>
              <a:latin typeface="+mn-lt"/>
            </a:endParaRPr>
          </a:p>
        </p:txBody>
      </p:sp>
      <p:sp>
        <p:nvSpPr>
          <p:cNvPr id="18" name="TextBox 17"/>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Canadian Western Bank</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1903863610"/>
      </p:ext>
    </p:extLst>
  </p:cSld>
  <p:clrMapOvr>
    <a:masterClrMapping/>
  </p:clrMapOvr>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0814675"/>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7"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8"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10"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1562267021"/>
      </p:ext>
    </p:extLst>
  </p:cSld>
  <p:clrMapOvr>
    <a:masterClrMapping/>
  </p:clrMapOvr>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1438177066"/>
      </p:ext>
    </p:extLst>
  </p:cSld>
  <p:clrMapOvr>
    <a:masterClrMapping/>
  </p:clrMapOvr>
  <p:timing>
    <p:tnLst>
      <p:par>
        <p:cTn id="1" dur="indefinite" restart="never" nodeType="tmRoot"/>
      </p:par>
    </p:tn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3161849436"/>
      </p:ext>
    </p:extLst>
  </p:cSld>
  <p:clrMapOvr>
    <a:masterClrMapping/>
  </p:clrMapOvr>
  <p:timing>
    <p:tnLst>
      <p:par>
        <p:cTn id="1" dur="indefinite" restart="never" nodeType="tmRoot"/>
      </p:par>
    </p:tn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1433022769"/>
      </p:ext>
    </p:extLst>
  </p:cSld>
  <p:clrMapOvr>
    <a:masterClrMapping/>
  </p:clrMapOvr>
  <p:timing>
    <p:tnLst>
      <p:par>
        <p:cTn id="1" dur="indefinite" restart="never" nodeType="tmRoot"/>
      </p:par>
    </p:tn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1699153721"/>
      </p:ext>
    </p:extLst>
  </p:cSld>
  <p:clrMapOvr>
    <a:masterClrMapping/>
  </p:clrMapOvr>
  <p:timing>
    <p:tnLst>
      <p:par>
        <p:cTn id="1" dur="indefinite" restart="never" nodeType="tmRoot"/>
      </p:par>
    </p:tn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743910" y="2372379"/>
            <a:ext cx="7886700" cy="616710"/>
          </a:xfrm>
          <a:prstGeom prst="rect">
            <a:avLst/>
          </a:prstGeom>
        </p:spPr>
        <p:txBody>
          <a:bodyPr/>
          <a:lstStyle>
            <a:lvl1pPr>
              <a:defRPr sz="3600" b="1" baseline="0">
                <a:solidFill>
                  <a:schemeClr val="bg1"/>
                </a:solidFill>
                <a:latin typeface="+mn-lt"/>
              </a:defRPr>
            </a:lvl1pPr>
          </a:lstStyle>
          <a:p>
            <a:r>
              <a:rPr lang="en-US" dirty="0" smtClean="0"/>
              <a:t>“Insert Inspirational Quote here”</a:t>
            </a:r>
            <a:endParaRPr lang="en-CA" dirty="0"/>
          </a:p>
        </p:txBody>
      </p:sp>
    </p:spTree>
    <p:extLst>
      <p:ext uri="{BB962C8B-B14F-4D97-AF65-F5344CB8AC3E}">
        <p14:creationId xmlns:p14="http://schemas.microsoft.com/office/powerpoint/2010/main" val="2450088395"/>
      </p:ext>
    </p:extLst>
  </p:cSld>
  <p:clrMapOvr>
    <a:masterClrMapping/>
  </p:clrMapOvr>
  <p:timing>
    <p:tnLst>
      <p:par>
        <p:cTn id="1" dur="indefinite" restart="never" nodeType="tmRoot"/>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910" y="2372379"/>
            <a:ext cx="7886700" cy="616710"/>
          </a:xfrm>
          <a:prstGeom prst="rect">
            <a:avLst/>
          </a:prstGeom>
        </p:spPr>
        <p:txBody>
          <a:bodyPr/>
          <a:lstStyle>
            <a:lvl1pPr>
              <a:defRPr sz="3600" b="1" baseline="0">
                <a:solidFill>
                  <a:schemeClr val="bg1"/>
                </a:solidFill>
                <a:latin typeface="+mn-lt"/>
              </a:defRPr>
            </a:lvl1pPr>
          </a:lstStyle>
          <a:p>
            <a:r>
              <a:rPr lang="en-US" dirty="0" smtClean="0"/>
              <a:t>“Insert Inspirational Quote here”</a:t>
            </a:r>
            <a:endParaRPr lang="en-CA" dirty="0"/>
          </a:p>
        </p:txBody>
      </p:sp>
    </p:spTree>
    <p:extLst>
      <p:ext uri="{BB962C8B-B14F-4D97-AF65-F5344CB8AC3E}">
        <p14:creationId xmlns:p14="http://schemas.microsoft.com/office/powerpoint/2010/main" val="4055599425"/>
      </p:ext>
    </p:extLst>
  </p:cSld>
  <p:clrMapOvr>
    <a:masterClrMapping/>
  </p:clrMapOvr>
  <p:timing>
    <p:tnLst>
      <p:par>
        <p:cTn id="1" dur="indefinite" restart="never" nodeType="tmRoot"/>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910" y="2372379"/>
            <a:ext cx="7886700" cy="616710"/>
          </a:xfrm>
          <a:prstGeom prst="rect">
            <a:avLst/>
          </a:prstGeom>
        </p:spPr>
        <p:txBody>
          <a:bodyPr/>
          <a:lstStyle>
            <a:lvl1pPr>
              <a:defRPr sz="3600" b="1" baseline="0">
                <a:solidFill>
                  <a:schemeClr val="bg1"/>
                </a:solidFill>
                <a:latin typeface="+mn-lt"/>
              </a:defRPr>
            </a:lvl1pPr>
          </a:lstStyle>
          <a:p>
            <a:r>
              <a:rPr lang="en-US" dirty="0" smtClean="0"/>
              <a:t>“Insert Inspirational Quote here”</a:t>
            </a:r>
            <a:endParaRPr lang="en-CA" dirty="0"/>
          </a:p>
        </p:txBody>
      </p:sp>
    </p:spTree>
    <p:extLst>
      <p:ext uri="{BB962C8B-B14F-4D97-AF65-F5344CB8AC3E}">
        <p14:creationId xmlns:p14="http://schemas.microsoft.com/office/powerpoint/2010/main" val="2455608701"/>
      </p:ext>
    </p:extLst>
  </p:cSld>
  <p:clrMapOvr>
    <a:masterClrMapping/>
  </p:clrMapOvr>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910" y="2372379"/>
            <a:ext cx="7886700" cy="616710"/>
          </a:xfrm>
          <a:prstGeom prst="rect">
            <a:avLst/>
          </a:prstGeom>
        </p:spPr>
        <p:txBody>
          <a:bodyPr/>
          <a:lstStyle>
            <a:lvl1pPr>
              <a:defRPr sz="3600" b="1" baseline="0">
                <a:solidFill>
                  <a:schemeClr val="bg1"/>
                </a:solidFill>
                <a:latin typeface="+mn-lt"/>
              </a:defRPr>
            </a:lvl1pPr>
          </a:lstStyle>
          <a:p>
            <a:r>
              <a:rPr lang="en-US" dirty="0" smtClean="0"/>
              <a:t>“Insert Inspirational Quote here”</a:t>
            </a:r>
            <a:endParaRPr lang="en-CA" dirty="0"/>
          </a:p>
        </p:txBody>
      </p:sp>
    </p:spTree>
    <p:extLst>
      <p:ext uri="{BB962C8B-B14F-4D97-AF65-F5344CB8AC3E}">
        <p14:creationId xmlns:p14="http://schemas.microsoft.com/office/powerpoint/2010/main" val="3143298180"/>
      </p:ext>
    </p:extLst>
  </p:cSld>
  <p:clrMapOvr>
    <a:masterClrMapping/>
  </p:clrMapOvr>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910" y="2372379"/>
            <a:ext cx="7886700" cy="616710"/>
          </a:xfrm>
          <a:prstGeom prst="rect">
            <a:avLst/>
          </a:prstGeom>
        </p:spPr>
        <p:txBody>
          <a:bodyPr/>
          <a:lstStyle>
            <a:lvl1pPr>
              <a:defRPr sz="3600" b="1" baseline="0">
                <a:solidFill>
                  <a:schemeClr val="bg1"/>
                </a:solidFill>
                <a:latin typeface="+mn-lt"/>
              </a:defRPr>
            </a:lvl1pPr>
          </a:lstStyle>
          <a:p>
            <a:r>
              <a:rPr lang="en-US" dirty="0" smtClean="0"/>
              <a:t>“Insert Inspirational Quote here”</a:t>
            </a:r>
            <a:endParaRPr lang="en-CA" dirty="0"/>
          </a:p>
        </p:txBody>
      </p:sp>
    </p:spTree>
    <p:extLst>
      <p:ext uri="{BB962C8B-B14F-4D97-AF65-F5344CB8AC3E}">
        <p14:creationId xmlns:p14="http://schemas.microsoft.com/office/powerpoint/2010/main" val="961612208"/>
      </p:ext>
    </p:extLst>
  </p:cSld>
  <p:clrMapOvr>
    <a:masterClrMapping/>
  </p:clrMapOvr>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910" y="2372379"/>
            <a:ext cx="7886700" cy="616710"/>
          </a:xfrm>
          <a:prstGeom prst="rect">
            <a:avLst/>
          </a:prstGeom>
        </p:spPr>
        <p:txBody>
          <a:bodyPr/>
          <a:lstStyle>
            <a:lvl1pPr>
              <a:defRPr sz="3600" b="1" baseline="0">
                <a:solidFill>
                  <a:schemeClr val="bg1"/>
                </a:solidFill>
                <a:latin typeface="+mn-lt"/>
              </a:defRPr>
            </a:lvl1pPr>
          </a:lstStyle>
          <a:p>
            <a:r>
              <a:rPr lang="en-US" dirty="0" smtClean="0"/>
              <a:t>“Insert Inspirational Quote here”</a:t>
            </a:r>
            <a:endParaRPr lang="en-CA" dirty="0"/>
          </a:p>
        </p:txBody>
      </p:sp>
    </p:spTree>
    <p:extLst>
      <p:ext uri="{BB962C8B-B14F-4D97-AF65-F5344CB8AC3E}">
        <p14:creationId xmlns:p14="http://schemas.microsoft.com/office/powerpoint/2010/main" val="25825337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slideLayout" Target="../slideLayouts/slideLayout8.xml"/><Relationship Id="rId7" Type="http://schemas.openxmlformats.org/officeDocument/2006/relationships/theme" Target="../theme/theme6.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theme" Target="../theme/theme7.xml"/><Relationship Id="rId1" Type="http://schemas.openxmlformats.org/officeDocument/2006/relationships/slideLayout" Target="../slideLayouts/slideLayout12.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3.xml"/></Relationships>
</file>

<file path=ppt/slideMasters/_rels/slideMaster9.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slideLayout" Target="../slideLayouts/slideLayout16.xml"/><Relationship Id="rId7" Type="http://schemas.openxmlformats.org/officeDocument/2006/relationships/theme" Target="../theme/theme9.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theme" Target="../theme/theme10.xml"/><Relationship Id="rId1" Type="http://schemas.openxmlformats.org/officeDocument/2006/relationships/slideLayout" Target="../slideLayouts/slideLayout2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21.xml"/></Relationships>
</file>

<file path=ppt/slideMasters/_rels/slideMaster12.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slideLayout" Target="../slideLayouts/slideLayout24.xml"/><Relationship Id="rId7" Type="http://schemas.openxmlformats.org/officeDocument/2006/relationships/theme" Target="../theme/theme12.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5" Type="http://schemas.openxmlformats.org/officeDocument/2006/relationships/slideLayout" Target="../slideLayouts/slideLayout26.xml"/><Relationship Id="rId4" Type="http://schemas.openxmlformats.org/officeDocument/2006/relationships/slideLayout" Target="../slideLayouts/slideLayout25.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theme" Target="../theme/theme13.xml"/><Relationship Id="rId1" Type="http://schemas.openxmlformats.org/officeDocument/2006/relationships/slideLayout" Target="../slideLayouts/slideLayout28.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29.xml"/></Relationships>
</file>

<file path=ppt/slideMasters/_rels/slideMaster15.xml.rels><?xml version="1.0" encoding="UTF-8" standalone="yes"?>
<Relationships xmlns="http://schemas.openxmlformats.org/package/2006/relationships"><Relationship Id="rId8" Type="http://schemas.openxmlformats.org/officeDocument/2006/relationships/image" Target="../media/image10.jpg"/><Relationship Id="rId3" Type="http://schemas.openxmlformats.org/officeDocument/2006/relationships/slideLayout" Target="../slideLayouts/slideLayout32.xml"/><Relationship Id="rId7" Type="http://schemas.openxmlformats.org/officeDocument/2006/relationships/theme" Target="../theme/theme15.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5" Type="http://schemas.openxmlformats.org/officeDocument/2006/relationships/slideLayout" Target="../slideLayouts/slideLayout34.xml"/><Relationship Id="rId4" Type="http://schemas.openxmlformats.org/officeDocument/2006/relationships/slideLayout" Target="../slideLayouts/slideLayout33.xml"/></Relationships>
</file>

<file path=ppt/slideMasters/_rels/slideMaster1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theme" Target="../theme/theme16.xml"/><Relationship Id="rId1" Type="http://schemas.openxmlformats.org/officeDocument/2006/relationships/slideLayout" Target="../slideLayouts/slideLayout36.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37.xml"/></Relationships>
</file>

<file path=ppt/slideMasters/_rels/slideMaster18.xml.rels><?xml version="1.0" encoding="UTF-8" standalone="yes"?>
<Relationships xmlns="http://schemas.openxmlformats.org/package/2006/relationships"><Relationship Id="rId8" Type="http://schemas.openxmlformats.org/officeDocument/2006/relationships/image" Target="../media/image12.jpg"/><Relationship Id="rId3" Type="http://schemas.openxmlformats.org/officeDocument/2006/relationships/slideLayout" Target="../slideLayouts/slideLayout40.xml"/><Relationship Id="rId7" Type="http://schemas.openxmlformats.org/officeDocument/2006/relationships/theme" Target="../theme/theme18.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5" Type="http://schemas.openxmlformats.org/officeDocument/2006/relationships/slideLayout" Target="../slideLayouts/slideLayout42.xml"/><Relationship Id="rId4" Type="http://schemas.openxmlformats.org/officeDocument/2006/relationships/slideLayout" Target="../slideLayouts/slideLayout41.xml"/></Relationships>
</file>

<file path=ppt/slideMasters/_rels/slideMaster1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theme" Target="../theme/theme19.xml"/><Relationship Id="rId1" Type="http://schemas.openxmlformats.org/officeDocument/2006/relationships/slideLayout" Target="../slideLayouts/slideLayout44.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45.xml"/></Relationships>
</file>

<file path=ppt/slideMasters/_rels/slideMaster21.xml.rels><?xml version="1.0" encoding="UTF-8" standalone="yes"?>
<Relationships xmlns="http://schemas.openxmlformats.org/package/2006/relationships"><Relationship Id="rId8" Type="http://schemas.openxmlformats.org/officeDocument/2006/relationships/image" Target="../media/image14.jpg"/><Relationship Id="rId3" Type="http://schemas.openxmlformats.org/officeDocument/2006/relationships/slideLayout" Target="../slideLayouts/slideLayout48.xml"/><Relationship Id="rId7" Type="http://schemas.openxmlformats.org/officeDocument/2006/relationships/theme" Target="../theme/theme21.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5" Type="http://schemas.openxmlformats.org/officeDocument/2006/relationships/slideLayout" Target="../slideLayouts/slideLayout50.xml"/><Relationship Id="rId4" Type="http://schemas.openxmlformats.org/officeDocument/2006/relationships/slideLayout" Target="../slideLayouts/slideLayout49.xml"/></Relationships>
</file>

<file path=ppt/slideMasters/_rels/slideMaster2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theme" Target="../theme/theme22.xml"/><Relationship Id="rId1" Type="http://schemas.openxmlformats.org/officeDocument/2006/relationships/slideLayout" Target="../slideLayouts/slideLayout52.xml"/></Relationships>
</file>

<file path=ppt/slideMasters/_rels/slideMaster2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theme" Target="../theme/theme23.xml"/><Relationship Id="rId1" Type="http://schemas.openxmlformats.org/officeDocument/2006/relationships/slideLayout" Target="../slideLayouts/slideLayout53.xml"/></Relationships>
</file>

<file path=ppt/slideMasters/_rels/slideMaster2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theme" Target="../theme/theme24.xml"/><Relationship Id="rId1" Type="http://schemas.openxmlformats.org/officeDocument/2006/relationships/slideLayout" Target="../slideLayouts/slideLayout54.xml"/></Relationships>
</file>

<file path=ppt/slideMasters/_rels/slideMaster2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theme" Target="../theme/theme25.xml"/><Relationship Id="rId1" Type="http://schemas.openxmlformats.org/officeDocument/2006/relationships/slideLayout" Target="../slideLayouts/slideLayout55.xml"/></Relationships>
</file>

<file path=ppt/slideMasters/_rels/slideMaster2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theme" Target="../theme/theme26.xml"/><Relationship Id="rId1" Type="http://schemas.openxmlformats.org/officeDocument/2006/relationships/slideLayout" Target="../slideLayouts/slideLayout56.xml"/></Relationships>
</file>

<file path=ppt/slideMasters/_rels/slideMaster2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theme" Target="../theme/theme27.xml"/><Relationship Id="rId1"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5142574"/>
      </p:ext>
    </p:extLst>
  </p:cSld>
  <p:clrMap bg1="lt1" tx1="dk1" bg2="lt2" tx2="dk2" accent1="accent1" accent2="accent2" accent3="accent3" accent4="accent4" accent5="accent5" accent6="accent6" hlink="hlink" folHlink="folHlink"/>
  <p:sldLayoutIdLst>
    <p:sldLayoutId id="214748384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546065"/>
      </p:ext>
    </p:extLst>
  </p:cSld>
  <p:clrMap bg1="lt1" tx1="dk1" bg2="lt2" tx2="dk2" accent1="accent1" accent2="accent2" accent3="accent3" accent4="accent4" accent5="accent5" accent6="accent6" hlink="hlink" folHlink="folHlink"/>
  <p:sldLayoutIdLst>
    <p:sldLayoutId id="2147483702"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DA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573354188"/>
      </p:ext>
    </p:extLst>
  </p:cSld>
  <p:clrMap bg1="lt1" tx1="dk1" bg2="lt2" tx2="dk2" accent1="accent1" accent2="accent2" accent3="accent3" accent4="accent4" accent5="accent5" accent6="accent6" hlink="hlink" folHlink="folHlink"/>
  <p:sldLayoutIdLst>
    <p:sldLayoutId id="2147483710"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0278093"/>
      </p:ext>
    </p:extLst>
  </p:cSld>
  <p:clrMap bg1="lt1" tx1="dk1" bg2="lt2" tx2="dk2" accent1="accent1" accent2="accent2" accent3="accent3" accent4="accent4" accent5="accent5" accent6="accent6" hlink="hlink" folHlink="folHlink"/>
  <p:sldLayoutIdLst>
    <p:sldLayoutId id="2147483700"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0097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332467499"/>
      </p:ext>
    </p:extLst>
  </p:cSld>
  <p:clrMap bg1="lt1" tx1="dk1" bg2="lt2" tx2="dk2" accent1="accent1" accent2="accent2" accent3="accent3" accent4="accent4" accent5="accent5" accent6="accent6" hlink="hlink" folHlink="folHlink"/>
  <p:sldLayoutIdLst>
    <p:sldLayoutId id="2147483712"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2809"/>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7" name="TextBox 6"/>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672272116"/>
      </p:ext>
    </p:extLst>
  </p:cSld>
  <p:clrMap bg1="lt1" tx1="dk1" bg2="lt2" tx2="dk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 id="2147483806" r:id="rId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8744423"/>
      </p:ext>
    </p:extLst>
  </p:cSld>
  <p:clrMap bg1="lt1" tx1="dk1" bg2="lt2" tx2="dk2" accent1="accent1" accent2="accent2" accent3="accent3" accent4="accent4" accent5="accent5" accent6="accent6" hlink="hlink" folHlink="folHlink"/>
  <p:sldLayoutIdLst>
    <p:sldLayoutId id="2147483759"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003B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153101462"/>
      </p:ext>
    </p:extLst>
  </p:cSld>
  <p:clrMap bg1="lt1" tx1="dk1" bg2="lt2" tx2="dk2" accent1="accent1" accent2="accent2" accent3="accent3" accent4="accent4" accent5="accent5" accent6="accent6" hlink="hlink" folHlink="folHlink"/>
  <p:sldLayoutIdLst>
    <p:sldLayoutId id="2147483716"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6312"/>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7" name="TextBox 6"/>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744586973"/>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6460356"/>
      </p:ext>
    </p:extLst>
  </p:cSld>
  <p:clrMap bg1="lt1" tx1="dk1" bg2="lt2" tx2="dk2" accent1="accent1" accent2="accent2" accent3="accent3" accent4="accent4" accent5="accent5" accent6="accent6" hlink="hlink" folHlink="folHlink"/>
  <p:sldLayoutIdLst>
    <p:sldLayoutId id="2147483786"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2DC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897024473"/>
      </p:ext>
    </p:extLst>
  </p:cSld>
  <p:clrMap bg1="lt1" tx1="dk1" bg2="lt2" tx2="dk2" accent1="accent1" accent2="accent2" accent3="accent3" accent4="accent4" accent5="accent5" accent6="accent6" hlink="hlink" folHlink="folHlink"/>
  <p:sldLayoutIdLst>
    <p:sldLayoutId id="2147483708"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6312"/>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7" name="TextBox 6"/>
          <p:cNvSpPr txBox="1"/>
          <p:nvPr userDrawn="1"/>
        </p:nvSpPr>
        <p:spPr>
          <a:xfrm>
            <a:off x="407942" y="4885010"/>
            <a:ext cx="3916551"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00" b="1" i="0" baseline="0" dirty="0" smtClean="0">
                <a:solidFill>
                  <a:schemeClr val="bg1"/>
                </a:solidFill>
                <a:latin typeface="+mn-lt"/>
                <a:cs typeface="Arial" panose="020B0604020202020204" pitchFamily="34" charset="0"/>
              </a:rPr>
              <a:t>CWB Canadian Western Bank</a:t>
            </a:r>
            <a:endParaRPr lang="en-CA" sz="1000" b="1" i="0" dirty="0" smtClean="0">
              <a:solidFill>
                <a:schemeClr val="bg1"/>
              </a:solidFill>
              <a:latin typeface="+mn-lt"/>
              <a:cs typeface="Arial" panose="020B0604020202020204" pitchFamily="34" charset="0"/>
            </a:endParaRPr>
          </a:p>
          <a:p>
            <a:pPr algn="l"/>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559599566"/>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707009"/>
      </p:ext>
    </p:extLst>
  </p:cSld>
  <p:clrMap bg1="lt1" tx1="dk1" bg2="lt2" tx2="dk2" accent1="accent1" accent2="accent2" accent3="accent3" accent4="accent4" accent5="accent5" accent6="accent6" hlink="hlink" folHlink="folHlink"/>
  <p:sldLayoutIdLst>
    <p:sldLayoutId id="2147483784"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847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532821706"/>
      </p:ext>
    </p:extLst>
  </p:cSld>
  <p:clrMap bg1="lt1" tx1="dk1" bg2="lt2" tx2="dk2" accent1="accent1" accent2="accent2" accent3="accent3" accent4="accent4" accent5="accent5" accent6="accent6" hlink="hlink" folHlink="folHlink"/>
  <p:sldLayoutIdLst>
    <p:sldLayoutId id="2147483714"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2809"/>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7" name="TextBox 6"/>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2058317394"/>
      </p:ext>
    </p:extLst>
  </p:cSld>
  <p:clrMap bg1="lt1" tx1="dk1" bg2="lt2" tx2="dk2" accent1="accent1" accent2="accent2" accent3="accent3" accent4="accent4" accent5="accent5" accent6="accent6" hlink="hlink" folHlink="folHlink"/>
  <p:sldLayoutIdLst>
    <p:sldLayoutId id="2147483824" r:id="rId1"/>
    <p:sldLayoutId id="2147483825" r:id="rId2"/>
    <p:sldLayoutId id="2147483826" r:id="rId3"/>
    <p:sldLayoutId id="2147483827" r:id="rId4"/>
    <p:sldLayoutId id="2147483828" r:id="rId5"/>
    <p:sldLayoutId id="2147483829" r:id="rId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2063736"/>
      </p:ext>
    </p:extLst>
  </p:cSld>
  <p:clrMap bg1="lt1" tx1="dk1" bg2="lt2" tx2="dk2" accent1="accent1" accent2="accent2" accent3="accent3" accent4="accent4" accent5="accent5" accent6="accent6" hlink="hlink" folHlink="folHlink"/>
  <p:sldLayoutIdLst>
    <p:sldLayoutId id="2147483764"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FF8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887820131"/>
      </p:ext>
    </p:extLst>
  </p:cSld>
  <p:clrMap bg1="lt1" tx1="dk1" bg2="lt2" tx2="dk2" accent1="accent1" accent2="accent2" accent3="accent3" accent4="accent4" accent5="accent5" accent6="accent6" hlink="hlink" folHlink="folHlink"/>
  <p:sldLayoutIdLst>
    <p:sldLayoutId id="2147483718"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2809"/>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7" name="TextBox 6"/>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4036069523"/>
      </p:ext>
    </p:extLst>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3993187"/>
      </p:ext>
    </p:extLst>
  </p:cSld>
  <p:clrMap bg1="lt1" tx1="dk1" bg2="lt2" tx2="dk2" accent1="accent1" accent2="accent2" accent3="accent3" accent4="accent4" accent5="accent5" accent6="accent6" hlink="hlink" folHlink="folHlink"/>
  <p:sldLayoutIdLst>
    <p:sldLayoutId id="2147483774"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BAC5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935047417"/>
      </p:ext>
    </p:extLst>
  </p:cSld>
  <p:clrMap bg1="lt1" tx1="dk1" bg2="lt2" tx2="dk2" accent1="accent1" accent2="accent2" accent3="accent3" accent4="accent4" accent5="accent5" accent6="accent6" hlink="hlink" folHlink="folHlink"/>
  <p:sldLayoutIdLst>
    <p:sldLayoutId id="2147483720"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2809"/>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tx1"/>
                </a:solidFill>
                <a:latin typeface="+mn-lt"/>
              </a:rPr>
              <a:pPr/>
              <a:t>‹#›</a:t>
            </a:fld>
            <a:endParaRPr lang="en-CA" sz="900" dirty="0">
              <a:solidFill>
                <a:schemeClr val="tx1"/>
              </a:solidFill>
              <a:latin typeface="+mn-lt"/>
            </a:endParaRPr>
          </a:p>
        </p:txBody>
      </p:sp>
      <p:sp>
        <p:nvSpPr>
          <p:cNvPr id="7" name="TextBox 6"/>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687765783"/>
      </p:ext>
    </p:extLst>
  </p:cSld>
  <p:clrMap bg1="lt1" tx1="dk1" bg2="lt2" tx2="dk2" accent1="accent1" accent2="accent2" accent3="accent3" accent4="accent4" accent5="accent5" accent6="accent6" hlink="hlink" folHlink="folHlink"/>
  <p:sldLayoutIdLst>
    <p:sldLayoutId id="2147483838" r:id="rId1"/>
    <p:sldLayoutId id="2147483839" r:id="rId2"/>
    <p:sldLayoutId id="2147483840" r:id="rId3"/>
    <p:sldLayoutId id="2147483841" r:id="rId4"/>
    <p:sldLayoutId id="2147483842" r:id="rId5"/>
    <p:sldLayoutId id="2147483843" r:id="rId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0771605"/>
      </p:ext>
    </p:extLst>
  </p:cSld>
  <p:clrMap bg1="lt1" tx1="dk1" bg2="lt2" tx2="dk2" accent1="accent1" accent2="accent2" accent3="accent3" accent4="accent4" accent5="accent5" accent6="accent6" hlink="hlink" folHlink="folHlink"/>
  <p:sldLayoutIdLst>
    <p:sldLayoutId id="2147483730"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73352500"/>
      </p:ext>
    </p:extLst>
  </p:cSld>
  <p:clrMap bg1="lt1" tx1="dk1" bg2="lt2" tx2="dk2" accent1="accent1" accent2="accent2" accent3="accent3" accent4="accent4" accent5="accent5" accent6="accent6" hlink="hlink" folHlink="folHlink"/>
  <p:sldLayoutIdLst>
    <p:sldLayoutId id="2147483797"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9643481"/>
      </p:ext>
    </p:extLst>
  </p:cSld>
  <p:clrMap bg1="lt1" tx1="dk1" bg2="lt2" tx2="dk2" accent1="accent1" accent2="accent2" accent3="accent3" accent4="accent4" accent5="accent5" accent6="accent6" hlink="hlink" folHlink="folHlink"/>
  <p:sldLayoutIdLst>
    <p:sldLayoutId id="2147483847"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5127727"/>
      </p:ext>
    </p:extLst>
  </p:cSld>
  <p:clrMap bg1="lt1" tx1="dk1" bg2="lt2" tx2="dk2" accent1="accent1" accent2="accent2" accent3="accent3" accent4="accent4" accent5="accent5" accent6="accent6" hlink="hlink" folHlink="folHlink"/>
  <p:sldLayoutIdLst>
    <p:sldLayoutId id="214748372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8766615"/>
      </p:ext>
    </p:extLst>
  </p:cSld>
  <p:clrMap bg1="lt1" tx1="dk1" bg2="lt2" tx2="dk2" accent1="accent1" accent2="accent2" accent3="accent3" accent4="accent4" accent5="accent5" accent6="accent6" hlink="hlink" folHlink="folHlink"/>
  <p:sldLayoutIdLst>
    <p:sldLayoutId id="2147483726"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060870"/>
      </p:ext>
    </p:extLst>
  </p:cSld>
  <p:clrMap bg1="lt1" tx1="dk1" bg2="lt2" tx2="dk2" accent1="accent1" accent2="accent2" accent3="accent3" accent4="accent4" accent5="accent5" accent6="accent6" hlink="hlink" folHlink="folHlink"/>
  <p:sldLayoutIdLst>
    <p:sldLayoutId id="2147483799"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9.xml"/><Relationship Id="rId5" Type="http://schemas.openxmlformats.org/officeDocument/2006/relationships/slide" Target="slide41.xml"/><Relationship Id="rId4" Type="http://schemas.openxmlformats.org/officeDocument/2006/relationships/slide" Target="slide40.xml"/></Relationships>
</file>

<file path=ppt/slides/_rels/slide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chart" Target="../charts/chart15.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chart" Target="../charts/chart16.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chart" Target="../charts/chart17.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chart" Target="../charts/chart18.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chart" Target="../charts/chart20.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chart" Target="../charts/chart21.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chart" Target="../charts/chart22.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chart" Target="../charts/chart23.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chart" Target="../charts/chart24.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chart" Target="../charts/chart25.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chart" Target="../charts/chart26.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chart" Target="../charts/chart27.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a:lstStyle/>
          <a:p>
            <a:r>
              <a:rPr lang="en-US" sz="2400" dirty="0"/>
              <a:t>Model Development &amp;</a:t>
            </a:r>
            <a:r>
              <a:rPr lang="en-US" sz="2400" dirty="0" smtClean="0"/>
              <a:t> </a:t>
            </a:r>
            <a:r>
              <a:rPr lang="en-US" sz="2400" dirty="0"/>
              <a:t>Quantitative Risk Analytics</a:t>
            </a:r>
          </a:p>
          <a:p>
            <a:endParaRPr lang="en-CA" dirty="0"/>
          </a:p>
        </p:txBody>
      </p:sp>
      <p:sp>
        <p:nvSpPr>
          <p:cNvPr id="4" name="Text Placeholder 3"/>
          <p:cNvSpPr>
            <a:spLocks noGrp="1"/>
          </p:cNvSpPr>
          <p:nvPr>
            <p:ph type="body" sz="quarter" idx="14"/>
          </p:nvPr>
        </p:nvSpPr>
        <p:spPr>
          <a:xfrm>
            <a:off x="377826" y="1492530"/>
            <a:ext cx="8350249" cy="528638"/>
          </a:xfrm>
        </p:spPr>
        <p:txBody>
          <a:bodyPr/>
          <a:lstStyle/>
          <a:p>
            <a:r>
              <a:rPr lang="en-US" sz="4000" dirty="0" smtClean="0"/>
              <a:t>Scorecard Analysis: SBE2 </a:t>
            </a:r>
            <a:r>
              <a:rPr lang="en-US" sz="4000" dirty="0" err="1" smtClean="0"/>
              <a:t>PayNet</a:t>
            </a:r>
            <a:endParaRPr lang="en-CA" sz="4000" dirty="0"/>
          </a:p>
        </p:txBody>
      </p:sp>
      <p:sp>
        <p:nvSpPr>
          <p:cNvPr id="6" name="Text Placeholder 5"/>
          <p:cNvSpPr>
            <a:spLocks noGrp="1"/>
          </p:cNvSpPr>
          <p:nvPr>
            <p:ph type="body" sz="quarter" idx="13"/>
          </p:nvPr>
        </p:nvSpPr>
        <p:spPr/>
        <p:txBody>
          <a:bodyPr/>
          <a:lstStyle/>
          <a:p>
            <a:r>
              <a:rPr lang="en-US" sz="1600" dirty="0"/>
              <a:t>June </a:t>
            </a:r>
            <a:r>
              <a:rPr lang="en-US" sz="1600" dirty="0" smtClean="0"/>
              <a:t>2020</a:t>
            </a:r>
            <a:endParaRPr lang="en-US" sz="1600" dirty="0"/>
          </a:p>
        </p:txBody>
      </p:sp>
    </p:spTree>
    <p:extLst>
      <p:ext uri="{BB962C8B-B14F-4D97-AF65-F5344CB8AC3E}">
        <p14:creationId xmlns:p14="http://schemas.microsoft.com/office/powerpoint/2010/main" val="19314115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sz="2800" dirty="0" smtClean="0"/>
              <a:t>Agenda</a:t>
            </a:r>
            <a:endParaRPr lang="en-CA" sz="2800" dirty="0"/>
          </a:p>
        </p:txBody>
      </p:sp>
      <p:sp>
        <p:nvSpPr>
          <p:cNvPr id="4" name="Text Placeholder 3"/>
          <p:cNvSpPr>
            <a:spLocks noGrp="1"/>
          </p:cNvSpPr>
          <p:nvPr>
            <p:ph type="body" sz="quarter" idx="15"/>
          </p:nvPr>
        </p:nvSpPr>
        <p:spPr>
          <a:xfrm>
            <a:off x="406203" y="1331912"/>
            <a:ext cx="8280400" cy="2950839"/>
          </a:xfrm>
        </p:spPr>
        <p:txBody>
          <a:bodyPr/>
          <a:lstStyle/>
          <a:p>
            <a:pPr marL="342900" indent="-342900" algn="just">
              <a:buFont typeface="+mj-lt"/>
              <a:buAutoNum type="arabicParenR"/>
            </a:pPr>
            <a:r>
              <a:rPr lang="en-US" dirty="0" smtClean="0">
                <a:solidFill>
                  <a:srgbClr val="003B5C"/>
                </a:solidFill>
              </a:rPr>
              <a:t>Portfolio Description and Portfolio Composition</a:t>
            </a:r>
          </a:p>
          <a:p>
            <a:pPr marL="342900" indent="-342900" algn="just">
              <a:buFont typeface="+mj-lt"/>
              <a:buAutoNum type="arabicParenR"/>
            </a:pPr>
            <a:r>
              <a:rPr lang="en-US" dirty="0" smtClean="0">
                <a:solidFill>
                  <a:srgbClr val="003B5C"/>
                </a:solidFill>
              </a:rPr>
              <a:t>How historical data are utilized in developing a scorecard?</a:t>
            </a:r>
          </a:p>
          <a:p>
            <a:pPr marL="342900" indent="-342900" algn="just">
              <a:buFont typeface="+mj-lt"/>
              <a:buAutoNum type="arabicParenR"/>
            </a:pPr>
            <a:r>
              <a:rPr lang="en-US" dirty="0" smtClean="0">
                <a:solidFill>
                  <a:srgbClr val="003B5C"/>
                </a:solidFill>
              </a:rPr>
              <a:t>What are the scorecard measures of performance?</a:t>
            </a:r>
          </a:p>
          <a:p>
            <a:pPr marL="342900" indent="-342900" algn="just">
              <a:buFont typeface="+mj-lt"/>
              <a:buAutoNum type="arabicParenR"/>
            </a:pPr>
            <a:r>
              <a:rPr lang="en-US" dirty="0" smtClean="0">
                <a:solidFill>
                  <a:srgbClr val="003B5C"/>
                </a:solidFill>
              </a:rPr>
              <a:t>Scorecard Inputs and their Weightings</a:t>
            </a:r>
          </a:p>
          <a:p>
            <a:pPr marL="342900" indent="-342900" algn="just">
              <a:buFont typeface="+mj-lt"/>
              <a:buAutoNum type="arabicParenR"/>
            </a:pPr>
            <a:r>
              <a:rPr lang="en-US" dirty="0" smtClean="0">
                <a:solidFill>
                  <a:srgbClr val="003B5C"/>
                </a:solidFill>
              </a:rPr>
              <a:t>What are the main factors in calculating BRRs?</a:t>
            </a:r>
            <a:endParaRPr lang="en-US" dirty="0">
              <a:solidFill>
                <a:srgbClr val="003B5C"/>
              </a:solidFill>
            </a:endParaRPr>
          </a:p>
          <a:p>
            <a:pPr marL="342900" indent="-342900" algn="just">
              <a:buFont typeface="+mj-lt"/>
              <a:buAutoNum type="arabicParenR"/>
            </a:pPr>
            <a:r>
              <a:rPr lang="en-US" dirty="0" smtClean="0">
                <a:solidFill>
                  <a:srgbClr val="003B5C"/>
                </a:solidFill>
              </a:rPr>
              <a:t>Distribution of BRRs for the current portfolio and the historical data</a:t>
            </a:r>
          </a:p>
          <a:p>
            <a:pPr marL="342900" indent="-342900" algn="just">
              <a:buFont typeface="+mj-lt"/>
              <a:buAutoNum type="arabicParenR"/>
            </a:pPr>
            <a:r>
              <a:rPr lang="en-US" dirty="0" smtClean="0">
                <a:solidFill>
                  <a:srgbClr val="003B5C"/>
                </a:solidFill>
              </a:rPr>
              <a:t>Distribution of risk drivers for </a:t>
            </a:r>
            <a:r>
              <a:rPr lang="en-US" dirty="0">
                <a:solidFill>
                  <a:srgbClr val="003B5C"/>
                </a:solidFill>
              </a:rPr>
              <a:t>the current portfolio and the historical </a:t>
            </a:r>
            <a:r>
              <a:rPr lang="en-US" dirty="0" smtClean="0">
                <a:solidFill>
                  <a:srgbClr val="003B5C"/>
                </a:solidFill>
              </a:rPr>
              <a:t>data</a:t>
            </a:r>
          </a:p>
          <a:p>
            <a:pPr marL="342900" indent="-342900" algn="just">
              <a:buFont typeface="+mj-lt"/>
              <a:buAutoNum type="arabicParenR"/>
            </a:pPr>
            <a:r>
              <a:rPr lang="en-US" dirty="0" smtClean="0">
                <a:solidFill>
                  <a:srgbClr val="003B5C"/>
                </a:solidFill>
              </a:rPr>
              <a:t>Distribution of the Watch List and Overrides</a:t>
            </a:r>
          </a:p>
          <a:p>
            <a:pPr marL="342900" indent="-342900" algn="just">
              <a:buFont typeface="+mj-lt"/>
              <a:buAutoNum type="arabicParenR"/>
            </a:pPr>
            <a:r>
              <a:rPr lang="en-US" dirty="0" smtClean="0">
                <a:solidFill>
                  <a:srgbClr val="003B5C"/>
                </a:solidFill>
              </a:rPr>
              <a:t>Scorecard </a:t>
            </a:r>
            <a:r>
              <a:rPr lang="en-US" dirty="0" err="1">
                <a:solidFill>
                  <a:srgbClr val="003B5C"/>
                </a:solidFill>
              </a:rPr>
              <a:t>b</a:t>
            </a:r>
            <a:r>
              <a:rPr lang="en-US" dirty="0" err="1" smtClean="0">
                <a:solidFill>
                  <a:srgbClr val="003B5C"/>
                </a:solidFill>
              </a:rPr>
              <a:t>acktesting</a:t>
            </a:r>
            <a:r>
              <a:rPr lang="en-US" dirty="0" smtClean="0">
                <a:solidFill>
                  <a:srgbClr val="003B5C"/>
                </a:solidFill>
              </a:rPr>
              <a:t> results</a:t>
            </a:r>
          </a:p>
          <a:p>
            <a:pPr marL="342900" indent="-342900" algn="just">
              <a:buFont typeface="+mj-lt"/>
              <a:buAutoNum type="arabicParenR"/>
            </a:pPr>
            <a:r>
              <a:rPr lang="en-US" dirty="0" smtClean="0">
                <a:solidFill>
                  <a:srgbClr val="003B5C"/>
                </a:solidFill>
              </a:rPr>
              <a:t>BRRs for a list of real life examples</a:t>
            </a:r>
            <a:endParaRPr lang="en-US" dirty="0"/>
          </a:p>
          <a:p>
            <a:pPr algn="just"/>
            <a:endParaRPr lang="en-US" dirty="0" smtClean="0"/>
          </a:p>
          <a:p>
            <a:pPr marL="342900" indent="-342900" algn="just">
              <a:buAutoNum type="arabicParenR"/>
            </a:pPr>
            <a:endParaRPr lang="en-CA" dirty="0"/>
          </a:p>
        </p:txBody>
      </p:sp>
    </p:spTree>
    <p:extLst>
      <p:ext uri="{BB962C8B-B14F-4D97-AF65-F5344CB8AC3E}">
        <p14:creationId xmlns:p14="http://schemas.microsoft.com/office/powerpoint/2010/main" val="5909197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3" y="582506"/>
            <a:ext cx="8280401" cy="397483"/>
          </a:xfrm>
        </p:spPr>
        <p:txBody>
          <a:bodyPr/>
          <a:lstStyle/>
          <a:p>
            <a:r>
              <a:rPr lang="en-US" sz="3000" dirty="0" smtClean="0"/>
              <a:t>Portfolio Description</a:t>
            </a:r>
            <a:endParaRPr lang="en-CA" sz="3000" dirty="0"/>
          </a:p>
        </p:txBody>
      </p:sp>
      <p:sp>
        <p:nvSpPr>
          <p:cNvPr id="4" name="Text Placeholder 3"/>
          <p:cNvSpPr>
            <a:spLocks noGrp="1"/>
          </p:cNvSpPr>
          <p:nvPr>
            <p:ph type="body" sz="quarter" idx="15"/>
          </p:nvPr>
        </p:nvSpPr>
        <p:spPr>
          <a:xfrm>
            <a:off x="406203" y="1192212"/>
            <a:ext cx="3573130" cy="3536421"/>
          </a:xfrm>
        </p:spPr>
        <p:txBody>
          <a:bodyPr numCol="1"/>
          <a:lstStyle/>
          <a:p>
            <a:pPr algn="just"/>
            <a:r>
              <a:rPr lang="en-US" b="1" dirty="0">
                <a:solidFill>
                  <a:srgbClr val="003B5C"/>
                </a:solidFill>
              </a:rPr>
              <a:t>Small Business Entities (SBE):</a:t>
            </a:r>
          </a:p>
          <a:p>
            <a:pPr algn="just"/>
            <a:r>
              <a:rPr lang="en-US" sz="1400" dirty="0">
                <a:solidFill>
                  <a:srgbClr val="003B5C"/>
                </a:solidFill>
              </a:rPr>
              <a:t>Borrowers without a Bank, Government or Commercial Real Estate NAICS, </a:t>
            </a:r>
            <a:r>
              <a:rPr lang="en-US" sz="1400" dirty="0" smtClean="0">
                <a:solidFill>
                  <a:srgbClr val="003B5C"/>
                </a:solidFill>
              </a:rPr>
              <a:t>and:</a:t>
            </a:r>
          </a:p>
          <a:p>
            <a:pPr algn="just"/>
            <a:endParaRPr lang="en-US" sz="1400" dirty="0" smtClean="0">
              <a:solidFill>
                <a:srgbClr val="003B5C"/>
              </a:solidFill>
            </a:endParaRPr>
          </a:p>
          <a:p>
            <a:pPr algn="just"/>
            <a:r>
              <a:rPr lang="en-US" sz="1400" b="1" dirty="0" smtClean="0">
                <a:solidFill>
                  <a:srgbClr val="003B5C"/>
                </a:solidFill>
              </a:rPr>
              <a:t>SBE1: </a:t>
            </a:r>
            <a:r>
              <a:rPr lang="en-US" sz="1400" dirty="0" smtClean="0">
                <a:solidFill>
                  <a:srgbClr val="003B5C"/>
                </a:solidFill>
              </a:rPr>
              <a:t>Individual and Unincorporated exposures with an aggregated loan exposure ≤ CAD $500,000;</a:t>
            </a:r>
          </a:p>
          <a:p>
            <a:pPr algn="just"/>
            <a:endParaRPr lang="en-US" sz="1400" dirty="0" smtClean="0">
              <a:solidFill>
                <a:srgbClr val="003B5C"/>
              </a:solidFill>
            </a:endParaRPr>
          </a:p>
          <a:p>
            <a:pPr algn="just"/>
            <a:r>
              <a:rPr lang="en-US" sz="1400" b="1" dirty="0" smtClean="0">
                <a:solidFill>
                  <a:srgbClr val="003B5C"/>
                </a:solidFill>
              </a:rPr>
              <a:t>SBE2</a:t>
            </a:r>
            <a:r>
              <a:rPr lang="en-US" sz="1400" b="1" dirty="0">
                <a:solidFill>
                  <a:srgbClr val="003B5C"/>
                </a:solidFill>
              </a:rPr>
              <a:t>*: </a:t>
            </a:r>
            <a:r>
              <a:rPr lang="en-US" sz="1400" dirty="0">
                <a:solidFill>
                  <a:srgbClr val="003B5C"/>
                </a:solidFill>
              </a:rPr>
              <a:t>Incorporated borrowers with an aggregated loan exposure ≤ CAD $500,000</a:t>
            </a:r>
            <a:r>
              <a:rPr lang="en-US" sz="1400" dirty="0" smtClean="0">
                <a:solidFill>
                  <a:srgbClr val="003B5C"/>
                </a:solidFill>
              </a:rPr>
              <a:t>.</a:t>
            </a:r>
            <a:endParaRPr lang="en-US" sz="1400" dirty="0">
              <a:solidFill>
                <a:srgbClr val="003B5C"/>
              </a:solidFill>
            </a:endParaRPr>
          </a:p>
          <a:p>
            <a:pPr algn="just"/>
            <a:endParaRPr lang="en-US" sz="1400" dirty="0">
              <a:solidFill>
                <a:srgbClr val="003B5C"/>
              </a:solidFill>
            </a:endParaRPr>
          </a:p>
          <a:p>
            <a:pPr algn="just"/>
            <a:r>
              <a:rPr lang="en-US" sz="1400" dirty="0">
                <a:solidFill>
                  <a:srgbClr val="003B5C"/>
                </a:solidFill>
              </a:rPr>
              <a:t>*</a:t>
            </a:r>
            <a:r>
              <a:rPr lang="en-US" sz="1200" dirty="0">
                <a:solidFill>
                  <a:srgbClr val="003B5C"/>
                </a:solidFill>
              </a:rPr>
              <a:t>We have two models for the SBE2 portfolio, one </a:t>
            </a:r>
            <a:r>
              <a:rPr lang="en-US" sz="1200" dirty="0" smtClean="0">
                <a:solidFill>
                  <a:srgbClr val="003B5C"/>
                </a:solidFill>
              </a:rPr>
              <a:t>uses </a:t>
            </a:r>
            <a:r>
              <a:rPr lang="en-US" sz="1200" dirty="0" err="1">
                <a:solidFill>
                  <a:srgbClr val="003B5C"/>
                </a:solidFill>
              </a:rPr>
              <a:t>PayNet</a:t>
            </a:r>
            <a:r>
              <a:rPr lang="en-US" sz="1200" dirty="0">
                <a:solidFill>
                  <a:srgbClr val="003B5C"/>
                </a:solidFill>
              </a:rPr>
              <a:t> inputs and another one </a:t>
            </a:r>
            <a:r>
              <a:rPr lang="en-US" sz="1200" dirty="0" smtClean="0">
                <a:solidFill>
                  <a:srgbClr val="003B5C"/>
                </a:solidFill>
              </a:rPr>
              <a:t>Equifax </a:t>
            </a:r>
            <a:r>
              <a:rPr lang="en-US" sz="1200" dirty="0">
                <a:solidFill>
                  <a:srgbClr val="003B5C"/>
                </a:solidFill>
              </a:rPr>
              <a:t>inputs. Having a </a:t>
            </a:r>
            <a:r>
              <a:rPr lang="en-US" sz="1200" dirty="0" err="1">
                <a:solidFill>
                  <a:srgbClr val="003B5C"/>
                </a:solidFill>
              </a:rPr>
              <a:t>PayNet</a:t>
            </a:r>
            <a:r>
              <a:rPr lang="en-US" sz="1200" dirty="0">
                <a:solidFill>
                  <a:srgbClr val="003B5C"/>
                </a:solidFill>
              </a:rPr>
              <a:t> model facilitates scoring Non-Notification deals.</a:t>
            </a:r>
          </a:p>
          <a:p>
            <a:pPr algn="just"/>
            <a:endParaRPr lang="en-US" sz="1400" dirty="0"/>
          </a:p>
          <a:p>
            <a:pPr algn="just"/>
            <a:endParaRPr lang="en-US" sz="1400" dirty="0"/>
          </a:p>
          <a:p>
            <a:pPr algn="just"/>
            <a:endParaRPr lang="en-US" sz="1400" dirty="0" smtClean="0"/>
          </a:p>
          <a:p>
            <a:pPr marL="342900" indent="-342900" algn="just">
              <a:buAutoNum type="arabicParenR"/>
            </a:pPr>
            <a:endParaRPr lang="en-CA" sz="1400" dirty="0"/>
          </a:p>
        </p:txBody>
      </p:sp>
      <p:pic>
        <p:nvPicPr>
          <p:cNvPr id="3" name="Picture 2"/>
          <p:cNvPicPr>
            <a:picLocks noChangeAspect="1"/>
          </p:cNvPicPr>
          <p:nvPr/>
        </p:nvPicPr>
        <p:blipFill>
          <a:blip r:embed="rId2"/>
          <a:stretch>
            <a:fillRect/>
          </a:stretch>
        </p:blipFill>
        <p:spPr>
          <a:xfrm>
            <a:off x="4070107" y="1331912"/>
            <a:ext cx="4743693" cy="3257022"/>
          </a:xfrm>
          <a:prstGeom prst="rect">
            <a:avLst/>
          </a:prstGeom>
        </p:spPr>
      </p:pic>
    </p:spTree>
    <p:extLst>
      <p:ext uri="{BB962C8B-B14F-4D97-AF65-F5344CB8AC3E}">
        <p14:creationId xmlns:p14="http://schemas.microsoft.com/office/powerpoint/2010/main" val="1585530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smtClean="0">
                <a:solidFill>
                  <a:srgbClr val="003B5C"/>
                </a:solidFill>
              </a:rPr>
              <a:t>Outstanding Balance by Province</a:t>
            </a:r>
          </a:p>
          <a:p>
            <a:r>
              <a:rPr lang="en-US" dirty="0" smtClean="0">
                <a:solidFill>
                  <a:srgbClr val="003B5C"/>
                </a:solidFill>
              </a:rPr>
              <a:t>Distribution of Clients by Outstanding Balance</a:t>
            </a:r>
          </a:p>
          <a:p>
            <a:r>
              <a:rPr lang="en-US" dirty="0" smtClean="0">
                <a:solidFill>
                  <a:srgbClr val="003B5C"/>
                </a:solidFill>
              </a:rPr>
              <a:t>Outstanding Balance by Industry</a:t>
            </a:r>
          </a:p>
          <a:p>
            <a:r>
              <a:rPr lang="en-US" dirty="0" smtClean="0">
                <a:solidFill>
                  <a:srgbClr val="003B5C"/>
                </a:solidFill>
              </a:rPr>
              <a:t>Outstanding Balance by Collateral Type</a:t>
            </a:r>
          </a:p>
          <a:p>
            <a:r>
              <a:rPr lang="en-US" dirty="0" smtClean="0">
                <a:solidFill>
                  <a:srgbClr val="003B5C"/>
                </a:solidFill>
              </a:rPr>
              <a:t>Outstanding Balance by Facility Type</a:t>
            </a:r>
          </a:p>
          <a:p>
            <a:r>
              <a:rPr lang="en-US" dirty="0" smtClean="0">
                <a:solidFill>
                  <a:srgbClr val="003B5C"/>
                </a:solidFill>
              </a:rPr>
              <a:t>Outstanding Balance by Time to Maturity</a:t>
            </a:r>
          </a:p>
        </p:txBody>
      </p:sp>
      <p:sp>
        <p:nvSpPr>
          <p:cNvPr id="3" name="Text Placeholder 2"/>
          <p:cNvSpPr>
            <a:spLocks noGrp="1"/>
          </p:cNvSpPr>
          <p:nvPr>
            <p:ph type="body" sz="quarter" idx="12"/>
          </p:nvPr>
        </p:nvSpPr>
        <p:spPr/>
        <p:txBody>
          <a:bodyPr/>
          <a:lstStyle/>
          <a:p>
            <a:r>
              <a:rPr lang="en-US" dirty="0" smtClean="0"/>
              <a:t>SBE2 Portfolio Composition</a:t>
            </a:r>
            <a:endParaRPr lang="en-CA" dirty="0"/>
          </a:p>
        </p:txBody>
      </p:sp>
      <p:sp>
        <p:nvSpPr>
          <p:cNvPr id="4" name="Text Placeholder 3"/>
          <p:cNvSpPr>
            <a:spLocks noGrp="1"/>
          </p:cNvSpPr>
          <p:nvPr>
            <p:ph type="body" sz="quarter" idx="14"/>
          </p:nvPr>
        </p:nvSpPr>
        <p:spPr/>
        <p:txBody>
          <a:bodyPr/>
          <a:lstStyle/>
          <a:p>
            <a:endParaRPr lang="en-CA" dirty="0"/>
          </a:p>
        </p:txBody>
      </p:sp>
    </p:spTree>
    <p:extLst>
      <p:ext uri="{BB962C8B-B14F-4D97-AF65-F5344CB8AC3E}">
        <p14:creationId xmlns:p14="http://schemas.microsoft.com/office/powerpoint/2010/main" val="40283812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3" y="492834"/>
            <a:ext cx="8280401" cy="397483"/>
          </a:xfrm>
        </p:spPr>
        <p:txBody>
          <a:bodyPr/>
          <a:lstStyle/>
          <a:p>
            <a:r>
              <a:rPr lang="en-US" sz="3000" dirty="0" smtClean="0"/>
              <a:t>SBE2 </a:t>
            </a:r>
            <a:r>
              <a:rPr lang="en-US" sz="3000" dirty="0"/>
              <a:t>Portfolio Composition</a:t>
            </a:r>
            <a:endParaRPr lang="en-CA" sz="3000" dirty="0"/>
          </a:p>
        </p:txBody>
      </p:sp>
      <p:sp>
        <p:nvSpPr>
          <p:cNvPr id="3" name="TextBox 2"/>
          <p:cNvSpPr txBox="1"/>
          <p:nvPr/>
        </p:nvSpPr>
        <p:spPr>
          <a:xfrm>
            <a:off x="337751" y="926173"/>
            <a:ext cx="8452022" cy="584775"/>
          </a:xfrm>
          <a:prstGeom prst="rect">
            <a:avLst/>
          </a:prstGeom>
          <a:noFill/>
        </p:spPr>
        <p:txBody>
          <a:bodyPr wrap="square" rtlCol="0">
            <a:spAutoFit/>
          </a:bodyPr>
          <a:lstStyle/>
          <a:p>
            <a:r>
              <a:rPr lang="en-US" sz="1600" dirty="0" smtClean="0">
                <a:solidFill>
                  <a:srgbClr val="003B5C"/>
                </a:solidFill>
              </a:rPr>
              <a:t>As at 31 October 2019, SBE2 portfolio consists of 52,963 borrowers (71,182 loans) with an outstanding loan amount of $2,617,251,224 (9.03% of CWB Group outstanding loan amount).</a:t>
            </a:r>
            <a:endParaRPr lang="en-CA" sz="1600" dirty="0">
              <a:solidFill>
                <a:srgbClr val="003B5C"/>
              </a:solidFill>
            </a:endParaRPr>
          </a:p>
        </p:txBody>
      </p:sp>
      <p:graphicFrame>
        <p:nvGraphicFramePr>
          <p:cNvPr id="8" name="Chart 7"/>
          <p:cNvGraphicFramePr>
            <a:graphicFrameLocks/>
          </p:cNvGraphicFramePr>
          <p:nvPr>
            <p:extLst>
              <p:ext uri="{D42A27DB-BD31-4B8C-83A1-F6EECF244321}">
                <p14:modId xmlns:p14="http://schemas.microsoft.com/office/powerpoint/2010/main" val="844037804"/>
              </p:ext>
            </p:extLst>
          </p:nvPr>
        </p:nvGraphicFramePr>
        <p:xfrm>
          <a:off x="0" y="1546804"/>
          <a:ext cx="4500000" cy="324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p:cNvGraphicFramePr>
            <a:graphicFrameLocks/>
          </p:cNvGraphicFramePr>
          <p:nvPr>
            <p:extLst>
              <p:ext uri="{D42A27DB-BD31-4B8C-83A1-F6EECF244321}">
                <p14:modId xmlns:p14="http://schemas.microsoft.com/office/powerpoint/2010/main" val="291153382"/>
              </p:ext>
            </p:extLst>
          </p:nvPr>
        </p:nvGraphicFramePr>
        <p:xfrm>
          <a:off x="4644000" y="1546804"/>
          <a:ext cx="4500000" cy="3240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949640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3" y="492834"/>
            <a:ext cx="8280401" cy="397483"/>
          </a:xfrm>
        </p:spPr>
        <p:txBody>
          <a:bodyPr/>
          <a:lstStyle/>
          <a:p>
            <a:r>
              <a:rPr lang="en-US" sz="2800" dirty="0" smtClean="0"/>
              <a:t>SBE2 </a:t>
            </a:r>
            <a:r>
              <a:rPr lang="en-US" sz="2800" dirty="0"/>
              <a:t>Portfolio Composition</a:t>
            </a:r>
            <a:endParaRPr lang="en-CA" sz="2800" dirty="0"/>
          </a:p>
        </p:txBody>
      </p:sp>
      <p:graphicFrame>
        <p:nvGraphicFramePr>
          <p:cNvPr id="8" name="Chart 7"/>
          <p:cNvGraphicFramePr>
            <a:graphicFrameLocks/>
          </p:cNvGraphicFramePr>
          <p:nvPr>
            <p:extLst>
              <p:ext uri="{D42A27DB-BD31-4B8C-83A1-F6EECF244321}">
                <p14:modId xmlns:p14="http://schemas.microsoft.com/office/powerpoint/2010/main" val="849796928"/>
              </p:ext>
            </p:extLst>
          </p:nvPr>
        </p:nvGraphicFramePr>
        <p:xfrm>
          <a:off x="0" y="1137088"/>
          <a:ext cx="4500000" cy="324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p:cNvGraphicFramePr>
            <a:graphicFrameLocks/>
          </p:cNvGraphicFramePr>
          <p:nvPr>
            <p:extLst>
              <p:ext uri="{D42A27DB-BD31-4B8C-83A1-F6EECF244321}">
                <p14:modId xmlns:p14="http://schemas.microsoft.com/office/powerpoint/2010/main" val="4201719418"/>
              </p:ext>
            </p:extLst>
          </p:nvPr>
        </p:nvGraphicFramePr>
        <p:xfrm>
          <a:off x="4363895" y="1137088"/>
          <a:ext cx="4780105" cy="3240000"/>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p:cNvSpPr txBox="1"/>
          <p:nvPr/>
        </p:nvSpPr>
        <p:spPr>
          <a:xfrm>
            <a:off x="575733" y="4436532"/>
            <a:ext cx="3788162" cy="276999"/>
          </a:xfrm>
          <a:prstGeom prst="rect">
            <a:avLst/>
          </a:prstGeom>
          <a:noFill/>
        </p:spPr>
        <p:txBody>
          <a:bodyPr wrap="square" rtlCol="0">
            <a:spAutoFit/>
          </a:bodyPr>
          <a:lstStyle/>
          <a:p>
            <a:r>
              <a:rPr lang="en-US" sz="1200" dirty="0" smtClean="0">
                <a:solidFill>
                  <a:srgbClr val="003B5C"/>
                </a:solidFill>
              </a:rPr>
              <a:t>Link to: </a:t>
            </a:r>
            <a:r>
              <a:rPr lang="en-US" sz="1200" dirty="0" smtClean="0">
                <a:solidFill>
                  <a:srgbClr val="003B5C"/>
                </a:solidFill>
                <a:hlinkClick r:id="rId4" action="ppaction://hlinksldjump"/>
              </a:rPr>
              <a:t>NAICS Codes</a:t>
            </a:r>
            <a:r>
              <a:rPr lang="en-US" sz="1200" dirty="0" smtClean="0">
                <a:solidFill>
                  <a:srgbClr val="003B5C"/>
                </a:solidFill>
              </a:rPr>
              <a:t> </a:t>
            </a:r>
            <a:endParaRPr lang="en-CA" sz="1200" dirty="0">
              <a:solidFill>
                <a:srgbClr val="003B5C"/>
              </a:solidFill>
            </a:endParaRPr>
          </a:p>
        </p:txBody>
      </p:sp>
      <p:sp>
        <p:nvSpPr>
          <p:cNvPr id="4" name="TextBox 3"/>
          <p:cNvSpPr txBox="1"/>
          <p:nvPr/>
        </p:nvSpPr>
        <p:spPr>
          <a:xfrm>
            <a:off x="4969933" y="4436532"/>
            <a:ext cx="3877733" cy="276999"/>
          </a:xfrm>
          <a:prstGeom prst="rect">
            <a:avLst/>
          </a:prstGeom>
          <a:noFill/>
        </p:spPr>
        <p:txBody>
          <a:bodyPr wrap="square" rtlCol="0">
            <a:spAutoFit/>
          </a:bodyPr>
          <a:lstStyle/>
          <a:p>
            <a:r>
              <a:rPr lang="en-US" sz="1200" dirty="0" smtClean="0">
                <a:solidFill>
                  <a:srgbClr val="003B5C"/>
                </a:solidFill>
              </a:rPr>
              <a:t>Link to: </a:t>
            </a:r>
            <a:r>
              <a:rPr lang="en-US" sz="1200" dirty="0" smtClean="0">
                <a:solidFill>
                  <a:srgbClr val="003B5C"/>
                </a:solidFill>
                <a:hlinkClick r:id="rId5" action="ppaction://hlinksldjump"/>
              </a:rPr>
              <a:t>Collateral Types</a:t>
            </a:r>
            <a:endParaRPr lang="en-CA" sz="1200" dirty="0">
              <a:solidFill>
                <a:srgbClr val="003B5C"/>
              </a:solidFill>
            </a:endParaRPr>
          </a:p>
        </p:txBody>
      </p:sp>
    </p:spTree>
    <p:extLst>
      <p:ext uri="{BB962C8B-B14F-4D97-AF65-F5344CB8AC3E}">
        <p14:creationId xmlns:p14="http://schemas.microsoft.com/office/powerpoint/2010/main" val="16104855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3" y="492834"/>
            <a:ext cx="8280401" cy="397483"/>
          </a:xfrm>
        </p:spPr>
        <p:txBody>
          <a:bodyPr/>
          <a:lstStyle/>
          <a:p>
            <a:r>
              <a:rPr lang="en-US" sz="2800" dirty="0" smtClean="0"/>
              <a:t>SBE2 </a:t>
            </a:r>
            <a:r>
              <a:rPr lang="en-US" sz="2800" dirty="0"/>
              <a:t>Portfolio Composition</a:t>
            </a:r>
            <a:endParaRPr lang="en-CA" sz="2800" dirty="0"/>
          </a:p>
        </p:txBody>
      </p:sp>
      <p:graphicFrame>
        <p:nvGraphicFramePr>
          <p:cNvPr id="5" name="Chart 4"/>
          <p:cNvGraphicFramePr>
            <a:graphicFrameLocks/>
          </p:cNvGraphicFramePr>
          <p:nvPr>
            <p:extLst>
              <p:ext uri="{D42A27DB-BD31-4B8C-83A1-F6EECF244321}">
                <p14:modId xmlns:p14="http://schemas.microsoft.com/office/powerpoint/2010/main" val="2831430913"/>
              </p:ext>
            </p:extLst>
          </p:nvPr>
        </p:nvGraphicFramePr>
        <p:xfrm>
          <a:off x="0" y="1143394"/>
          <a:ext cx="4500000" cy="324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p:cNvGraphicFramePr>
            <a:graphicFrameLocks/>
          </p:cNvGraphicFramePr>
          <p:nvPr>
            <p:extLst>
              <p:ext uri="{D42A27DB-BD31-4B8C-83A1-F6EECF244321}">
                <p14:modId xmlns:p14="http://schemas.microsoft.com/office/powerpoint/2010/main" val="1437455834"/>
              </p:ext>
            </p:extLst>
          </p:nvPr>
        </p:nvGraphicFramePr>
        <p:xfrm>
          <a:off x="4644000" y="1143394"/>
          <a:ext cx="4500000" cy="3240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970487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3572934" y="1870102"/>
            <a:ext cx="5107716" cy="2536467"/>
          </a:xfrm>
        </p:spPr>
        <p:txBody>
          <a:bodyPr/>
          <a:lstStyle/>
          <a:p>
            <a:r>
              <a:rPr lang="en-US" dirty="0" smtClean="0">
                <a:solidFill>
                  <a:srgbClr val="003B5C"/>
                </a:solidFill>
              </a:rPr>
              <a:t>Step One - Scorecard Development</a:t>
            </a:r>
          </a:p>
          <a:p>
            <a:r>
              <a:rPr lang="en-US" dirty="0" smtClean="0">
                <a:solidFill>
                  <a:srgbClr val="003B5C"/>
                </a:solidFill>
              </a:rPr>
              <a:t>Step Two - Long-Run Probability of Default (LRPD) Calibration </a:t>
            </a:r>
          </a:p>
          <a:p>
            <a:r>
              <a:rPr lang="en-US" dirty="0" smtClean="0">
                <a:solidFill>
                  <a:srgbClr val="003B5C"/>
                </a:solidFill>
              </a:rPr>
              <a:t>Model Performance Measures</a:t>
            </a:r>
          </a:p>
          <a:p>
            <a:r>
              <a:rPr lang="en-US" dirty="0" smtClean="0">
                <a:solidFill>
                  <a:srgbClr val="003B5C"/>
                </a:solidFill>
              </a:rPr>
              <a:t>SBE2 </a:t>
            </a:r>
            <a:r>
              <a:rPr lang="en-US" dirty="0">
                <a:solidFill>
                  <a:srgbClr val="003B5C"/>
                </a:solidFill>
              </a:rPr>
              <a:t>Historical Default </a:t>
            </a:r>
            <a:r>
              <a:rPr lang="en-US" dirty="0" smtClean="0">
                <a:solidFill>
                  <a:srgbClr val="003B5C"/>
                </a:solidFill>
              </a:rPr>
              <a:t>Rates</a:t>
            </a:r>
            <a:endParaRPr lang="en-US" dirty="0">
              <a:solidFill>
                <a:srgbClr val="003B5C"/>
              </a:solidFill>
            </a:endParaRPr>
          </a:p>
          <a:p>
            <a:endParaRPr lang="en-CA" dirty="0">
              <a:solidFill>
                <a:srgbClr val="003B5C"/>
              </a:solidFill>
            </a:endParaRPr>
          </a:p>
        </p:txBody>
      </p:sp>
      <p:sp>
        <p:nvSpPr>
          <p:cNvPr id="3" name="Text Placeholder 2"/>
          <p:cNvSpPr>
            <a:spLocks noGrp="1"/>
          </p:cNvSpPr>
          <p:nvPr>
            <p:ph type="body" sz="quarter" idx="12"/>
          </p:nvPr>
        </p:nvSpPr>
        <p:spPr>
          <a:xfrm>
            <a:off x="406203" y="501566"/>
            <a:ext cx="3342837" cy="683767"/>
          </a:xfrm>
        </p:spPr>
        <p:txBody>
          <a:bodyPr/>
          <a:lstStyle/>
          <a:p>
            <a:r>
              <a:rPr lang="en-US" dirty="0" smtClean="0"/>
              <a:t>Modelling Approach</a:t>
            </a:r>
            <a:endParaRPr lang="en-CA" dirty="0"/>
          </a:p>
        </p:txBody>
      </p:sp>
      <p:sp>
        <p:nvSpPr>
          <p:cNvPr id="4" name="Text Placeholder 3"/>
          <p:cNvSpPr>
            <a:spLocks noGrp="1"/>
          </p:cNvSpPr>
          <p:nvPr>
            <p:ph type="body" sz="quarter" idx="14"/>
          </p:nvPr>
        </p:nvSpPr>
        <p:spPr/>
        <p:txBody>
          <a:bodyPr/>
          <a:lstStyle/>
          <a:p>
            <a:endParaRPr lang="en-CA"/>
          </a:p>
        </p:txBody>
      </p:sp>
    </p:spTree>
    <p:extLst>
      <p:ext uri="{BB962C8B-B14F-4D97-AF65-F5344CB8AC3E}">
        <p14:creationId xmlns:p14="http://schemas.microsoft.com/office/powerpoint/2010/main" val="3293148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3" y="528046"/>
            <a:ext cx="8280401" cy="397483"/>
          </a:xfrm>
        </p:spPr>
        <p:txBody>
          <a:bodyPr/>
          <a:lstStyle/>
          <a:p>
            <a:r>
              <a:rPr lang="en-US" sz="3000" dirty="0" smtClean="0"/>
              <a:t>Modelling Approach</a:t>
            </a:r>
            <a:endParaRPr lang="en-CA" sz="3000" dirty="0"/>
          </a:p>
        </p:txBody>
      </p:sp>
      <p:sp>
        <p:nvSpPr>
          <p:cNvPr id="4" name="Text Placeholder 3"/>
          <p:cNvSpPr>
            <a:spLocks noGrp="1"/>
          </p:cNvSpPr>
          <p:nvPr>
            <p:ph type="body" sz="quarter" idx="15"/>
          </p:nvPr>
        </p:nvSpPr>
        <p:spPr>
          <a:xfrm>
            <a:off x="406203" y="994161"/>
            <a:ext cx="8280400" cy="3643742"/>
          </a:xfrm>
        </p:spPr>
        <p:txBody>
          <a:bodyPr/>
          <a:lstStyle/>
          <a:p>
            <a:pPr algn="just"/>
            <a:r>
              <a:rPr lang="en-US" sz="1500" dirty="0" smtClean="0">
                <a:solidFill>
                  <a:schemeClr val="tx2"/>
                </a:solidFill>
              </a:rPr>
              <a:t>We follow </a:t>
            </a:r>
            <a:r>
              <a:rPr lang="en-US" sz="1500" dirty="0">
                <a:solidFill>
                  <a:schemeClr val="tx2"/>
                </a:solidFill>
              </a:rPr>
              <a:t>a two-step process to develop a PD </a:t>
            </a:r>
            <a:r>
              <a:rPr lang="en-US" sz="1500" dirty="0" smtClean="0">
                <a:solidFill>
                  <a:schemeClr val="tx2"/>
                </a:solidFill>
              </a:rPr>
              <a:t>(and </a:t>
            </a:r>
            <a:r>
              <a:rPr lang="en-US" sz="1500" dirty="0">
                <a:solidFill>
                  <a:schemeClr val="tx2"/>
                </a:solidFill>
              </a:rPr>
              <a:t>LGD) model. In the first step, historical data are utilized to build a rank-ordering tool (i.e., scorecard). Then, in the second step, models are calibrated to ensure that portfolio-level model PD (LGD, respectively) results match the historical average of realized default rates (loss rates, respectively). </a:t>
            </a:r>
          </a:p>
          <a:p>
            <a:pPr algn="just"/>
            <a:endParaRPr lang="en-US" sz="1500" dirty="0">
              <a:solidFill>
                <a:schemeClr val="tx2"/>
              </a:solidFill>
            </a:endParaRPr>
          </a:p>
          <a:p>
            <a:pPr algn="just"/>
            <a:r>
              <a:rPr lang="en-US" sz="1500" b="1" dirty="0">
                <a:solidFill>
                  <a:schemeClr val="tx2"/>
                </a:solidFill>
              </a:rPr>
              <a:t>1</a:t>
            </a:r>
            <a:r>
              <a:rPr lang="en-US" sz="1500" b="1" dirty="0" smtClean="0">
                <a:solidFill>
                  <a:schemeClr val="tx2"/>
                </a:solidFill>
              </a:rPr>
              <a:t>) STEP ONE – </a:t>
            </a:r>
            <a:r>
              <a:rPr lang="en-US" sz="1500" b="1" dirty="0">
                <a:solidFill>
                  <a:schemeClr val="tx2"/>
                </a:solidFill>
              </a:rPr>
              <a:t>Rank Ordering</a:t>
            </a:r>
          </a:p>
          <a:p>
            <a:pPr algn="just"/>
            <a:r>
              <a:rPr lang="en-US" sz="1500" dirty="0" smtClean="0">
                <a:solidFill>
                  <a:schemeClr val="tx2"/>
                </a:solidFill>
              </a:rPr>
              <a:t>5-7 </a:t>
            </a:r>
            <a:r>
              <a:rPr lang="en-US" sz="1500" dirty="0">
                <a:solidFill>
                  <a:schemeClr val="tx2"/>
                </a:solidFill>
              </a:rPr>
              <a:t>years of </a:t>
            </a:r>
            <a:r>
              <a:rPr lang="en-US" sz="1500" dirty="0" smtClean="0">
                <a:solidFill>
                  <a:schemeClr val="tx2"/>
                </a:solidFill>
              </a:rPr>
              <a:t>historical data </a:t>
            </a:r>
            <a:r>
              <a:rPr lang="en-US" sz="1500" dirty="0">
                <a:solidFill>
                  <a:schemeClr val="tx2"/>
                </a:solidFill>
              </a:rPr>
              <a:t>and the underlying risk drivers (e.g. Beacon score, delinquency, NAICS, etc.) </a:t>
            </a:r>
            <a:r>
              <a:rPr lang="en-US" sz="1500" dirty="0" smtClean="0">
                <a:solidFill>
                  <a:schemeClr val="tx2"/>
                </a:solidFill>
              </a:rPr>
              <a:t>are utilized to </a:t>
            </a:r>
            <a:r>
              <a:rPr lang="en-US" sz="1500" dirty="0">
                <a:solidFill>
                  <a:schemeClr val="tx2"/>
                </a:solidFill>
              </a:rPr>
              <a:t>rank-order the borrowers. We start with a list of 15-25 potential risk drivers suggested by the business experts and the modelling team. Historical data determines which risk drivers have the highest predictive power in predicting default and how the scores are assigned. For example, suppose historical data show that 20% of borrowers with a beacon score below 650 have defaulted, but default rate for borrowers with a beacon score above 750 is only 2%. Then </a:t>
            </a:r>
            <a:r>
              <a:rPr lang="en-US" sz="1500" dirty="0" smtClean="0">
                <a:solidFill>
                  <a:schemeClr val="tx2"/>
                </a:solidFill>
              </a:rPr>
              <a:t>model </a:t>
            </a:r>
            <a:r>
              <a:rPr lang="en-US" sz="1500" dirty="0">
                <a:solidFill>
                  <a:schemeClr val="tx2"/>
                </a:solidFill>
              </a:rPr>
              <a:t>assigns a higher score for borrowers with a beacon score above 750 (compared with </a:t>
            </a:r>
            <a:r>
              <a:rPr lang="en-US" sz="1500" dirty="0" smtClean="0">
                <a:solidFill>
                  <a:schemeClr val="tx2"/>
                </a:solidFill>
              </a:rPr>
              <a:t>those with </a:t>
            </a:r>
            <a:r>
              <a:rPr lang="en-US" sz="1500" dirty="0">
                <a:solidFill>
                  <a:schemeClr val="tx2"/>
                </a:solidFill>
              </a:rPr>
              <a:t>beacon score below 650</a:t>
            </a:r>
            <a:r>
              <a:rPr lang="en-US" sz="1500" dirty="0" smtClean="0">
                <a:solidFill>
                  <a:schemeClr val="tx2"/>
                </a:solidFill>
              </a:rPr>
              <a:t>). At </a:t>
            </a:r>
            <a:r>
              <a:rPr lang="en-US" sz="1500" dirty="0">
                <a:solidFill>
                  <a:schemeClr val="tx2"/>
                </a:solidFill>
              </a:rPr>
              <a:t>the end of this step, a score is assigned to each borrower. The lower the risk is, the higher the assigned score will be. T</a:t>
            </a:r>
            <a:r>
              <a:rPr lang="en-US" sz="1500" dirty="0" smtClean="0">
                <a:solidFill>
                  <a:schemeClr val="tx2"/>
                </a:solidFill>
              </a:rPr>
              <a:t>here </a:t>
            </a:r>
            <a:r>
              <a:rPr lang="en-US" sz="1500" dirty="0">
                <a:solidFill>
                  <a:schemeClr val="tx2"/>
                </a:solidFill>
              </a:rPr>
              <a:t>is no </a:t>
            </a:r>
            <a:r>
              <a:rPr lang="en-US" sz="1500" dirty="0" smtClean="0">
                <a:solidFill>
                  <a:schemeClr val="tx2"/>
                </a:solidFill>
              </a:rPr>
              <a:t>PD</a:t>
            </a:r>
            <a:r>
              <a:rPr lang="en-US" sz="1500" dirty="0">
                <a:solidFill>
                  <a:schemeClr val="tx2"/>
                </a:solidFill>
              </a:rPr>
              <a:t> </a:t>
            </a:r>
            <a:r>
              <a:rPr lang="en-US" sz="1500" dirty="0" smtClean="0">
                <a:solidFill>
                  <a:schemeClr val="tx2"/>
                </a:solidFill>
              </a:rPr>
              <a:t>yet.</a:t>
            </a:r>
            <a:endParaRPr lang="en-US" sz="1500" dirty="0">
              <a:solidFill>
                <a:schemeClr val="tx2"/>
              </a:solidFill>
            </a:endParaRPr>
          </a:p>
          <a:p>
            <a:pPr algn="just"/>
            <a:endParaRPr lang="en-US" sz="1400" dirty="0" smtClean="0">
              <a:solidFill>
                <a:schemeClr val="tx2"/>
              </a:solidFill>
            </a:endParaRPr>
          </a:p>
          <a:p>
            <a:pPr marL="342900" indent="-342900" algn="just">
              <a:buAutoNum type="arabicParenR"/>
            </a:pPr>
            <a:endParaRPr lang="en-CA" sz="1400" dirty="0">
              <a:solidFill>
                <a:schemeClr val="tx2"/>
              </a:solidFill>
            </a:endParaRPr>
          </a:p>
        </p:txBody>
      </p:sp>
    </p:spTree>
    <p:extLst>
      <p:ext uri="{BB962C8B-B14F-4D97-AF65-F5344CB8AC3E}">
        <p14:creationId xmlns:p14="http://schemas.microsoft.com/office/powerpoint/2010/main" val="21128706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2" y="519808"/>
            <a:ext cx="8280401" cy="397483"/>
          </a:xfrm>
        </p:spPr>
        <p:txBody>
          <a:bodyPr/>
          <a:lstStyle/>
          <a:p>
            <a:r>
              <a:rPr lang="en-US" sz="3000" dirty="0" smtClean="0"/>
              <a:t>Modelling Approach</a:t>
            </a:r>
            <a:endParaRPr lang="en-CA" sz="3000" dirty="0"/>
          </a:p>
        </p:txBody>
      </p:sp>
      <p:sp>
        <p:nvSpPr>
          <p:cNvPr id="4" name="Text Placeholder 3"/>
          <p:cNvSpPr>
            <a:spLocks noGrp="1"/>
          </p:cNvSpPr>
          <p:nvPr>
            <p:ph type="body" sz="quarter" idx="15"/>
          </p:nvPr>
        </p:nvSpPr>
        <p:spPr>
          <a:xfrm>
            <a:off x="406202" y="1060063"/>
            <a:ext cx="8280400" cy="3321367"/>
          </a:xfrm>
        </p:spPr>
        <p:txBody>
          <a:bodyPr/>
          <a:lstStyle/>
          <a:p>
            <a:pPr algn="just"/>
            <a:r>
              <a:rPr lang="en-US" sz="1500" b="1" dirty="0" smtClean="0">
                <a:solidFill>
                  <a:schemeClr val="tx2"/>
                </a:solidFill>
              </a:rPr>
              <a:t>2) STEP TWO – </a:t>
            </a:r>
            <a:r>
              <a:rPr lang="en-US" sz="1500" b="1" dirty="0">
                <a:solidFill>
                  <a:schemeClr val="tx2"/>
                </a:solidFill>
              </a:rPr>
              <a:t>PD Calibration</a:t>
            </a:r>
          </a:p>
          <a:p>
            <a:pPr algn="just"/>
            <a:r>
              <a:rPr lang="en-US" sz="1500" dirty="0">
                <a:solidFill>
                  <a:schemeClr val="tx2"/>
                </a:solidFill>
              </a:rPr>
              <a:t>In the previous step, we only rank-ordered the borrowers based on their risk profile. Now, we need to assign PDs which </a:t>
            </a:r>
            <a:r>
              <a:rPr lang="en-US" sz="1500" dirty="0" smtClean="0">
                <a:solidFill>
                  <a:schemeClr val="tx2"/>
                </a:solidFill>
              </a:rPr>
              <a:t>need to align </a:t>
            </a:r>
            <a:r>
              <a:rPr lang="en-US" sz="1500" dirty="0">
                <a:solidFill>
                  <a:schemeClr val="tx2"/>
                </a:solidFill>
              </a:rPr>
              <a:t>with our historical realized default rates. First, we need to </a:t>
            </a:r>
            <a:r>
              <a:rPr lang="en-US" sz="1500" dirty="0" smtClean="0">
                <a:solidFill>
                  <a:schemeClr val="tx2"/>
                </a:solidFill>
              </a:rPr>
              <a:t>determine the </a:t>
            </a:r>
            <a:r>
              <a:rPr lang="en-US" sz="1500" dirty="0">
                <a:solidFill>
                  <a:schemeClr val="tx2"/>
                </a:solidFill>
              </a:rPr>
              <a:t>number of risk ratings. Suppose the rank-ordering tool (i.e., </a:t>
            </a:r>
            <a:r>
              <a:rPr lang="en-US" sz="1500" dirty="0" smtClean="0">
                <a:solidFill>
                  <a:schemeClr val="tx2"/>
                </a:solidFill>
              </a:rPr>
              <a:t>the scorecard</a:t>
            </a:r>
            <a:r>
              <a:rPr lang="en-US" sz="1500" dirty="0">
                <a:solidFill>
                  <a:schemeClr val="tx2"/>
                </a:solidFill>
              </a:rPr>
              <a:t>) developed in Step 1 </a:t>
            </a:r>
            <a:r>
              <a:rPr lang="en-US" sz="1500" dirty="0" smtClean="0">
                <a:solidFill>
                  <a:schemeClr val="tx2"/>
                </a:solidFill>
              </a:rPr>
              <a:t>generates </a:t>
            </a:r>
            <a:r>
              <a:rPr lang="en-US" sz="1500" dirty="0">
                <a:solidFill>
                  <a:schemeClr val="tx2"/>
                </a:solidFill>
              </a:rPr>
              <a:t>scores ranging from 500 to 800. The range of scores doesn’t really matter, it could be 100 to 400. Only order is important. As a standard practice, we start with 7-8 risk rating, RR1 is defined as scores between 500 to 600, RR2 is defined as scores between </a:t>
            </a:r>
            <a:r>
              <a:rPr lang="en-US" sz="1500" dirty="0" smtClean="0">
                <a:solidFill>
                  <a:schemeClr val="tx2"/>
                </a:solidFill>
              </a:rPr>
              <a:t>600 </a:t>
            </a:r>
            <a:r>
              <a:rPr lang="en-US" sz="1500" dirty="0">
                <a:solidFill>
                  <a:schemeClr val="tx2"/>
                </a:solidFill>
              </a:rPr>
              <a:t>to 700, and so on. </a:t>
            </a:r>
            <a:r>
              <a:rPr lang="en-US" sz="1500" dirty="0" smtClean="0">
                <a:solidFill>
                  <a:schemeClr val="tx2"/>
                </a:solidFill>
              </a:rPr>
              <a:t>For low default rate portfolios such as IPRE, we usually have 3-4 quantitative risk ratings and supplemented by a wider rang of qualitative risk ratings.</a:t>
            </a:r>
            <a:endParaRPr lang="en-CA" sz="1500" dirty="0">
              <a:solidFill>
                <a:schemeClr val="tx2"/>
              </a:solidFill>
            </a:endParaRPr>
          </a:p>
        </p:txBody>
      </p:sp>
    </p:spTree>
    <p:extLst>
      <p:ext uri="{BB962C8B-B14F-4D97-AF65-F5344CB8AC3E}">
        <p14:creationId xmlns:p14="http://schemas.microsoft.com/office/powerpoint/2010/main" val="315816845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2" y="519808"/>
            <a:ext cx="8280401" cy="397483"/>
          </a:xfrm>
        </p:spPr>
        <p:txBody>
          <a:bodyPr/>
          <a:lstStyle/>
          <a:p>
            <a:r>
              <a:rPr lang="en-US" sz="3000" dirty="0" smtClean="0"/>
              <a:t>Modelling Approach</a:t>
            </a:r>
            <a:endParaRPr lang="en-CA" sz="3000" dirty="0"/>
          </a:p>
        </p:txBody>
      </p:sp>
      <p:sp>
        <p:nvSpPr>
          <p:cNvPr id="4" name="Text Placeholder 3"/>
          <p:cNvSpPr>
            <a:spLocks noGrp="1"/>
          </p:cNvSpPr>
          <p:nvPr>
            <p:ph type="body" sz="quarter" idx="15"/>
          </p:nvPr>
        </p:nvSpPr>
        <p:spPr>
          <a:xfrm>
            <a:off x="406203" y="961371"/>
            <a:ext cx="8280400" cy="3758910"/>
          </a:xfrm>
        </p:spPr>
        <p:txBody>
          <a:bodyPr/>
          <a:lstStyle/>
          <a:p>
            <a:pPr algn="just"/>
            <a:r>
              <a:rPr lang="en-US" sz="1500" b="1" dirty="0" smtClean="0">
                <a:solidFill>
                  <a:schemeClr val="tx2"/>
                </a:solidFill>
              </a:rPr>
              <a:t>2) STEP TWO – </a:t>
            </a:r>
            <a:r>
              <a:rPr lang="en-US" sz="1500" b="1" dirty="0">
                <a:solidFill>
                  <a:schemeClr val="tx2"/>
                </a:solidFill>
              </a:rPr>
              <a:t>PD </a:t>
            </a:r>
            <a:r>
              <a:rPr lang="en-US" sz="1500" b="1" dirty="0" smtClean="0">
                <a:solidFill>
                  <a:schemeClr val="tx2"/>
                </a:solidFill>
              </a:rPr>
              <a:t>Calibration – Continued</a:t>
            </a:r>
            <a:endParaRPr lang="en-US" sz="1500" b="1" dirty="0">
              <a:solidFill>
                <a:schemeClr val="tx2"/>
              </a:solidFill>
            </a:endParaRPr>
          </a:p>
          <a:p>
            <a:pPr algn="just"/>
            <a:r>
              <a:rPr lang="en-US" sz="1500" dirty="0" smtClean="0">
                <a:solidFill>
                  <a:schemeClr val="tx2"/>
                </a:solidFill>
              </a:rPr>
              <a:t>We </a:t>
            </a:r>
            <a:r>
              <a:rPr lang="en-US" sz="1500" dirty="0">
                <a:solidFill>
                  <a:schemeClr val="tx2"/>
                </a:solidFill>
              </a:rPr>
              <a:t>have the following criteria </a:t>
            </a:r>
            <a:r>
              <a:rPr lang="en-US" sz="1500" dirty="0" smtClean="0">
                <a:solidFill>
                  <a:schemeClr val="tx2"/>
                </a:solidFill>
              </a:rPr>
              <a:t>in </a:t>
            </a:r>
            <a:r>
              <a:rPr lang="en-US" sz="1500" dirty="0">
                <a:solidFill>
                  <a:schemeClr val="tx2"/>
                </a:solidFill>
              </a:rPr>
              <a:t>defining the risk ratings.</a:t>
            </a:r>
          </a:p>
          <a:p>
            <a:pPr algn="just"/>
            <a:r>
              <a:rPr lang="en-US" sz="1500" b="1" dirty="0">
                <a:solidFill>
                  <a:schemeClr val="tx2"/>
                </a:solidFill>
              </a:rPr>
              <a:t>2.1) </a:t>
            </a:r>
            <a:r>
              <a:rPr lang="en-US" sz="1500" dirty="0">
                <a:solidFill>
                  <a:schemeClr val="tx2"/>
                </a:solidFill>
              </a:rPr>
              <a:t>Distribution of the resulting risk rating </a:t>
            </a:r>
            <a:r>
              <a:rPr lang="en-US" sz="1500" dirty="0" smtClean="0">
                <a:solidFill>
                  <a:schemeClr val="tx2"/>
                </a:solidFill>
              </a:rPr>
              <a:t>should roughly resemble </a:t>
            </a:r>
            <a:r>
              <a:rPr lang="en-US" sz="1500" dirty="0">
                <a:solidFill>
                  <a:schemeClr val="tx2"/>
                </a:solidFill>
              </a:rPr>
              <a:t>a </a:t>
            </a:r>
            <a:r>
              <a:rPr lang="en-US" sz="1500" dirty="0" smtClean="0">
                <a:solidFill>
                  <a:schemeClr val="tx2"/>
                </a:solidFill>
              </a:rPr>
              <a:t>bell-shaped </a:t>
            </a:r>
            <a:r>
              <a:rPr lang="en-US" sz="1500" dirty="0">
                <a:solidFill>
                  <a:schemeClr val="tx2"/>
                </a:solidFill>
              </a:rPr>
              <a:t>normal distribution. Not too many borrowers in extremely low </a:t>
            </a:r>
            <a:r>
              <a:rPr lang="en-US" sz="1500" dirty="0" smtClean="0">
                <a:solidFill>
                  <a:schemeClr val="tx2"/>
                </a:solidFill>
              </a:rPr>
              <a:t>or extremely high </a:t>
            </a:r>
            <a:r>
              <a:rPr lang="en-US" sz="1500" dirty="0">
                <a:solidFill>
                  <a:schemeClr val="tx2"/>
                </a:solidFill>
              </a:rPr>
              <a:t>risk.  </a:t>
            </a:r>
          </a:p>
          <a:p>
            <a:pPr algn="just"/>
            <a:r>
              <a:rPr lang="en-US" sz="1500" b="1" dirty="0">
                <a:solidFill>
                  <a:schemeClr val="tx2"/>
                </a:solidFill>
              </a:rPr>
              <a:t>2.2) </a:t>
            </a:r>
            <a:r>
              <a:rPr lang="en-US" sz="1500" dirty="0">
                <a:solidFill>
                  <a:schemeClr val="tx2"/>
                </a:solidFill>
              </a:rPr>
              <a:t>There are enough defaulted and performing borrowers in each risk rating. If we have too many risk ratings (e.g., 15-20 RRs), then in some risk </a:t>
            </a:r>
            <a:r>
              <a:rPr lang="en-US" sz="1500" dirty="0" smtClean="0">
                <a:solidFill>
                  <a:schemeClr val="tx2"/>
                </a:solidFill>
              </a:rPr>
              <a:t>ratings, </a:t>
            </a:r>
            <a:r>
              <a:rPr lang="en-US" sz="1500" dirty="0">
                <a:solidFill>
                  <a:schemeClr val="tx2"/>
                </a:solidFill>
              </a:rPr>
              <a:t>there will be just a few borrowers, and some of them </a:t>
            </a:r>
            <a:r>
              <a:rPr lang="en-US" sz="1500" dirty="0" smtClean="0">
                <a:solidFill>
                  <a:schemeClr val="tx2"/>
                </a:solidFill>
              </a:rPr>
              <a:t>will contain </a:t>
            </a:r>
            <a:r>
              <a:rPr lang="en-US" sz="1500" dirty="0">
                <a:solidFill>
                  <a:schemeClr val="tx2"/>
                </a:solidFill>
              </a:rPr>
              <a:t>no </a:t>
            </a:r>
            <a:r>
              <a:rPr lang="en-US" sz="1500" dirty="0" smtClean="0">
                <a:solidFill>
                  <a:schemeClr val="tx2"/>
                </a:solidFill>
              </a:rPr>
              <a:t>defaulted borrowers. </a:t>
            </a:r>
            <a:r>
              <a:rPr lang="en-US" sz="1500" dirty="0">
                <a:solidFill>
                  <a:schemeClr val="tx2"/>
                </a:solidFill>
              </a:rPr>
              <a:t>Creating risk ratings with a zero default rate is NOT intuitive, probability of default is never zero. </a:t>
            </a:r>
            <a:endParaRPr lang="en-US" sz="1500" dirty="0" smtClean="0">
              <a:solidFill>
                <a:schemeClr val="tx2"/>
              </a:solidFill>
            </a:endParaRPr>
          </a:p>
          <a:p>
            <a:pPr algn="just"/>
            <a:endParaRPr lang="en-US" sz="1500" dirty="0">
              <a:solidFill>
                <a:schemeClr val="tx2"/>
              </a:solidFill>
            </a:endParaRPr>
          </a:p>
          <a:p>
            <a:pPr algn="just"/>
            <a:r>
              <a:rPr lang="en-US" sz="1500" dirty="0">
                <a:solidFill>
                  <a:schemeClr val="tx2"/>
                </a:solidFill>
              </a:rPr>
              <a:t>PD is then calibrated for each risk rating individually to ensure that default rate observed for each risk rating aligns with the historical Long-Run PD* (LRPD) for the underlying portfolio. Finally, each calibrated PD will be mapped to CWB Master Scale to determine BRR as per CWB rating system.</a:t>
            </a:r>
          </a:p>
          <a:p>
            <a:pPr algn="just"/>
            <a:endParaRPr lang="en-US" sz="1500" dirty="0" smtClean="0">
              <a:solidFill>
                <a:schemeClr val="tx2"/>
              </a:solidFill>
            </a:endParaRPr>
          </a:p>
          <a:p>
            <a:pPr algn="just"/>
            <a:r>
              <a:rPr lang="en-US" sz="1200" dirty="0" smtClean="0">
                <a:solidFill>
                  <a:schemeClr val="tx2"/>
                </a:solidFill>
              </a:rPr>
              <a:t>*In a nutshell, historical LRPD is the historical average default rate adjusted for the historical default rates volatility. The more volatile the historical default rates are, the higher the historical LRPD is. </a:t>
            </a:r>
          </a:p>
          <a:p>
            <a:pPr algn="just"/>
            <a:endParaRPr lang="en-US" sz="1500" dirty="0" smtClean="0"/>
          </a:p>
          <a:p>
            <a:pPr marL="342900" indent="-342900" algn="just">
              <a:buAutoNum type="arabicParenR"/>
            </a:pPr>
            <a:endParaRPr lang="en-CA" sz="1500" dirty="0"/>
          </a:p>
        </p:txBody>
      </p:sp>
    </p:spTree>
    <p:extLst>
      <p:ext uri="{BB962C8B-B14F-4D97-AF65-F5344CB8AC3E}">
        <p14:creationId xmlns:p14="http://schemas.microsoft.com/office/powerpoint/2010/main" val="9789153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2" y="333196"/>
            <a:ext cx="8280401" cy="397483"/>
          </a:xfrm>
        </p:spPr>
        <p:txBody>
          <a:bodyPr/>
          <a:lstStyle/>
          <a:p>
            <a:r>
              <a:rPr lang="en-US" sz="3000" dirty="0" smtClean="0"/>
              <a:t>Measures of Model Performance</a:t>
            </a:r>
            <a:endParaRPr lang="en-CA" sz="3000" dirty="0"/>
          </a:p>
        </p:txBody>
      </p:sp>
      <p:sp>
        <p:nvSpPr>
          <p:cNvPr id="4" name="Text Placeholder 3"/>
          <p:cNvSpPr>
            <a:spLocks noGrp="1"/>
          </p:cNvSpPr>
          <p:nvPr>
            <p:ph type="body" sz="quarter" idx="15"/>
          </p:nvPr>
        </p:nvSpPr>
        <p:spPr>
          <a:xfrm>
            <a:off x="406203" y="833316"/>
            <a:ext cx="8280400" cy="3897305"/>
          </a:xfrm>
        </p:spPr>
        <p:txBody>
          <a:bodyPr/>
          <a:lstStyle/>
          <a:p>
            <a:pPr algn="just"/>
            <a:r>
              <a:rPr lang="en-US" sz="1400" dirty="0" smtClean="0">
                <a:solidFill>
                  <a:schemeClr val="tx2"/>
                </a:solidFill>
              </a:rPr>
              <a:t>Model performance is measured during:</a:t>
            </a:r>
          </a:p>
          <a:p>
            <a:pPr marL="342900" indent="-342900" algn="just">
              <a:buFont typeface="Arial" panose="020B0604020202020204" pitchFamily="34" charset="0"/>
              <a:buChar char="•"/>
            </a:pPr>
            <a:r>
              <a:rPr lang="en-US" sz="1400" dirty="0" smtClean="0">
                <a:solidFill>
                  <a:schemeClr val="tx2"/>
                </a:solidFill>
              </a:rPr>
              <a:t>Development – Performed by the </a:t>
            </a:r>
            <a:r>
              <a:rPr lang="en-US" sz="1400" b="1" dirty="0" smtClean="0">
                <a:solidFill>
                  <a:schemeClr val="tx2"/>
                </a:solidFill>
              </a:rPr>
              <a:t>Model Development team</a:t>
            </a:r>
          </a:p>
          <a:p>
            <a:pPr marL="342900" indent="-342900" algn="just">
              <a:buFont typeface="Arial" panose="020B0604020202020204" pitchFamily="34" charset="0"/>
              <a:buChar char="•"/>
            </a:pPr>
            <a:r>
              <a:rPr lang="en-US" sz="1400" dirty="0">
                <a:solidFill>
                  <a:schemeClr val="tx2"/>
                </a:solidFill>
              </a:rPr>
              <a:t>Validation – Performed by the </a:t>
            </a:r>
            <a:r>
              <a:rPr lang="en-US" sz="1400" b="1" dirty="0">
                <a:solidFill>
                  <a:schemeClr val="tx2"/>
                </a:solidFill>
              </a:rPr>
              <a:t>Model </a:t>
            </a:r>
            <a:r>
              <a:rPr lang="en-US" sz="1400" b="1" dirty="0" smtClean="0">
                <a:solidFill>
                  <a:schemeClr val="tx2"/>
                </a:solidFill>
              </a:rPr>
              <a:t>Vetting team</a:t>
            </a:r>
          </a:p>
          <a:p>
            <a:pPr marL="342900" indent="-342900" algn="just">
              <a:buFont typeface="Arial" panose="020B0604020202020204" pitchFamily="34" charset="0"/>
              <a:buChar char="•"/>
            </a:pPr>
            <a:r>
              <a:rPr lang="en-US" sz="1400" dirty="0" err="1" smtClean="0">
                <a:solidFill>
                  <a:schemeClr val="tx2"/>
                </a:solidFill>
              </a:rPr>
              <a:t>Backtesting</a:t>
            </a:r>
            <a:r>
              <a:rPr lang="en-US" sz="1400" dirty="0">
                <a:solidFill>
                  <a:schemeClr val="tx2"/>
                </a:solidFill>
              </a:rPr>
              <a:t> – Performed by the </a:t>
            </a:r>
            <a:r>
              <a:rPr lang="en-US" sz="1400" b="1" dirty="0">
                <a:solidFill>
                  <a:schemeClr val="tx2"/>
                </a:solidFill>
              </a:rPr>
              <a:t>Model Vetting </a:t>
            </a:r>
            <a:r>
              <a:rPr lang="en-US" sz="1400" b="1" dirty="0" smtClean="0">
                <a:solidFill>
                  <a:schemeClr val="tx2"/>
                </a:solidFill>
              </a:rPr>
              <a:t>team</a:t>
            </a:r>
          </a:p>
          <a:p>
            <a:pPr marL="342900" indent="-342900" algn="just">
              <a:buFont typeface="Arial" panose="020B0604020202020204" pitchFamily="34" charset="0"/>
              <a:buChar char="•"/>
            </a:pPr>
            <a:r>
              <a:rPr lang="en-US" sz="1400" dirty="0" smtClean="0">
                <a:solidFill>
                  <a:schemeClr val="tx2"/>
                </a:solidFill>
              </a:rPr>
              <a:t>Quarterly/Annual Model Performance </a:t>
            </a:r>
            <a:r>
              <a:rPr lang="en-US" sz="1400" dirty="0">
                <a:solidFill>
                  <a:schemeClr val="tx2"/>
                </a:solidFill>
              </a:rPr>
              <a:t>Monitoring – Performed by the </a:t>
            </a:r>
            <a:r>
              <a:rPr lang="en-US" sz="1400" b="1" dirty="0" smtClean="0">
                <a:solidFill>
                  <a:schemeClr val="tx2"/>
                </a:solidFill>
              </a:rPr>
              <a:t>Risk IT, Model Vetting, and Model Development teams together</a:t>
            </a:r>
            <a:endParaRPr lang="en-US" sz="1400" b="1" dirty="0">
              <a:solidFill>
                <a:schemeClr val="tx2"/>
              </a:solidFill>
            </a:endParaRPr>
          </a:p>
          <a:p>
            <a:pPr algn="just"/>
            <a:endParaRPr lang="en-US" sz="1400" dirty="0" smtClean="0">
              <a:solidFill>
                <a:schemeClr val="tx2"/>
              </a:solidFill>
            </a:endParaRPr>
          </a:p>
          <a:p>
            <a:pPr algn="just"/>
            <a:r>
              <a:rPr lang="en-US" sz="1400" dirty="0" smtClean="0">
                <a:solidFill>
                  <a:schemeClr val="tx2"/>
                </a:solidFill>
              </a:rPr>
              <a:t>Utilizing historical data, each team independently examines the model outputs to ensure the developed models provide a reliable </a:t>
            </a:r>
            <a:r>
              <a:rPr lang="en-US" sz="1400" u="sng" dirty="0" smtClean="0">
                <a:solidFill>
                  <a:schemeClr val="tx2"/>
                </a:solidFill>
              </a:rPr>
              <a:t>Rank-Ordering tool</a:t>
            </a:r>
            <a:r>
              <a:rPr lang="en-US" sz="1400" dirty="0" smtClean="0">
                <a:solidFill>
                  <a:schemeClr val="tx2"/>
                </a:solidFill>
              </a:rPr>
              <a:t> AND </a:t>
            </a:r>
            <a:r>
              <a:rPr lang="en-US" sz="1400" u="sng" dirty="0" smtClean="0">
                <a:solidFill>
                  <a:schemeClr val="tx2"/>
                </a:solidFill>
              </a:rPr>
              <a:t>Model PDs</a:t>
            </a:r>
            <a:r>
              <a:rPr lang="en-US" sz="1400" dirty="0" smtClean="0">
                <a:solidFill>
                  <a:schemeClr val="tx2"/>
                </a:solidFill>
              </a:rPr>
              <a:t> align with the realized default rates.</a:t>
            </a:r>
          </a:p>
          <a:p>
            <a:pPr algn="just"/>
            <a:endParaRPr lang="en-US" sz="1400" dirty="0" smtClean="0">
              <a:solidFill>
                <a:schemeClr val="tx2"/>
              </a:solidFill>
            </a:endParaRPr>
          </a:p>
          <a:p>
            <a:pPr algn="just"/>
            <a:r>
              <a:rPr lang="en-US" sz="1400" b="1" dirty="0" smtClean="0">
                <a:solidFill>
                  <a:schemeClr val="tx2"/>
                </a:solidFill>
              </a:rPr>
              <a:t>1)  Rank-Ordering Performance Measures:</a:t>
            </a:r>
          </a:p>
          <a:p>
            <a:pPr marL="285750" indent="-285750" algn="just">
              <a:buFont typeface="Wingdings" panose="05000000000000000000" pitchFamily="2" charset="2"/>
              <a:buChar char="Ø"/>
            </a:pPr>
            <a:r>
              <a:rPr lang="en-US" sz="1400" dirty="0">
                <a:solidFill>
                  <a:schemeClr val="tx2"/>
                </a:solidFill>
              </a:rPr>
              <a:t>O</a:t>
            </a:r>
            <a:r>
              <a:rPr lang="en-US" sz="1400" dirty="0" smtClean="0">
                <a:solidFill>
                  <a:schemeClr val="tx2"/>
                </a:solidFill>
              </a:rPr>
              <a:t>n average, model should predict the level of risk with a 70% to 85% precision. </a:t>
            </a:r>
          </a:p>
          <a:p>
            <a:pPr marL="285750" indent="-285750" algn="just">
              <a:buFont typeface="Wingdings" panose="05000000000000000000" pitchFamily="2" charset="2"/>
              <a:buChar char="Ø"/>
            </a:pPr>
            <a:r>
              <a:rPr lang="en-US" sz="1400" dirty="0" smtClean="0">
                <a:solidFill>
                  <a:schemeClr val="tx2"/>
                </a:solidFill>
              </a:rPr>
              <a:t>Distribution of the risk drivers should remain relatively stable for the model to be still relevant.</a:t>
            </a:r>
          </a:p>
          <a:p>
            <a:pPr algn="just"/>
            <a:r>
              <a:rPr lang="en-US" sz="1400" b="1" dirty="0" smtClean="0">
                <a:solidFill>
                  <a:schemeClr val="tx2"/>
                </a:solidFill>
              </a:rPr>
              <a:t>2)  Model PDs Performance Measure:</a:t>
            </a:r>
          </a:p>
          <a:p>
            <a:pPr algn="just"/>
            <a:r>
              <a:rPr lang="en-US" sz="1400" dirty="0" smtClean="0">
                <a:solidFill>
                  <a:schemeClr val="tx2"/>
                </a:solidFill>
              </a:rPr>
              <a:t>At the risk rating level, model PDs should provide an acceptable approximation of the realized default rates</a:t>
            </a:r>
            <a:endParaRPr lang="en-US" sz="1400" dirty="0">
              <a:solidFill>
                <a:schemeClr val="tx2"/>
              </a:solidFill>
            </a:endParaRPr>
          </a:p>
        </p:txBody>
      </p:sp>
    </p:spTree>
    <p:extLst>
      <p:ext uri="{BB962C8B-B14F-4D97-AF65-F5344CB8AC3E}">
        <p14:creationId xmlns:p14="http://schemas.microsoft.com/office/powerpoint/2010/main" val="2164055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2" y="339502"/>
            <a:ext cx="8280401" cy="397483"/>
          </a:xfrm>
        </p:spPr>
        <p:txBody>
          <a:bodyPr/>
          <a:lstStyle/>
          <a:p>
            <a:r>
              <a:rPr lang="en-US" sz="3000" dirty="0" smtClean="0"/>
              <a:t>SBE2 </a:t>
            </a:r>
            <a:r>
              <a:rPr lang="en-US" sz="3000" dirty="0"/>
              <a:t>Historical Default Rates</a:t>
            </a:r>
            <a:endParaRPr lang="en-CA" sz="3000" dirty="0"/>
          </a:p>
        </p:txBody>
      </p:sp>
      <p:graphicFrame>
        <p:nvGraphicFramePr>
          <p:cNvPr id="6" name="Table 5"/>
          <p:cNvGraphicFramePr>
            <a:graphicFrameLocks noGrp="1"/>
          </p:cNvGraphicFramePr>
          <p:nvPr>
            <p:extLst>
              <p:ext uri="{D42A27DB-BD31-4B8C-83A1-F6EECF244321}">
                <p14:modId xmlns:p14="http://schemas.microsoft.com/office/powerpoint/2010/main" val="1949903058"/>
              </p:ext>
            </p:extLst>
          </p:nvPr>
        </p:nvGraphicFramePr>
        <p:xfrm>
          <a:off x="406202" y="1331191"/>
          <a:ext cx="2523265" cy="3424310"/>
        </p:xfrm>
        <a:graphic>
          <a:graphicData uri="http://schemas.openxmlformats.org/drawingml/2006/table">
            <a:tbl>
              <a:tblPr firstRow="1" bandRow="1">
                <a:tableStyleId>{68D230F3-CF80-4859-8CE7-A43EE81993B5}</a:tableStyleId>
              </a:tblPr>
              <a:tblGrid>
                <a:gridCol w="1115661">
                  <a:extLst>
                    <a:ext uri="{9D8B030D-6E8A-4147-A177-3AD203B41FA5}">
                      <a16:colId xmlns:a16="http://schemas.microsoft.com/office/drawing/2014/main" val="20000"/>
                    </a:ext>
                  </a:extLst>
                </a:gridCol>
                <a:gridCol w="1407604">
                  <a:extLst>
                    <a:ext uri="{9D8B030D-6E8A-4147-A177-3AD203B41FA5}">
                      <a16:colId xmlns:a16="http://schemas.microsoft.com/office/drawing/2014/main" val="20001"/>
                    </a:ext>
                  </a:extLst>
                </a:gridCol>
              </a:tblGrid>
              <a:tr h="189640">
                <a:tc>
                  <a:txBody>
                    <a:bodyPr/>
                    <a:lstStyle/>
                    <a:p>
                      <a:pPr marL="0" marR="0" algn="ctr">
                        <a:lnSpc>
                          <a:spcPct val="115000"/>
                        </a:lnSpc>
                        <a:spcBef>
                          <a:spcPts val="0"/>
                        </a:spcBef>
                        <a:spcAft>
                          <a:spcPts val="0"/>
                        </a:spcAft>
                      </a:pPr>
                      <a:r>
                        <a:rPr lang="en-CA" sz="1000" dirty="0">
                          <a:solidFill>
                            <a:schemeClr val="bg1"/>
                          </a:solidFill>
                          <a:effectLst/>
                          <a:latin typeface="+mn-lt"/>
                        </a:rPr>
                        <a:t>Year</a:t>
                      </a:r>
                      <a:endParaRPr lang="en-CA" sz="1000" dirty="0">
                        <a:solidFill>
                          <a:schemeClr val="bg1"/>
                        </a:solidFill>
                        <a:effectLst/>
                        <a:latin typeface="+mn-lt"/>
                        <a:ea typeface="Times New Roman"/>
                        <a:cs typeface="Times New Roman"/>
                      </a:endParaRPr>
                    </a:p>
                  </a:txBody>
                  <a:tcPr marL="34892" marR="34892" marT="13085" marB="13085" anchor="ctr">
                    <a:lnL>
                      <a:noFill/>
                    </a:lnL>
                    <a:lnR>
                      <a:noFill/>
                    </a:lnR>
                    <a:lnT w="12700"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algn="ctr">
                        <a:lnSpc>
                          <a:spcPct val="115000"/>
                        </a:lnSpc>
                        <a:spcBef>
                          <a:spcPts val="0"/>
                        </a:spcBef>
                        <a:spcAft>
                          <a:spcPts val="0"/>
                        </a:spcAft>
                      </a:pPr>
                      <a:r>
                        <a:rPr lang="en-CA" sz="1000" dirty="0">
                          <a:solidFill>
                            <a:schemeClr val="bg1"/>
                          </a:solidFill>
                          <a:effectLst/>
                          <a:latin typeface="+mn-lt"/>
                        </a:rPr>
                        <a:t>Default Rate</a:t>
                      </a:r>
                      <a:endParaRPr lang="en-CA" sz="1000" dirty="0">
                        <a:solidFill>
                          <a:schemeClr val="bg1"/>
                        </a:solidFill>
                        <a:effectLst/>
                        <a:latin typeface="+mn-lt"/>
                        <a:ea typeface="Times New Roman"/>
                        <a:cs typeface="Times New Roman"/>
                      </a:endParaRPr>
                    </a:p>
                  </a:txBody>
                  <a:tcPr marL="34892" marR="34892" marT="13085" marB="13085" anchor="ctr">
                    <a:lnL>
                      <a:noFill/>
                    </a:lnL>
                    <a:lnR>
                      <a:noFill/>
                    </a:lnR>
                    <a:lnT w="12700"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189640">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2004</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algn="ctr" fontAlgn="ctr"/>
                      <a:r>
                        <a:rPr lang="en-CA" sz="1000" b="0" i="0" u="none" strike="noStrike" dirty="0">
                          <a:solidFill>
                            <a:srgbClr val="000000"/>
                          </a:solidFill>
                          <a:effectLst/>
                          <a:latin typeface="+mn-lt"/>
                        </a:rPr>
                        <a:t>3.72%</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89640">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US" sz="1000" dirty="0">
                          <a:solidFill>
                            <a:schemeClr val="tx1">
                              <a:lumMod val="75000"/>
                            </a:schemeClr>
                          </a:solidFill>
                          <a:effectLst/>
                          <a:latin typeface="+mn-lt"/>
                          <a:ea typeface="Times New Roman"/>
                          <a:cs typeface="Times New Roman"/>
                        </a:rPr>
                        <a:t>2005</a:t>
                      </a: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algn="ctr" fontAlgn="ctr"/>
                      <a:r>
                        <a:rPr lang="en-CA" sz="1000" b="0" i="0" u="none" strike="noStrike" dirty="0">
                          <a:solidFill>
                            <a:srgbClr val="000000"/>
                          </a:solidFill>
                          <a:effectLst/>
                          <a:latin typeface="+mn-lt"/>
                        </a:rPr>
                        <a:t>3.07%</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89640">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US" sz="1000" dirty="0">
                          <a:solidFill>
                            <a:schemeClr val="tx1">
                              <a:lumMod val="75000"/>
                            </a:schemeClr>
                          </a:solidFill>
                          <a:effectLst/>
                          <a:latin typeface="+mn-lt"/>
                          <a:ea typeface="Times New Roman"/>
                          <a:cs typeface="Times New Roman"/>
                        </a:rPr>
                        <a:t>2006</a:t>
                      </a: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algn="ctr" fontAlgn="ctr"/>
                      <a:r>
                        <a:rPr lang="en-CA" sz="1000" b="0" i="0" u="none" strike="noStrike" dirty="0">
                          <a:solidFill>
                            <a:srgbClr val="000000"/>
                          </a:solidFill>
                          <a:effectLst/>
                          <a:latin typeface="+mn-lt"/>
                        </a:rPr>
                        <a:t>2.41%</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587503263"/>
                  </a:ext>
                </a:extLst>
              </a:tr>
              <a:tr h="189640">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2007</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algn="ctr" fontAlgn="ctr"/>
                      <a:r>
                        <a:rPr lang="en-CA" sz="1000" b="0" i="0" u="none" strike="noStrike">
                          <a:solidFill>
                            <a:srgbClr val="000000"/>
                          </a:solidFill>
                          <a:effectLst/>
                          <a:latin typeface="+mn-lt"/>
                        </a:rPr>
                        <a:t>2.62%</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3173861177"/>
                  </a:ext>
                </a:extLst>
              </a:tr>
              <a:tr h="189640">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2008</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algn="ctr" fontAlgn="ctr"/>
                      <a:r>
                        <a:rPr lang="en-CA" sz="1000" b="0" i="0" u="none" strike="noStrike" dirty="0">
                          <a:solidFill>
                            <a:srgbClr val="000000"/>
                          </a:solidFill>
                          <a:effectLst/>
                          <a:latin typeface="+mn-lt"/>
                        </a:rPr>
                        <a:t>3.26%</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2086964477"/>
                  </a:ext>
                </a:extLst>
              </a:tr>
              <a:tr h="189640">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2009</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algn="ctr" fontAlgn="ctr"/>
                      <a:r>
                        <a:rPr lang="en-CA" sz="1000" b="0" i="0" u="none" strike="noStrike">
                          <a:solidFill>
                            <a:srgbClr val="000000"/>
                          </a:solidFill>
                          <a:effectLst/>
                          <a:latin typeface="+mn-lt"/>
                        </a:rPr>
                        <a:t>3.35%</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174118731"/>
                  </a:ext>
                </a:extLst>
              </a:tr>
              <a:tr h="189640">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2010</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algn="ctr" fontAlgn="ctr"/>
                      <a:r>
                        <a:rPr lang="en-CA" sz="1000" b="0" i="0" u="none" strike="noStrike" dirty="0">
                          <a:solidFill>
                            <a:srgbClr val="000000"/>
                          </a:solidFill>
                          <a:effectLst/>
                          <a:latin typeface="+mn-lt"/>
                        </a:rPr>
                        <a:t>3.21%</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459586693"/>
                  </a:ext>
                </a:extLst>
              </a:tr>
              <a:tr h="189640">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2011</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algn="ctr" fontAlgn="ctr"/>
                      <a:r>
                        <a:rPr lang="en-CA" sz="1000" b="0" i="0" u="none" strike="noStrike" dirty="0">
                          <a:solidFill>
                            <a:srgbClr val="000000"/>
                          </a:solidFill>
                          <a:effectLst/>
                          <a:latin typeface="+mn-lt"/>
                        </a:rPr>
                        <a:t>2.63%</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612637173"/>
                  </a:ext>
                </a:extLst>
              </a:tr>
              <a:tr h="189640">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2012</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algn="ctr" fontAlgn="ctr"/>
                      <a:r>
                        <a:rPr lang="en-CA" sz="1000" b="0" i="0" u="none" strike="noStrike" dirty="0">
                          <a:solidFill>
                            <a:srgbClr val="000000"/>
                          </a:solidFill>
                          <a:effectLst/>
                          <a:latin typeface="+mn-lt"/>
                        </a:rPr>
                        <a:t>2.41%</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36567262"/>
                  </a:ext>
                </a:extLst>
              </a:tr>
              <a:tr h="189640">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2013</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algn="ctr" fontAlgn="ctr"/>
                      <a:r>
                        <a:rPr lang="en-CA" sz="1000" b="0" i="0" u="none" strike="noStrike" dirty="0">
                          <a:solidFill>
                            <a:srgbClr val="000000"/>
                          </a:solidFill>
                          <a:effectLst/>
                          <a:latin typeface="+mn-lt"/>
                        </a:rPr>
                        <a:t>2.29%</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47041000"/>
                  </a:ext>
                </a:extLst>
              </a:tr>
              <a:tr h="189640">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2014</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algn="ctr" fontAlgn="ctr"/>
                      <a:r>
                        <a:rPr lang="en-CA" sz="1000" b="0" i="0" u="none" strike="noStrike" dirty="0">
                          <a:solidFill>
                            <a:srgbClr val="000000"/>
                          </a:solidFill>
                          <a:effectLst/>
                          <a:latin typeface="+mn-lt"/>
                        </a:rPr>
                        <a:t>2.31%</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89640">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2015</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algn="ctr" fontAlgn="ctr"/>
                      <a:r>
                        <a:rPr lang="en-CA" sz="1000" b="0" i="0" u="none" strike="noStrike" dirty="0">
                          <a:solidFill>
                            <a:srgbClr val="000000"/>
                          </a:solidFill>
                          <a:effectLst/>
                          <a:latin typeface="+mn-lt"/>
                        </a:rPr>
                        <a:t>2.59%</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2800992801"/>
                  </a:ext>
                </a:extLst>
              </a:tr>
              <a:tr h="189640">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2016</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algn="ctr" fontAlgn="ctr"/>
                      <a:r>
                        <a:rPr lang="en-CA" sz="1000" b="0" i="0" u="none" strike="noStrike" dirty="0">
                          <a:solidFill>
                            <a:srgbClr val="000000"/>
                          </a:solidFill>
                          <a:effectLst/>
                          <a:latin typeface="+mn-lt"/>
                        </a:rPr>
                        <a:t>2.70%</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884325100"/>
                  </a:ext>
                </a:extLst>
              </a:tr>
              <a:tr h="189640">
                <a:tc>
                  <a:txBody>
                    <a:bodyPr/>
                    <a:lstStyle/>
                    <a:p>
                      <a:pPr marL="0" marR="0" algn="ctr">
                        <a:lnSpc>
                          <a:spcPct val="115000"/>
                        </a:lnSpc>
                        <a:spcBef>
                          <a:spcPts val="0"/>
                        </a:spcBef>
                        <a:spcAft>
                          <a:spcPts val="0"/>
                        </a:spcAft>
                      </a:pPr>
                      <a:r>
                        <a:rPr lang="en-CA" sz="1000" dirty="0" smtClean="0">
                          <a:solidFill>
                            <a:schemeClr val="tx1">
                              <a:lumMod val="75000"/>
                            </a:schemeClr>
                          </a:solidFill>
                          <a:effectLst/>
                          <a:latin typeface="+mn-lt"/>
                          <a:ea typeface="Times New Roman"/>
                          <a:cs typeface="Times New Roman"/>
                        </a:rPr>
                        <a:t>2017</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algn="ctr" fontAlgn="ctr"/>
                      <a:r>
                        <a:rPr lang="en-CA" sz="1000" b="0" i="0" u="none" strike="noStrike" dirty="0">
                          <a:solidFill>
                            <a:srgbClr val="000000"/>
                          </a:solidFill>
                          <a:effectLst/>
                          <a:latin typeface="+mn-lt"/>
                        </a:rPr>
                        <a:t>2.66%</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941028411"/>
                  </a:ext>
                </a:extLst>
              </a:tr>
              <a:tr h="189640">
                <a:tc>
                  <a:txBody>
                    <a:bodyPr/>
                    <a:lstStyle/>
                    <a:p>
                      <a:pPr marL="0" marR="0" algn="ctr">
                        <a:lnSpc>
                          <a:spcPct val="115000"/>
                        </a:lnSpc>
                        <a:spcBef>
                          <a:spcPts val="0"/>
                        </a:spcBef>
                        <a:spcAft>
                          <a:spcPts val="0"/>
                        </a:spcAft>
                      </a:pPr>
                      <a:r>
                        <a:rPr lang="en-US" sz="1000" dirty="0" smtClean="0">
                          <a:solidFill>
                            <a:schemeClr val="tx1">
                              <a:lumMod val="75000"/>
                            </a:schemeClr>
                          </a:solidFill>
                          <a:effectLst/>
                          <a:latin typeface="+mn-lt"/>
                          <a:ea typeface="Times New Roman"/>
                          <a:cs typeface="Times New Roman"/>
                        </a:rPr>
                        <a:t>2018</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algn="ctr" fontAlgn="ctr"/>
                      <a:r>
                        <a:rPr lang="en-CA" sz="1000" b="0" i="0" u="none" strike="noStrike" dirty="0">
                          <a:solidFill>
                            <a:srgbClr val="000000"/>
                          </a:solidFill>
                          <a:effectLst/>
                          <a:latin typeface="+mn-lt"/>
                        </a:rPr>
                        <a:t>2.40%</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3178635104"/>
                  </a:ext>
                </a:extLst>
              </a:tr>
              <a:tr h="189640">
                <a:tc>
                  <a:txBody>
                    <a:bodyPr/>
                    <a:lstStyle/>
                    <a:p>
                      <a:pPr marL="0" marR="0" algn="ctr">
                        <a:lnSpc>
                          <a:spcPct val="115000"/>
                        </a:lnSpc>
                        <a:spcBef>
                          <a:spcPts val="0"/>
                        </a:spcBef>
                        <a:spcAft>
                          <a:spcPts val="0"/>
                        </a:spcAft>
                      </a:pPr>
                      <a:r>
                        <a:rPr lang="en-CA" sz="1000" b="1" dirty="0">
                          <a:solidFill>
                            <a:schemeClr val="bg1"/>
                          </a:solidFill>
                          <a:effectLst/>
                          <a:latin typeface="+mn-lt"/>
                          <a:ea typeface="Times New Roman"/>
                          <a:cs typeface="Times New Roman"/>
                        </a:rPr>
                        <a:t>Average</a:t>
                      </a:r>
                    </a:p>
                  </a:txBody>
                  <a:tcPr marL="34892" marR="34892" marT="13085" marB="13085" anchor="ctr">
                    <a:lnL>
                      <a:noFill/>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r>
                        <a:rPr lang="en-CA" sz="1000" b="0" i="0" u="none" strike="noStrike" dirty="0">
                          <a:solidFill>
                            <a:srgbClr val="000000"/>
                          </a:solidFill>
                          <a:effectLst/>
                          <a:latin typeface="+mn-lt"/>
                        </a:rPr>
                        <a:t>2.78%</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4"/>
                  </a:ext>
                </a:extLst>
              </a:tr>
            </a:tbl>
          </a:graphicData>
        </a:graphic>
      </p:graphicFrame>
      <p:sp>
        <p:nvSpPr>
          <p:cNvPr id="4" name="Text Placeholder 3"/>
          <p:cNvSpPr>
            <a:spLocks noGrp="1"/>
          </p:cNvSpPr>
          <p:nvPr>
            <p:ph type="body" sz="quarter" idx="15"/>
          </p:nvPr>
        </p:nvSpPr>
        <p:spPr>
          <a:xfrm>
            <a:off x="354567" y="771550"/>
            <a:ext cx="8350252" cy="575603"/>
          </a:xfrm>
        </p:spPr>
        <p:txBody>
          <a:bodyPr/>
          <a:lstStyle/>
          <a:p>
            <a:r>
              <a:rPr lang="en-US" dirty="0" smtClean="0">
                <a:solidFill>
                  <a:srgbClr val="003B5C"/>
                </a:solidFill>
              </a:rPr>
              <a:t>Model predicted PDs are </a:t>
            </a:r>
            <a:r>
              <a:rPr lang="en-US" dirty="0">
                <a:solidFill>
                  <a:srgbClr val="003B5C"/>
                </a:solidFill>
              </a:rPr>
              <a:t>calibrated using </a:t>
            </a:r>
            <a:r>
              <a:rPr lang="en-US" dirty="0" smtClean="0">
                <a:solidFill>
                  <a:srgbClr val="003B5C"/>
                </a:solidFill>
              </a:rPr>
              <a:t>historical </a:t>
            </a:r>
            <a:r>
              <a:rPr lang="en-US" dirty="0">
                <a:solidFill>
                  <a:srgbClr val="003B5C"/>
                </a:solidFill>
              </a:rPr>
              <a:t>default </a:t>
            </a:r>
            <a:r>
              <a:rPr lang="en-US" dirty="0" smtClean="0">
                <a:solidFill>
                  <a:srgbClr val="003B5C"/>
                </a:solidFill>
              </a:rPr>
              <a:t>rates. PD calibration ensures that, at the risk rating level, average model PD aligns with the average historical default rate for the risk ratings.</a:t>
            </a:r>
            <a:endParaRPr lang="en-CA" dirty="0">
              <a:solidFill>
                <a:srgbClr val="003B5C"/>
              </a:solidFill>
            </a:endParaRPr>
          </a:p>
        </p:txBody>
      </p:sp>
      <p:graphicFrame>
        <p:nvGraphicFramePr>
          <p:cNvPr id="9" name="Chart 8"/>
          <p:cNvGraphicFramePr>
            <a:graphicFrameLocks/>
          </p:cNvGraphicFramePr>
          <p:nvPr>
            <p:extLst>
              <p:ext uri="{D42A27DB-BD31-4B8C-83A1-F6EECF244321}">
                <p14:modId xmlns:p14="http://schemas.microsoft.com/office/powerpoint/2010/main" val="4023596349"/>
              </p:ext>
            </p:extLst>
          </p:nvPr>
        </p:nvGraphicFramePr>
        <p:xfrm>
          <a:off x="3235084" y="1528073"/>
          <a:ext cx="5469735" cy="302500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678717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smtClean="0">
                <a:solidFill>
                  <a:schemeClr val="tx2"/>
                </a:solidFill>
              </a:rPr>
              <a:t>SBE2 </a:t>
            </a:r>
            <a:r>
              <a:rPr lang="en-US" dirty="0" err="1" smtClean="0">
                <a:solidFill>
                  <a:schemeClr val="tx2"/>
                </a:solidFill>
              </a:rPr>
              <a:t>PayNet</a:t>
            </a:r>
            <a:r>
              <a:rPr lang="en-US" dirty="0" smtClean="0">
                <a:solidFill>
                  <a:schemeClr val="tx2"/>
                </a:solidFill>
              </a:rPr>
              <a:t> Scorecard</a:t>
            </a:r>
          </a:p>
          <a:p>
            <a:r>
              <a:rPr lang="en-US" dirty="0" smtClean="0">
                <a:solidFill>
                  <a:schemeClr val="tx2"/>
                </a:solidFill>
              </a:rPr>
              <a:t>Portfolio Distribution by BRR</a:t>
            </a:r>
          </a:p>
          <a:p>
            <a:r>
              <a:rPr lang="en-US" dirty="0" smtClean="0">
                <a:solidFill>
                  <a:schemeClr val="tx2"/>
                </a:solidFill>
              </a:rPr>
              <a:t>Analysis of Overrides</a:t>
            </a:r>
          </a:p>
          <a:p>
            <a:r>
              <a:rPr lang="en-US" dirty="0" smtClean="0">
                <a:solidFill>
                  <a:schemeClr val="tx2"/>
                </a:solidFill>
              </a:rPr>
              <a:t>Backtesting Results</a:t>
            </a:r>
            <a:endParaRPr lang="en-CA" dirty="0">
              <a:solidFill>
                <a:schemeClr val="tx2"/>
              </a:solidFill>
            </a:endParaRPr>
          </a:p>
        </p:txBody>
      </p:sp>
      <p:sp>
        <p:nvSpPr>
          <p:cNvPr id="3" name="Text Placeholder 2"/>
          <p:cNvSpPr>
            <a:spLocks noGrp="1"/>
          </p:cNvSpPr>
          <p:nvPr>
            <p:ph type="body" sz="quarter" idx="12"/>
          </p:nvPr>
        </p:nvSpPr>
        <p:spPr>
          <a:xfrm>
            <a:off x="406203" y="594700"/>
            <a:ext cx="3606997" cy="522901"/>
          </a:xfrm>
        </p:spPr>
        <p:txBody>
          <a:bodyPr/>
          <a:lstStyle/>
          <a:p>
            <a:r>
              <a:rPr lang="en-US" dirty="0" smtClean="0"/>
              <a:t>SBE2 </a:t>
            </a:r>
            <a:r>
              <a:rPr lang="en-US" dirty="0" err="1" smtClean="0"/>
              <a:t>PayNet</a:t>
            </a:r>
            <a:r>
              <a:rPr lang="en-US" dirty="0" smtClean="0"/>
              <a:t> Scorecard</a:t>
            </a:r>
            <a:endParaRPr lang="en-CA" dirty="0"/>
          </a:p>
        </p:txBody>
      </p:sp>
      <p:sp>
        <p:nvSpPr>
          <p:cNvPr id="4" name="Text Placeholder 3"/>
          <p:cNvSpPr>
            <a:spLocks noGrp="1"/>
          </p:cNvSpPr>
          <p:nvPr>
            <p:ph type="body" sz="quarter" idx="14"/>
          </p:nvPr>
        </p:nvSpPr>
        <p:spPr/>
        <p:txBody>
          <a:bodyPr/>
          <a:lstStyle/>
          <a:p>
            <a:endParaRPr lang="en-CA"/>
          </a:p>
        </p:txBody>
      </p:sp>
    </p:spTree>
    <p:extLst>
      <p:ext uri="{BB962C8B-B14F-4D97-AF65-F5344CB8AC3E}">
        <p14:creationId xmlns:p14="http://schemas.microsoft.com/office/powerpoint/2010/main" val="3544368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507802" y="604"/>
            <a:ext cx="8280401" cy="397483"/>
          </a:xfrm>
        </p:spPr>
        <p:txBody>
          <a:bodyPr/>
          <a:lstStyle/>
          <a:p>
            <a:r>
              <a:rPr lang="en-US" sz="2800" dirty="0" smtClean="0"/>
              <a:t>SBE2 </a:t>
            </a:r>
            <a:r>
              <a:rPr lang="en-US" sz="2800" dirty="0" err="1" smtClean="0"/>
              <a:t>PayNet</a:t>
            </a:r>
            <a:r>
              <a:rPr lang="en-US" sz="2800" dirty="0" smtClean="0"/>
              <a:t> Scorecard</a:t>
            </a:r>
            <a:endParaRPr lang="en-CA" sz="2800" dirty="0"/>
          </a:p>
        </p:txBody>
      </p:sp>
      <p:graphicFrame>
        <p:nvGraphicFramePr>
          <p:cNvPr id="5" name="Table 4"/>
          <p:cNvGraphicFramePr>
            <a:graphicFrameLocks noGrp="1"/>
          </p:cNvGraphicFramePr>
          <p:nvPr>
            <p:extLst>
              <p:ext uri="{D42A27DB-BD31-4B8C-83A1-F6EECF244321}">
                <p14:modId xmlns:p14="http://schemas.microsoft.com/office/powerpoint/2010/main" val="1930619423"/>
              </p:ext>
            </p:extLst>
          </p:nvPr>
        </p:nvGraphicFramePr>
        <p:xfrm>
          <a:off x="507802" y="414872"/>
          <a:ext cx="5156397" cy="4339071"/>
        </p:xfrm>
        <a:graphic>
          <a:graphicData uri="http://schemas.openxmlformats.org/drawingml/2006/table">
            <a:tbl>
              <a:tblPr/>
              <a:tblGrid>
                <a:gridCol w="1459735">
                  <a:extLst>
                    <a:ext uri="{9D8B030D-6E8A-4147-A177-3AD203B41FA5}">
                      <a16:colId xmlns:a16="http://schemas.microsoft.com/office/drawing/2014/main" val="2041546833"/>
                    </a:ext>
                  </a:extLst>
                </a:gridCol>
                <a:gridCol w="1015299">
                  <a:extLst>
                    <a:ext uri="{9D8B030D-6E8A-4147-A177-3AD203B41FA5}">
                      <a16:colId xmlns:a16="http://schemas.microsoft.com/office/drawing/2014/main" val="3363018432"/>
                    </a:ext>
                  </a:extLst>
                </a:gridCol>
                <a:gridCol w="718907">
                  <a:extLst>
                    <a:ext uri="{9D8B030D-6E8A-4147-A177-3AD203B41FA5}">
                      <a16:colId xmlns:a16="http://schemas.microsoft.com/office/drawing/2014/main" val="950696760"/>
                    </a:ext>
                  </a:extLst>
                </a:gridCol>
                <a:gridCol w="655846">
                  <a:extLst>
                    <a:ext uri="{9D8B030D-6E8A-4147-A177-3AD203B41FA5}">
                      <a16:colId xmlns:a16="http://schemas.microsoft.com/office/drawing/2014/main" val="1735304950"/>
                    </a:ext>
                  </a:extLst>
                </a:gridCol>
                <a:gridCol w="589663">
                  <a:extLst>
                    <a:ext uri="{9D8B030D-6E8A-4147-A177-3AD203B41FA5}">
                      <a16:colId xmlns:a16="http://schemas.microsoft.com/office/drawing/2014/main" val="3997167229"/>
                    </a:ext>
                  </a:extLst>
                </a:gridCol>
                <a:gridCol w="347611">
                  <a:extLst>
                    <a:ext uri="{9D8B030D-6E8A-4147-A177-3AD203B41FA5}">
                      <a16:colId xmlns:a16="http://schemas.microsoft.com/office/drawing/2014/main" val="580272366"/>
                    </a:ext>
                  </a:extLst>
                </a:gridCol>
                <a:gridCol w="369336">
                  <a:extLst>
                    <a:ext uri="{9D8B030D-6E8A-4147-A177-3AD203B41FA5}">
                      <a16:colId xmlns:a16="http://schemas.microsoft.com/office/drawing/2014/main" val="2607882167"/>
                    </a:ext>
                  </a:extLst>
                </a:gridCol>
              </a:tblGrid>
              <a:tr h="171298">
                <a:tc>
                  <a:txBody>
                    <a:bodyPr/>
                    <a:lstStyle/>
                    <a:p>
                      <a:pPr algn="ctr" fontAlgn="ctr"/>
                      <a:r>
                        <a:rPr lang="en-US" sz="700" b="1" i="0" u="none" strike="noStrike" dirty="0" smtClean="0">
                          <a:solidFill>
                            <a:srgbClr val="FFFFFF"/>
                          </a:solidFill>
                          <a:effectLst/>
                          <a:latin typeface="Calibri" panose="020F0502020204030204" pitchFamily="34" charset="0"/>
                        </a:rPr>
                        <a:t>Variable</a:t>
                      </a:r>
                      <a:endParaRPr lang="en-CA" sz="700" b="1" i="0" u="none" strike="noStrike" dirty="0">
                        <a:solidFill>
                          <a:srgbClr val="FFFFFF"/>
                        </a:solidFill>
                        <a:effectLst/>
                        <a:latin typeface="Calibri" panose="020F0502020204030204" pitchFamily="34" charset="0"/>
                      </a:endParaRPr>
                    </a:p>
                  </a:txBody>
                  <a:tcPr marL="4166" marR="4166" marT="4166" marB="0" anchor="ctr">
                    <a:lnL w="12700" cap="flat" cmpd="sng" algn="ctr">
                      <a:solidFill>
                        <a:srgbClr val="009999"/>
                      </a:solidFill>
                      <a:prstDash val="solid"/>
                      <a:round/>
                      <a:headEnd type="none" w="med" len="med"/>
                      <a:tailEnd type="none" w="med" len="med"/>
                    </a:lnL>
                    <a:lnR>
                      <a:noFill/>
                    </a:lnR>
                    <a:lnT w="12700" cap="flat" cmpd="sng" algn="ctr">
                      <a:solidFill>
                        <a:srgbClr val="009999"/>
                      </a:solidFill>
                      <a:prstDash val="solid"/>
                      <a:round/>
                      <a:headEnd type="none" w="med" len="med"/>
                      <a:tailEnd type="none" w="med" len="med"/>
                    </a:lnT>
                    <a:lnB>
                      <a:noFill/>
                    </a:lnB>
                    <a:solidFill>
                      <a:srgbClr val="0097A9"/>
                    </a:solidFill>
                  </a:tcPr>
                </a:tc>
                <a:tc>
                  <a:txBody>
                    <a:bodyPr/>
                    <a:lstStyle/>
                    <a:p>
                      <a:pPr algn="ctr" fontAlgn="ctr"/>
                      <a:r>
                        <a:rPr lang="en-CA" sz="700" b="1" i="0" u="none" strike="noStrike">
                          <a:solidFill>
                            <a:srgbClr val="FFFFFF"/>
                          </a:solidFill>
                          <a:effectLst/>
                          <a:latin typeface="Calibri" panose="020F0502020204030204" pitchFamily="34" charset="0"/>
                        </a:rPr>
                        <a:t>Min Value (&gt;=)</a:t>
                      </a:r>
                    </a:p>
                  </a:txBody>
                  <a:tcPr marL="4166" marR="4166" marT="4166" marB="0" anchor="ctr">
                    <a:lnL>
                      <a:noFill/>
                    </a:lnL>
                    <a:lnR>
                      <a:noFill/>
                    </a:lnR>
                    <a:lnT w="12700" cap="flat" cmpd="sng" algn="ctr">
                      <a:solidFill>
                        <a:srgbClr val="009999"/>
                      </a:solidFill>
                      <a:prstDash val="solid"/>
                      <a:round/>
                      <a:headEnd type="none" w="med" len="med"/>
                      <a:tailEnd type="none" w="med" len="med"/>
                    </a:lnT>
                    <a:lnB>
                      <a:noFill/>
                    </a:lnB>
                    <a:solidFill>
                      <a:srgbClr val="0097A9"/>
                    </a:solidFill>
                  </a:tcPr>
                </a:tc>
                <a:tc>
                  <a:txBody>
                    <a:bodyPr/>
                    <a:lstStyle/>
                    <a:p>
                      <a:pPr algn="ctr" fontAlgn="ctr"/>
                      <a:r>
                        <a:rPr lang="en-CA" sz="700" b="1" i="0" u="none" strike="noStrike">
                          <a:solidFill>
                            <a:srgbClr val="FFFFFF"/>
                          </a:solidFill>
                          <a:effectLst/>
                          <a:latin typeface="Calibri" panose="020F0502020204030204" pitchFamily="34" charset="0"/>
                        </a:rPr>
                        <a:t>Max Value (&lt;)</a:t>
                      </a:r>
                    </a:p>
                  </a:txBody>
                  <a:tcPr marL="4166" marR="4166" marT="4166" marB="0" anchor="ctr">
                    <a:lnL>
                      <a:noFill/>
                    </a:lnL>
                    <a:lnR>
                      <a:noFill/>
                    </a:lnR>
                    <a:lnT w="12700" cap="flat" cmpd="sng" algn="ctr">
                      <a:solidFill>
                        <a:srgbClr val="009999"/>
                      </a:solidFill>
                      <a:prstDash val="solid"/>
                      <a:round/>
                      <a:headEnd type="none" w="med" len="med"/>
                      <a:tailEnd type="none" w="med" len="med"/>
                    </a:lnT>
                    <a:lnB>
                      <a:noFill/>
                    </a:lnB>
                    <a:solidFill>
                      <a:srgbClr val="0097A9"/>
                    </a:solidFill>
                  </a:tcPr>
                </a:tc>
                <a:tc>
                  <a:txBody>
                    <a:bodyPr/>
                    <a:lstStyle/>
                    <a:p>
                      <a:pPr algn="ctr" rtl="0" fontAlgn="ctr"/>
                      <a:r>
                        <a:rPr lang="en-CA" sz="700" b="1" u="none" strike="noStrike" smtClean="0">
                          <a:solidFill>
                            <a:schemeClr val="bg1"/>
                          </a:solidFill>
                          <a:effectLst/>
                        </a:rPr>
                        <a:t>Default Rate</a:t>
                      </a:r>
                      <a:endParaRPr lang="en-CA" sz="700" b="1" i="0" u="none" strike="noStrike" dirty="0">
                        <a:solidFill>
                          <a:schemeClr val="bg1"/>
                        </a:solidFill>
                        <a:effectLst/>
                        <a:latin typeface="Calibri" panose="020F0502020204030204" pitchFamily="34" charset="0"/>
                      </a:endParaRPr>
                    </a:p>
                  </a:txBody>
                  <a:tcPr marL="4840" marR="4840" marT="4840" marB="0" anchor="ctr">
                    <a:lnL>
                      <a:noFill/>
                    </a:lnL>
                    <a:lnR>
                      <a:noFill/>
                    </a:lnR>
                    <a:lnT w="12700" cap="flat" cmpd="sng" algn="ctr">
                      <a:solidFill>
                        <a:srgbClr val="009999"/>
                      </a:solidFill>
                      <a:prstDash val="solid"/>
                      <a:round/>
                      <a:headEnd type="none" w="med" len="med"/>
                      <a:tailEnd type="none" w="med" len="med"/>
                    </a:lnT>
                    <a:lnB>
                      <a:noFill/>
                    </a:lnB>
                    <a:solidFill>
                      <a:srgbClr val="0097A9"/>
                    </a:solidFill>
                  </a:tcPr>
                </a:tc>
                <a:tc>
                  <a:txBody>
                    <a:bodyPr/>
                    <a:lstStyle/>
                    <a:p>
                      <a:pPr algn="ctr" rtl="0" fontAlgn="ctr"/>
                      <a:r>
                        <a:rPr lang="en-CA" sz="700" b="1" u="none" strike="noStrike" dirty="0">
                          <a:solidFill>
                            <a:schemeClr val="bg1"/>
                          </a:solidFill>
                          <a:effectLst/>
                        </a:rPr>
                        <a:t>Percentage of Population</a:t>
                      </a:r>
                      <a:endParaRPr lang="en-CA" sz="700" b="1" i="0" u="none" strike="noStrike" dirty="0">
                        <a:solidFill>
                          <a:schemeClr val="bg1"/>
                        </a:solidFill>
                        <a:effectLst/>
                        <a:latin typeface="Calibri" panose="020F0502020204030204" pitchFamily="34" charset="0"/>
                      </a:endParaRPr>
                    </a:p>
                  </a:txBody>
                  <a:tcPr marL="4840" marR="4840" marT="4840" marB="0" anchor="ctr">
                    <a:lnL>
                      <a:noFill/>
                    </a:lnL>
                    <a:lnR>
                      <a:noFill/>
                    </a:lnR>
                    <a:lnT w="12700" cap="flat" cmpd="sng" algn="ctr">
                      <a:solidFill>
                        <a:srgbClr val="009999"/>
                      </a:solidFill>
                      <a:prstDash val="solid"/>
                      <a:round/>
                      <a:headEnd type="none" w="med" len="med"/>
                      <a:tailEnd type="none" w="med" len="med"/>
                    </a:lnT>
                    <a:lnB>
                      <a:noFill/>
                    </a:lnB>
                    <a:solidFill>
                      <a:srgbClr val="0097A9"/>
                    </a:solidFill>
                  </a:tcPr>
                </a:tc>
                <a:tc>
                  <a:txBody>
                    <a:bodyPr/>
                    <a:lstStyle/>
                    <a:p>
                      <a:pPr algn="ctr" fontAlgn="ctr"/>
                      <a:r>
                        <a:rPr lang="en-CA" sz="700" b="1" i="0" u="none" strike="noStrike" dirty="0">
                          <a:solidFill>
                            <a:srgbClr val="FFFFFF"/>
                          </a:solidFill>
                          <a:effectLst/>
                          <a:latin typeface="Calibri" panose="020F0502020204030204" pitchFamily="34" charset="0"/>
                        </a:rPr>
                        <a:t>Points</a:t>
                      </a:r>
                    </a:p>
                  </a:txBody>
                  <a:tcPr marL="4166" marR="4166" marT="4166" marB="0" anchor="ctr">
                    <a:lnL>
                      <a:noFill/>
                    </a:lnL>
                    <a:lnR>
                      <a:noFill/>
                    </a:lnR>
                    <a:lnT w="12700" cap="flat" cmpd="sng" algn="ctr">
                      <a:solidFill>
                        <a:srgbClr val="009999"/>
                      </a:solidFill>
                      <a:prstDash val="solid"/>
                      <a:round/>
                      <a:headEnd type="none" w="med" len="med"/>
                      <a:tailEnd type="none" w="med" len="med"/>
                    </a:lnT>
                    <a:lnB>
                      <a:noFill/>
                    </a:lnB>
                    <a:solidFill>
                      <a:srgbClr val="0097A9"/>
                    </a:solidFill>
                  </a:tcPr>
                </a:tc>
                <a:tc>
                  <a:txBody>
                    <a:bodyPr/>
                    <a:lstStyle/>
                    <a:p>
                      <a:pPr algn="ctr" fontAlgn="ctr"/>
                      <a:r>
                        <a:rPr lang="en-CA" sz="700" b="1" i="0" u="none" strike="noStrike" dirty="0">
                          <a:solidFill>
                            <a:srgbClr val="FFFFFF"/>
                          </a:solidFill>
                          <a:effectLst/>
                          <a:latin typeface="Calibri" panose="020F0502020204030204" pitchFamily="34" charset="0"/>
                        </a:rPr>
                        <a:t>Weight</a:t>
                      </a:r>
                    </a:p>
                  </a:txBody>
                  <a:tcPr marL="4166" marR="4166" marT="4166" marB="0" anchor="ctr">
                    <a:lnL>
                      <a:noFill/>
                    </a:lnL>
                    <a:lnR w="12700" cap="flat" cmpd="sng" algn="ctr">
                      <a:solidFill>
                        <a:srgbClr val="009999"/>
                      </a:solidFill>
                      <a:prstDash val="solid"/>
                      <a:round/>
                      <a:headEnd type="none" w="med" len="med"/>
                      <a:tailEnd type="none" w="med" len="med"/>
                    </a:lnR>
                    <a:lnT w="12700" cap="flat" cmpd="sng" algn="ctr">
                      <a:solidFill>
                        <a:srgbClr val="009999"/>
                      </a:solidFill>
                      <a:prstDash val="solid"/>
                      <a:round/>
                      <a:headEnd type="none" w="med" len="med"/>
                      <a:tailEnd type="none" w="med" len="med"/>
                    </a:lnT>
                    <a:lnB>
                      <a:noFill/>
                    </a:lnB>
                    <a:solidFill>
                      <a:srgbClr val="0097A9"/>
                    </a:solidFill>
                  </a:tcPr>
                </a:tc>
                <a:extLst>
                  <a:ext uri="{0D108BD9-81ED-4DB2-BD59-A6C34878D82A}">
                    <a16:rowId xmlns:a16="http://schemas.microsoft.com/office/drawing/2014/main" val="2140337133"/>
                  </a:ext>
                </a:extLst>
              </a:tr>
              <a:tr h="87020">
                <a:tc>
                  <a:txBody>
                    <a:bodyPr/>
                    <a:lstStyle/>
                    <a:p>
                      <a:pPr algn="ctr" fontAlgn="ctr"/>
                      <a:r>
                        <a:rPr lang="en-CA" sz="650" b="0" i="0" u="none" strike="noStrike" dirty="0">
                          <a:solidFill>
                            <a:srgbClr val="000000"/>
                          </a:solidFill>
                          <a:effectLst/>
                          <a:latin typeface="Calibri" panose="020F0502020204030204" pitchFamily="34" charset="0"/>
                        </a:rPr>
                        <a:t>Intercept </a:t>
                      </a:r>
                    </a:p>
                  </a:txBody>
                  <a:tcPr marL="4166" marR="4166" marT="4166" marB="0" anchor="ctr">
                    <a:lnL w="12700" cap="flat" cmpd="sng" algn="ctr">
                      <a:solidFill>
                        <a:srgbClr val="009999"/>
                      </a:solidFill>
                      <a:prstDash val="solid"/>
                      <a:round/>
                      <a:headEnd type="none" w="med" len="med"/>
                      <a:tailEnd type="none" w="med" len="med"/>
                    </a:lnL>
                    <a:lnR>
                      <a:noFill/>
                    </a:lnR>
                    <a:lnT>
                      <a:noFill/>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NA </a:t>
                      </a:r>
                      <a:endParaRPr lang="en-CA" sz="650" b="0" i="0" u="none" strike="noStrike" dirty="0">
                        <a:solidFill>
                          <a:srgbClr val="000000"/>
                        </a:solidFill>
                        <a:effectLst/>
                        <a:latin typeface="Calibri" panose="020F0502020204030204" pitchFamily="34" charset="0"/>
                      </a:endParaRPr>
                    </a:p>
                  </a:txBody>
                  <a:tcPr marL="4166" marR="4166" marT="4166" marB="0" anchor="ctr">
                    <a:lnL>
                      <a:noFill/>
                    </a:lnL>
                    <a:lnR>
                      <a:noFill/>
                    </a:lnR>
                    <a:lnT>
                      <a:noFill/>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US" sz="650" b="0" i="0" u="none" strike="noStrike" dirty="0" smtClean="0">
                          <a:solidFill>
                            <a:srgbClr val="000000"/>
                          </a:solidFill>
                          <a:effectLst/>
                          <a:latin typeface="Calibri" panose="020F0502020204030204" pitchFamily="34" charset="0"/>
                        </a:rPr>
                        <a:t>NA</a:t>
                      </a:r>
                      <a:endParaRPr lang="en-CA" sz="650" b="0" i="0" u="none" strike="noStrike" dirty="0">
                        <a:solidFill>
                          <a:srgbClr val="000000"/>
                        </a:solidFill>
                        <a:effectLst/>
                        <a:latin typeface="Calibri" panose="020F0502020204030204" pitchFamily="34" charset="0"/>
                      </a:endParaRPr>
                    </a:p>
                  </a:txBody>
                  <a:tcPr marL="4166" marR="4166" marT="4166" marB="0" anchor="ctr">
                    <a:lnL>
                      <a:noFill/>
                    </a:lnL>
                    <a:lnR>
                      <a:noFill/>
                    </a:lnR>
                    <a:lnT>
                      <a:noFill/>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endParaRPr lang="en-CA" sz="650" b="0" i="0" u="none" strike="noStrike" dirty="0">
                        <a:solidFill>
                          <a:srgbClr val="000000"/>
                        </a:solidFill>
                        <a:effectLst/>
                        <a:latin typeface="Calibri" panose="020F0502020204030204" pitchFamily="34" charset="0"/>
                      </a:endParaRPr>
                    </a:p>
                  </a:txBody>
                  <a:tcPr marL="4166" marR="4166" marT="4166" marB="0" anchor="ctr">
                    <a:lnL>
                      <a:noFill/>
                    </a:lnL>
                    <a:lnR>
                      <a:noFill/>
                    </a:lnR>
                    <a:lnT>
                      <a:noFill/>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endParaRPr lang="en-CA" sz="650" b="0" i="0" u="none" strike="noStrike" dirty="0">
                        <a:solidFill>
                          <a:srgbClr val="000000"/>
                        </a:solidFill>
                        <a:effectLst/>
                        <a:latin typeface="Calibri" panose="020F0502020204030204" pitchFamily="34" charset="0"/>
                      </a:endParaRPr>
                    </a:p>
                  </a:txBody>
                  <a:tcPr marL="4166" marR="4166" marT="4166" marB="0" anchor="ctr">
                    <a:lnL>
                      <a:noFill/>
                    </a:lnL>
                    <a:lnR>
                      <a:noFill/>
                    </a:lnR>
                    <a:lnT>
                      <a:noFill/>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410</a:t>
                      </a:r>
                    </a:p>
                  </a:txBody>
                  <a:tcPr marL="4166" marR="4166" marT="4166" marB="0" anchor="ctr">
                    <a:lnL>
                      <a:noFill/>
                    </a:lnL>
                    <a:lnR>
                      <a:noFill/>
                    </a:lnR>
                    <a:lnT>
                      <a:noFill/>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 </a:t>
                      </a:r>
                    </a:p>
                  </a:txBody>
                  <a:tcPr marL="4166" marR="4166" marT="4166" marB="0" anchor="ctr">
                    <a:lnL>
                      <a:noFill/>
                    </a:lnL>
                    <a:lnR w="12700" cap="flat" cmpd="sng" algn="ctr">
                      <a:solidFill>
                        <a:srgbClr val="009999"/>
                      </a:solidFill>
                      <a:prstDash val="solid"/>
                      <a:round/>
                      <a:headEnd type="none" w="med" len="med"/>
                      <a:tailEnd type="none" w="med" len="med"/>
                    </a:lnR>
                    <a:lnT>
                      <a:noFill/>
                    </a:lnT>
                    <a:lnB w="6350" cap="flat" cmpd="sng" algn="ctr">
                      <a:solidFill>
                        <a:srgbClr val="009999"/>
                      </a:solidFill>
                      <a:prstDash val="solid"/>
                      <a:round/>
                      <a:headEnd type="none" w="med" len="med"/>
                      <a:tailEnd type="none" w="med" len="med"/>
                    </a:lnB>
                    <a:solidFill>
                      <a:srgbClr val="FFFFFF"/>
                    </a:solidFill>
                  </a:tcPr>
                </a:tc>
                <a:extLst>
                  <a:ext uri="{0D108BD9-81ED-4DB2-BD59-A6C34878D82A}">
                    <a16:rowId xmlns:a16="http://schemas.microsoft.com/office/drawing/2014/main" val="506151290"/>
                  </a:ext>
                </a:extLst>
              </a:tr>
              <a:tr h="91227">
                <a:tc rowSpan="6">
                  <a:txBody>
                    <a:bodyPr/>
                    <a:lstStyle/>
                    <a:p>
                      <a:pPr algn="ctr" fontAlgn="ctr"/>
                      <a:r>
                        <a:rPr lang="en-CA" sz="650" b="0" i="0" u="none" strike="noStrike" dirty="0" err="1" smtClean="0">
                          <a:solidFill>
                            <a:srgbClr val="000000"/>
                          </a:solidFill>
                          <a:effectLst/>
                          <a:latin typeface="Calibri" panose="020F0502020204030204" pitchFamily="34" charset="0"/>
                        </a:rPr>
                        <a:t>PayNet</a:t>
                      </a:r>
                      <a:r>
                        <a:rPr lang="en-CA" sz="650" b="0" i="0" u="none" strike="noStrike" dirty="0" smtClean="0">
                          <a:solidFill>
                            <a:srgbClr val="000000"/>
                          </a:solidFill>
                          <a:effectLst/>
                          <a:latin typeface="Calibri" panose="020F0502020204030204" pitchFamily="34" charset="0"/>
                        </a:rPr>
                        <a:t> Master Score</a:t>
                      </a:r>
                      <a:endParaRPr lang="en-CA" sz="650" b="0" i="0" u="none" strike="noStrike" dirty="0">
                        <a:solidFill>
                          <a:srgbClr val="000000"/>
                        </a:solidFill>
                        <a:effectLst/>
                        <a:latin typeface="Calibri" panose="020F0502020204030204" pitchFamily="34" charset="0"/>
                      </a:endParaRPr>
                    </a:p>
                  </a:txBody>
                  <a:tcPr marL="4166" marR="4166" marT="4166" marB="0" anchor="ctr">
                    <a:lnL w="12700" cap="flat" cmpd="sng" algn="ctr">
                      <a:solidFill>
                        <a:srgbClr val="009999"/>
                      </a:solidFill>
                      <a:prstDash val="solid"/>
                      <a:round/>
                      <a:headEnd type="none" w="med" len="med"/>
                      <a:tailEnd type="none" w="med" len="med"/>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0</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630</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10.8%</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1.3%</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0</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rowSpan="6">
                  <a:txBody>
                    <a:bodyPr/>
                    <a:lstStyle/>
                    <a:p>
                      <a:pPr algn="ctr" fontAlgn="ctr"/>
                      <a:r>
                        <a:rPr lang="en-CA" sz="650" b="0" i="0" u="none" strike="noStrike" dirty="0" smtClean="0">
                          <a:solidFill>
                            <a:srgbClr val="000000"/>
                          </a:solidFill>
                          <a:effectLst/>
                          <a:latin typeface="Calibri" panose="020F0502020204030204" pitchFamily="34" charset="0"/>
                        </a:rPr>
                        <a:t>5.10%</a:t>
                      </a:r>
                      <a:endParaRPr lang="en-CA" sz="650" b="0" i="0" u="none" strike="noStrike" dirty="0">
                        <a:solidFill>
                          <a:srgbClr val="000000"/>
                        </a:solidFill>
                        <a:effectLst/>
                        <a:latin typeface="Calibri" panose="020F0502020204030204" pitchFamily="34" charset="0"/>
                      </a:endParaRPr>
                    </a:p>
                  </a:txBody>
                  <a:tcPr marL="4166" marR="4166" marT="4166" marB="0" anchor="ctr">
                    <a:lnL>
                      <a:noFill/>
                    </a:lnL>
                    <a:lnR w="12700" cap="flat" cmpd="sng" algn="ctr">
                      <a:solidFill>
                        <a:srgbClr val="009999"/>
                      </a:solidFill>
                      <a:prstDash val="solid"/>
                      <a:round/>
                      <a:headEnd type="none" w="med" len="med"/>
                      <a:tailEnd type="none" w="med" len="med"/>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extLst>
                  <a:ext uri="{0D108BD9-81ED-4DB2-BD59-A6C34878D82A}">
                    <a16:rowId xmlns:a16="http://schemas.microsoft.com/office/drawing/2014/main" val="3652376217"/>
                  </a:ext>
                </a:extLst>
              </a:tr>
              <a:tr h="91227">
                <a:tc vMerge="1">
                  <a:txBody>
                    <a:bodyPr/>
                    <a:lstStyle/>
                    <a:p>
                      <a:endParaRPr lang="en-CA"/>
                    </a:p>
                  </a:txBody>
                  <a:tcPr/>
                </a:tc>
                <a:tc>
                  <a:txBody>
                    <a:bodyPr/>
                    <a:lstStyle/>
                    <a:p>
                      <a:pPr algn="ctr" fontAlgn="ctr"/>
                      <a:r>
                        <a:rPr lang="en-CA" sz="650" b="0" i="0" u="none" strike="noStrike">
                          <a:solidFill>
                            <a:srgbClr val="000000"/>
                          </a:solidFill>
                          <a:effectLst/>
                          <a:latin typeface="Calibri" panose="020F0502020204030204" pitchFamily="34" charset="0"/>
                        </a:rPr>
                        <a:t>630</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650</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5.5%</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3.6%</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4</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vMerge="1">
                  <a:txBody>
                    <a:bodyPr/>
                    <a:lstStyle/>
                    <a:p>
                      <a:endParaRPr lang="en-CA"/>
                    </a:p>
                  </a:txBody>
                  <a:tcPr/>
                </a:tc>
                <a:extLst>
                  <a:ext uri="{0D108BD9-81ED-4DB2-BD59-A6C34878D82A}">
                    <a16:rowId xmlns:a16="http://schemas.microsoft.com/office/drawing/2014/main" val="4093890104"/>
                  </a:ext>
                </a:extLst>
              </a:tr>
              <a:tr h="91227">
                <a:tc vMerge="1">
                  <a:txBody>
                    <a:bodyPr/>
                    <a:lstStyle/>
                    <a:p>
                      <a:endParaRPr lang="en-CA"/>
                    </a:p>
                  </a:txBody>
                  <a:tcPr/>
                </a:tc>
                <a:tc>
                  <a:txBody>
                    <a:bodyPr/>
                    <a:lstStyle/>
                    <a:p>
                      <a:pPr algn="ctr" fontAlgn="ctr"/>
                      <a:r>
                        <a:rPr lang="en-CA" sz="650" b="0" i="0" u="none" strike="noStrike">
                          <a:solidFill>
                            <a:srgbClr val="000000"/>
                          </a:solidFill>
                          <a:effectLst/>
                          <a:latin typeface="Calibri" panose="020F0502020204030204" pitchFamily="34" charset="0"/>
                        </a:rPr>
                        <a:t>650 or Missing</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678</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2.8%</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24.5%</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8</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vMerge="1">
                  <a:txBody>
                    <a:bodyPr/>
                    <a:lstStyle/>
                    <a:p>
                      <a:endParaRPr lang="en-CA"/>
                    </a:p>
                  </a:txBody>
                  <a:tcPr/>
                </a:tc>
                <a:extLst>
                  <a:ext uri="{0D108BD9-81ED-4DB2-BD59-A6C34878D82A}">
                    <a16:rowId xmlns:a16="http://schemas.microsoft.com/office/drawing/2014/main" val="1220061427"/>
                  </a:ext>
                </a:extLst>
              </a:tr>
              <a:tr h="91227">
                <a:tc vMerge="1">
                  <a:txBody>
                    <a:bodyPr/>
                    <a:lstStyle/>
                    <a:p>
                      <a:endParaRPr lang="en-CA"/>
                    </a:p>
                  </a:txBody>
                  <a:tcPr/>
                </a:tc>
                <a:tc>
                  <a:txBody>
                    <a:bodyPr/>
                    <a:lstStyle/>
                    <a:p>
                      <a:pPr algn="ctr" fontAlgn="ctr"/>
                      <a:r>
                        <a:rPr lang="en-CA" sz="650" b="0" i="0" u="none" strike="noStrike">
                          <a:solidFill>
                            <a:srgbClr val="000000"/>
                          </a:solidFill>
                          <a:effectLst/>
                          <a:latin typeface="Calibri" panose="020F0502020204030204" pitchFamily="34" charset="0"/>
                        </a:rPr>
                        <a:t>678</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695</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2.3%</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30.1%</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10</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vMerge="1">
                  <a:txBody>
                    <a:bodyPr/>
                    <a:lstStyle/>
                    <a:p>
                      <a:endParaRPr lang="en-CA"/>
                    </a:p>
                  </a:txBody>
                  <a:tcPr/>
                </a:tc>
                <a:extLst>
                  <a:ext uri="{0D108BD9-81ED-4DB2-BD59-A6C34878D82A}">
                    <a16:rowId xmlns:a16="http://schemas.microsoft.com/office/drawing/2014/main" val="3816469984"/>
                  </a:ext>
                </a:extLst>
              </a:tr>
              <a:tr h="91227">
                <a:tc vMerge="1">
                  <a:txBody>
                    <a:bodyPr/>
                    <a:lstStyle/>
                    <a:p>
                      <a:endParaRPr lang="en-CA"/>
                    </a:p>
                  </a:txBody>
                  <a:tcPr/>
                </a:tc>
                <a:tc>
                  <a:txBody>
                    <a:bodyPr/>
                    <a:lstStyle/>
                    <a:p>
                      <a:pPr algn="ctr" fontAlgn="ctr"/>
                      <a:r>
                        <a:rPr lang="en-CA" sz="650" b="0" i="0" u="none" strike="noStrike">
                          <a:solidFill>
                            <a:srgbClr val="000000"/>
                          </a:solidFill>
                          <a:effectLst/>
                          <a:latin typeface="Calibri" panose="020F0502020204030204" pitchFamily="34" charset="0"/>
                        </a:rPr>
                        <a:t>695</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714</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1.8%</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25.1%</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11</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vMerge="1">
                  <a:txBody>
                    <a:bodyPr/>
                    <a:lstStyle/>
                    <a:p>
                      <a:endParaRPr lang="en-CA"/>
                    </a:p>
                  </a:txBody>
                  <a:tcPr/>
                </a:tc>
                <a:extLst>
                  <a:ext uri="{0D108BD9-81ED-4DB2-BD59-A6C34878D82A}">
                    <a16:rowId xmlns:a16="http://schemas.microsoft.com/office/drawing/2014/main" val="355147814"/>
                  </a:ext>
                </a:extLst>
              </a:tr>
              <a:tr h="91227">
                <a:tc vMerge="1">
                  <a:txBody>
                    <a:bodyPr/>
                    <a:lstStyle/>
                    <a:p>
                      <a:endParaRPr lang="en-CA"/>
                    </a:p>
                  </a:txBody>
                  <a:tcPr/>
                </a:tc>
                <a:tc>
                  <a:txBody>
                    <a:bodyPr/>
                    <a:lstStyle/>
                    <a:p>
                      <a:pPr algn="ctr" fontAlgn="ctr"/>
                      <a:r>
                        <a:rPr lang="en-CA" sz="650" b="0" i="0" u="none" strike="noStrike">
                          <a:solidFill>
                            <a:srgbClr val="000000"/>
                          </a:solidFill>
                          <a:effectLst/>
                          <a:latin typeface="Calibri" panose="020F0502020204030204" pitchFamily="34" charset="0"/>
                        </a:rPr>
                        <a:t>714</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 </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1.3%</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15.4%</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13</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vMerge="1">
                  <a:txBody>
                    <a:bodyPr/>
                    <a:lstStyle/>
                    <a:p>
                      <a:endParaRPr lang="en-CA"/>
                    </a:p>
                  </a:txBody>
                  <a:tcPr/>
                </a:tc>
                <a:extLst>
                  <a:ext uri="{0D108BD9-81ED-4DB2-BD59-A6C34878D82A}">
                    <a16:rowId xmlns:a16="http://schemas.microsoft.com/office/drawing/2014/main" val="1886686406"/>
                  </a:ext>
                </a:extLst>
              </a:tr>
              <a:tr h="91227">
                <a:tc rowSpan="5">
                  <a:txBody>
                    <a:bodyPr/>
                    <a:lstStyle/>
                    <a:p>
                      <a:pPr algn="ctr" fontAlgn="ctr"/>
                      <a:r>
                        <a:rPr lang="en-US" sz="650" b="0" i="0" u="none" strike="noStrike" dirty="0">
                          <a:solidFill>
                            <a:srgbClr val="000000"/>
                          </a:solidFill>
                          <a:effectLst/>
                          <a:latin typeface="Calibri" panose="020F0502020204030204" pitchFamily="34" charset="0"/>
                        </a:rPr>
                        <a:t>Outstanding-balance-weighted average days past due for the last 24 months, for obligations originated in the last 5 years only (both open and closed)</a:t>
                      </a:r>
                    </a:p>
                  </a:txBody>
                  <a:tcPr marL="4166" marR="4166" marT="4166" marB="0" anchor="ctr">
                    <a:lnL w="12700" cap="flat" cmpd="sng" algn="ctr">
                      <a:solidFill>
                        <a:srgbClr val="009999"/>
                      </a:solidFill>
                      <a:prstDash val="solid"/>
                      <a:round/>
                      <a:headEnd type="none" w="med" len="med"/>
                      <a:tailEnd type="none" w="med" len="med"/>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0</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0.02</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1.9%</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82.3%</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21</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rowSpan="5">
                  <a:txBody>
                    <a:bodyPr/>
                    <a:lstStyle/>
                    <a:p>
                      <a:pPr algn="ctr" fontAlgn="ctr"/>
                      <a:r>
                        <a:rPr lang="en-CA" sz="650" b="0" i="0" u="none" strike="noStrike" dirty="0">
                          <a:solidFill>
                            <a:srgbClr val="000000"/>
                          </a:solidFill>
                          <a:effectLst/>
                          <a:latin typeface="Calibri" panose="020F0502020204030204" pitchFamily="34" charset="0"/>
                        </a:rPr>
                        <a:t>8.20%</a:t>
                      </a:r>
                    </a:p>
                  </a:txBody>
                  <a:tcPr marL="4166" marR="4166" marT="4166" marB="0" anchor="ctr">
                    <a:lnL>
                      <a:noFill/>
                    </a:lnL>
                    <a:lnR w="12700" cap="flat" cmpd="sng" algn="ctr">
                      <a:solidFill>
                        <a:srgbClr val="009999"/>
                      </a:solidFill>
                      <a:prstDash val="solid"/>
                      <a:round/>
                      <a:headEnd type="none" w="med" len="med"/>
                      <a:tailEnd type="none" w="med" len="med"/>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extLst>
                  <a:ext uri="{0D108BD9-81ED-4DB2-BD59-A6C34878D82A}">
                    <a16:rowId xmlns:a16="http://schemas.microsoft.com/office/drawing/2014/main" val="503302821"/>
                  </a:ext>
                </a:extLst>
              </a:tr>
              <a:tr h="91227">
                <a:tc vMerge="1">
                  <a:txBody>
                    <a:bodyPr/>
                    <a:lstStyle/>
                    <a:p>
                      <a:endParaRPr lang="en-CA"/>
                    </a:p>
                  </a:txBody>
                  <a:tcPr/>
                </a:tc>
                <a:tc>
                  <a:txBody>
                    <a:bodyPr/>
                    <a:lstStyle/>
                    <a:p>
                      <a:pPr algn="ctr" fontAlgn="ctr"/>
                      <a:r>
                        <a:rPr lang="en-CA" sz="650" b="0" i="0" u="none" strike="noStrike">
                          <a:solidFill>
                            <a:srgbClr val="000000"/>
                          </a:solidFill>
                          <a:effectLst/>
                          <a:latin typeface="Calibri" panose="020F0502020204030204" pitchFamily="34" charset="0"/>
                        </a:rPr>
                        <a:t>0.02 or Missing</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0.4</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2.5%</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11.2%</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18</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vMerge="1">
                  <a:txBody>
                    <a:bodyPr/>
                    <a:lstStyle/>
                    <a:p>
                      <a:endParaRPr lang="en-CA"/>
                    </a:p>
                  </a:txBody>
                  <a:tcPr/>
                </a:tc>
                <a:extLst>
                  <a:ext uri="{0D108BD9-81ED-4DB2-BD59-A6C34878D82A}">
                    <a16:rowId xmlns:a16="http://schemas.microsoft.com/office/drawing/2014/main" val="2925456032"/>
                  </a:ext>
                </a:extLst>
              </a:tr>
              <a:tr h="91227">
                <a:tc vMerge="1">
                  <a:txBody>
                    <a:bodyPr/>
                    <a:lstStyle/>
                    <a:p>
                      <a:endParaRPr lang="en-CA"/>
                    </a:p>
                  </a:txBody>
                  <a:tcPr/>
                </a:tc>
                <a:tc>
                  <a:txBody>
                    <a:bodyPr/>
                    <a:lstStyle/>
                    <a:p>
                      <a:pPr algn="ctr" fontAlgn="ctr"/>
                      <a:r>
                        <a:rPr lang="en-CA" sz="650" b="0" i="0" u="none" strike="noStrike" dirty="0">
                          <a:solidFill>
                            <a:srgbClr val="000000"/>
                          </a:solidFill>
                          <a:effectLst/>
                          <a:latin typeface="Calibri" panose="020F0502020204030204" pitchFamily="34" charset="0"/>
                        </a:rPr>
                        <a:t>0.4</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1.48</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4.8%</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2.0%</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11</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vMerge="1">
                  <a:txBody>
                    <a:bodyPr/>
                    <a:lstStyle/>
                    <a:p>
                      <a:endParaRPr lang="en-CA"/>
                    </a:p>
                  </a:txBody>
                  <a:tcPr/>
                </a:tc>
                <a:extLst>
                  <a:ext uri="{0D108BD9-81ED-4DB2-BD59-A6C34878D82A}">
                    <a16:rowId xmlns:a16="http://schemas.microsoft.com/office/drawing/2014/main" val="1120054466"/>
                  </a:ext>
                </a:extLst>
              </a:tr>
              <a:tr h="91227">
                <a:tc vMerge="1">
                  <a:txBody>
                    <a:bodyPr/>
                    <a:lstStyle/>
                    <a:p>
                      <a:endParaRPr lang="en-CA"/>
                    </a:p>
                  </a:txBody>
                  <a:tcPr/>
                </a:tc>
                <a:tc>
                  <a:txBody>
                    <a:bodyPr/>
                    <a:lstStyle/>
                    <a:p>
                      <a:pPr algn="ctr" fontAlgn="ctr"/>
                      <a:r>
                        <a:rPr lang="en-CA" sz="650" b="0" i="0" u="none" strike="noStrike">
                          <a:solidFill>
                            <a:srgbClr val="000000"/>
                          </a:solidFill>
                          <a:effectLst/>
                          <a:latin typeface="Calibri" panose="020F0502020204030204" pitchFamily="34" charset="0"/>
                        </a:rPr>
                        <a:t>1.48</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30</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8.1%</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4.2%</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4</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vMerge="1">
                  <a:txBody>
                    <a:bodyPr/>
                    <a:lstStyle/>
                    <a:p>
                      <a:endParaRPr lang="en-CA"/>
                    </a:p>
                  </a:txBody>
                  <a:tcPr/>
                </a:tc>
                <a:extLst>
                  <a:ext uri="{0D108BD9-81ED-4DB2-BD59-A6C34878D82A}">
                    <a16:rowId xmlns:a16="http://schemas.microsoft.com/office/drawing/2014/main" val="4289401761"/>
                  </a:ext>
                </a:extLst>
              </a:tr>
              <a:tr h="91227">
                <a:tc vMerge="1">
                  <a:txBody>
                    <a:bodyPr/>
                    <a:lstStyle/>
                    <a:p>
                      <a:endParaRPr lang="en-CA"/>
                    </a:p>
                  </a:txBody>
                  <a:tcPr/>
                </a:tc>
                <a:tc>
                  <a:txBody>
                    <a:bodyPr/>
                    <a:lstStyle/>
                    <a:p>
                      <a:pPr algn="ctr" fontAlgn="ctr"/>
                      <a:r>
                        <a:rPr lang="en-CA" sz="650" b="0" i="0" u="none" strike="noStrike" dirty="0">
                          <a:solidFill>
                            <a:srgbClr val="000000"/>
                          </a:solidFill>
                          <a:effectLst/>
                          <a:latin typeface="Calibri" panose="020F0502020204030204" pitchFamily="34" charset="0"/>
                        </a:rPr>
                        <a:t>30</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 </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11.5%</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0.4%</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0</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vMerge="1">
                  <a:txBody>
                    <a:bodyPr/>
                    <a:lstStyle/>
                    <a:p>
                      <a:endParaRPr lang="en-CA"/>
                    </a:p>
                  </a:txBody>
                  <a:tcPr/>
                </a:tc>
                <a:extLst>
                  <a:ext uri="{0D108BD9-81ED-4DB2-BD59-A6C34878D82A}">
                    <a16:rowId xmlns:a16="http://schemas.microsoft.com/office/drawing/2014/main" val="2411356429"/>
                  </a:ext>
                </a:extLst>
              </a:tr>
              <a:tr h="91227">
                <a:tc rowSpan="4">
                  <a:txBody>
                    <a:bodyPr/>
                    <a:lstStyle/>
                    <a:p>
                      <a:pPr algn="ctr" fontAlgn="ctr"/>
                      <a:r>
                        <a:rPr lang="en-US" sz="650" b="0" i="0" u="none" strike="noStrike" dirty="0">
                          <a:solidFill>
                            <a:srgbClr val="000000"/>
                          </a:solidFill>
                          <a:effectLst/>
                          <a:latin typeface="Calibri" panose="020F0502020204030204" pitchFamily="34" charset="0"/>
                        </a:rPr>
                        <a:t>Percent of Current Delinquent Amount</a:t>
                      </a:r>
                    </a:p>
                  </a:txBody>
                  <a:tcPr marL="4166" marR="4166" marT="4166" marB="0" anchor="ctr">
                    <a:lnL w="12700" cap="flat" cmpd="sng" algn="ctr">
                      <a:solidFill>
                        <a:srgbClr val="009999"/>
                      </a:solidFill>
                      <a:prstDash val="solid"/>
                      <a:round/>
                      <a:headEnd type="none" w="med" len="med"/>
                      <a:tailEnd type="none" w="med" len="med"/>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New Customer</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 </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2.8%</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7.2%</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51</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rowSpan="4">
                  <a:txBody>
                    <a:bodyPr/>
                    <a:lstStyle/>
                    <a:p>
                      <a:pPr algn="ctr" fontAlgn="ctr"/>
                      <a:r>
                        <a:rPr lang="en-CA" sz="650" b="0" i="0" u="none" strike="noStrike">
                          <a:solidFill>
                            <a:srgbClr val="000000"/>
                          </a:solidFill>
                          <a:effectLst/>
                          <a:latin typeface="Calibri" panose="020F0502020204030204" pitchFamily="34" charset="0"/>
                        </a:rPr>
                        <a:t>22.30%</a:t>
                      </a:r>
                    </a:p>
                  </a:txBody>
                  <a:tcPr marL="4166" marR="4166" marT="4166" marB="0" anchor="ctr">
                    <a:lnL>
                      <a:noFill/>
                    </a:lnL>
                    <a:lnR w="12700" cap="flat" cmpd="sng" algn="ctr">
                      <a:solidFill>
                        <a:srgbClr val="009999"/>
                      </a:solidFill>
                      <a:prstDash val="solid"/>
                      <a:round/>
                      <a:headEnd type="none" w="med" len="med"/>
                      <a:tailEnd type="none" w="med" len="med"/>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extLst>
                  <a:ext uri="{0D108BD9-81ED-4DB2-BD59-A6C34878D82A}">
                    <a16:rowId xmlns:a16="http://schemas.microsoft.com/office/drawing/2014/main" val="612034564"/>
                  </a:ext>
                </a:extLst>
              </a:tr>
              <a:tr h="91227">
                <a:tc vMerge="1">
                  <a:txBody>
                    <a:bodyPr/>
                    <a:lstStyle/>
                    <a:p>
                      <a:endParaRPr lang="en-CA"/>
                    </a:p>
                  </a:txBody>
                  <a:tcPr/>
                </a:tc>
                <a:tc>
                  <a:txBody>
                    <a:bodyPr/>
                    <a:lstStyle/>
                    <a:p>
                      <a:pPr algn="ctr" fontAlgn="ctr"/>
                      <a:r>
                        <a:rPr lang="en-CA" sz="650" b="0" i="0" u="none" strike="noStrike">
                          <a:solidFill>
                            <a:srgbClr val="000000"/>
                          </a:solidFill>
                          <a:effectLst/>
                          <a:latin typeface="Calibri" panose="020F0502020204030204" pitchFamily="34" charset="0"/>
                        </a:rPr>
                        <a:t>0</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 </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2.0%</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91.7%</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57</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vMerge="1">
                  <a:txBody>
                    <a:bodyPr/>
                    <a:lstStyle/>
                    <a:p>
                      <a:endParaRPr lang="en-CA"/>
                    </a:p>
                  </a:txBody>
                  <a:tcPr/>
                </a:tc>
                <a:extLst>
                  <a:ext uri="{0D108BD9-81ED-4DB2-BD59-A6C34878D82A}">
                    <a16:rowId xmlns:a16="http://schemas.microsoft.com/office/drawing/2014/main" val="1530010044"/>
                  </a:ext>
                </a:extLst>
              </a:tr>
              <a:tr h="91227">
                <a:tc vMerge="1">
                  <a:txBody>
                    <a:bodyPr/>
                    <a:lstStyle/>
                    <a:p>
                      <a:endParaRPr lang="en-CA"/>
                    </a:p>
                  </a:txBody>
                  <a:tcPr/>
                </a:tc>
                <a:tc>
                  <a:txBody>
                    <a:bodyPr/>
                    <a:lstStyle/>
                    <a:p>
                      <a:pPr algn="ctr" fontAlgn="ctr"/>
                      <a:r>
                        <a:rPr lang="en-CA" sz="650" b="0" i="0" u="none" strike="noStrike" dirty="0" smtClean="0">
                          <a:solidFill>
                            <a:srgbClr val="000000"/>
                          </a:solidFill>
                          <a:effectLst/>
                          <a:latin typeface="Calibri" panose="020F0502020204030204" pitchFamily="34" charset="0"/>
                        </a:rPr>
                        <a:t>&gt; 0</a:t>
                      </a:r>
                      <a:endParaRPr lang="en-CA" sz="650" b="0" i="0" u="none" strike="noStrike" dirty="0">
                        <a:solidFill>
                          <a:srgbClr val="000000"/>
                        </a:solidFill>
                        <a:effectLst/>
                        <a:latin typeface="Calibri" panose="020F0502020204030204" pitchFamily="34" charset="0"/>
                      </a:endParaRP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0.05</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28.0%</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0.7%</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8</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vMerge="1">
                  <a:txBody>
                    <a:bodyPr/>
                    <a:lstStyle/>
                    <a:p>
                      <a:endParaRPr lang="en-CA"/>
                    </a:p>
                  </a:txBody>
                  <a:tcPr/>
                </a:tc>
                <a:extLst>
                  <a:ext uri="{0D108BD9-81ED-4DB2-BD59-A6C34878D82A}">
                    <a16:rowId xmlns:a16="http://schemas.microsoft.com/office/drawing/2014/main" val="1803353456"/>
                  </a:ext>
                </a:extLst>
              </a:tr>
              <a:tr h="91227">
                <a:tc vMerge="1">
                  <a:txBody>
                    <a:bodyPr/>
                    <a:lstStyle/>
                    <a:p>
                      <a:endParaRPr lang="en-CA"/>
                    </a:p>
                  </a:txBody>
                  <a:tcPr/>
                </a:tc>
                <a:tc>
                  <a:txBody>
                    <a:bodyPr/>
                    <a:lstStyle/>
                    <a:p>
                      <a:pPr algn="ctr" fontAlgn="ctr"/>
                      <a:r>
                        <a:rPr lang="en-CA" sz="650" b="0" i="0" u="none" strike="noStrike">
                          <a:solidFill>
                            <a:srgbClr val="000000"/>
                          </a:solidFill>
                          <a:effectLst/>
                          <a:latin typeface="Calibri" panose="020F0502020204030204" pitchFamily="34" charset="0"/>
                        </a:rPr>
                        <a:t>0.05</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 </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38.5%</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0.4%</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0</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vMerge="1">
                  <a:txBody>
                    <a:bodyPr/>
                    <a:lstStyle/>
                    <a:p>
                      <a:endParaRPr lang="en-CA"/>
                    </a:p>
                  </a:txBody>
                  <a:tcPr/>
                </a:tc>
                <a:extLst>
                  <a:ext uri="{0D108BD9-81ED-4DB2-BD59-A6C34878D82A}">
                    <a16:rowId xmlns:a16="http://schemas.microsoft.com/office/drawing/2014/main" val="3803769824"/>
                  </a:ext>
                </a:extLst>
              </a:tr>
              <a:tr h="91227">
                <a:tc rowSpan="5">
                  <a:txBody>
                    <a:bodyPr/>
                    <a:lstStyle/>
                    <a:p>
                      <a:pPr algn="ctr" fontAlgn="ctr"/>
                      <a:r>
                        <a:rPr lang="en-US" sz="650" b="0" i="0" u="none" strike="noStrike" dirty="0">
                          <a:solidFill>
                            <a:srgbClr val="000000"/>
                          </a:solidFill>
                          <a:effectLst/>
                          <a:latin typeface="Calibri" panose="020F0502020204030204" pitchFamily="34" charset="0"/>
                        </a:rPr>
                        <a:t>Maximum Delinquency in Last 12 Months</a:t>
                      </a:r>
                    </a:p>
                  </a:txBody>
                  <a:tcPr marL="4166" marR="4166" marT="4166" marB="0" anchor="ctr">
                    <a:lnL w="12700" cap="flat" cmpd="sng" algn="ctr">
                      <a:solidFill>
                        <a:srgbClr val="009999"/>
                      </a:solidFill>
                      <a:prstDash val="solid"/>
                      <a:round/>
                      <a:headEnd type="none" w="med" len="med"/>
                      <a:tailEnd type="none" w="med" len="med"/>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0</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6</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1.3%</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69.0%</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56</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rowSpan="5">
                  <a:txBody>
                    <a:bodyPr/>
                    <a:lstStyle/>
                    <a:p>
                      <a:pPr algn="ctr" fontAlgn="ctr"/>
                      <a:r>
                        <a:rPr lang="en-CA" sz="650" b="0" i="0" u="none" strike="noStrike" dirty="0">
                          <a:solidFill>
                            <a:srgbClr val="000000"/>
                          </a:solidFill>
                          <a:effectLst/>
                          <a:latin typeface="Calibri" panose="020F0502020204030204" pitchFamily="34" charset="0"/>
                        </a:rPr>
                        <a:t>21.90%</a:t>
                      </a:r>
                    </a:p>
                  </a:txBody>
                  <a:tcPr marL="4166" marR="4166" marT="4166" marB="0" anchor="ctr">
                    <a:lnL>
                      <a:noFill/>
                    </a:lnL>
                    <a:lnR w="12700" cap="flat" cmpd="sng" algn="ctr">
                      <a:solidFill>
                        <a:srgbClr val="009999"/>
                      </a:solidFill>
                      <a:prstDash val="solid"/>
                      <a:round/>
                      <a:headEnd type="none" w="med" len="med"/>
                      <a:tailEnd type="none" w="med" len="med"/>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extLst>
                  <a:ext uri="{0D108BD9-81ED-4DB2-BD59-A6C34878D82A}">
                    <a16:rowId xmlns:a16="http://schemas.microsoft.com/office/drawing/2014/main" val="3655697310"/>
                  </a:ext>
                </a:extLst>
              </a:tr>
              <a:tr h="91227">
                <a:tc vMerge="1">
                  <a:txBody>
                    <a:bodyPr/>
                    <a:lstStyle/>
                    <a:p>
                      <a:endParaRPr lang="en-CA"/>
                    </a:p>
                  </a:txBody>
                  <a:tcPr/>
                </a:tc>
                <a:tc>
                  <a:txBody>
                    <a:bodyPr/>
                    <a:lstStyle/>
                    <a:p>
                      <a:pPr algn="ctr" fontAlgn="ctr"/>
                      <a:r>
                        <a:rPr lang="en-CA" sz="650" b="0" i="0" u="none" strike="noStrike" dirty="0">
                          <a:solidFill>
                            <a:srgbClr val="000000"/>
                          </a:solidFill>
                          <a:effectLst/>
                          <a:latin typeface="Calibri" panose="020F0502020204030204" pitchFamily="34" charset="0"/>
                        </a:rPr>
                        <a:t>New Customer</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 </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2.8%</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7.2%</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41</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vMerge="1">
                  <a:txBody>
                    <a:bodyPr/>
                    <a:lstStyle/>
                    <a:p>
                      <a:endParaRPr lang="en-CA"/>
                    </a:p>
                  </a:txBody>
                  <a:tcPr/>
                </a:tc>
                <a:extLst>
                  <a:ext uri="{0D108BD9-81ED-4DB2-BD59-A6C34878D82A}">
                    <a16:rowId xmlns:a16="http://schemas.microsoft.com/office/drawing/2014/main" val="836268906"/>
                  </a:ext>
                </a:extLst>
              </a:tr>
              <a:tr h="91227">
                <a:tc vMerge="1">
                  <a:txBody>
                    <a:bodyPr/>
                    <a:lstStyle/>
                    <a:p>
                      <a:endParaRPr lang="en-CA"/>
                    </a:p>
                  </a:txBody>
                  <a:tcPr/>
                </a:tc>
                <a:tc>
                  <a:txBody>
                    <a:bodyPr/>
                    <a:lstStyle/>
                    <a:p>
                      <a:pPr algn="ctr" fontAlgn="ctr"/>
                      <a:r>
                        <a:rPr lang="en-CA" sz="650" b="0" i="0" u="none" strike="noStrike" dirty="0">
                          <a:solidFill>
                            <a:srgbClr val="000000"/>
                          </a:solidFill>
                          <a:effectLst/>
                          <a:latin typeface="Calibri" panose="020F0502020204030204" pitchFamily="34" charset="0"/>
                        </a:rPr>
                        <a:t>6</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30</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3.1%</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17.3%</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39</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vMerge="1">
                  <a:txBody>
                    <a:bodyPr/>
                    <a:lstStyle/>
                    <a:p>
                      <a:endParaRPr lang="en-CA"/>
                    </a:p>
                  </a:txBody>
                  <a:tcPr/>
                </a:tc>
                <a:extLst>
                  <a:ext uri="{0D108BD9-81ED-4DB2-BD59-A6C34878D82A}">
                    <a16:rowId xmlns:a16="http://schemas.microsoft.com/office/drawing/2014/main" val="2662711020"/>
                  </a:ext>
                </a:extLst>
              </a:tr>
              <a:tr h="91227">
                <a:tc vMerge="1">
                  <a:txBody>
                    <a:bodyPr/>
                    <a:lstStyle/>
                    <a:p>
                      <a:endParaRPr lang="en-CA"/>
                    </a:p>
                  </a:txBody>
                  <a:tcPr/>
                </a:tc>
                <a:tc>
                  <a:txBody>
                    <a:bodyPr/>
                    <a:lstStyle/>
                    <a:p>
                      <a:pPr algn="ctr" fontAlgn="ctr"/>
                      <a:r>
                        <a:rPr lang="en-CA" sz="650" b="0" i="0" u="none" strike="noStrike" dirty="0">
                          <a:solidFill>
                            <a:srgbClr val="000000"/>
                          </a:solidFill>
                          <a:effectLst/>
                          <a:latin typeface="Calibri" panose="020F0502020204030204" pitchFamily="34" charset="0"/>
                        </a:rPr>
                        <a:t>30</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60</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8.6%</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5.2%</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19</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vMerge="1">
                  <a:txBody>
                    <a:bodyPr/>
                    <a:lstStyle/>
                    <a:p>
                      <a:endParaRPr lang="en-CA"/>
                    </a:p>
                  </a:txBody>
                  <a:tcPr/>
                </a:tc>
                <a:extLst>
                  <a:ext uri="{0D108BD9-81ED-4DB2-BD59-A6C34878D82A}">
                    <a16:rowId xmlns:a16="http://schemas.microsoft.com/office/drawing/2014/main" val="3158269359"/>
                  </a:ext>
                </a:extLst>
              </a:tr>
              <a:tr h="91227">
                <a:tc vMerge="1">
                  <a:txBody>
                    <a:bodyPr/>
                    <a:lstStyle/>
                    <a:p>
                      <a:endParaRPr lang="en-CA"/>
                    </a:p>
                  </a:txBody>
                  <a:tcPr/>
                </a:tc>
                <a:tc>
                  <a:txBody>
                    <a:bodyPr/>
                    <a:lstStyle/>
                    <a:p>
                      <a:pPr algn="ctr" fontAlgn="ctr"/>
                      <a:r>
                        <a:rPr lang="en-CA" sz="650" b="0" i="0" u="none" strike="noStrike" dirty="0">
                          <a:solidFill>
                            <a:srgbClr val="000000"/>
                          </a:solidFill>
                          <a:effectLst/>
                          <a:latin typeface="Calibri" panose="020F0502020204030204" pitchFamily="34" charset="0"/>
                        </a:rPr>
                        <a:t>60</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 </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20.4%</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1.3%</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0</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vMerge="1">
                  <a:txBody>
                    <a:bodyPr/>
                    <a:lstStyle/>
                    <a:p>
                      <a:endParaRPr lang="en-CA"/>
                    </a:p>
                  </a:txBody>
                  <a:tcPr/>
                </a:tc>
                <a:extLst>
                  <a:ext uri="{0D108BD9-81ED-4DB2-BD59-A6C34878D82A}">
                    <a16:rowId xmlns:a16="http://schemas.microsoft.com/office/drawing/2014/main" val="645228421"/>
                  </a:ext>
                </a:extLst>
              </a:tr>
              <a:tr h="91227">
                <a:tc rowSpan="4">
                  <a:txBody>
                    <a:bodyPr/>
                    <a:lstStyle/>
                    <a:p>
                      <a:pPr algn="ctr" fontAlgn="ctr"/>
                      <a:r>
                        <a:rPr lang="en-CA" sz="650" b="0" i="0" u="none" strike="noStrike">
                          <a:solidFill>
                            <a:srgbClr val="000000"/>
                          </a:solidFill>
                          <a:effectLst/>
                          <a:latin typeface="Calibri" panose="020F0502020204030204" pitchFamily="34" charset="0"/>
                        </a:rPr>
                        <a:t>NAICS2 </a:t>
                      </a:r>
                    </a:p>
                  </a:txBody>
                  <a:tcPr marL="4166" marR="4166" marT="4166" marB="0" anchor="ctr">
                    <a:lnL w="12700" cap="flat" cmpd="sng" algn="ctr">
                      <a:solidFill>
                        <a:srgbClr val="009999"/>
                      </a:solidFill>
                      <a:prstDash val="solid"/>
                      <a:round/>
                      <a:headEnd type="none" w="med" len="med"/>
                      <a:tailEnd type="none" w="med" len="med"/>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gridSpan="2">
                  <a:txBody>
                    <a:bodyPr/>
                    <a:lstStyle/>
                    <a:p>
                      <a:pPr algn="ctr" fontAlgn="ctr"/>
                      <a:r>
                        <a:rPr lang="en-US" sz="650" b="0" i="0" u="none" strike="noStrike" dirty="0">
                          <a:solidFill>
                            <a:srgbClr val="000000"/>
                          </a:solidFill>
                          <a:effectLst/>
                          <a:latin typeface="Calibri" panose="020F0502020204030204" pitchFamily="34" charset="0"/>
                        </a:rPr>
                        <a:t>21, 48, 49,  </a:t>
                      </a:r>
                      <a:r>
                        <a:rPr lang="en-US" sz="650" b="0" i="0" u="none" strike="noStrike" dirty="0" smtClean="0">
                          <a:solidFill>
                            <a:srgbClr val="000000"/>
                          </a:solidFill>
                          <a:effectLst/>
                          <a:latin typeface="Calibri" panose="020F0502020204030204" pitchFamily="34" charset="0"/>
                        </a:rPr>
                        <a:t>Missing</a:t>
                      </a:r>
                      <a:endParaRPr lang="en-US" sz="650" b="0" i="0" u="none" strike="noStrike" dirty="0">
                        <a:solidFill>
                          <a:srgbClr val="000000"/>
                        </a:solidFill>
                        <a:effectLst/>
                        <a:latin typeface="Calibri" panose="020F0502020204030204" pitchFamily="34" charset="0"/>
                      </a:endParaRP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hMerge="1">
                  <a:txBody>
                    <a:bodyPr/>
                    <a:lstStyle/>
                    <a:p>
                      <a:pPr algn="ctr" fontAlgn="ctr"/>
                      <a:endParaRPr lang="en-CA" sz="700" b="0" i="0" u="none" strike="noStrike" dirty="0">
                        <a:solidFill>
                          <a:srgbClr val="000000"/>
                        </a:solidFill>
                        <a:effectLst/>
                        <a:latin typeface="Calibri" panose="020F0502020204030204" pitchFamily="34" charset="0"/>
                      </a:endParaRP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3.4%</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16.3%</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0</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rowSpan="4">
                  <a:txBody>
                    <a:bodyPr/>
                    <a:lstStyle/>
                    <a:p>
                      <a:pPr algn="ctr" fontAlgn="ctr"/>
                      <a:r>
                        <a:rPr lang="en-CA" sz="650" b="0" i="0" u="none" strike="noStrike">
                          <a:solidFill>
                            <a:srgbClr val="000000"/>
                          </a:solidFill>
                          <a:effectLst/>
                          <a:latin typeface="Calibri" panose="020F0502020204030204" pitchFamily="34" charset="0"/>
                        </a:rPr>
                        <a:t>7.40%</a:t>
                      </a:r>
                    </a:p>
                  </a:txBody>
                  <a:tcPr marL="4166" marR="4166" marT="4166" marB="0" anchor="ctr">
                    <a:lnL>
                      <a:noFill/>
                    </a:lnL>
                    <a:lnR w="12700" cap="flat" cmpd="sng" algn="ctr">
                      <a:solidFill>
                        <a:srgbClr val="009999"/>
                      </a:solidFill>
                      <a:prstDash val="solid"/>
                      <a:round/>
                      <a:headEnd type="none" w="med" len="med"/>
                      <a:tailEnd type="none" w="med" len="med"/>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extLst>
                  <a:ext uri="{0D108BD9-81ED-4DB2-BD59-A6C34878D82A}">
                    <a16:rowId xmlns:a16="http://schemas.microsoft.com/office/drawing/2014/main" val="2600390780"/>
                  </a:ext>
                </a:extLst>
              </a:tr>
              <a:tr h="91227">
                <a:tc vMerge="1">
                  <a:txBody>
                    <a:bodyPr/>
                    <a:lstStyle/>
                    <a:p>
                      <a:endParaRPr lang="en-CA"/>
                    </a:p>
                  </a:txBody>
                  <a:tcPr/>
                </a:tc>
                <a:tc gridSpan="2">
                  <a:txBody>
                    <a:bodyPr/>
                    <a:lstStyle/>
                    <a:p>
                      <a:pPr algn="ctr" fontAlgn="ctr"/>
                      <a:r>
                        <a:rPr lang="en-CA" sz="650" b="0" i="0" u="none" strike="noStrike" dirty="0">
                          <a:solidFill>
                            <a:srgbClr val="000000"/>
                          </a:solidFill>
                          <a:effectLst/>
                          <a:latin typeface="Calibri" panose="020F0502020204030204" pitchFamily="34" charset="0"/>
                        </a:rPr>
                        <a:t>22, 23, 31, 42, </a:t>
                      </a:r>
                      <a:r>
                        <a:rPr lang="en-CA" sz="650" b="0" i="0" u="none" strike="noStrike" dirty="0" smtClean="0">
                          <a:solidFill>
                            <a:srgbClr val="000000"/>
                          </a:solidFill>
                          <a:effectLst/>
                          <a:latin typeface="Calibri" panose="020F0502020204030204" pitchFamily="34" charset="0"/>
                        </a:rPr>
                        <a:t>45</a:t>
                      </a:r>
                      <a:endParaRPr lang="en-CA" sz="650" b="0" i="0" u="none" strike="noStrike" dirty="0">
                        <a:solidFill>
                          <a:srgbClr val="000000"/>
                        </a:solidFill>
                        <a:effectLst/>
                        <a:latin typeface="Calibri" panose="020F0502020204030204" pitchFamily="34" charset="0"/>
                      </a:endParaRP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hMerge="1">
                  <a:txBody>
                    <a:bodyPr/>
                    <a:lstStyle/>
                    <a:p>
                      <a:pPr algn="ctr" fontAlgn="ctr"/>
                      <a:endParaRPr lang="en-CA" sz="700" b="0" i="0" u="none" strike="noStrike" dirty="0">
                        <a:solidFill>
                          <a:srgbClr val="000000"/>
                        </a:solidFill>
                        <a:effectLst/>
                        <a:latin typeface="Calibri" panose="020F0502020204030204" pitchFamily="34" charset="0"/>
                      </a:endParaRP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2.9%</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16.2%</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4</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vMerge="1">
                  <a:txBody>
                    <a:bodyPr/>
                    <a:lstStyle/>
                    <a:p>
                      <a:endParaRPr lang="en-CA"/>
                    </a:p>
                  </a:txBody>
                  <a:tcPr/>
                </a:tc>
                <a:extLst>
                  <a:ext uri="{0D108BD9-81ED-4DB2-BD59-A6C34878D82A}">
                    <a16:rowId xmlns:a16="http://schemas.microsoft.com/office/drawing/2014/main" val="3630984349"/>
                  </a:ext>
                </a:extLst>
              </a:tr>
              <a:tr h="91227">
                <a:tc vMerge="1">
                  <a:txBody>
                    <a:bodyPr/>
                    <a:lstStyle/>
                    <a:p>
                      <a:endParaRPr lang="en-CA"/>
                    </a:p>
                  </a:txBody>
                  <a:tcPr/>
                </a:tc>
                <a:tc gridSpan="2">
                  <a:txBody>
                    <a:bodyPr/>
                    <a:lstStyle/>
                    <a:p>
                      <a:pPr algn="ctr" fontAlgn="ctr"/>
                      <a:r>
                        <a:rPr lang="en-CA" sz="650" b="0" i="0" u="none" strike="noStrike" dirty="0">
                          <a:solidFill>
                            <a:srgbClr val="000000"/>
                          </a:solidFill>
                          <a:effectLst/>
                          <a:latin typeface="Calibri" panose="020F0502020204030204" pitchFamily="34" charset="0"/>
                        </a:rPr>
                        <a:t>32, 33, 41, 44, 51, 53, 56, 61, </a:t>
                      </a:r>
                      <a:r>
                        <a:rPr lang="en-CA" sz="650" b="0" i="0" u="none" strike="noStrike" dirty="0" smtClean="0">
                          <a:solidFill>
                            <a:srgbClr val="000000"/>
                          </a:solidFill>
                          <a:effectLst/>
                          <a:latin typeface="Calibri" panose="020F0502020204030204" pitchFamily="34" charset="0"/>
                        </a:rPr>
                        <a:t>72</a:t>
                      </a:r>
                      <a:endParaRPr lang="en-CA" sz="650" b="0" i="0" u="none" strike="noStrike" dirty="0">
                        <a:solidFill>
                          <a:srgbClr val="000000"/>
                        </a:solidFill>
                        <a:effectLst/>
                        <a:latin typeface="Calibri" panose="020F0502020204030204" pitchFamily="34" charset="0"/>
                      </a:endParaRP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hMerge="1">
                  <a:txBody>
                    <a:bodyPr/>
                    <a:lstStyle/>
                    <a:p>
                      <a:pPr algn="ctr" fontAlgn="ctr"/>
                      <a:endParaRPr lang="en-CA" sz="700" b="0" i="0" u="none" strike="noStrike" dirty="0">
                        <a:solidFill>
                          <a:srgbClr val="000000"/>
                        </a:solidFill>
                        <a:effectLst/>
                        <a:latin typeface="Calibri" panose="020F0502020204030204" pitchFamily="34" charset="0"/>
                      </a:endParaRP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2.4%</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31.8%</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8</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vMerge="1">
                  <a:txBody>
                    <a:bodyPr/>
                    <a:lstStyle/>
                    <a:p>
                      <a:endParaRPr lang="en-CA"/>
                    </a:p>
                  </a:txBody>
                  <a:tcPr/>
                </a:tc>
                <a:extLst>
                  <a:ext uri="{0D108BD9-81ED-4DB2-BD59-A6C34878D82A}">
                    <a16:rowId xmlns:a16="http://schemas.microsoft.com/office/drawing/2014/main" val="2508694707"/>
                  </a:ext>
                </a:extLst>
              </a:tr>
              <a:tr h="91227">
                <a:tc vMerge="1">
                  <a:txBody>
                    <a:bodyPr/>
                    <a:lstStyle/>
                    <a:p>
                      <a:endParaRPr lang="en-CA"/>
                    </a:p>
                  </a:txBody>
                  <a:tcPr/>
                </a:tc>
                <a:tc gridSpan="2">
                  <a:txBody>
                    <a:bodyPr/>
                    <a:lstStyle/>
                    <a:p>
                      <a:pPr algn="ctr" fontAlgn="ctr"/>
                      <a:r>
                        <a:rPr lang="en-CA" sz="650" b="0" i="0" u="none" strike="noStrike" dirty="0">
                          <a:solidFill>
                            <a:srgbClr val="000000"/>
                          </a:solidFill>
                          <a:effectLst/>
                          <a:latin typeface="Calibri" panose="020F0502020204030204" pitchFamily="34" charset="0"/>
                        </a:rPr>
                        <a:t>11, 52, 54, 55, 62, 71, 81, </a:t>
                      </a:r>
                      <a:r>
                        <a:rPr lang="en-CA" sz="650" b="0" i="0" u="none" strike="noStrike" dirty="0" smtClean="0">
                          <a:solidFill>
                            <a:srgbClr val="000000"/>
                          </a:solidFill>
                          <a:effectLst/>
                          <a:latin typeface="Calibri" panose="020F0502020204030204" pitchFamily="34" charset="0"/>
                        </a:rPr>
                        <a:t>91</a:t>
                      </a:r>
                      <a:endParaRPr lang="en-CA" sz="650" b="0" i="0" u="none" strike="noStrike" dirty="0">
                        <a:solidFill>
                          <a:srgbClr val="000000"/>
                        </a:solidFill>
                        <a:effectLst/>
                        <a:latin typeface="Calibri" panose="020F0502020204030204" pitchFamily="34" charset="0"/>
                      </a:endParaRP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hMerge="1">
                  <a:txBody>
                    <a:bodyPr/>
                    <a:lstStyle/>
                    <a:p>
                      <a:pPr algn="ctr" fontAlgn="ctr"/>
                      <a:endParaRPr lang="en-CA" sz="700" b="0" i="0" u="none" strike="noStrike" dirty="0">
                        <a:solidFill>
                          <a:srgbClr val="000000"/>
                        </a:solidFill>
                        <a:effectLst/>
                        <a:latin typeface="Calibri" panose="020F0502020204030204" pitchFamily="34" charset="0"/>
                      </a:endParaRP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1.6%</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35.8%</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19</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vMerge="1">
                  <a:txBody>
                    <a:bodyPr/>
                    <a:lstStyle/>
                    <a:p>
                      <a:endParaRPr lang="en-CA"/>
                    </a:p>
                  </a:txBody>
                  <a:tcPr/>
                </a:tc>
                <a:extLst>
                  <a:ext uri="{0D108BD9-81ED-4DB2-BD59-A6C34878D82A}">
                    <a16:rowId xmlns:a16="http://schemas.microsoft.com/office/drawing/2014/main" val="2346633013"/>
                  </a:ext>
                </a:extLst>
              </a:tr>
              <a:tr h="91227">
                <a:tc rowSpan="2">
                  <a:txBody>
                    <a:bodyPr/>
                    <a:lstStyle/>
                    <a:p>
                      <a:pPr algn="ctr" fontAlgn="ctr"/>
                      <a:r>
                        <a:rPr lang="en-CA" sz="650" b="0" i="0" u="none" strike="noStrike">
                          <a:solidFill>
                            <a:srgbClr val="000000"/>
                          </a:solidFill>
                          <a:effectLst/>
                          <a:latin typeface="Calibri" panose="020F0502020204030204" pitchFamily="34" charset="0"/>
                        </a:rPr>
                        <a:t>PayNet Doctor/Non-Doctor flag (Y/N)</a:t>
                      </a:r>
                    </a:p>
                  </a:txBody>
                  <a:tcPr marL="4166" marR="4166" marT="4166" marB="0" anchor="ctr">
                    <a:lnL w="12700" cap="flat" cmpd="sng" algn="ctr">
                      <a:solidFill>
                        <a:srgbClr val="009999"/>
                      </a:solidFill>
                      <a:prstDash val="solid"/>
                      <a:round/>
                      <a:headEnd type="none" w="med" len="med"/>
                      <a:tailEnd type="none" w="med" len="med"/>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0, </a:t>
                      </a:r>
                      <a:r>
                        <a:rPr lang="en-CA" sz="650" b="0" i="0" u="none" strike="noStrike" dirty="0" smtClean="0">
                          <a:solidFill>
                            <a:srgbClr val="000000"/>
                          </a:solidFill>
                          <a:effectLst/>
                          <a:latin typeface="Calibri" panose="020F0502020204030204" pitchFamily="34" charset="0"/>
                        </a:rPr>
                        <a:t>Missing</a:t>
                      </a:r>
                      <a:endParaRPr lang="en-CA" sz="650" b="0" i="0" u="none" strike="noStrike" dirty="0">
                        <a:solidFill>
                          <a:srgbClr val="000000"/>
                        </a:solidFill>
                        <a:effectLst/>
                        <a:latin typeface="Calibri" panose="020F0502020204030204" pitchFamily="34" charset="0"/>
                      </a:endParaRP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 </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2.4%</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95.7%</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0</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rowSpan="2">
                  <a:txBody>
                    <a:bodyPr/>
                    <a:lstStyle/>
                    <a:p>
                      <a:pPr algn="ctr" fontAlgn="ctr"/>
                      <a:r>
                        <a:rPr lang="en-CA" sz="650" b="0" i="0" u="none" strike="noStrike">
                          <a:solidFill>
                            <a:srgbClr val="000000"/>
                          </a:solidFill>
                          <a:effectLst/>
                          <a:latin typeface="Calibri" panose="020F0502020204030204" pitchFamily="34" charset="0"/>
                        </a:rPr>
                        <a:t>9.40%</a:t>
                      </a:r>
                    </a:p>
                  </a:txBody>
                  <a:tcPr marL="4166" marR="4166" marT="4166" marB="0" anchor="ctr">
                    <a:lnL>
                      <a:noFill/>
                    </a:lnL>
                    <a:lnR w="12700" cap="flat" cmpd="sng" algn="ctr">
                      <a:solidFill>
                        <a:srgbClr val="009999"/>
                      </a:solidFill>
                      <a:prstDash val="solid"/>
                      <a:round/>
                      <a:headEnd type="none" w="med" len="med"/>
                      <a:tailEnd type="none" w="med" len="med"/>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extLst>
                  <a:ext uri="{0D108BD9-81ED-4DB2-BD59-A6C34878D82A}">
                    <a16:rowId xmlns:a16="http://schemas.microsoft.com/office/drawing/2014/main" val="490903641"/>
                  </a:ext>
                </a:extLst>
              </a:tr>
              <a:tr h="91227">
                <a:tc vMerge="1">
                  <a:txBody>
                    <a:bodyPr/>
                    <a:lstStyle/>
                    <a:p>
                      <a:endParaRPr lang="en-CA"/>
                    </a:p>
                  </a:txBody>
                  <a:tcPr/>
                </a:tc>
                <a:tc>
                  <a:txBody>
                    <a:bodyPr/>
                    <a:lstStyle/>
                    <a:p>
                      <a:pPr algn="ctr" fontAlgn="ctr"/>
                      <a:r>
                        <a:rPr lang="en-CA" sz="650" b="0" i="0" u="none" strike="noStrike" dirty="0">
                          <a:solidFill>
                            <a:srgbClr val="000000"/>
                          </a:solidFill>
                          <a:effectLst/>
                          <a:latin typeface="Calibri" panose="020F0502020204030204" pitchFamily="34" charset="0"/>
                        </a:rPr>
                        <a:t>1</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 </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0.7%</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4.4%</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24</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vMerge="1">
                  <a:txBody>
                    <a:bodyPr/>
                    <a:lstStyle/>
                    <a:p>
                      <a:endParaRPr lang="en-CA"/>
                    </a:p>
                  </a:txBody>
                  <a:tcPr/>
                </a:tc>
                <a:extLst>
                  <a:ext uri="{0D108BD9-81ED-4DB2-BD59-A6C34878D82A}">
                    <a16:rowId xmlns:a16="http://schemas.microsoft.com/office/drawing/2014/main" val="3554453590"/>
                  </a:ext>
                </a:extLst>
              </a:tr>
              <a:tr h="91227">
                <a:tc rowSpan="4">
                  <a:txBody>
                    <a:bodyPr/>
                    <a:lstStyle/>
                    <a:p>
                      <a:pPr algn="ctr" fontAlgn="ctr"/>
                      <a:r>
                        <a:rPr lang="en-US" sz="650" b="0" i="0" u="none" strike="noStrike">
                          <a:solidFill>
                            <a:srgbClr val="000000"/>
                          </a:solidFill>
                          <a:effectLst/>
                          <a:latin typeface="Calibri" panose="020F0502020204030204" pitchFamily="34" charset="0"/>
                        </a:rPr>
                        <a:t>Number of obligations that were open for some part of the last 6 months</a:t>
                      </a:r>
                    </a:p>
                  </a:txBody>
                  <a:tcPr marL="4166" marR="4166" marT="4166" marB="0" anchor="ctr">
                    <a:lnL w="12700" cap="flat" cmpd="sng" algn="ctr">
                      <a:solidFill>
                        <a:srgbClr val="009999"/>
                      </a:solidFill>
                      <a:prstDash val="solid"/>
                      <a:round/>
                      <a:headEnd type="none" w="med" len="med"/>
                      <a:tailEnd type="none" w="med" len="med"/>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Missing</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1</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3.4%</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3.0%</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0</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rowSpan="4">
                  <a:txBody>
                    <a:bodyPr/>
                    <a:lstStyle/>
                    <a:p>
                      <a:pPr algn="ctr" fontAlgn="ctr"/>
                      <a:r>
                        <a:rPr lang="en-CA" sz="650" b="0" i="0" u="none" strike="noStrike">
                          <a:solidFill>
                            <a:srgbClr val="000000"/>
                          </a:solidFill>
                          <a:effectLst/>
                          <a:latin typeface="Calibri" panose="020F0502020204030204" pitchFamily="34" charset="0"/>
                        </a:rPr>
                        <a:t>7.00%</a:t>
                      </a:r>
                    </a:p>
                  </a:txBody>
                  <a:tcPr marL="4166" marR="4166" marT="4166" marB="0" anchor="ctr">
                    <a:lnL>
                      <a:noFill/>
                    </a:lnL>
                    <a:lnR w="12700" cap="flat" cmpd="sng" algn="ctr">
                      <a:solidFill>
                        <a:srgbClr val="009999"/>
                      </a:solidFill>
                      <a:prstDash val="solid"/>
                      <a:round/>
                      <a:headEnd type="none" w="med" len="med"/>
                      <a:tailEnd type="none" w="med" len="med"/>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extLst>
                  <a:ext uri="{0D108BD9-81ED-4DB2-BD59-A6C34878D82A}">
                    <a16:rowId xmlns:a16="http://schemas.microsoft.com/office/drawing/2014/main" val="1857878491"/>
                  </a:ext>
                </a:extLst>
              </a:tr>
              <a:tr h="91227">
                <a:tc vMerge="1">
                  <a:txBody>
                    <a:bodyPr/>
                    <a:lstStyle/>
                    <a:p>
                      <a:endParaRPr lang="en-CA"/>
                    </a:p>
                  </a:txBody>
                  <a:tcPr/>
                </a:tc>
                <a:tc>
                  <a:txBody>
                    <a:bodyPr/>
                    <a:lstStyle/>
                    <a:p>
                      <a:pPr algn="ctr" fontAlgn="ctr"/>
                      <a:r>
                        <a:rPr lang="en-CA" sz="650" b="0" i="0" u="none" strike="noStrike">
                          <a:solidFill>
                            <a:srgbClr val="000000"/>
                          </a:solidFill>
                          <a:effectLst/>
                          <a:latin typeface="Calibri" panose="020F0502020204030204" pitchFamily="34" charset="0"/>
                        </a:rPr>
                        <a:t>1</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3</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2.1%</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71.6%</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18</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vMerge="1">
                  <a:txBody>
                    <a:bodyPr/>
                    <a:lstStyle/>
                    <a:p>
                      <a:endParaRPr lang="en-CA"/>
                    </a:p>
                  </a:txBody>
                  <a:tcPr/>
                </a:tc>
                <a:extLst>
                  <a:ext uri="{0D108BD9-81ED-4DB2-BD59-A6C34878D82A}">
                    <a16:rowId xmlns:a16="http://schemas.microsoft.com/office/drawing/2014/main" val="3745387679"/>
                  </a:ext>
                </a:extLst>
              </a:tr>
              <a:tr h="91227">
                <a:tc vMerge="1">
                  <a:txBody>
                    <a:bodyPr/>
                    <a:lstStyle/>
                    <a:p>
                      <a:endParaRPr lang="en-CA"/>
                    </a:p>
                  </a:txBody>
                  <a:tcPr/>
                </a:tc>
                <a:tc>
                  <a:txBody>
                    <a:bodyPr/>
                    <a:lstStyle/>
                    <a:p>
                      <a:pPr algn="ctr" fontAlgn="ctr"/>
                      <a:r>
                        <a:rPr lang="en-CA" sz="650" b="0" i="0" u="none" strike="noStrike" dirty="0">
                          <a:solidFill>
                            <a:srgbClr val="000000"/>
                          </a:solidFill>
                          <a:effectLst/>
                          <a:latin typeface="Calibri" panose="020F0502020204030204" pitchFamily="34" charset="0"/>
                        </a:rPr>
                        <a:t>3</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7</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2.7%</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20.1%</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8</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vMerge="1">
                  <a:txBody>
                    <a:bodyPr/>
                    <a:lstStyle/>
                    <a:p>
                      <a:endParaRPr lang="en-CA"/>
                    </a:p>
                  </a:txBody>
                  <a:tcPr/>
                </a:tc>
                <a:extLst>
                  <a:ext uri="{0D108BD9-81ED-4DB2-BD59-A6C34878D82A}">
                    <a16:rowId xmlns:a16="http://schemas.microsoft.com/office/drawing/2014/main" val="2718228338"/>
                  </a:ext>
                </a:extLst>
              </a:tr>
              <a:tr h="91227">
                <a:tc vMerge="1">
                  <a:txBody>
                    <a:bodyPr/>
                    <a:lstStyle/>
                    <a:p>
                      <a:endParaRPr lang="en-CA"/>
                    </a:p>
                  </a:txBody>
                  <a:tcPr/>
                </a:tc>
                <a:tc>
                  <a:txBody>
                    <a:bodyPr/>
                    <a:lstStyle/>
                    <a:p>
                      <a:pPr algn="ctr" fontAlgn="ctr"/>
                      <a:r>
                        <a:rPr lang="en-CA" sz="650" b="0" i="0" u="none" strike="noStrike" dirty="0">
                          <a:solidFill>
                            <a:srgbClr val="000000"/>
                          </a:solidFill>
                          <a:effectLst/>
                          <a:latin typeface="Calibri" panose="020F0502020204030204" pitchFamily="34" charset="0"/>
                        </a:rPr>
                        <a:t>7</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 </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3.2%</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5.3%</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2</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vMerge="1">
                  <a:txBody>
                    <a:bodyPr/>
                    <a:lstStyle/>
                    <a:p>
                      <a:endParaRPr lang="en-CA"/>
                    </a:p>
                  </a:txBody>
                  <a:tcPr/>
                </a:tc>
                <a:extLst>
                  <a:ext uri="{0D108BD9-81ED-4DB2-BD59-A6C34878D82A}">
                    <a16:rowId xmlns:a16="http://schemas.microsoft.com/office/drawing/2014/main" val="2762958630"/>
                  </a:ext>
                </a:extLst>
              </a:tr>
              <a:tr h="91227">
                <a:tc rowSpan="4">
                  <a:txBody>
                    <a:bodyPr/>
                    <a:lstStyle/>
                    <a:p>
                      <a:pPr algn="ctr" fontAlgn="ctr"/>
                      <a:r>
                        <a:rPr lang="en-CA" sz="650" b="0" i="0" u="none" strike="noStrike" dirty="0">
                          <a:solidFill>
                            <a:srgbClr val="000000"/>
                          </a:solidFill>
                          <a:effectLst/>
                          <a:latin typeface="Calibri" panose="020F0502020204030204" pitchFamily="34" charset="0"/>
                        </a:rPr>
                        <a:t>Province </a:t>
                      </a:r>
                    </a:p>
                  </a:txBody>
                  <a:tcPr marL="4166" marR="4166" marT="4166" marB="0" anchor="ctr">
                    <a:lnL w="12700" cap="flat" cmpd="sng" algn="ctr">
                      <a:solidFill>
                        <a:srgbClr val="009999"/>
                      </a:solidFill>
                      <a:prstDash val="solid"/>
                      <a:round/>
                      <a:headEnd type="none" w="med" len="med"/>
                      <a:tailEnd type="none" w="med" len="med"/>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gridSpan="2">
                  <a:txBody>
                    <a:bodyPr/>
                    <a:lstStyle/>
                    <a:p>
                      <a:pPr algn="ctr" fontAlgn="ctr"/>
                      <a:r>
                        <a:rPr lang="en-CA" sz="650" b="0" i="0" u="none" strike="noStrike" dirty="0">
                          <a:solidFill>
                            <a:srgbClr val="000000"/>
                          </a:solidFill>
                          <a:effectLst/>
                          <a:latin typeface="Calibri" panose="020F0502020204030204" pitchFamily="34" charset="0"/>
                        </a:rPr>
                        <a:t>US, </a:t>
                      </a:r>
                      <a:r>
                        <a:rPr lang="en-CA" sz="650" b="0" i="0" u="none" strike="noStrike" dirty="0" smtClean="0">
                          <a:solidFill>
                            <a:srgbClr val="000000"/>
                          </a:solidFill>
                          <a:effectLst/>
                          <a:latin typeface="Calibri" panose="020F0502020204030204" pitchFamily="34" charset="0"/>
                        </a:rPr>
                        <a:t>Missing</a:t>
                      </a:r>
                      <a:endParaRPr lang="en-CA" sz="650" b="0" i="0" u="none" strike="noStrike" dirty="0">
                        <a:solidFill>
                          <a:srgbClr val="000000"/>
                        </a:solidFill>
                        <a:effectLst/>
                        <a:latin typeface="Calibri" panose="020F0502020204030204" pitchFamily="34" charset="0"/>
                      </a:endParaRP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hMerge="1">
                  <a:txBody>
                    <a:bodyPr/>
                    <a:lstStyle/>
                    <a:p>
                      <a:pPr algn="ctr" fontAlgn="ctr"/>
                      <a:endParaRPr lang="en-CA" sz="700" b="0" i="0" u="none" strike="noStrike" dirty="0">
                        <a:solidFill>
                          <a:srgbClr val="000000"/>
                        </a:solidFill>
                        <a:effectLst/>
                        <a:latin typeface="Calibri" panose="020F0502020204030204" pitchFamily="34" charset="0"/>
                      </a:endParaRP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9.1%</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0.4%</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0</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rowSpan="4">
                  <a:txBody>
                    <a:bodyPr/>
                    <a:lstStyle/>
                    <a:p>
                      <a:pPr algn="ctr" fontAlgn="ctr"/>
                      <a:r>
                        <a:rPr lang="en-CA" sz="650" b="0" i="0" u="none" strike="noStrike">
                          <a:solidFill>
                            <a:srgbClr val="000000"/>
                          </a:solidFill>
                          <a:effectLst/>
                          <a:latin typeface="Calibri" panose="020F0502020204030204" pitchFamily="34" charset="0"/>
                        </a:rPr>
                        <a:t>12.10%</a:t>
                      </a:r>
                    </a:p>
                  </a:txBody>
                  <a:tcPr marL="4166" marR="4166" marT="4166" marB="0" anchor="ctr">
                    <a:lnL>
                      <a:noFill/>
                    </a:lnL>
                    <a:lnR w="12700" cap="flat" cmpd="sng" algn="ctr">
                      <a:solidFill>
                        <a:srgbClr val="009999"/>
                      </a:solidFill>
                      <a:prstDash val="solid"/>
                      <a:round/>
                      <a:headEnd type="none" w="med" len="med"/>
                      <a:tailEnd type="none" w="med" len="med"/>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extLst>
                  <a:ext uri="{0D108BD9-81ED-4DB2-BD59-A6C34878D82A}">
                    <a16:rowId xmlns:a16="http://schemas.microsoft.com/office/drawing/2014/main" val="677955294"/>
                  </a:ext>
                </a:extLst>
              </a:tr>
              <a:tr h="91227">
                <a:tc vMerge="1">
                  <a:txBody>
                    <a:bodyPr/>
                    <a:lstStyle/>
                    <a:p>
                      <a:endParaRPr lang="en-CA"/>
                    </a:p>
                  </a:txBody>
                  <a:tcPr/>
                </a:tc>
                <a:tc gridSpan="2">
                  <a:txBody>
                    <a:bodyPr/>
                    <a:lstStyle/>
                    <a:p>
                      <a:pPr algn="ctr" fontAlgn="ctr"/>
                      <a:r>
                        <a:rPr lang="en-CA" sz="650" b="0" i="0" u="none" strike="noStrike" dirty="0" smtClean="0">
                          <a:solidFill>
                            <a:srgbClr val="000000"/>
                          </a:solidFill>
                          <a:effectLst/>
                          <a:latin typeface="Calibri" panose="020F0502020204030204" pitchFamily="34" charset="0"/>
                        </a:rPr>
                        <a:t>QC</a:t>
                      </a:r>
                      <a:endParaRPr lang="en-CA" sz="650" b="0" i="0" u="none" strike="noStrike" dirty="0">
                        <a:solidFill>
                          <a:srgbClr val="000000"/>
                        </a:solidFill>
                        <a:effectLst/>
                        <a:latin typeface="Calibri" panose="020F0502020204030204" pitchFamily="34" charset="0"/>
                      </a:endParaRP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hMerge="1">
                  <a:txBody>
                    <a:bodyPr/>
                    <a:lstStyle/>
                    <a:p>
                      <a:pPr algn="ctr" fontAlgn="ctr"/>
                      <a:endParaRPr lang="en-CA" sz="700" b="0" i="0" u="none" strike="noStrike" dirty="0">
                        <a:solidFill>
                          <a:srgbClr val="000000"/>
                        </a:solidFill>
                        <a:effectLst/>
                        <a:latin typeface="Calibri" panose="020F0502020204030204" pitchFamily="34" charset="0"/>
                      </a:endParaRP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3.2%</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20.0%</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21</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vMerge="1">
                  <a:txBody>
                    <a:bodyPr/>
                    <a:lstStyle/>
                    <a:p>
                      <a:endParaRPr lang="en-CA"/>
                    </a:p>
                  </a:txBody>
                  <a:tcPr/>
                </a:tc>
                <a:extLst>
                  <a:ext uri="{0D108BD9-81ED-4DB2-BD59-A6C34878D82A}">
                    <a16:rowId xmlns:a16="http://schemas.microsoft.com/office/drawing/2014/main" val="2422440986"/>
                  </a:ext>
                </a:extLst>
              </a:tr>
              <a:tr h="91227">
                <a:tc vMerge="1">
                  <a:txBody>
                    <a:bodyPr/>
                    <a:lstStyle/>
                    <a:p>
                      <a:endParaRPr lang="en-CA"/>
                    </a:p>
                  </a:txBody>
                  <a:tcPr/>
                </a:tc>
                <a:tc gridSpan="2">
                  <a:txBody>
                    <a:bodyPr/>
                    <a:lstStyle/>
                    <a:p>
                      <a:pPr algn="ctr" fontAlgn="ctr"/>
                      <a:r>
                        <a:rPr lang="fi-FI" sz="650" b="0" i="0" u="none" strike="noStrike" dirty="0">
                          <a:solidFill>
                            <a:srgbClr val="000000"/>
                          </a:solidFill>
                          <a:effectLst/>
                          <a:latin typeface="Calibri" panose="020F0502020204030204" pitchFamily="34" charset="0"/>
                        </a:rPr>
                        <a:t>AB, NT, NU, ON, </a:t>
                      </a:r>
                      <a:r>
                        <a:rPr lang="fi-FI" sz="650" b="0" i="0" u="none" strike="noStrike" dirty="0" smtClean="0">
                          <a:solidFill>
                            <a:srgbClr val="000000"/>
                          </a:solidFill>
                          <a:effectLst/>
                          <a:latin typeface="Calibri" panose="020F0502020204030204" pitchFamily="34" charset="0"/>
                        </a:rPr>
                        <a:t>YT</a:t>
                      </a:r>
                      <a:endParaRPr lang="fi-FI" sz="650" b="0" i="0" u="none" strike="noStrike" dirty="0">
                        <a:solidFill>
                          <a:srgbClr val="000000"/>
                        </a:solidFill>
                        <a:effectLst/>
                        <a:latin typeface="Calibri" panose="020F0502020204030204" pitchFamily="34" charset="0"/>
                      </a:endParaRP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hMerge="1">
                  <a:txBody>
                    <a:bodyPr/>
                    <a:lstStyle/>
                    <a:p>
                      <a:pPr algn="ctr" fontAlgn="ctr"/>
                      <a:endParaRPr lang="en-CA" sz="700" b="0" i="0" u="none" strike="noStrike" dirty="0">
                        <a:solidFill>
                          <a:srgbClr val="000000"/>
                        </a:solidFill>
                        <a:effectLst/>
                        <a:latin typeface="Calibri" panose="020F0502020204030204" pitchFamily="34" charset="0"/>
                      </a:endParaRP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2.2%</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51.0%</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29</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vMerge="1">
                  <a:txBody>
                    <a:bodyPr/>
                    <a:lstStyle/>
                    <a:p>
                      <a:endParaRPr lang="en-CA"/>
                    </a:p>
                  </a:txBody>
                  <a:tcPr/>
                </a:tc>
                <a:extLst>
                  <a:ext uri="{0D108BD9-81ED-4DB2-BD59-A6C34878D82A}">
                    <a16:rowId xmlns:a16="http://schemas.microsoft.com/office/drawing/2014/main" val="3374257221"/>
                  </a:ext>
                </a:extLst>
              </a:tr>
              <a:tr h="91227">
                <a:tc vMerge="1">
                  <a:txBody>
                    <a:bodyPr/>
                    <a:lstStyle/>
                    <a:p>
                      <a:endParaRPr lang="en-CA"/>
                    </a:p>
                  </a:txBody>
                  <a:tcPr/>
                </a:tc>
                <a:tc gridSpan="2">
                  <a:txBody>
                    <a:bodyPr/>
                    <a:lstStyle/>
                    <a:p>
                      <a:pPr algn="ctr" fontAlgn="ctr"/>
                      <a:r>
                        <a:rPr lang="en-CA" sz="650" b="0" i="0" u="none" strike="noStrike" dirty="0">
                          <a:solidFill>
                            <a:srgbClr val="000000"/>
                          </a:solidFill>
                          <a:effectLst/>
                          <a:latin typeface="Calibri" panose="020F0502020204030204" pitchFamily="34" charset="0"/>
                        </a:rPr>
                        <a:t>ATL, BC, MB, NB, NL, NS, PE, </a:t>
                      </a:r>
                      <a:r>
                        <a:rPr lang="en-CA" sz="650" b="0" i="0" u="none" strike="noStrike" dirty="0" smtClean="0">
                          <a:solidFill>
                            <a:srgbClr val="000000"/>
                          </a:solidFill>
                          <a:effectLst/>
                          <a:latin typeface="Calibri" panose="020F0502020204030204" pitchFamily="34" charset="0"/>
                        </a:rPr>
                        <a:t>SK</a:t>
                      </a:r>
                      <a:endParaRPr lang="en-CA" sz="650" b="0" i="0" u="none" strike="noStrike" dirty="0">
                        <a:solidFill>
                          <a:srgbClr val="000000"/>
                        </a:solidFill>
                        <a:effectLst/>
                        <a:latin typeface="Calibri" panose="020F0502020204030204" pitchFamily="34" charset="0"/>
                      </a:endParaRP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hMerge="1">
                  <a:txBody>
                    <a:bodyPr/>
                    <a:lstStyle/>
                    <a:p>
                      <a:pPr algn="ctr" fontAlgn="ctr"/>
                      <a:endParaRPr lang="en-CA" sz="700" b="0" i="0" u="none" strike="noStrike" dirty="0">
                        <a:solidFill>
                          <a:srgbClr val="000000"/>
                        </a:solidFill>
                        <a:effectLst/>
                        <a:latin typeface="Calibri" panose="020F0502020204030204" pitchFamily="34" charset="0"/>
                      </a:endParaRP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2.0%</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28.6%</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31</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vMerge="1">
                  <a:txBody>
                    <a:bodyPr/>
                    <a:lstStyle/>
                    <a:p>
                      <a:endParaRPr lang="en-CA"/>
                    </a:p>
                  </a:txBody>
                  <a:tcPr/>
                </a:tc>
                <a:extLst>
                  <a:ext uri="{0D108BD9-81ED-4DB2-BD59-A6C34878D82A}">
                    <a16:rowId xmlns:a16="http://schemas.microsoft.com/office/drawing/2014/main" val="1887344939"/>
                  </a:ext>
                </a:extLst>
              </a:tr>
              <a:tr h="91227">
                <a:tc rowSpan="3">
                  <a:txBody>
                    <a:bodyPr/>
                    <a:lstStyle/>
                    <a:p>
                      <a:pPr algn="ctr" fontAlgn="ctr"/>
                      <a:r>
                        <a:rPr lang="en-US" sz="650" b="0" i="0" u="none" strike="noStrike">
                          <a:solidFill>
                            <a:srgbClr val="000000"/>
                          </a:solidFill>
                          <a:effectLst/>
                          <a:latin typeface="Calibri" panose="020F0502020204030204" pitchFamily="34" charset="0"/>
                        </a:rPr>
                        <a:t>Number of months the borrower has been in PayNet database</a:t>
                      </a:r>
                    </a:p>
                  </a:txBody>
                  <a:tcPr marL="4166" marR="4166" marT="4166" marB="0" anchor="ctr">
                    <a:lnL w="12700" cap="flat" cmpd="sng" algn="ctr">
                      <a:solidFill>
                        <a:srgbClr val="009999"/>
                      </a:solidFill>
                      <a:prstDash val="solid"/>
                      <a:round/>
                      <a:headEnd type="none" w="med" len="med"/>
                      <a:tailEnd type="none" w="med" len="med"/>
                    </a:lnL>
                    <a:lnR>
                      <a:noFill/>
                    </a:lnR>
                    <a:lnT w="6350" cap="flat" cmpd="sng" algn="ctr">
                      <a:solidFill>
                        <a:srgbClr val="009999"/>
                      </a:solidFill>
                      <a:prstDash val="solid"/>
                      <a:round/>
                      <a:headEnd type="none" w="med" len="med"/>
                      <a:tailEnd type="none" w="med" len="med"/>
                    </a:lnT>
                    <a:lnB w="1270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Missing</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43</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2.7%</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54.6%</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0</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rowSpan="3">
                  <a:txBody>
                    <a:bodyPr/>
                    <a:lstStyle/>
                    <a:p>
                      <a:pPr algn="ctr" fontAlgn="ctr"/>
                      <a:r>
                        <a:rPr lang="en-CA" sz="650" b="0" i="0" u="none" strike="noStrike" dirty="0">
                          <a:solidFill>
                            <a:srgbClr val="000000"/>
                          </a:solidFill>
                          <a:effectLst/>
                          <a:latin typeface="Calibri" panose="020F0502020204030204" pitchFamily="34" charset="0"/>
                        </a:rPr>
                        <a:t>6.60%</a:t>
                      </a:r>
                    </a:p>
                  </a:txBody>
                  <a:tcPr marL="4166" marR="4166" marT="4166" marB="0" anchor="ctr">
                    <a:lnL>
                      <a:noFill/>
                    </a:lnL>
                    <a:lnR w="12700" cap="flat" cmpd="sng" algn="ctr">
                      <a:solidFill>
                        <a:srgbClr val="009999"/>
                      </a:solidFill>
                      <a:prstDash val="solid"/>
                      <a:round/>
                      <a:headEnd type="none" w="med" len="med"/>
                      <a:tailEnd type="none" w="med" len="med"/>
                    </a:lnR>
                    <a:lnT w="6350" cap="flat" cmpd="sng" algn="ctr">
                      <a:solidFill>
                        <a:srgbClr val="009999"/>
                      </a:solidFill>
                      <a:prstDash val="solid"/>
                      <a:round/>
                      <a:headEnd type="none" w="med" len="med"/>
                      <a:tailEnd type="none" w="med" len="med"/>
                    </a:lnT>
                    <a:lnB w="12700" cap="flat" cmpd="sng" algn="ctr">
                      <a:solidFill>
                        <a:srgbClr val="009999"/>
                      </a:solidFill>
                      <a:prstDash val="solid"/>
                      <a:round/>
                      <a:headEnd type="none" w="med" len="med"/>
                      <a:tailEnd type="none" w="med" len="med"/>
                    </a:lnB>
                    <a:solidFill>
                      <a:srgbClr val="E7EFF1"/>
                    </a:solidFill>
                  </a:tcPr>
                </a:tc>
                <a:extLst>
                  <a:ext uri="{0D108BD9-81ED-4DB2-BD59-A6C34878D82A}">
                    <a16:rowId xmlns:a16="http://schemas.microsoft.com/office/drawing/2014/main" val="2523192477"/>
                  </a:ext>
                </a:extLst>
              </a:tr>
              <a:tr h="91227">
                <a:tc vMerge="1">
                  <a:txBody>
                    <a:bodyPr/>
                    <a:lstStyle/>
                    <a:p>
                      <a:endParaRPr lang="en-CA"/>
                    </a:p>
                  </a:txBody>
                  <a:tcPr/>
                </a:tc>
                <a:tc>
                  <a:txBody>
                    <a:bodyPr/>
                    <a:lstStyle/>
                    <a:p>
                      <a:pPr algn="ctr" fontAlgn="ctr"/>
                      <a:r>
                        <a:rPr lang="en-CA" sz="650" b="0" i="0" u="none" strike="noStrike">
                          <a:solidFill>
                            <a:srgbClr val="000000"/>
                          </a:solidFill>
                          <a:effectLst/>
                          <a:latin typeface="Calibri" panose="020F0502020204030204" pitchFamily="34" charset="0"/>
                        </a:rPr>
                        <a:t>43</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68</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2.3%</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15.2%</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6</a:t>
                      </a:r>
                    </a:p>
                  </a:txBody>
                  <a:tcPr marL="4166" marR="4166" marT="4166"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vMerge="1">
                  <a:txBody>
                    <a:bodyPr/>
                    <a:lstStyle/>
                    <a:p>
                      <a:endParaRPr lang="en-CA"/>
                    </a:p>
                  </a:txBody>
                  <a:tcPr/>
                </a:tc>
                <a:extLst>
                  <a:ext uri="{0D108BD9-81ED-4DB2-BD59-A6C34878D82A}">
                    <a16:rowId xmlns:a16="http://schemas.microsoft.com/office/drawing/2014/main" val="875731057"/>
                  </a:ext>
                </a:extLst>
              </a:tr>
              <a:tr h="91227">
                <a:tc vMerge="1">
                  <a:txBody>
                    <a:bodyPr/>
                    <a:lstStyle/>
                    <a:p>
                      <a:endParaRPr lang="en-CA"/>
                    </a:p>
                  </a:txBody>
                  <a:tcPr/>
                </a:tc>
                <a:tc>
                  <a:txBody>
                    <a:bodyPr/>
                    <a:lstStyle/>
                    <a:p>
                      <a:pPr algn="ctr" fontAlgn="ctr"/>
                      <a:r>
                        <a:rPr lang="en-CA" sz="650" b="0" i="0" u="none" strike="noStrike">
                          <a:solidFill>
                            <a:srgbClr val="000000"/>
                          </a:solidFill>
                          <a:effectLst/>
                          <a:latin typeface="Calibri" panose="020F0502020204030204" pitchFamily="34" charset="0"/>
                        </a:rPr>
                        <a:t>68</a:t>
                      </a:r>
                    </a:p>
                  </a:txBody>
                  <a:tcPr marL="4166" marR="4166" marT="4166" marB="0" anchor="ctr">
                    <a:lnL>
                      <a:noFill/>
                    </a:lnL>
                    <a:lnR>
                      <a:noFill/>
                    </a:lnR>
                    <a:lnT w="6350" cap="flat" cmpd="sng" algn="ctr">
                      <a:solidFill>
                        <a:srgbClr val="009999"/>
                      </a:solidFill>
                      <a:prstDash val="solid"/>
                      <a:round/>
                      <a:headEnd type="none" w="med" len="med"/>
                      <a:tailEnd type="none" w="med" len="med"/>
                    </a:lnT>
                    <a:lnB w="1270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 </a:t>
                      </a:r>
                    </a:p>
                  </a:txBody>
                  <a:tcPr marL="4166" marR="4166" marT="4166" marB="0" anchor="ctr">
                    <a:lnL>
                      <a:noFill/>
                    </a:lnL>
                    <a:lnR>
                      <a:noFill/>
                    </a:lnR>
                    <a:lnT w="6350" cap="flat" cmpd="sng" algn="ctr">
                      <a:solidFill>
                        <a:srgbClr val="009999"/>
                      </a:solidFill>
                      <a:prstDash val="solid"/>
                      <a:round/>
                      <a:headEnd type="none" w="med" len="med"/>
                      <a:tailEnd type="none" w="med" len="med"/>
                    </a:lnT>
                    <a:lnB w="1270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1.8%</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1270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30.2%</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1270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17</a:t>
                      </a:r>
                    </a:p>
                  </a:txBody>
                  <a:tcPr marL="4166" marR="4166" marT="4166" marB="0" anchor="ctr">
                    <a:lnL>
                      <a:noFill/>
                    </a:lnL>
                    <a:lnR>
                      <a:noFill/>
                    </a:lnR>
                    <a:lnT w="6350" cap="flat" cmpd="sng" algn="ctr">
                      <a:solidFill>
                        <a:srgbClr val="009999"/>
                      </a:solidFill>
                      <a:prstDash val="solid"/>
                      <a:round/>
                      <a:headEnd type="none" w="med" len="med"/>
                      <a:tailEnd type="none" w="med" len="med"/>
                    </a:lnT>
                    <a:lnB w="12700" cap="flat" cmpd="sng" algn="ctr">
                      <a:solidFill>
                        <a:srgbClr val="009999"/>
                      </a:solidFill>
                      <a:prstDash val="solid"/>
                      <a:round/>
                      <a:headEnd type="none" w="med" len="med"/>
                      <a:tailEnd type="none" w="med" len="med"/>
                    </a:lnB>
                    <a:solidFill>
                      <a:srgbClr val="E7EFF1"/>
                    </a:solidFill>
                  </a:tcPr>
                </a:tc>
                <a:tc vMerge="1">
                  <a:txBody>
                    <a:bodyPr/>
                    <a:lstStyle/>
                    <a:p>
                      <a:endParaRPr lang="en-CA"/>
                    </a:p>
                  </a:txBody>
                  <a:tcPr/>
                </a:tc>
                <a:extLst>
                  <a:ext uri="{0D108BD9-81ED-4DB2-BD59-A6C34878D82A}">
                    <a16:rowId xmlns:a16="http://schemas.microsoft.com/office/drawing/2014/main" val="163424745"/>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264734693"/>
              </p:ext>
            </p:extLst>
          </p:nvPr>
        </p:nvGraphicFramePr>
        <p:xfrm>
          <a:off x="5872447" y="1155057"/>
          <a:ext cx="3002223" cy="1321189"/>
        </p:xfrm>
        <a:graphic>
          <a:graphicData uri="http://schemas.openxmlformats.org/drawingml/2006/table">
            <a:tbl>
              <a:tblPr/>
              <a:tblGrid>
                <a:gridCol w="863139">
                  <a:extLst>
                    <a:ext uri="{9D8B030D-6E8A-4147-A177-3AD203B41FA5}">
                      <a16:colId xmlns:a16="http://schemas.microsoft.com/office/drawing/2014/main" val="2341177891"/>
                    </a:ext>
                  </a:extLst>
                </a:gridCol>
                <a:gridCol w="690511">
                  <a:extLst>
                    <a:ext uri="{9D8B030D-6E8A-4147-A177-3AD203B41FA5}">
                      <a16:colId xmlns:a16="http://schemas.microsoft.com/office/drawing/2014/main" val="2571066788"/>
                    </a:ext>
                  </a:extLst>
                </a:gridCol>
                <a:gridCol w="1073295">
                  <a:extLst>
                    <a:ext uri="{9D8B030D-6E8A-4147-A177-3AD203B41FA5}">
                      <a16:colId xmlns:a16="http://schemas.microsoft.com/office/drawing/2014/main" val="2904432054"/>
                    </a:ext>
                  </a:extLst>
                </a:gridCol>
                <a:gridCol w="375278">
                  <a:extLst>
                    <a:ext uri="{9D8B030D-6E8A-4147-A177-3AD203B41FA5}">
                      <a16:colId xmlns:a16="http://schemas.microsoft.com/office/drawing/2014/main" val="1154595587"/>
                    </a:ext>
                  </a:extLst>
                </a:gridCol>
              </a:tblGrid>
              <a:tr h="103698">
                <a:tc gridSpan="4">
                  <a:txBody>
                    <a:bodyPr/>
                    <a:lstStyle/>
                    <a:p>
                      <a:pPr algn="ctr" fontAlgn="ctr"/>
                      <a:r>
                        <a:rPr lang="en-CA" sz="900" b="1" i="0" u="none" strike="noStrike" dirty="0">
                          <a:solidFill>
                            <a:srgbClr val="FFFFFF"/>
                          </a:solidFill>
                          <a:effectLst/>
                          <a:latin typeface="Calibri" panose="020F0502020204030204" pitchFamily="34" charset="0"/>
                        </a:rPr>
                        <a:t>Mapping Scores to BRRs</a:t>
                      </a:r>
                    </a:p>
                  </a:txBody>
                  <a:tcPr marL="9525" marR="9525" marT="9525" marB="0" anchor="ctr">
                    <a:lnL w="12700" cap="flat" cmpd="sng" algn="ctr">
                      <a:solidFill>
                        <a:srgbClr val="009999"/>
                      </a:solidFill>
                      <a:prstDash val="solid"/>
                      <a:round/>
                      <a:headEnd type="none" w="med" len="med"/>
                      <a:tailEnd type="none" w="med" len="med"/>
                    </a:lnL>
                    <a:lnR w="12700" cap="flat" cmpd="sng" algn="ctr">
                      <a:solidFill>
                        <a:srgbClr val="009999"/>
                      </a:solidFill>
                      <a:prstDash val="solid"/>
                      <a:round/>
                      <a:headEnd type="none" w="med" len="med"/>
                      <a:tailEnd type="none" w="med" len="med"/>
                    </a:lnR>
                    <a:lnT w="12700" cap="flat" cmpd="sng" algn="ctr">
                      <a:solidFill>
                        <a:srgbClr val="009999"/>
                      </a:solidFill>
                      <a:prstDash val="solid"/>
                      <a:round/>
                      <a:headEnd type="none" w="med" len="med"/>
                      <a:tailEnd type="none" w="med" len="med"/>
                    </a:lnT>
                    <a:lnB w="12700" cap="flat" cmpd="sng" algn="ctr">
                      <a:solidFill>
                        <a:srgbClr val="009999"/>
                      </a:solidFill>
                      <a:prstDash val="solid"/>
                      <a:round/>
                      <a:headEnd type="none" w="med" len="med"/>
                      <a:tailEnd type="none" w="med" len="med"/>
                    </a:lnB>
                    <a:solidFill>
                      <a:srgbClr val="0097A9"/>
                    </a:solidFill>
                  </a:tcPr>
                </a:tc>
                <a:tc hMerge="1">
                  <a:txBody>
                    <a:bodyPr/>
                    <a:lstStyle/>
                    <a:p>
                      <a:endParaRPr lang="en-CA"/>
                    </a:p>
                  </a:txBody>
                  <a:tcPr/>
                </a:tc>
                <a:tc hMerge="1">
                  <a:txBody>
                    <a:bodyPr/>
                    <a:lstStyle/>
                    <a:p>
                      <a:endParaRPr lang="en-CA"/>
                    </a:p>
                  </a:txBody>
                  <a:tcPr/>
                </a:tc>
                <a:tc hMerge="1">
                  <a:txBody>
                    <a:bodyPr/>
                    <a:lstStyle/>
                    <a:p>
                      <a:endParaRPr lang="en-CA"/>
                    </a:p>
                  </a:txBody>
                  <a:tcPr/>
                </a:tc>
                <a:extLst>
                  <a:ext uri="{0D108BD9-81ED-4DB2-BD59-A6C34878D82A}">
                    <a16:rowId xmlns:a16="http://schemas.microsoft.com/office/drawing/2014/main" val="748698364"/>
                  </a:ext>
                </a:extLst>
              </a:tr>
              <a:tr h="140675">
                <a:tc>
                  <a:txBody>
                    <a:bodyPr/>
                    <a:lstStyle/>
                    <a:p>
                      <a:pPr algn="ctr" fontAlgn="b"/>
                      <a:r>
                        <a:rPr lang="en-CA" sz="900" b="1" i="0" u="none" strike="noStrike" dirty="0">
                          <a:solidFill>
                            <a:srgbClr val="000000"/>
                          </a:solidFill>
                          <a:effectLst/>
                          <a:latin typeface="Calibri" panose="020F0502020204030204" pitchFamily="34" charset="0"/>
                        </a:rPr>
                        <a:t>Min Score (&gt;=)</a:t>
                      </a:r>
                    </a:p>
                  </a:txBody>
                  <a:tcPr marL="9525" marR="9525" marT="9525" marB="0" anchor="b">
                    <a:lnL w="12700" cap="flat" cmpd="sng" algn="ctr">
                      <a:solidFill>
                        <a:srgbClr val="009999"/>
                      </a:solidFill>
                      <a:prstDash val="solid"/>
                      <a:round/>
                      <a:headEnd type="none" w="med" len="med"/>
                      <a:tailEnd type="none" w="med" len="med"/>
                    </a:lnL>
                    <a:lnR>
                      <a:noFill/>
                    </a:lnR>
                    <a:lnT w="12700" cap="flat" cmpd="sng" algn="ctr">
                      <a:solidFill>
                        <a:srgbClr val="009999"/>
                      </a:solidFill>
                      <a:prstDash val="solid"/>
                      <a:round/>
                      <a:headEnd type="none" w="med" len="med"/>
                      <a:tailEnd type="none" w="med" len="med"/>
                    </a:lnT>
                    <a:lnB>
                      <a:noFill/>
                    </a:lnB>
                    <a:solidFill>
                      <a:srgbClr val="E7EFF1"/>
                    </a:solidFill>
                  </a:tcPr>
                </a:tc>
                <a:tc>
                  <a:txBody>
                    <a:bodyPr/>
                    <a:lstStyle/>
                    <a:p>
                      <a:pPr algn="ctr" fontAlgn="b"/>
                      <a:r>
                        <a:rPr lang="en-CA" sz="900" b="1" i="0" u="none" strike="noStrike">
                          <a:solidFill>
                            <a:srgbClr val="000000"/>
                          </a:solidFill>
                          <a:effectLst/>
                          <a:latin typeface="Calibri" panose="020F0502020204030204" pitchFamily="34" charset="0"/>
                        </a:rPr>
                        <a:t>Max Score (&lt;)</a:t>
                      </a:r>
                    </a:p>
                  </a:txBody>
                  <a:tcPr marL="9525" marR="9525" marT="9525" marB="0" anchor="b">
                    <a:lnL>
                      <a:noFill/>
                    </a:lnL>
                    <a:lnR>
                      <a:noFill/>
                    </a:lnR>
                    <a:lnT w="12700" cap="flat" cmpd="sng" algn="ctr">
                      <a:solidFill>
                        <a:srgbClr val="009999"/>
                      </a:solidFill>
                      <a:prstDash val="solid"/>
                      <a:round/>
                      <a:headEnd type="none" w="med" len="med"/>
                      <a:tailEnd type="none" w="med" len="med"/>
                    </a:lnT>
                    <a:lnB>
                      <a:noFill/>
                    </a:lnB>
                    <a:solidFill>
                      <a:srgbClr val="E7EFF1"/>
                    </a:solidFill>
                  </a:tcPr>
                </a:tc>
                <a:tc>
                  <a:txBody>
                    <a:bodyPr/>
                    <a:lstStyle/>
                    <a:p>
                      <a:pPr algn="ctr" fontAlgn="b"/>
                      <a:r>
                        <a:rPr lang="en-CA" sz="900" b="1" i="0" u="none" strike="noStrike">
                          <a:solidFill>
                            <a:srgbClr val="000000"/>
                          </a:solidFill>
                          <a:effectLst/>
                          <a:latin typeface="Calibri" panose="020F0502020204030204" pitchFamily="34" charset="0"/>
                        </a:rPr>
                        <a:t>BRR</a:t>
                      </a:r>
                    </a:p>
                  </a:txBody>
                  <a:tcPr marL="9525" marR="9525" marT="9525" marB="0" anchor="b">
                    <a:lnL>
                      <a:noFill/>
                    </a:lnL>
                    <a:lnR>
                      <a:noFill/>
                    </a:lnR>
                    <a:lnT w="12700" cap="flat" cmpd="sng" algn="ctr">
                      <a:solidFill>
                        <a:srgbClr val="009999"/>
                      </a:solidFill>
                      <a:prstDash val="solid"/>
                      <a:round/>
                      <a:headEnd type="none" w="med" len="med"/>
                      <a:tailEnd type="none" w="med" len="med"/>
                    </a:lnT>
                    <a:lnB>
                      <a:noFill/>
                    </a:lnB>
                    <a:solidFill>
                      <a:srgbClr val="E7EFF1"/>
                    </a:solidFill>
                  </a:tcPr>
                </a:tc>
                <a:tc>
                  <a:txBody>
                    <a:bodyPr/>
                    <a:lstStyle/>
                    <a:p>
                      <a:pPr algn="ctr" fontAlgn="b"/>
                      <a:r>
                        <a:rPr lang="en-CA" sz="900" b="1" i="0" u="none" strike="noStrike">
                          <a:solidFill>
                            <a:srgbClr val="000000"/>
                          </a:solidFill>
                          <a:effectLst/>
                          <a:latin typeface="Calibri" panose="020F0502020204030204" pitchFamily="34" charset="0"/>
                        </a:rPr>
                        <a:t>PD</a:t>
                      </a:r>
                    </a:p>
                  </a:txBody>
                  <a:tcPr marL="9525" marR="9525" marT="9525" marB="0" anchor="b">
                    <a:lnL>
                      <a:noFill/>
                    </a:lnL>
                    <a:lnR w="12700" cap="flat" cmpd="sng" algn="ctr">
                      <a:solidFill>
                        <a:srgbClr val="009999"/>
                      </a:solidFill>
                      <a:prstDash val="solid"/>
                      <a:round/>
                      <a:headEnd type="none" w="med" len="med"/>
                      <a:tailEnd type="none" w="med" len="med"/>
                    </a:lnR>
                    <a:lnT w="12700" cap="flat" cmpd="sng" algn="ctr">
                      <a:solidFill>
                        <a:srgbClr val="009999"/>
                      </a:solidFill>
                      <a:prstDash val="solid"/>
                      <a:round/>
                      <a:headEnd type="none" w="med" len="med"/>
                      <a:tailEnd type="none" w="med" len="med"/>
                    </a:lnT>
                    <a:lnB>
                      <a:noFill/>
                    </a:lnB>
                    <a:solidFill>
                      <a:srgbClr val="E7EFF1"/>
                    </a:solidFill>
                  </a:tcPr>
                </a:tc>
                <a:extLst>
                  <a:ext uri="{0D108BD9-81ED-4DB2-BD59-A6C34878D82A}">
                    <a16:rowId xmlns:a16="http://schemas.microsoft.com/office/drawing/2014/main" val="3307157453"/>
                  </a:ext>
                </a:extLst>
              </a:tr>
              <a:tr h="140675">
                <a:tc>
                  <a:txBody>
                    <a:bodyPr/>
                    <a:lstStyle/>
                    <a:p>
                      <a:pPr algn="ctr" fontAlgn="b"/>
                      <a:r>
                        <a:rPr lang="en-CA" sz="900" b="0" i="0" u="none" strike="noStrike" dirty="0">
                          <a:solidFill>
                            <a:srgbClr val="000000"/>
                          </a:solidFill>
                          <a:effectLst/>
                          <a:latin typeface="Calibri" panose="020F0502020204030204" pitchFamily="34" charset="0"/>
                        </a:rPr>
                        <a:t>642</a:t>
                      </a:r>
                    </a:p>
                  </a:txBody>
                  <a:tcPr marL="9525" marR="9525" marT="9525" marB="0" anchor="b">
                    <a:lnL w="12700" cap="flat" cmpd="sng" algn="ctr">
                      <a:solidFill>
                        <a:srgbClr val="009999"/>
                      </a:solidFill>
                      <a:prstDash val="solid"/>
                      <a:round/>
                      <a:headEnd type="none" w="med" len="med"/>
                      <a:tailEnd type="none" w="med" len="med"/>
                    </a:lnL>
                    <a:lnR>
                      <a:noFill/>
                    </a:lnR>
                    <a:lnT>
                      <a:noFill/>
                    </a:lnT>
                    <a:lnB>
                      <a:noFill/>
                    </a:lnB>
                    <a:solidFill>
                      <a:srgbClr val="FFFFFF"/>
                    </a:solidFill>
                  </a:tcPr>
                </a:tc>
                <a:tc>
                  <a:txBody>
                    <a:bodyPr/>
                    <a:lstStyle/>
                    <a:p>
                      <a:pPr algn="ctr" fontAlgn="b"/>
                      <a:r>
                        <a:rPr lang="en-CA" sz="900" b="0" i="0" u="none" strike="noStrike">
                          <a:solidFill>
                            <a:srgbClr val="000000"/>
                          </a:solidFill>
                          <a:effectLst/>
                          <a:latin typeface="Calibri" panose="020F0502020204030204" pitchFamily="34" charset="0"/>
                        </a:rPr>
                        <a:t> </a:t>
                      </a:r>
                    </a:p>
                  </a:txBody>
                  <a:tcPr marL="9525" marR="9525" marT="9525" marB="0" anchor="b">
                    <a:lnL>
                      <a:noFill/>
                    </a:lnL>
                    <a:lnR>
                      <a:noFill/>
                    </a:lnR>
                    <a:lnT>
                      <a:noFill/>
                    </a:lnT>
                    <a:lnB>
                      <a:noFill/>
                    </a:lnB>
                    <a:solidFill>
                      <a:srgbClr val="FFFFFF"/>
                    </a:solidFill>
                  </a:tcPr>
                </a:tc>
                <a:tc>
                  <a:txBody>
                    <a:bodyPr/>
                    <a:lstStyle/>
                    <a:p>
                      <a:pPr algn="ctr" fontAlgn="b"/>
                      <a:r>
                        <a:rPr lang="en-CA" sz="900" b="0" i="0" u="none" strike="noStrike" dirty="0">
                          <a:solidFill>
                            <a:srgbClr val="000000"/>
                          </a:solidFill>
                          <a:effectLst/>
                          <a:latin typeface="Calibri" panose="020F0502020204030204" pitchFamily="34" charset="0"/>
                        </a:rPr>
                        <a:t>7 (6H)</a:t>
                      </a:r>
                    </a:p>
                  </a:txBody>
                  <a:tcPr marL="9525" marR="9525" marT="9525" marB="0" anchor="b">
                    <a:lnL>
                      <a:noFill/>
                    </a:lnL>
                    <a:lnR>
                      <a:noFill/>
                    </a:lnR>
                    <a:lnT>
                      <a:noFill/>
                    </a:lnT>
                    <a:lnB>
                      <a:noFill/>
                    </a:lnB>
                    <a:solidFill>
                      <a:srgbClr val="FFFFFF"/>
                    </a:solidFill>
                  </a:tcPr>
                </a:tc>
                <a:tc>
                  <a:txBody>
                    <a:bodyPr/>
                    <a:lstStyle/>
                    <a:p>
                      <a:pPr algn="ctr" fontAlgn="b"/>
                      <a:r>
                        <a:rPr lang="en-CA" sz="900" b="0" i="0" u="none" strike="noStrike">
                          <a:solidFill>
                            <a:srgbClr val="000000"/>
                          </a:solidFill>
                          <a:effectLst/>
                          <a:latin typeface="Calibri" panose="020F0502020204030204" pitchFamily="34" charset="0"/>
                        </a:rPr>
                        <a:t>0.43%</a:t>
                      </a:r>
                    </a:p>
                  </a:txBody>
                  <a:tcPr marL="9525" marR="9525" marT="9525" marB="0" anchor="b">
                    <a:lnL>
                      <a:noFill/>
                    </a:lnL>
                    <a:lnR w="12700" cap="flat" cmpd="sng" algn="ctr">
                      <a:solidFill>
                        <a:srgbClr val="00999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413355860"/>
                  </a:ext>
                </a:extLst>
              </a:tr>
              <a:tr h="140675">
                <a:tc>
                  <a:txBody>
                    <a:bodyPr/>
                    <a:lstStyle/>
                    <a:p>
                      <a:pPr algn="ctr" fontAlgn="b"/>
                      <a:r>
                        <a:rPr lang="en-CA" sz="900" b="0" i="0" u="none" strike="noStrike">
                          <a:solidFill>
                            <a:srgbClr val="000000"/>
                          </a:solidFill>
                          <a:effectLst/>
                          <a:latin typeface="Calibri" panose="020F0502020204030204" pitchFamily="34" charset="0"/>
                        </a:rPr>
                        <a:t>622</a:t>
                      </a:r>
                    </a:p>
                  </a:txBody>
                  <a:tcPr marL="9525" marR="9525" marT="9525" marB="0" anchor="b">
                    <a:lnL w="12700" cap="flat" cmpd="sng" algn="ctr">
                      <a:solidFill>
                        <a:srgbClr val="009999"/>
                      </a:solidFill>
                      <a:prstDash val="solid"/>
                      <a:round/>
                      <a:headEnd type="none" w="med" len="med"/>
                      <a:tailEnd type="none" w="med" len="med"/>
                    </a:lnL>
                    <a:lnR>
                      <a:noFill/>
                    </a:lnR>
                    <a:lnT>
                      <a:noFill/>
                    </a:lnT>
                    <a:lnB>
                      <a:noFill/>
                    </a:lnB>
                    <a:solidFill>
                      <a:srgbClr val="E7EFF1"/>
                    </a:solidFill>
                  </a:tcPr>
                </a:tc>
                <a:tc>
                  <a:txBody>
                    <a:bodyPr/>
                    <a:lstStyle/>
                    <a:p>
                      <a:pPr algn="ctr" fontAlgn="b"/>
                      <a:r>
                        <a:rPr lang="en-CA" sz="900" b="0" i="0" u="none" strike="noStrike" dirty="0">
                          <a:solidFill>
                            <a:srgbClr val="000000"/>
                          </a:solidFill>
                          <a:effectLst/>
                          <a:latin typeface="Calibri" panose="020F0502020204030204" pitchFamily="34" charset="0"/>
                        </a:rPr>
                        <a:t>642</a:t>
                      </a:r>
                    </a:p>
                  </a:txBody>
                  <a:tcPr marL="9525" marR="9525" marT="9525" marB="0" anchor="b">
                    <a:lnL>
                      <a:noFill/>
                    </a:lnL>
                    <a:lnR>
                      <a:noFill/>
                    </a:lnR>
                    <a:lnT>
                      <a:noFill/>
                    </a:lnT>
                    <a:lnB>
                      <a:noFill/>
                    </a:lnB>
                    <a:solidFill>
                      <a:srgbClr val="E7EFF1"/>
                    </a:solidFill>
                  </a:tcPr>
                </a:tc>
                <a:tc>
                  <a:txBody>
                    <a:bodyPr/>
                    <a:lstStyle/>
                    <a:p>
                      <a:pPr algn="ctr" fontAlgn="b"/>
                      <a:r>
                        <a:rPr lang="en-CA" sz="900" b="0" i="0" u="none" strike="noStrike" dirty="0">
                          <a:solidFill>
                            <a:srgbClr val="000000"/>
                          </a:solidFill>
                          <a:effectLst/>
                          <a:latin typeface="Calibri" panose="020F0502020204030204" pitchFamily="34" charset="0"/>
                        </a:rPr>
                        <a:t>9 (6L)</a:t>
                      </a:r>
                    </a:p>
                  </a:txBody>
                  <a:tcPr marL="9525" marR="9525" marT="9525" marB="0" anchor="b">
                    <a:lnL>
                      <a:noFill/>
                    </a:lnL>
                    <a:lnR>
                      <a:noFill/>
                    </a:lnR>
                    <a:lnT>
                      <a:noFill/>
                    </a:lnT>
                    <a:lnB>
                      <a:noFill/>
                    </a:lnB>
                    <a:solidFill>
                      <a:srgbClr val="E7EFF1"/>
                    </a:solidFill>
                  </a:tcPr>
                </a:tc>
                <a:tc>
                  <a:txBody>
                    <a:bodyPr/>
                    <a:lstStyle/>
                    <a:p>
                      <a:pPr algn="ctr" fontAlgn="b"/>
                      <a:r>
                        <a:rPr lang="en-CA" sz="900" b="0" i="0" u="none" strike="noStrike">
                          <a:solidFill>
                            <a:srgbClr val="000000"/>
                          </a:solidFill>
                          <a:effectLst/>
                          <a:latin typeface="Calibri" panose="020F0502020204030204" pitchFamily="34" charset="0"/>
                        </a:rPr>
                        <a:t>1.00%</a:t>
                      </a:r>
                    </a:p>
                  </a:txBody>
                  <a:tcPr marL="9525" marR="9525" marT="9525" marB="0" anchor="b">
                    <a:lnL>
                      <a:noFill/>
                    </a:lnL>
                    <a:lnR w="12700" cap="flat" cmpd="sng" algn="ctr">
                      <a:solidFill>
                        <a:srgbClr val="00999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700407437"/>
                  </a:ext>
                </a:extLst>
              </a:tr>
              <a:tr h="140675">
                <a:tc>
                  <a:txBody>
                    <a:bodyPr/>
                    <a:lstStyle/>
                    <a:p>
                      <a:pPr algn="ctr" fontAlgn="b"/>
                      <a:r>
                        <a:rPr lang="en-CA" sz="900" b="0" i="0" u="none" strike="noStrike">
                          <a:solidFill>
                            <a:srgbClr val="000000"/>
                          </a:solidFill>
                          <a:effectLst/>
                          <a:latin typeface="Calibri" panose="020F0502020204030204" pitchFamily="34" charset="0"/>
                        </a:rPr>
                        <a:t>612</a:t>
                      </a:r>
                    </a:p>
                  </a:txBody>
                  <a:tcPr marL="9525" marR="9525" marT="9525" marB="0" anchor="b">
                    <a:lnL w="12700" cap="flat" cmpd="sng" algn="ctr">
                      <a:solidFill>
                        <a:srgbClr val="009999"/>
                      </a:solidFill>
                      <a:prstDash val="solid"/>
                      <a:round/>
                      <a:headEnd type="none" w="med" len="med"/>
                      <a:tailEnd type="none" w="med" len="med"/>
                    </a:lnL>
                    <a:lnR>
                      <a:noFill/>
                    </a:lnR>
                    <a:lnT>
                      <a:noFill/>
                    </a:lnT>
                    <a:lnB>
                      <a:noFill/>
                    </a:lnB>
                    <a:solidFill>
                      <a:srgbClr val="FFFFFF"/>
                    </a:solidFill>
                  </a:tcPr>
                </a:tc>
                <a:tc>
                  <a:txBody>
                    <a:bodyPr/>
                    <a:lstStyle/>
                    <a:p>
                      <a:pPr algn="ctr" fontAlgn="b"/>
                      <a:r>
                        <a:rPr lang="en-CA" sz="900" b="0" i="0" u="none" strike="noStrike" dirty="0">
                          <a:solidFill>
                            <a:srgbClr val="000000"/>
                          </a:solidFill>
                          <a:effectLst/>
                          <a:latin typeface="Calibri" panose="020F0502020204030204" pitchFamily="34" charset="0"/>
                        </a:rPr>
                        <a:t>622</a:t>
                      </a:r>
                    </a:p>
                  </a:txBody>
                  <a:tcPr marL="9525" marR="9525" marT="9525" marB="0" anchor="b">
                    <a:lnL>
                      <a:noFill/>
                    </a:lnL>
                    <a:lnR>
                      <a:noFill/>
                    </a:lnR>
                    <a:lnT>
                      <a:noFill/>
                    </a:lnT>
                    <a:lnB>
                      <a:noFill/>
                    </a:lnB>
                    <a:solidFill>
                      <a:srgbClr val="FFFFFF"/>
                    </a:solidFill>
                  </a:tcPr>
                </a:tc>
                <a:tc>
                  <a:txBody>
                    <a:bodyPr/>
                    <a:lstStyle/>
                    <a:p>
                      <a:pPr algn="ctr" fontAlgn="b"/>
                      <a:r>
                        <a:rPr lang="en-CA" sz="900" b="0" i="0" u="none" strike="noStrike" dirty="0">
                          <a:solidFill>
                            <a:srgbClr val="000000"/>
                          </a:solidFill>
                          <a:effectLst/>
                          <a:latin typeface="Calibri" panose="020F0502020204030204" pitchFamily="34" charset="0"/>
                        </a:rPr>
                        <a:t>10 (7H)</a:t>
                      </a:r>
                    </a:p>
                  </a:txBody>
                  <a:tcPr marL="9525" marR="9525" marT="9525" marB="0" anchor="b">
                    <a:lnL>
                      <a:noFill/>
                    </a:lnL>
                    <a:lnR>
                      <a:noFill/>
                    </a:lnR>
                    <a:lnT>
                      <a:noFill/>
                    </a:lnT>
                    <a:lnB>
                      <a:noFill/>
                    </a:lnB>
                    <a:solidFill>
                      <a:srgbClr val="FFFFFF"/>
                    </a:solidFill>
                  </a:tcPr>
                </a:tc>
                <a:tc>
                  <a:txBody>
                    <a:bodyPr/>
                    <a:lstStyle/>
                    <a:p>
                      <a:pPr algn="ctr" fontAlgn="b"/>
                      <a:r>
                        <a:rPr lang="en-CA" sz="900" b="0" i="0" u="none" strike="noStrike">
                          <a:solidFill>
                            <a:srgbClr val="000000"/>
                          </a:solidFill>
                          <a:effectLst/>
                          <a:latin typeface="Calibri" panose="020F0502020204030204" pitchFamily="34" charset="0"/>
                        </a:rPr>
                        <a:t>1.40%</a:t>
                      </a:r>
                    </a:p>
                  </a:txBody>
                  <a:tcPr marL="9525" marR="9525" marT="9525" marB="0" anchor="b">
                    <a:lnL>
                      <a:noFill/>
                    </a:lnL>
                    <a:lnR w="12700" cap="flat" cmpd="sng" algn="ctr">
                      <a:solidFill>
                        <a:srgbClr val="00999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4030078694"/>
                  </a:ext>
                </a:extLst>
              </a:tr>
              <a:tr h="140675">
                <a:tc>
                  <a:txBody>
                    <a:bodyPr/>
                    <a:lstStyle/>
                    <a:p>
                      <a:pPr algn="ctr" fontAlgn="b"/>
                      <a:r>
                        <a:rPr lang="en-CA" sz="900" b="0" i="0" u="none" strike="noStrike">
                          <a:solidFill>
                            <a:srgbClr val="000000"/>
                          </a:solidFill>
                          <a:effectLst/>
                          <a:latin typeface="Calibri" panose="020F0502020204030204" pitchFamily="34" charset="0"/>
                        </a:rPr>
                        <a:t>600</a:t>
                      </a:r>
                    </a:p>
                  </a:txBody>
                  <a:tcPr marL="9525" marR="9525" marT="9525" marB="0" anchor="b">
                    <a:lnL w="12700" cap="flat" cmpd="sng" algn="ctr">
                      <a:solidFill>
                        <a:srgbClr val="009999"/>
                      </a:solidFill>
                      <a:prstDash val="solid"/>
                      <a:round/>
                      <a:headEnd type="none" w="med" len="med"/>
                      <a:tailEnd type="none" w="med" len="med"/>
                    </a:lnL>
                    <a:lnR>
                      <a:noFill/>
                    </a:lnR>
                    <a:lnT>
                      <a:noFill/>
                    </a:lnT>
                    <a:lnB>
                      <a:noFill/>
                    </a:lnB>
                    <a:solidFill>
                      <a:srgbClr val="E7EFF1"/>
                    </a:solidFill>
                  </a:tcPr>
                </a:tc>
                <a:tc>
                  <a:txBody>
                    <a:bodyPr/>
                    <a:lstStyle/>
                    <a:p>
                      <a:pPr algn="ctr" fontAlgn="b"/>
                      <a:r>
                        <a:rPr lang="en-CA" sz="900" b="0" i="0" u="none" strike="noStrike" dirty="0">
                          <a:solidFill>
                            <a:srgbClr val="000000"/>
                          </a:solidFill>
                          <a:effectLst/>
                          <a:latin typeface="Calibri" panose="020F0502020204030204" pitchFamily="34" charset="0"/>
                        </a:rPr>
                        <a:t>612</a:t>
                      </a:r>
                    </a:p>
                  </a:txBody>
                  <a:tcPr marL="9525" marR="9525" marT="9525" marB="0" anchor="b">
                    <a:lnL>
                      <a:noFill/>
                    </a:lnL>
                    <a:lnR>
                      <a:noFill/>
                    </a:lnR>
                    <a:lnT>
                      <a:noFill/>
                    </a:lnT>
                    <a:lnB>
                      <a:noFill/>
                    </a:lnB>
                    <a:solidFill>
                      <a:srgbClr val="E7EFF1"/>
                    </a:solidFill>
                  </a:tcPr>
                </a:tc>
                <a:tc>
                  <a:txBody>
                    <a:bodyPr/>
                    <a:lstStyle/>
                    <a:p>
                      <a:pPr algn="ctr" fontAlgn="b"/>
                      <a:r>
                        <a:rPr lang="en-CA" sz="900" b="0" i="0" u="none" strike="noStrike" dirty="0">
                          <a:solidFill>
                            <a:srgbClr val="000000"/>
                          </a:solidFill>
                          <a:effectLst/>
                          <a:latin typeface="Calibri" panose="020F0502020204030204" pitchFamily="34" charset="0"/>
                        </a:rPr>
                        <a:t>11 (7M)</a:t>
                      </a:r>
                    </a:p>
                  </a:txBody>
                  <a:tcPr marL="9525" marR="9525" marT="9525" marB="0" anchor="b">
                    <a:lnL>
                      <a:noFill/>
                    </a:lnL>
                    <a:lnR>
                      <a:noFill/>
                    </a:lnR>
                    <a:lnT>
                      <a:noFill/>
                    </a:lnT>
                    <a:lnB>
                      <a:noFill/>
                    </a:lnB>
                    <a:solidFill>
                      <a:srgbClr val="E7EFF1"/>
                    </a:solidFill>
                  </a:tcPr>
                </a:tc>
                <a:tc>
                  <a:txBody>
                    <a:bodyPr/>
                    <a:lstStyle/>
                    <a:p>
                      <a:pPr algn="ctr" fontAlgn="b"/>
                      <a:r>
                        <a:rPr lang="en-CA" sz="900" b="0" i="0" u="none" strike="noStrike">
                          <a:solidFill>
                            <a:srgbClr val="000000"/>
                          </a:solidFill>
                          <a:effectLst/>
                          <a:latin typeface="Calibri" panose="020F0502020204030204" pitchFamily="34" charset="0"/>
                        </a:rPr>
                        <a:t>2.00%</a:t>
                      </a:r>
                    </a:p>
                  </a:txBody>
                  <a:tcPr marL="9525" marR="9525" marT="9525" marB="0" anchor="b">
                    <a:lnL>
                      <a:noFill/>
                    </a:lnL>
                    <a:lnR w="12700" cap="flat" cmpd="sng" algn="ctr">
                      <a:solidFill>
                        <a:srgbClr val="00999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930360661"/>
                  </a:ext>
                </a:extLst>
              </a:tr>
              <a:tr h="140675">
                <a:tc>
                  <a:txBody>
                    <a:bodyPr/>
                    <a:lstStyle/>
                    <a:p>
                      <a:pPr algn="ctr" fontAlgn="b"/>
                      <a:r>
                        <a:rPr lang="en-CA" sz="900" b="0" i="0" u="none" strike="noStrike">
                          <a:solidFill>
                            <a:srgbClr val="000000"/>
                          </a:solidFill>
                          <a:effectLst/>
                          <a:latin typeface="Calibri" panose="020F0502020204030204" pitchFamily="34" charset="0"/>
                        </a:rPr>
                        <a:t>585</a:t>
                      </a:r>
                    </a:p>
                  </a:txBody>
                  <a:tcPr marL="9525" marR="9525" marT="9525" marB="0" anchor="b">
                    <a:lnL w="12700" cap="flat" cmpd="sng" algn="ctr">
                      <a:solidFill>
                        <a:srgbClr val="009999"/>
                      </a:solidFill>
                      <a:prstDash val="solid"/>
                      <a:round/>
                      <a:headEnd type="none" w="med" len="med"/>
                      <a:tailEnd type="none" w="med" len="med"/>
                    </a:lnL>
                    <a:lnR>
                      <a:noFill/>
                    </a:lnR>
                    <a:lnT>
                      <a:noFill/>
                    </a:lnT>
                    <a:lnB>
                      <a:noFill/>
                    </a:lnB>
                    <a:solidFill>
                      <a:srgbClr val="FFFFFF"/>
                    </a:solidFill>
                  </a:tcPr>
                </a:tc>
                <a:tc>
                  <a:txBody>
                    <a:bodyPr/>
                    <a:lstStyle/>
                    <a:p>
                      <a:pPr algn="ctr" fontAlgn="b"/>
                      <a:r>
                        <a:rPr lang="en-CA" sz="900" b="0" i="0" u="none" strike="noStrike" dirty="0">
                          <a:solidFill>
                            <a:srgbClr val="000000"/>
                          </a:solidFill>
                          <a:effectLst/>
                          <a:latin typeface="Calibri" panose="020F0502020204030204" pitchFamily="34" charset="0"/>
                        </a:rPr>
                        <a:t>600</a:t>
                      </a:r>
                    </a:p>
                  </a:txBody>
                  <a:tcPr marL="9525" marR="9525" marT="9525" marB="0" anchor="b">
                    <a:lnL>
                      <a:noFill/>
                    </a:lnL>
                    <a:lnR>
                      <a:noFill/>
                    </a:lnR>
                    <a:lnT>
                      <a:noFill/>
                    </a:lnT>
                    <a:lnB>
                      <a:noFill/>
                    </a:lnB>
                    <a:solidFill>
                      <a:srgbClr val="FFFFFF"/>
                    </a:solidFill>
                  </a:tcPr>
                </a:tc>
                <a:tc>
                  <a:txBody>
                    <a:bodyPr/>
                    <a:lstStyle/>
                    <a:p>
                      <a:pPr algn="ctr" fontAlgn="b"/>
                      <a:r>
                        <a:rPr lang="en-CA" sz="900" b="0" i="0" u="none" strike="noStrike" dirty="0">
                          <a:solidFill>
                            <a:srgbClr val="000000"/>
                          </a:solidFill>
                          <a:effectLst/>
                          <a:latin typeface="Calibri" panose="020F0502020204030204" pitchFamily="34" charset="0"/>
                        </a:rPr>
                        <a:t>13 (8H)</a:t>
                      </a:r>
                    </a:p>
                  </a:txBody>
                  <a:tcPr marL="9525" marR="9525" marT="9525" marB="0" anchor="b">
                    <a:lnL>
                      <a:noFill/>
                    </a:lnL>
                    <a:lnR>
                      <a:noFill/>
                    </a:lnR>
                    <a:lnT>
                      <a:noFill/>
                    </a:lnT>
                    <a:lnB>
                      <a:noFill/>
                    </a:lnB>
                    <a:solidFill>
                      <a:srgbClr val="FFFFFF"/>
                    </a:solidFill>
                  </a:tcPr>
                </a:tc>
                <a:tc>
                  <a:txBody>
                    <a:bodyPr/>
                    <a:lstStyle/>
                    <a:p>
                      <a:pPr algn="ctr" fontAlgn="b"/>
                      <a:r>
                        <a:rPr lang="en-CA" sz="900" b="0" i="0" u="none" strike="noStrike">
                          <a:solidFill>
                            <a:srgbClr val="000000"/>
                          </a:solidFill>
                          <a:effectLst/>
                          <a:latin typeface="Calibri" panose="020F0502020204030204" pitchFamily="34" charset="0"/>
                        </a:rPr>
                        <a:t>4.00%</a:t>
                      </a:r>
                    </a:p>
                  </a:txBody>
                  <a:tcPr marL="9525" marR="9525" marT="9525" marB="0" anchor="b">
                    <a:lnL>
                      <a:noFill/>
                    </a:lnL>
                    <a:lnR w="12700" cap="flat" cmpd="sng" algn="ctr">
                      <a:solidFill>
                        <a:srgbClr val="00999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826152899"/>
                  </a:ext>
                </a:extLst>
              </a:tr>
              <a:tr h="140675">
                <a:tc>
                  <a:txBody>
                    <a:bodyPr/>
                    <a:lstStyle/>
                    <a:p>
                      <a:pPr algn="ctr" fontAlgn="b"/>
                      <a:r>
                        <a:rPr lang="en-CA" sz="900" b="0" i="0" u="none" strike="noStrike">
                          <a:solidFill>
                            <a:srgbClr val="000000"/>
                          </a:solidFill>
                          <a:effectLst/>
                          <a:latin typeface="Calibri" panose="020F0502020204030204" pitchFamily="34" charset="0"/>
                        </a:rPr>
                        <a:t>564</a:t>
                      </a:r>
                    </a:p>
                  </a:txBody>
                  <a:tcPr marL="9525" marR="9525" marT="9525" marB="0" anchor="b">
                    <a:lnL w="12700" cap="flat" cmpd="sng" algn="ctr">
                      <a:solidFill>
                        <a:srgbClr val="009999"/>
                      </a:solidFill>
                      <a:prstDash val="solid"/>
                      <a:round/>
                      <a:headEnd type="none" w="med" len="med"/>
                      <a:tailEnd type="none" w="med" len="med"/>
                    </a:lnL>
                    <a:lnR>
                      <a:noFill/>
                    </a:lnR>
                    <a:lnT>
                      <a:noFill/>
                    </a:lnT>
                    <a:lnB>
                      <a:noFill/>
                    </a:lnB>
                    <a:solidFill>
                      <a:srgbClr val="E7EFF1"/>
                    </a:solidFill>
                  </a:tcPr>
                </a:tc>
                <a:tc>
                  <a:txBody>
                    <a:bodyPr/>
                    <a:lstStyle/>
                    <a:p>
                      <a:pPr algn="ctr" fontAlgn="b"/>
                      <a:r>
                        <a:rPr lang="en-CA" sz="900" b="0" i="0" u="none" strike="noStrike">
                          <a:solidFill>
                            <a:srgbClr val="000000"/>
                          </a:solidFill>
                          <a:effectLst/>
                          <a:latin typeface="Calibri" panose="020F0502020204030204" pitchFamily="34" charset="0"/>
                        </a:rPr>
                        <a:t>585</a:t>
                      </a:r>
                    </a:p>
                  </a:txBody>
                  <a:tcPr marL="9525" marR="9525" marT="9525" marB="0" anchor="b">
                    <a:lnL>
                      <a:noFill/>
                    </a:lnL>
                    <a:lnR>
                      <a:noFill/>
                    </a:lnR>
                    <a:lnT>
                      <a:noFill/>
                    </a:lnT>
                    <a:lnB>
                      <a:noFill/>
                    </a:lnB>
                    <a:solidFill>
                      <a:srgbClr val="E7EFF1"/>
                    </a:solidFill>
                  </a:tcPr>
                </a:tc>
                <a:tc>
                  <a:txBody>
                    <a:bodyPr/>
                    <a:lstStyle/>
                    <a:p>
                      <a:pPr algn="ctr" fontAlgn="b"/>
                      <a:r>
                        <a:rPr lang="en-CA" sz="900" b="0" i="0" u="none" strike="noStrike" dirty="0">
                          <a:solidFill>
                            <a:srgbClr val="000000"/>
                          </a:solidFill>
                          <a:effectLst/>
                          <a:latin typeface="Calibri" panose="020F0502020204030204" pitchFamily="34" charset="0"/>
                        </a:rPr>
                        <a:t>14 (8M)</a:t>
                      </a:r>
                    </a:p>
                  </a:txBody>
                  <a:tcPr marL="9525" marR="9525" marT="9525" marB="0" anchor="b">
                    <a:lnL>
                      <a:noFill/>
                    </a:lnL>
                    <a:lnR>
                      <a:noFill/>
                    </a:lnR>
                    <a:lnT>
                      <a:noFill/>
                    </a:lnT>
                    <a:lnB>
                      <a:noFill/>
                    </a:lnB>
                    <a:solidFill>
                      <a:srgbClr val="E7EFF1"/>
                    </a:solidFill>
                  </a:tcPr>
                </a:tc>
                <a:tc>
                  <a:txBody>
                    <a:bodyPr/>
                    <a:lstStyle/>
                    <a:p>
                      <a:pPr algn="ctr" fontAlgn="b"/>
                      <a:r>
                        <a:rPr lang="en-CA" sz="900" b="0" i="0" u="none" strike="noStrike" dirty="0">
                          <a:solidFill>
                            <a:srgbClr val="000000"/>
                          </a:solidFill>
                          <a:effectLst/>
                          <a:latin typeface="Calibri" panose="020F0502020204030204" pitchFamily="34" charset="0"/>
                        </a:rPr>
                        <a:t>6.00%</a:t>
                      </a:r>
                    </a:p>
                  </a:txBody>
                  <a:tcPr marL="9525" marR="9525" marT="9525" marB="0" anchor="b">
                    <a:lnL>
                      <a:noFill/>
                    </a:lnL>
                    <a:lnR w="12700" cap="flat" cmpd="sng" algn="ctr">
                      <a:solidFill>
                        <a:srgbClr val="00999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2918389208"/>
                  </a:ext>
                </a:extLst>
              </a:tr>
              <a:tr h="147709">
                <a:tc>
                  <a:txBody>
                    <a:bodyPr/>
                    <a:lstStyle/>
                    <a:p>
                      <a:pPr algn="ctr" fontAlgn="b"/>
                      <a:r>
                        <a:rPr lang="en-CA" sz="900" b="0" i="0" u="none" strike="noStrike">
                          <a:solidFill>
                            <a:srgbClr val="000000"/>
                          </a:solidFill>
                          <a:effectLst/>
                          <a:latin typeface="Calibri" panose="020F0502020204030204" pitchFamily="34" charset="0"/>
                        </a:rPr>
                        <a:t>0</a:t>
                      </a:r>
                    </a:p>
                  </a:txBody>
                  <a:tcPr marL="9525" marR="9525" marT="9525" marB="0" anchor="b">
                    <a:lnL w="12700" cap="flat" cmpd="sng" algn="ctr">
                      <a:solidFill>
                        <a:srgbClr val="009999"/>
                      </a:solidFill>
                      <a:prstDash val="solid"/>
                      <a:round/>
                      <a:headEnd type="none" w="med" len="med"/>
                      <a:tailEnd type="none" w="med" len="med"/>
                    </a:lnL>
                    <a:lnR>
                      <a:noFill/>
                    </a:lnR>
                    <a:lnT>
                      <a:noFill/>
                    </a:lnT>
                    <a:lnB w="12700" cap="flat" cmpd="sng" algn="ctr">
                      <a:solidFill>
                        <a:srgbClr val="009999"/>
                      </a:solidFill>
                      <a:prstDash val="solid"/>
                      <a:round/>
                      <a:headEnd type="none" w="med" len="med"/>
                      <a:tailEnd type="none" w="med" len="med"/>
                    </a:lnB>
                    <a:solidFill>
                      <a:srgbClr val="FFFFFF"/>
                    </a:solidFill>
                  </a:tcPr>
                </a:tc>
                <a:tc>
                  <a:txBody>
                    <a:bodyPr/>
                    <a:lstStyle/>
                    <a:p>
                      <a:pPr algn="ctr" fontAlgn="b"/>
                      <a:r>
                        <a:rPr lang="en-CA" sz="900" b="0" i="0" u="none" strike="noStrike">
                          <a:solidFill>
                            <a:srgbClr val="000000"/>
                          </a:solidFill>
                          <a:effectLst/>
                          <a:latin typeface="Calibri" panose="020F0502020204030204" pitchFamily="34" charset="0"/>
                        </a:rPr>
                        <a:t>564</a:t>
                      </a:r>
                    </a:p>
                  </a:txBody>
                  <a:tcPr marL="9525" marR="9525" marT="9525" marB="0" anchor="b">
                    <a:lnL>
                      <a:noFill/>
                    </a:lnL>
                    <a:lnR>
                      <a:noFill/>
                    </a:lnR>
                    <a:lnT>
                      <a:noFill/>
                    </a:lnT>
                    <a:lnB w="12700" cap="flat" cmpd="sng" algn="ctr">
                      <a:solidFill>
                        <a:srgbClr val="009999"/>
                      </a:solidFill>
                      <a:prstDash val="solid"/>
                      <a:round/>
                      <a:headEnd type="none" w="med" len="med"/>
                      <a:tailEnd type="none" w="med" len="med"/>
                    </a:lnB>
                    <a:solidFill>
                      <a:srgbClr val="FFFFFF"/>
                    </a:solidFill>
                  </a:tcPr>
                </a:tc>
                <a:tc>
                  <a:txBody>
                    <a:bodyPr/>
                    <a:lstStyle/>
                    <a:p>
                      <a:pPr algn="ctr" fontAlgn="b"/>
                      <a:r>
                        <a:rPr lang="en-CA" sz="900" b="0" i="0" u="none" strike="noStrike">
                          <a:solidFill>
                            <a:srgbClr val="000000"/>
                          </a:solidFill>
                          <a:effectLst/>
                          <a:latin typeface="Calibri" panose="020F0502020204030204" pitchFamily="34" charset="0"/>
                        </a:rPr>
                        <a:t>18 (9L)</a:t>
                      </a:r>
                    </a:p>
                  </a:txBody>
                  <a:tcPr marL="9525" marR="9525" marT="9525" marB="0" anchor="b">
                    <a:lnL>
                      <a:noFill/>
                    </a:lnL>
                    <a:lnR>
                      <a:noFill/>
                    </a:lnR>
                    <a:lnT>
                      <a:noFill/>
                    </a:lnT>
                    <a:lnB w="12700" cap="flat" cmpd="sng" algn="ctr">
                      <a:solidFill>
                        <a:srgbClr val="009999"/>
                      </a:solidFill>
                      <a:prstDash val="solid"/>
                      <a:round/>
                      <a:headEnd type="none" w="med" len="med"/>
                      <a:tailEnd type="none" w="med" len="med"/>
                    </a:lnB>
                    <a:solidFill>
                      <a:srgbClr val="FFFFFF"/>
                    </a:solidFill>
                  </a:tcPr>
                </a:tc>
                <a:tc>
                  <a:txBody>
                    <a:bodyPr/>
                    <a:lstStyle/>
                    <a:p>
                      <a:pPr algn="ctr" fontAlgn="b"/>
                      <a:r>
                        <a:rPr lang="en-CA" sz="900" b="0" i="0" u="none" strike="noStrike" dirty="0">
                          <a:solidFill>
                            <a:srgbClr val="000000"/>
                          </a:solidFill>
                          <a:effectLst/>
                          <a:latin typeface="Calibri" panose="020F0502020204030204" pitchFamily="34" charset="0"/>
                        </a:rPr>
                        <a:t>21.00%</a:t>
                      </a:r>
                    </a:p>
                  </a:txBody>
                  <a:tcPr marL="9525" marR="9525" marT="9525" marB="0" anchor="b">
                    <a:lnL>
                      <a:noFill/>
                    </a:lnL>
                    <a:lnR w="12700" cap="flat" cmpd="sng" algn="ctr">
                      <a:solidFill>
                        <a:srgbClr val="009999"/>
                      </a:solidFill>
                      <a:prstDash val="solid"/>
                      <a:round/>
                      <a:headEnd type="none" w="med" len="med"/>
                      <a:tailEnd type="none" w="med" len="med"/>
                    </a:lnR>
                    <a:lnT>
                      <a:noFill/>
                    </a:lnT>
                    <a:lnB w="12700" cap="flat" cmpd="sng" algn="ctr">
                      <a:solidFill>
                        <a:srgbClr val="009999"/>
                      </a:solidFill>
                      <a:prstDash val="solid"/>
                      <a:round/>
                      <a:headEnd type="none" w="med" len="med"/>
                      <a:tailEnd type="none" w="med" len="med"/>
                    </a:lnB>
                    <a:solidFill>
                      <a:srgbClr val="FFFFFF"/>
                    </a:solidFill>
                  </a:tcPr>
                </a:tc>
                <a:extLst>
                  <a:ext uri="{0D108BD9-81ED-4DB2-BD59-A6C34878D82A}">
                    <a16:rowId xmlns:a16="http://schemas.microsoft.com/office/drawing/2014/main" val="2694388382"/>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4062071687"/>
              </p:ext>
            </p:extLst>
          </p:nvPr>
        </p:nvGraphicFramePr>
        <p:xfrm>
          <a:off x="6238967" y="3233216"/>
          <a:ext cx="2421583" cy="971550"/>
        </p:xfrm>
        <a:graphic>
          <a:graphicData uri="http://schemas.openxmlformats.org/drawingml/2006/table">
            <a:tbl>
              <a:tblPr/>
              <a:tblGrid>
                <a:gridCol w="1450428">
                  <a:extLst>
                    <a:ext uri="{9D8B030D-6E8A-4147-A177-3AD203B41FA5}">
                      <a16:colId xmlns:a16="http://schemas.microsoft.com/office/drawing/2014/main" val="2205535493"/>
                    </a:ext>
                  </a:extLst>
                </a:gridCol>
                <a:gridCol w="971155">
                  <a:extLst>
                    <a:ext uri="{9D8B030D-6E8A-4147-A177-3AD203B41FA5}">
                      <a16:colId xmlns:a16="http://schemas.microsoft.com/office/drawing/2014/main" val="740761391"/>
                    </a:ext>
                  </a:extLst>
                </a:gridCol>
              </a:tblGrid>
              <a:tr h="200025">
                <a:tc gridSpan="2">
                  <a:txBody>
                    <a:bodyPr/>
                    <a:lstStyle/>
                    <a:p>
                      <a:pPr algn="ctr" fontAlgn="ctr"/>
                      <a:r>
                        <a:rPr lang="en-CA" sz="1000" b="1" i="0" u="none" strike="noStrike" dirty="0">
                          <a:solidFill>
                            <a:srgbClr val="FFFFFF"/>
                          </a:solidFill>
                          <a:effectLst/>
                          <a:latin typeface="Calibri" panose="020F0502020204030204" pitchFamily="34" charset="0"/>
                        </a:rPr>
                        <a:t>Current Portfolio Composition</a:t>
                      </a:r>
                    </a:p>
                  </a:txBody>
                  <a:tcPr marL="9525" marR="9525" marT="9525" marB="0" anchor="ctr">
                    <a:lnL w="12700" cap="flat" cmpd="sng" algn="ctr">
                      <a:solidFill>
                        <a:srgbClr val="009999"/>
                      </a:solidFill>
                      <a:prstDash val="solid"/>
                      <a:round/>
                      <a:headEnd type="none" w="med" len="med"/>
                      <a:tailEnd type="none" w="med" len="med"/>
                    </a:lnL>
                    <a:lnR w="12700" cap="flat" cmpd="sng" algn="ctr">
                      <a:solidFill>
                        <a:srgbClr val="009999"/>
                      </a:solidFill>
                      <a:prstDash val="solid"/>
                      <a:round/>
                      <a:headEnd type="none" w="med" len="med"/>
                      <a:tailEnd type="none" w="med" len="med"/>
                    </a:lnR>
                    <a:lnT w="12700" cap="flat" cmpd="sng" algn="ctr">
                      <a:solidFill>
                        <a:srgbClr val="009999"/>
                      </a:solidFill>
                      <a:prstDash val="solid"/>
                      <a:round/>
                      <a:headEnd type="none" w="med" len="med"/>
                      <a:tailEnd type="none" w="med" len="med"/>
                    </a:lnT>
                    <a:lnB w="12700" cap="flat" cmpd="sng" algn="ctr">
                      <a:solidFill>
                        <a:srgbClr val="009999"/>
                      </a:solidFill>
                      <a:prstDash val="solid"/>
                      <a:round/>
                      <a:headEnd type="none" w="med" len="med"/>
                      <a:tailEnd type="none" w="med" len="med"/>
                    </a:lnB>
                    <a:solidFill>
                      <a:srgbClr val="0097A9"/>
                    </a:solidFill>
                  </a:tcPr>
                </a:tc>
                <a:tc hMerge="1">
                  <a:txBody>
                    <a:bodyPr/>
                    <a:lstStyle/>
                    <a:p>
                      <a:endParaRPr lang="en-CA"/>
                    </a:p>
                  </a:txBody>
                  <a:tcPr/>
                </a:tc>
                <a:extLst>
                  <a:ext uri="{0D108BD9-81ED-4DB2-BD59-A6C34878D82A}">
                    <a16:rowId xmlns:a16="http://schemas.microsoft.com/office/drawing/2014/main" val="773336296"/>
                  </a:ext>
                </a:extLst>
              </a:tr>
              <a:tr h="190500">
                <a:tc>
                  <a:txBody>
                    <a:bodyPr/>
                    <a:lstStyle/>
                    <a:p>
                      <a:pPr algn="ctr" fontAlgn="ctr"/>
                      <a:r>
                        <a:rPr lang="en-CA" sz="1000" b="1" i="0" u="none" strike="noStrike">
                          <a:solidFill>
                            <a:srgbClr val="000000"/>
                          </a:solidFill>
                          <a:effectLst/>
                          <a:latin typeface="Calibri" panose="020F0502020204030204" pitchFamily="34" charset="0"/>
                        </a:rPr>
                        <a:t>Segment</a:t>
                      </a:r>
                    </a:p>
                  </a:txBody>
                  <a:tcPr marL="9525" marR="9525" marT="9525" marB="0" anchor="ctr">
                    <a:lnL w="12700" cap="flat" cmpd="sng" algn="ctr">
                      <a:solidFill>
                        <a:srgbClr val="009999"/>
                      </a:solidFill>
                      <a:prstDash val="solid"/>
                      <a:round/>
                      <a:headEnd type="none" w="med" len="med"/>
                      <a:tailEnd type="none" w="med" len="med"/>
                    </a:lnL>
                    <a:lnR>
                      <a:noFill/>
                    </a:lnR>
                    <a:lnT w="12700" cap="flat" cmpd="sng" algn="ctr">
                      <a:solidFill>
                        <a:srgbClr val="009999"/>
                      </a:solidFill>
                      <a:prstDash val="solid"/>
                      <a:round/>
                      <a:headEnd type="none" w="med" len="med"/>
                      <a:tailEnd type="none" w="med" len="med"/>
                    </a:lnT>
                    <a:lnB>
                      <a:noFill/>
                    </a:lnB>
                    <a:solidFill>
                      <a:srgbClr val="E7EFF1"/>
                    </a:solidFill>
                  </a:tcPr>
                </a:tc>
                <a:tc>
                  <a:txBody>
                    <a:bodyPr/>
                    <a:lstStyle/>
                    <a:p>
                      <a:pPr algn="ctr" fontAlgn="ctr"/>
                      <a:r>
                        <a:rPr lang="en-CA" sz="1000" b="1" i="0" u="none" strike="noStrike">
                          <a:solidFill>
                            <a:srgbClr val="000000"/>
                          </a:solidFill>
                          <a:effectLst/>
                          <a:latin typeface="Calibri" panose="020F0502020204030204" pitchFamily="34" charset="0"/>
                        </a:rPr>
                        <a:t>Percentage</a:t>
                      </a:r>
                    </a:p>
                  </a:txBody>
                  <a:tcPr marL="9525" marR="9525" marT="9525" marB="0" anchor="ctr">
                    <a:lnL>
                      <a:noFill/>
                    </a:lnL>
                    <a:lnR w="12700" cap="flat" cmpd="sng" algn="ctr">
                      <a:solidFill>
                        <a:srgbClr val="009999"/>
                      </a:solidFill>
                      <a:prstDash val="solid"/>
                      <a:round/>
                      <a:headEnd type="none" w="med" len="med"/>
                      <a:tailEnd type="none" w="med" len="med"/>
                    </a:lnR>
                    <a:lnT w="12700" cap="flat" cmpd="sng" algn="ctr">
                      <a:solidFill>
                        <a:srgbClr val="009999"/>
                      </a:solidFill>
                      <a:prstDash val="solid"/>
                      <a:round/>
                      <a:headEnd type="none" w="med" len="med"/>
                      <a:tailEnd type="none" w="med" len="med"/>
                    </a:lnT>
                    <a:lnB>
                      <a:noFill/>
                    </a:lnB>
                    <a:solidFill>
                      <a:srgbClr val="E7EFF1"/>
                    </a:solidFill>
                  </a:tcPr>
                </a:tc>
                <a:extLst>
                  <a:ext uri="{0D108BD9-81ED-4DB2-BD59-A6C34878D82A}">
                    <a16:rowId xmlns:a16="http://schemas.microsoft.com/office/drawing/2014/main" val="3825135001"/>
                  </a:ext>
                </a:extLst>
              </a:tr>
              <a:tr h="190500">
                <a:tc>
                  <a:txBody>
                    <a:bodyPr/>
                    <a:lstStyle/>
                    <a:p>
                      <a:pPr algn="ctr" fontAlgn="ctr"/>
                      <a:r>
                        <a:rPr lang="en-CA" sz="1000" b="0" i="0" u="none" strike="noStrike" dirty="0">
                          <a:solidFill>
                            <a:srgbClr val="000000"/>
                          </a:solidFill>
                          <a:effectLst/>
                          <a:latin typeface="Calibri" panose="020F0502020204030204" pitchFamily="34" charset="0"/>
                        </a:rPr>
                        <a:t>EFG %</a:t>
                      </a:r>
                    </a:p>
                  </a:txBody>
                  <a:tcPr marL="9525" marR="9525" marT="9525" marB="0" anchor="ctr">
                    <a:lnL w="12700" cap="flat" cmpd="sng" algn="ctr">
                      <a:solidFill>
                        <a:srgbClr val="009999"/>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CA" sz="1000" b="0" i="0" u="none" strike="noStrike" dirty="0" smtClean="0">
                          <a:solidFill>
                            <a:srgbClr val="000000"/>
                          </a:solidFill>
                          <a:effectLst/>
                          <a:latin typeface="Calibri" panose="020F0502020204030204" pitchFamily="34" charset="0"/>
                        </a:rPr>
                        <a:t>8.74%</a:t>
                      </a:r>
                      <a:endParaRPr lang="en-CA" sz="1000" b="0" i="0" u="none" strike="noStrike" dirty="0">
                        <a:solidFill>
                          <a:srgbClr val="000000"/>
                        </a:solidFill>
                        <a:effectLst/>
                        <a:latin typeface="Calibri" panose="020F0502020204030204" pitchFamily="34" charset="0"/>
                      </a:endParaRPr>
                    </a:p>
                  </a:txBody>
                  <a:tcPr marL="9525" marR="9525" marT="9525" marB="0" anchor="ctr">
                    <a:lnL>
                      <a:noFill/>
                    </a:lnL>
                    <a:lnR w="12700" cap="flat" cmpd="sng" algn="ctr">
                      <a:solidFill>
                        <a:srgbClr val="00999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814598604"/>
                  </a:ext>
                </a:extLst>
              </a:tr>
              <a:tr h="190500">
                <a:tc>
                  <a:txBody>
                    <a:bodyPr/>
                    <a:lstStyle/>
                    <a:p>
                      <a:pPr algn="ctr" fontAlgn="ctr"/>
                      <a:r>
                        <a:rPr lang="en-CA" sz="1000" b="0" i="0" u="none" strike="noStrike" dirty="0">
                          <a:solidFill>
                            <a:srgbClr val="000000"/>
                          </a:solidFill>
                          <a:effectLst/>
                          <a:latin typeface="Calibri" panose="020F0502020204030204" pitchFamily="34" charset="0"/>
                        </a:rPr>
                        <a:t>NL %</a:t>
                      </a:r>
                    </a:p>
                  </a:txBody>
                  <a:tcPr marL="9525" marR="9525" marT="9525" marB="0" anchor="ctr">
                    <a:lnL w="12700" cap="flat" cmpd="sng" algn="ctr">
                      <a:solidFill>
                        <a:srgbClr val="009999"/>
                      </a:solidFill>
                      <a:prstDash val="solid"/>
                      <a:round/>
                      <a:headEnd type="none" w="med" len="med"/>
                      <a:tailEnd type="none" w="med" len="med"/>
                    </a:lnL>
                    <a:lnR>
                      <a:noFill/>
                    </a:lnR>
                    <a:lnT>
                      <a:noFill/>
                    </a:lnT>
                    <a:lnB>
                      <a:noFill/>
                    </a:lnB>
                    <a:solidFill>
                      <a:srgbClr val="D6EDEC"/>
                    </a:solidFill>
                  </a:tcPr>
                </a:tc>
                <a:tc>
                  <a:txBody>
                    <a:bodyPr/>
                    <a:lstStyle/>
                    <a:p>
                      <a:pPr algn="ctr" fontAlgn="ctr"/>
                      <a:r>
                        <a:rPr lang="en-CA" sz="1000" b="0" i="0" u="none" strike="noStrike" dirty="0" smtClean="0">
                          <a:solidFill>
                            <a:srgbClr val="000000"/>
                          </a:solidFill>
                          <a:effectLst/>
                          <a:latin typeface="Calibri" panose="020F0502020204030204" pitchFamily="34" charset="0"/>
                        </a:rPr>
                        <a:t>87.86%</a:t>
                      </a:r>
                      <a:endParaRPr lang="en-CA" sz="1000" b="0" i="0" u="none" strike="noStrike" dirty="0">
                        <a:solidFill>
                          <a:srgbClr val="000000"/>
                        </a:solidFill>
                        <a:effectLst/>
                        <a:latin typeface="Calibri" panose="020F0502020204030204" pitchFamily="34" charset="0"/>
                      </a:endParaRPr>
                    </a:p>
                  </a:txBody>
                  <a:tcPr marL="9525" marR="9525" marT="9525" marB="0" anchor="ctr">
                    <a:lnL>
                      <a:noFill/>
                    </a:lnL>
                    <a:lnR w="12700" cap="flat" cmpd="sng" algn="ctr">
                      <a:solidFill>
                        <a:srgbClr val="009999"/>
                      </a:solidFill>
                      <a:prstDash val="solid"/>
                      <a:round/>
                      <a:headEnd type="none" w="med" len="med"/>
                      <a:tailEnd type="none" w="med" len="med"/>
                    </a:lnR>
                    <a:lnT>
                      <a:noFill/>
                    </a:lnT>
                    <a:lnB>
                      <a:noFill/>
                    </a:lnB>
                    <a:solidFill>
                      <a:srgbClr val="D6EDEC"/>
                    </a:solidFill>
                  </a:tcPr>
                </a:tc>
                <a:extLst>
                  <a:ext uri="{0D108BD9-81ED-4DB2-BD59-A6C34878D82A}">
                    <a16:rowId xmlns:a16="http://schemas.microsoft.com/office/drawing/2014/main" val="3949287915"/>
                  </a:ext>
                </a:extLst>
              </a:tr>
              <a:tr h="200025">
                <a:tc>
                  <a:txBody>
                    <a:bodyPr/>
                    <a:lstStyle/>
                    <a:p>
                      <a:pPr algn="ctr" fontAlgn="ctr"/>
                      <a:r>
                        <a:rPr lang="en-CA" sz="1000" b="0" i="0" u="none" strike="noStrike">
                          <a:solidFill>
                            <a:srgbClr val="000000"/>
                          </a:solidFill>
                          <a:effectLst/>
                          <a:latin typeface="Calibri" panose="020F0502020204030204" pitchFamily="34" charset="0"/>
                        </a:rPr>
                        <a:t>Non-EFG/Non-NL</a:t>
                      </a:r>
                    </a:p>
                  </a:txBody>
                  <a:tcPr marL="9525" marR="9525" marT="9525" marB="0" anchor="ctr">
                    <a:lnL w="12700" cap="flat" cmpd="sng" algn="ctr">
                      <a:solidFill>
                        <a:srgbClr val="009999"/>
                      </a:solidFill>
                      <a:prstDash val="solid"/>
                      <a:round/>
                      <a:headEnd type="none" w="med" len="med"/>
                      <a:tailEnd type="none" w="med" len="med"/>
                    </a:lnL>
                    <a:lnR>
                      <a:noFill/>
                    </a:lnR>
                    <a:lnT>
                      <a:noFill/>
                    </a:lnT>
                    <a:lnB w="1270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1000" b="0" i="0" u="none" strike="noStrike" dirty="0" smtClean="0">
                          <a:solidFill>
                            <a:srgbClr val="000000"/>
                          </a:solidFill>
                          <a:effectLst/>
                          <a:latin typeface="Calibri" panose="020F0502020204030204" pitchFamily="34" charset="0"/>
                        </a:rPr>
                        <a:t>3.40%</a:t>
                      </a:r>
                      <a:endParaRPr lang="en-CA" sz="1000" b="0" i="0" u="none" strike="noStrike" dirty="0">
                        <a:solidFill>
                          <a:srgbClr val="000000"/>
                        </a:solidFill>
                        <a:effectLst/>
                        <a:latin typeface="Calibri" panose="020F0502020204030204" pitchFamily="34" charset="0"/>
                      </a:endParaRPr>
                    </a:p>
                  </a:txBody>
                  <a:tcPr marL="9525" marR="9525" marT="9525" marB="0" anchor="ctr">
                    <a:lnL>
                      <a:noFill/>
                    </a:lnL>
                    <a:lnR w="12700" cap="flat" cmpd="sng" algn="ctr">
                      <a:solidFill>
                        <a:srgbClr val="009999"/>
                      </a:solidFill>
                      <a:prstDash val="solid"/>
                      <a:round/>
                      <a:headEnd type="none" w="med" len="med"/>
                      <a:tailEnd type="none" w="med" len="med"/>
                    </a:lnR>
                    <a:lnT>
                      <a:noFill/>
                    </a:lnT>
                    <a:lnB w="12700" cap="flat" cmpd="sng" algn="ctr">
                      <a:solidFill>
                        <a:srgbClr val="009999"/>
                      </a:solidFill>
                      <a:prstDash val="solid"/>
                      <a:round/>
                      <a:headEnd type="none" w="med" len="med"/>
                      <a:tailEnd type="none" w="med" len="med"/>
                    </a:lnB>
                    <a:solidFill>
                      <a:srgbClr val="FFFFFF"/>
                    </a:solidFill>
                  </a:tcPr>
                </a:tc>
                <a:extLst>
                  <a:ext uri="{0D108BD9-81ED-4DB2-BD59-A6C34878D82A}">
                    <a16:rowId xmlns:a16="http://schemas.microsoft.com/office/drawing/2014/main" val="2392251393"/>
                  </a:ext>
                </a:extLst>
              </a:tr>
            </a:tbl>
          </a:graphicData>
        </a:graphic>
      </p:graphicFrame>
    </p:spTree>
    <p:extLst>
      <p:ext uri="{BB962C8B-B14F-4D97-AF65-F5344CB8AC3E}">
        <p14:creationId xmlns:p14="http://schemas.microsoft.com/office/powerpoint/2010/main" val="15182613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3" y="366811"/>
            <a:ext cx="8280401" cy="397483"/>
          </a:xfrm>
        </p:spPr>
        <p:txBody>
          <a:bodyPr/>
          <a:lstStyle/>
          <a:p>
            <a:r>
              <a:rPr lang="en-US" sz="2400" dirty="0"/>
              <a:t>Distribution by BRRs: Current Portfolio vs. Historical Data</a:t>
            </a:r>
          </a:p>
          <a:p>
            <a:endParaRPr lang="en-CA" dirty="0"/>
          </a:p>
        </p:txBody>
      </p:sp>
      <p:sp>
        <p:nvSpPr>
          <p:cNvPr id="4" name="Text Placeholder 3"/>
          <p:cNvSpPr>
            <a:spLocks noGrp="1"/>
          </p:cNvSpPr>
          <p:nvPr>
            <p:ph type="body" sz="quarter" idx="15"/>
          </p:nvPr>
        </p:nvSpPr>
        <p:spPr>
          <a:xfrm>
            <a:off x="406400" y="1636713"/>
            <a:ext cx="8280400" cy="2121786"/>
          </a:xfrm>
        </p:spPr>
        <p:txBody>
          <a:bodyPr/>
          <a:lstStyle/>
          <a:p>
            <a:endParaRPr lang="en-US" sz="1100" b="1" dirty="0"/>
          </a:p>
          <a:p>
            <a:endParaRPr lang="en-US" sz="1100" b="1" dirty="0"/>
          </a:p>
          <a:p>
            <a:pPr marL="228600" indent="-228600">
              <a:buAutoNum type="arabicParenR"/>
            </a:pPr>
            <a:endParaRPr lang="en-US" sz="1100" b="1" dirty="0" smtClean="0"/>
          </a:p>
          <a:p>
            <a:pPr marL="228600" indent="-228600">
              <a:buAutoNum type="arabicParenR"/>
            </a:pPr>
            <a:endParaRPr lang="en-US" sz="1100" b="1" dirty="0"/>
          </a:p>
          <a:p>
            <a:pPr marL="228600" indent="-228600">
              <a:buAutoNum type="arabicParenR"/>
            </a:pPr>
            <a:endParaRPr lang="en-US" sz="1100" b="1" dirty="0" smtClean="0"/>
          </a:p>
          <a:p>
            <a:pPr marL="228600" indent="-228600">
              <a:buAutoNum type="arabicParenR"/>
            </a:pPr>
            <a:endParaRPr lang="en-US" sz="1100" b="1" dirty="0"/>
          </a:p>
          <a:p>
            <a:pPr marL="228600" indent="-228600">
              <a:buAutoNum type="arabicParenR"/>
            </a:pPr>
            <a:endParaRPr lang="en-US" sz="1100" b="1" dirty="0" smtClean="0"/>
          </a:p>
          <a:p>
            <a:pPr marL="228600" indent="-228600">
              <a:buAutoNum type="arabicParenR"/>
            </a:pPr>
            <a:endParaRPr lang="en-US" sz="1100" b="1" dirty="0"/>
          </a:p>
          <a:p>
            <a:pPr marL="228600" indent="-228600">
              <a:buAutoNum type="arabicParenR"/>
            </a:pPr>
            <a:endParaRPr lang="en-US" sz="1100" b="1" dirty="0" smtClean="0"/>
          </a:p>
          <a:p>
            <a:pPr marL="228600" indent="-228600">
              <a:buAutoNum type="arabicParenR"/>
            </a:pPr>
            <a:endParaRPr lang="en-US" sz="1100" b="1" dirty="0">
              <a:solidFill>
                <a:schemeClr val="tx2"/>
              </a:solidFill>
            </a:endParaRPr>
          </a:p>
          <a:p>
            <a:endParaRPr lang="en-US" sz="1100" b="1" dirty="0" smtClean="0">
              <a:solidFill>
                <a:schemeClr val="tx2"/>
              </a:solidFill>
            </a:endParaRPr>
          </a:p>
          <a:p>
            <a:endParaRPr lang="en-US" sz="1100" b="1" dirty="0">
              <a:solidFill>
                <a:schemeClr val="tx2"/>
              </a:solidFill>
            </a:endParaRPr>
          </a:p>
          <a:p>
            <a:pPr marL="228600" indent="-228600">
              <a:buFont typeface="Arial" panose="020B0604020202020204" pitchFamily="34" charset="0"/>
              <a:buAutoNum type="arabicParenR"/>
            </a:pPr>
            <a:r>
              <a:rPr lang="en-US" sz="1000" b="1" dirty="0">
                <a:solidFill>
                  <a:schemeClr val="tx2"/>
                </a:solidFill>
              </a:rPr>
              <a:t>Overall Distribution of BRRs: </a:t>
            </a:r>
            <a:r>
              <a:rPr lang="en-US" sz="1000" dirty="0" smtClean="0">
                <a:solidFill>
                  <a:schemeClr val="tx2"/>
                </a:solidFill>
              </a:rPr>
              <a:t>The SBE2 portfolio is currently concentrated in BRR 9 (6L), BRR 10 (7H), BRR 11 (7M) and BRR 13 (8H).</a:t>
            </a:r>
            <a:endParaRPr lang="en-US" sz="1000" dirty="0">
              <a:solidFill>
                <a:schemeClr val="tx2"/>
              </a:solidFill>
            </a:endParaRPr>
          </a:p>
          <a:p>
            <a:pPr marL="228600" indent="-228600">
              <a:buFont typeface="Arial" panose="020B0604020202020204" pitchFamily="34" charset="0"/>
              <a:buAutoNum type="arabicParenR"/>
            </a:pPr>
            <a:r>
              <a:rPr lang="en-US" sz="1000" b="1" dirty="0">
                <a:solidFill>
                  <a:schemeClr val="tx2"/>
                </a:solidFill>
              </a:rPr>
              <a:t>Watch List: </a:t>
            </a:r>
            <a:r>
              <a:rPr lang="en-US" sz="1000" dirty="0" smtClean="0">
                <a:solidFill>
                  <a:schemeClr val="tx2"/>
                </a:solidFill>
              </a:rPr>
              <a:t>6.25% </a:t>
            </a:r>
            <a:r>
              <a:rPr lang="en-US" sz="1000" dirty="0">
                <a:solidFill>
                  <a:schemeClr val="tx2"/>
                </a:solidFill>
              </a:rPr>
              <a:t>of obligors in the current portfolio and </a:t>
            </a:r>
            <a:r>
              <a:rPr lang="en-US" sz="1000" dirty="0" smtClean="0">
                <a:solidFill>
                  <a:schemeClr val="tx2"/>
                </a:solidFill>
              </a:rPr>
              <a:t>3.51% </a:t>
            </a:r>
            <a:r>
              <a:rPr lang="en-US" sz="1000" dirty="0">
                <a:solidFill>
                  <a:schemeClr val="tx2"/>
                </a:solidFill>
              </a:rPr>
              <a:t>in the historical </a:t>
            </a:r>
            <a:r>
              <a:rPr lang="en-US" sz="1000" dirty="0" smtClean="0">
                <a:solidFill>
                  <a:schemeClr val="tx2"/>
                </a:solidFill>
              </a:rPr>
              <a:t>data </a:t>
            </a:r>
            <a:r>
              <a:rPr lang="en-US" sz="1000" dirty="0">
                <a:solidFill>
                  <a:schemeClr val="tx2"/>
                </a:solidFill>
              </a:rPr>
              <a:t>are in </a:t>
            </a:r>
            <a:r>
              <a:rPr lang="en-US" sz="1000" dirty="0" smtClean="0">
                <a:solidFill>
                  <a:schemeClr val="tx2"/>
                </a:solidFill>
              </a:rPr>
              <a:t>the Watch List. </a:t>
            </a:r>
            <a:endParaRPr lang="en-US" sz="1000" dirty="0">
              <a:solidFill>
                <a:schemeClr val="tx2"/>
              </a:solidFill>
            </a:endParaRPr>
          </a:p>
          <a:p>
            <a:pPr marL="228600" indent="-228600">
              <a:buFont typeface="Arial" panose="020B0604020202020204" pitchFamily="34" charset="0"/>
              <a:buAutoNum type="arabicParenR"/>
            </a:pPr>
            <a:r>
              <a:rPr lang="en-US" sz="1000" b="1" dirty="0">
                <a:solidFill>
                  <a:schemeClr val="tx2"/>
                </a:solidFill>
              </a:rPr>
              <a:t>Historical Data vs. Current Portfolio: </a:t>
            </a:r>
            <a:r>
              <a:rPr lang="en-US" sz="1000" dirty="0">
                <a:solidFill>
                  <a:schemeClr val="tx2"/>
                </a:solidFill>
              </a:rPr>
              <a:t>Overall, the distribution of BRRs for the current portfolio resembles that of historical data</a:t>
            </a:r>
            <a:r>
              <a:rPr lang="en-US" sz="1000" dirty="0"/>
              <a:t>.</a:t>
            </a:r>
            <a:endParaRPr lang="en-US" sz="1000" b="1" dirty="0"/>
          </a:p>
          <a:p>
            <a:endParaRPr lang="en-US" sz="1100" b="1" dirty="0" smtClean="0"/>
          </a:p>
          <a:p>
            <a:pPr marL="228600" indent="-228600">
              <a:buAutoNum type="arabicParenR"/>
            </a:pPr>
            <a:endParaRPr lang="en-US" sz="1100" b="1" dirty="0"/>
          </a:p>
          <a:p>
            <a:pPr marL="228600" indent="-228600">
              <a:buAutoNum type="arabicParenR"/>
            </a:pPr>
            <a:endParaRPr lang="en-US" sz="1000" b="1" dirty="0" smtClean="0"/>
          </a:p>
          <a:p>
            <a:pPr marL="228600" indent="-228600">
              <a:buAutoNum type="arabicParenR"/>
            </a:pPr>
            <a:endParaRPr lang="en-US" sz="1100" b="1" dirty="0"/>
          </a:p>
          <a:p>
            <a:pPr marL="228600" indent="-228600">
              <a:buAutoNum type="arabicParenR"/>
            </a:pPr>
            <a:endParaRPr lang="en-US" sz="1100" b="1" dirty="0" smtClean="0"/>
          </a:p>
          <a:p>
            <a:pPr marL="228600" indent="-228600">
              <a:buAutoNum type="arabicParenR"/>
            </a:pPr>
            <a:endParaRPr lang="en-US" sz="1100" b="1" dirty="0"/>
          </a:p>
          <a:p>
            <a:pPr marL="228600" indent="-228600">
              <a:buAutoNum type="arabicParenR"/>
            </a:pPr>
            <a:endParaRPr lang="en-US" sz="1100" b="1" dirty="0" smtClean="0"/>
          </a:p>
          <a:p>
            <a:pPr marL="228600" indent="-228600">
              <a:buAutoNum type="arabicParenR"/>
            </a:pPr>
            <a:endParaRPr lang="en-US" sz="1100" b="1" dirty="0"/>
          </a:p>
          <a:p>
            <a:pPr marL="228600" indent="-228600">
              <a:buAutoNum type="arabicParenR"/>
            </a:pPr>
            <a:endParaRPr lang="en-US" sz="1100" b="1" dirty="0" smtClean="0"/>
          </a:p>
          <a:p>
            <a:pPr marL="228600" indent="-228600">
              <a:buAutoNum type="arabicParenR"/>
            </a:pPr>
            <a:endParaRPr lang="en-US" sz="1100" b="1" dirty="0" smtClean="0"/>
          </a:p>
          <a:p>
            <a:endParaRPr lang="en-US" sz="1100" b="1" dirty="0"/>
          </a:p>
          <a:p>
            <a:pPr marL="228600" indent="-228600">
              <a:buAutoNum type="arabicParenR"/>
            </a:pPr>
            <a:endParaRPr lang="en-US" sz="1100" b="1" dirty="0" smtClean="0"/>
          </a:p>
          <a:p>
            <a:pPr marL="228600" indent="-228600">
              <a:buAutoNum type="arabicParenR"/>
            </a:pPr>
            <a:endParaRPr lang="en-US" sz="1000" b="1" dirty="0" smtClean="0"/>
          </a:p>
          <a:p>
            <a:endParaRPr lang="en-CA" dirty="0"/>
          </a:p>
        </p:txBody>
      </p:sp>
      <p:graphicFrame>
        <p:nvGraphicFramePr>
          <p:cNvPr id="7" name="Chart 6"/>
          <p:cNvGraphicFramePr>
            <a:graphicFrameLocks/>
          </p:cNvGraphicFramePr>
          <p:nvPr>
            <p:extLst>
              <p:ext uri="{D42A27DB-BD31-4B8C-83A1-F6EECF244321}">
                <p14:modId xmlns:p14="http://schemas.microsoft.com/office/powerpoint/2010/main" val="2821620661"/>
              </p:ext>
            </p:extLst>
          </p:nvPr>
        </p:nvGraphicFramePr>
        <p:xfrm>
          <a:off x="406202" y="764294"/>
          <a:ext cx="8280401" cy="339780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72364820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2" y="361726"/>
            <a:ext cx="8280401" cy="397483"/>
          </a:xfrm>
        </p:spPr>
        <p:txBody>
          <a:bodyPr/>
          <a:lstStyle/>
          <a:p>
            <a:r>
              <a:rPr lang="en-US" sz="2400" dirty="0"/>
              <a:t>Distribution by BRRs: EFG, NL, and Non-EFG/Non-NL</a:t>
            </a:r>
            <a:endParaRPr lang="en-CA" sz="2400" dirty="0"/>
          </a:p>
          <a:p>
            <a:endParaRPr lang="en-CA" dirty="0"/>
          </a:p>
        </p:txBody>
      </p:sp>
      <p:sp>
        <p:nvSpPr>
          <p:cNvPr id="4" name="Text Placeholder 3"/>
          <p:cNvSpPr>
            <a:spLocks noGrp="1"/>
          </p:cNvSpPr>
          <p:nvPr>
            <p:ph type="body" sz="quarter" idx="15"/>
          </p:nvPr>
        </p:nvSpPr>
        <p:spPr>
          <a:xfrm>
            <a:off x="406400" y="1636713"/>
            <a:ext cx="8280400" cy="3104620"/>
          </a:xfrm>
        </p:spPr>
        <p:txBody>
          <a:bodyPr/>
          <a:lstStyle/>
          <a:p>
            <a:endParaRPr lang="en-US" sz="1050" b="1" dirty="0" smtClean="0"/>
          </a:p>
          <a:p>
            <a:endParaRPr lang="en-US" sz="1050" b="1" dirty="0" smtClean="0"/>
          </a:p>
          <a:p>
            <a:endParaRPr lang="en-US" sz="1050" b="1" dirty="0" smtClean="0"/>
          </a:p>
          <a:p>
            <a:endParaRPr lang="en-US" sz="1050" b="1" dirty="0"/>
          </a:p>
          <a:p>
            <a:endParaRPr lang="en-US" sz="1050" b="1" dirty="0" smtClean="0"/>
          </a:p>
          <a:p>
            <a:endParaRPr lang="en-US" sz="1050" b="1" dirty="0"/>
          </a:p>
          <a:p>
            <a:endParaRPr lang="en-US" sz="1050" b="1" dirty="0" smtClean="0"/>
          </a:p>
          <a:p>
            <a:endParaRPr lang="en-US" sz="1050" b="1" dirty="0"/>
          </a:p>
          <a:p>
            <a:endParaRPr lang="en-US" sz="1050" b="1" dirty="0" smtClean="0"/>
          </a:p>
          <a:p>
            <a:endParaRPr lang="en-US" sz="1050" b="1" dirty="0"/>
          </a:p>
          <a:p>
            <a:endParaRPr lang="en-US" sz="1050" b="1" dirty="0" smtClean="0"/>
          </a:p>
          <a:p>
            <a:endParaRPr lang="en-US" sz="1050" b="1" dirty="0"/>
          </a:p>
          <a:p>
            <a:endParaRPr lang="en-US" sz="1050" b="1" dirty="0" smtClean="0"/>
          </a:p>
          <a:p>
            <a:endParaRPr lang="en-US" sz="1050" b="1" dirty="0"/>
          </a:p>
          <a:p>
            <a:pPr marL="228600" indent="-228600">
              <a:buFont typeface="+mj-lt"/>
              <a:buAutoNum type="arabicParenR"/>
            </a:pPr>
            <a:r>
              <a:rPr lang="en-US" sz="1000" b="1" dirty="0" smtClean="0">
                <a:solidFill>
                  <a:schemeClr val="tx2"/>
                </a:solidFill>
              </a:rPr>
              <a:t>EFG vs Non-EFG/Non-NL and NL: </a:t>
            </a:r>
            <a:r>
              <a:rPr lang="en-US" sz="1000" dirty="0" smtClean="0">
                <a:solidFill>
                  <a:schemeClr val="tx2"/>
                </a:solidFill>
              </a:rPr>
              <a:t>EFG obligors fall into ratings with a higher level of risk as compared to obligors from other segments. </a:t>
            </a:r>
          </a:p>
          <a:p>
            <a:pPr marL="228600" indent="-228600">
              <a:buFont typeface="+mj-lt"/>
              <a:buAutoNum type="arabicParenR"/>
            </a:pPr>
            <a:r>
              <a:rPr lang="en-US" sz="1000" b="1" dirty="0" smtClean="0">
                <a:solidFill>
                  <a:schemeClr val="tx2"/>
                </a:solidFill>
              </a:rPr>
              <a:t>Non-EFG/Non-NL and NL:</a:t>
            </a:r>
            <a:r>
              <a:rPr lang="en-US" sz="1000" dirty="0" smtClean="0">
                <a:solidFill>
                  <a:schemeClr val="tx2"/>
                </a:solidFill>
              </a:rPr>
              <a:t> </a:t>
            </a:r>
            <a:r>
              <a:rPr lang="en-US" sz="1000" dirty="0">
                <a:solidFill>
                  <a:schemeClr val="tx2"/>
                </a:solidFill>
              </a:rPr>
              <a:t>C</a:t>
            </a:r>
            <a:r>
              <a:rPr lang="en-US" sz="1000" dirty="0" smtClean="0">
                <a:solidFill>
                  <a:schemeClr val="tx2"/>
                </a:solidFill>
              </a:rPr>
              <a:t>ompared to the NL customers, Non-EFG/Non-NL customers show a lower level of risk. </a:t>
            </a:r>
            <a:endParaRPr lang="en-US" sz="1000" b="1" dirty="0">
              <a:solidFill>
                <a:schemeClr val="tx2"/>
              </a:solidFill>
            </a:endParaRPr>
          </a:p>
          <a:p>
            <a:pPr marL="228600" indent="-228600">
              <a:buAutoNum type="arabicParenR"/>
            </a:pPr>
            <a:endParaRPr lang="en-US" sz="1050" b="1" dirty="0" smtClean="0"/>
          </a:p>
          <a:p>
            <a:pPr marL="228600" indent="-228600">
              <a:buAutoNum type="arabicParenR"/>
            </a:pPr>
            <a:endParaRPr lang="en-US" sz="1050" b="1" dirty="0"/>
          </a:p>
          <a:p>
            <a:pPr marL="228600" indent="-228600">
              <a:buAutoNum type="arabicParenR"/>
            </a:pPr>
            <a:endParaRPr lang="en-US" sz="1050" b="1" dirty="0" smtClean="0"/>
          </a:p>
          <a:p>
            <a:pPr marL="228600" indent="-228600">
              <a:buAutoNum type="arabicParenR"/>
            </a:pPr>
            <a:endParaRPr lang="en-US" sz="1050" b="1" dirty="0"/>
          </a:p>
          <a:p>
            <a:pPr marL="228600" indent="-228600">
              <a:buAutoNum type="arabicParenR"/>
            </a:pPr>
            <a:endParaRPr lang="en-US" sz="1050" b="1" dirty="0" smtClean="0"/>
          </a:p>
          <a:p>
            <a:pPr marL="228600" indent="-228600">
              <a:buAutoNum type="arabicParenR"/>
            </a:pPr>
            <a:endParaRPr lang="en-US" sz="1050" b="1" dirty="0"/>
          </a:p>
          <a:p>
            <a:pPr marL="228600" indent="-228600">
              <a:buAutoNum type="arabicParenR"/>
            </a:pPr>
            <a:endParaRPr lang="en-US" sz="1050" b="1" dirty="0" smtClean="0"/>
          </a:p>
          <a:p>
            <a:pPr marL="228600" indent="-228600">
              <a:buAutoNum type="arabicParenR"/>
            </a:pPr>
            <a:endParaRPr lang="en-US" sz="1050" b="1" dirty="0"/>
          </a:p>
          <a:p>
            <a:pPr marL="228600" indent="-228600">
              <a:buAutoNum type="arabicParenR"/>
            </a:pPr>
            <a:endParaRPr lang="en-US" sz="1050" b="1" dirty="0" smtClean="0"/>
          </a:p>
          <a:p>
            <a:pPr marL="228600" indent="-228600">
              <a:buAutoNum type="arabicParenR"/>
            </a:pPr>
            <a:endParaRPr lang="en-US" sz="1000" b="1" dirty="0" smtClean="0"/>
          </a:p>
          <a:p>
            <a:pPr marL="228600" indent="-228600">
              <a:buAutoNum type="arabicParenR"/>
            </a:pPr>
            <a:endParaRPr lang="en-US" sz="1000" b="1" dirty="0"/>
          </a:p>
          <a:p>
            <a:endParaRPr lang="en-US" sz="1000" b="1" dirty="0"/>
          </a:p>
        </p:txBody>
      </p:sp>
      <p:graphicFrame>
        <p:nvGraphicFramePr>
          <p:cNvPr id="7" name="Chart 6"/>
          <p:cNvGraphicFramePr>
            <a:graphicFrameLocks/>
          </p:cNvGraphicFramePr>
          <p:nvPr>
            <p:extLst>
              <p:ext uri="{D42A27DB-BD31-4B8C-83A1-F6EECF244321}">
                <p14:modId xmlns:p14="http://schemas.microsoft.com/office/powerpoint/2010/main" val="1854389234"/>
              </p:ext>
            </p:extLst>
          </p:nvPr>
        </p:nvGraphicFramePr>
        <p:xfrm>
          <a:off x="406201" y="759209"/>
          <a:ext cx="8280401" cy="366774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0539517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2" y="441039"/>
            <a:ext cx="8280401" cy="397483"/>
          </a:xfrm>
        </p:spPr>
        <p:txBody>
          <a:bodyPr/>
          <a:lstStyle/>
          <a:p>
            <a:r>
              <a:rPr lang="en-US" sz="2400" dirty="0" smtClean="0"/>
              <a:t>Distribution by BRR: Current Portfolio (Including Overrides)</a:t>
            </a:r>
            <a:endParaRPr lang="en-CA" sz="2400" dirty="0"/>
          </a:p>
          <a:p>
            <a:endParaRPr lang="en-CA" dirty="0"/>
          </a:p>
        </p:txBody>
      </p:sp>
      <p:sp>
        <p:nvSpPr>
          <p:cNvPr id="4" name="Text Placeholder 3"/>
          <p:cNvSpPr>
            <a:spLocks noGrp="1"/>
          </p:cNvSpPr>
          <p:nvPr>
            <p:ph type="body" sz="quarter" idx="15"/>
          </p:nvPr>
        </p:nvSpPr>
        <p:spPr>
          <a:xfrm>
            <a:off x="406203" y="1492778"/>
            <a:ext cx="8280400" cy="3284617"/>
          </a:xfrm>
        </p:spPr>
        <p:txBody>
          <a:bodyPr/>
          <a:lstStyle/>
          <a:p>
            <a:endParaRPr lang="en-US" dirty="0" smtClean="0"/>
          </a:p>
          <a:p>
            <a:endParaRPr lang="en-US" dirty="0"/>
          </a:p>
          <a:p>
            <a:endParaRPr lang="en-US" dirty="0" smtClean="0"/>
          </a:p>
          <a:p>
            <a:endParaRPr lang="en-US" dirty="0" smtClean="0"/>
          </a:p>
          <a:p>
            <a:endParaRPr lang="en-US" dirty="0"/>
          </a:p>
          <a:p>
            <a:endParaRPr lang="en-US" dirty="0" smtClean="0"/>
          </a:p>
          <a:p>
            <a:endParaRPr lang="en-US" dirty="0"/>
          </a:p>
          <a:p>
            <a:endParaRPr lang="en-US" dirty="0" smtClean="0"/>
          </a:p>
          <a:p>
            <a:endParaRPr lang="en-US" dirty="0" smtClean="0"/>
          </a:p>
          <a:p>
            <a:endParaRPr lang="en-US" dirty="0"/>
          </a:p>
          <a:p>
            <a:r>
              <a:rPr lang="en-US" sz="1200" dirty="0" smtClean="0">
                <a:solidFill>
                  <a:schemeClr val="tx2"/>
                </a:solidFill>
              </a:rPr>
              <a:t>In total, 138 obligors were overridden by CRM. This represents 0.34% of the current portfolio scored using SBE2 </a:t>
            </a:r>
            <a:r>
              <a:rPr lang="en-US" sz="1200" dirty="0" err="1" smtClean="0">
                <a:solidFill>
                  <a:schemeClr val="tx2"/>
                </a:solidFill>
              </a:rPr>
              <a:t>PayNet</a:t>
            </a:r>
            <a:r>
              <a:rPr lang="en-US" sz="1200" dirty="0" smtClean="0">
                <a:solidFill>
                  <a:schemeClr val="tx2"/>
                </a:solidFill>
              </a:rPr>
              <a:t> Scorecard. </a:t>
            </a:r>
          </a:p>
          <a:p>
            <a:endParaRPr lang="en-US" dirty="0"/>
          </a:p>
          <a:p>
            <a:endParaRPr lang="en-US" dirty="0" smtClean="0"/>
          </a:p>
          <a:p>
            <a:endParaRPr lang="en-US" dirty="0"/>
          </a:p>
          <a:p>
            <a:endParaRPr lang="en-US" dirty="0" smtClean="0"/>
          </a:p>
          <a:p>
            <a:endParaRPr lang="en-US" dirty="0"/>
          </a:p>
          <a:p>
            <a:endParaRPr lang="en-US" dirty="0" smtClean="0"/>
          </a:p>
          <a:p>
            <a:endParaRPr lang="en-US" dirty="0" smtClean="0"/>
          </a:p>
          <a:p>
            <a:r>
              <a:rPr lang="en-US" sz="1000" dirty="0" smtClean="0"/>
              <a:t>.</a:t>
            </a:r>
            <a:endParaRPr lang="en-US" dirty="0"/>
          </a:p>
        </p:txBody>
      </p:sp>
      <p:graphicFrame>
        <p:nvGraphicFramePr>
          <p:cNvPr id="6" name="Chart 5"/>
          <p:cNvGraphicFramePr>
            <a:graphicFrameLocks/>
          </p:cNvGraphicFramePr>
          <p:nvPr>
            <p:extLst>
              <p:ext uri="{D42A27DB-BD31-4B8C-83A1-F6EECF244321}">
                <p14:modId xmlns:p14="http://schemas.microsoft.com/office/powerpoint/2010/main" val="2189192048"/>
              </p:ext>
            </p:extLst>
          </p:nvPr>
        </p:nvGraphicFramePr>
        <p:xfrm>
          <a:off x="406202" y="838522"/>
          <a:ext cx="8136666" cy="354139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77153317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006" y="303621"/>
            <a:ext cx="8280597" cy="397483"/>
          </a:xfrm>
        </p:spPr>
        <p:txBody>
          <a:bodyPr/>
          <a:lstStyle/>
          <a:p>
            <a:r>
              <a:rPr lang="en-US" sz="2600" dirty="0" err="1" smtClean="0"/>
              <a:t>Backtesting</a:t>
            </a:r>
            <a:r>
              <a:rPr lang="en-US" sz="2600" dirty="0" smtClean="0"/>
              <a:t> Analysis</a:t>
            </a:r>
            <a:endParaRPr lang="en-CA" sz="2600" dirty="0"/>
          </a:p>
        </p:txBody>
      </p:sp>
      <p:sp>
        <p:nvSpPr>
          <p:cNvPr id="7" name="Text Placeholder 3"/>
          <p:cNvSpPr>
            <a:spLocks noGrp="1"/>
          </p:cNvSpPr>
          <p:nvPr>
            <p:ph type="body" sz="quarter" idx="15"/>
          </p:nvPr>
        </p:nvSpPr>
        <p:spPr>
          <a:xfrm>
            <a:off x="406006" y="767008"/>
            <a:ext cx="8280597" cy="3929452"/>
          </a:xfrm>
        </p:spPr>
        <p:txBody>
          <a:bodyPr numCol="1"/>
          <a:lstStyle/>
          <a:p>
            <a:pPr marL="285750" indent="-285750" algn="just">
              <a:buFont typeface="Arial" panose="020B0604020202020204" pitchFamily="34" charset="0"/>
              <a:buChar char="•"/>
            </a:pPr>
            <a:r>
              <a:rPr lang="en-US" sz="1550" dirty="0" err="1" smtClean="0">
                <a:solidFill>
                  <a:schemeClr val="tx2"/>
                </a:solidFill>
              </a:rPr>
              <a:t>Backtesting</a:t>
            </a:r>
            <a:r>
              <a:rPr lang="en-US" sz="1550" dirty="0" smtClean="0">
                <a:solidFill>
                  <a:schemeClr val="tx2"/>
                </a:solidFill>
              </a:rPr>
              <a:t> exercise is the comparison of predicted PDs (i.e., model generated PDs) against observed default rates for the historical data. </a:t>
            </a:r>
          </a:p>
          <a:p>
            <a:pPr algn="just"/>
            <a:endParaRPr lang="en-US" sz="1550" dirty="0" smtClean="0">
              <a:solidFill>
                <a:schemeClr val="tx2"/>
              </a:solidFill>
            </a:endParaRPr>
          </a:p>
          <a:p>
            <a:pPr marL="285750" indent="-285750" algn="just">
              <a:buFont typeface="Arial" panose="020B0604020202020204" pitchFamily="34" charset="0"/>
              <a:buChar char="•"/>
            </a:pPr>
            <a:r>
              <a:rPr lang="en-US" sz="1550" dirty="0" err="1" smtClean="0">
                <a:solidFill>
                  <a:schemeClr val="tx2"/>
                </a:solidFill>
              </a:rPr>
              <a:t>Backtesting</a:t>
            </a:r>
            <a:r>
              <a:rPr lang="en-US" sz="1550" dirty="0" smtClean="0">
                <a:solidFill>
                  <a:schemeClr val="tx2"/>
                </a:solidFill>
              </a:rPr>
              <a:t> is conducted on a </a:t>
            </a:r>
            <a:r>
              <a:rPr lang="en-US" sz="1550" dirty="0">
                <a:solidFill>
                  <a:schemeClr val="tx2"/>
                </a:solidFill>
              </a:rPr>
              <a:t>historical </a:t>
            </a:r>
            <a:r>
              <a:rPr lang="en-US" sz="1550" dirty="0" smtClean="0">
                <a:solidFill>
                  <a:schemeClr val="tx2"/>
                </a:solidFill>
              </a:rPr>
              <a:t>dataset </a:t>
            </a:r>
            <a:r>
              <a:rPr lang="en-US" sz="1550" dirty="0">
                <a:solidFill>
                  <a:schemeClr val="tx2"/>
                </a:solidFill>
              </a:rPr>
              <a:t>NOT included in the modelling </a:t>
            </a:r>
            <a:r>
              <a:rPr lang="en-US" sz="1550" dirty="0" smtClean="0">
                <a:solidFill>
                  <a:schemeClr val="tx2"/>
                </a:solidFill>
              </a:rPr>
              <a:t>sample. For example, suppose a model was developed using </a:t>
            </a:r>
            <a:r>
              <a:rPr lang="en-US" sz="1550" dirty="0">
                <a:solidFill>
                  <a:schemeClr val="tx2"/>
                </a:solidFill>
              </a:rPr>
              <a:t>historical data from 2010 to </a:t>
            </a:r>
            <a:r>
              <a:rPr lang="en-US" sz="1550" dirty="0" smtClean="0">
                <a:solidFill>
                  <a:schemeClr val="tx2"/>
                </a:solidFill>
              </a:rPr>
              <a:t>2016. Then the model is </a:t>
            </a:r>
            <a:r>
              <a:rPr lang="en-US" sz="1550" dirty="0" err="1" smtClean="0">
                <a:solidFill>
                  <a:schemeClr val="tx2"/>
                </a:solidFill>
              </a:rPr>
              <a:t>backtested</a:t>
            </a:r>
            <a:r>
              <a:rPr lang="en-US" sz="1550" dirty="0" smtClean="0">
                <a:solidFill>
                  <a:schemeClr val="tx2"/>
                </a:solidFill>
              </a:rPr>
              <a:t> on historical data from 2017 to 2018.</a:t>
            </a:r>
          </a:p>
          <a:p>
            <a:pPr algn="just"/>
            <a:endParaRPr lang="en-US" sz="1550" dirty="0">
              <a:solidFill>
                <a:schemeClr val="tx2"/>
              </a:solidFill>
            </a:endParaRPr>
          </a:p>
          <a:p>
            <a:pPr marL="285750" indent="-285750" algn="just">
              <a:buFont typeface="Arial" panose="020B0604020202020204" pitchFamily="34" charset="0"/>
              <a:buChar char="•"/>
            </a:pPr>
            <a:r>
              <a:rPr lang="en-US" sz="1550" dirty="0" smtClean="0">
                <a:solidFill>
                  <a:schemeClr val="tx2"/>
                </a:solidFill>
              </a:rPr>
              <a:t>The test is performed at the risk rating level. For example, suppose a PD model, developed using historical data from 2010 to 2016, generates five risk ratings with PD =1% for RR1, PD=2% for RR2, …, and PD=5% for RR5. Assume there are 100 customers in each RR over the </a:t>
            </a:r>
            <a:r>
              <a:rPr lang="en-US" sz="1550" dirty="0" err="1" smtClean="0">
                <a:solidFill>
                  <a:schemeClr val="tx2"/>
                </a:solidFill>
              </a:rPr>
              <a:t>backtesting</a:t>
            </a:r>
            <a:r>
              <a:rPr lang="en-US" sz="1550" dirty="0" smtClean="0">
                <a:solidFill>
                  <a:schemeClr val="tx2"/>
                </a:solidFill>
              </a:rPr>
              <a:t> period 2017 to 2018. Then we expect to observe </a:t>
            </a:r>
            <a:r>
              <a:rPr lang="en-US" sz="1550" u="sng" dirty="0" smtClean="0">
                <a:solidFill>
                  <a:schemeClr val="tx2"/>
                </a:solidFill>
              </a:rPr>
              <a:t>roughly</a:t>
            </a:r>
            <a:r>
              <a:rPr lang="en-US" sz="1550" dirty="0" smtClean="0">
                <a:solidFill>
                  <a:schemeClr val="tx2"/>
                </a:solidFill>
              </a:rPr>
              <a:t> one default in RR1, two defaults in RR2, …, and five defaults in RR5.</a:t>
            </a:r>
          </a:p>
          <a:p>
            <a:pPr algn="just"/>
            <a:endParaRPr lang="en-US" sz="1550" dirty="0" smtClean="0">
              <a:solidFill>
                <a:schemeClr val="tx2"/>
              </a:solidFill>
            </a:endParaRPr>
          </a:p>
          <a:p>
            <a:pPr marL="285750" indent="-285750" algn="just">
              <a:buFont typeface="Arial" panose="020B0604020202020204" pitchFamily="34" charset="0"/>
              <a:buChar char="•"/>
            </a:pPr>
            <a:r>
              <a:rPr lang="en-US" sz="1550" dirty="0" smtClean="0">
                <a:solidFill>
                  <a:schemeClr val="tx2"/>
                </a:solidFill>
              </a:rPr>
              <a:t>OSFI requires PD models include appropriate margins of conservatism to cater for sources of uncertainties. That is, models are required to predict PDs slightly higher than observed default rates.</a:t>
            </a:r>
            <a:endParaRPr lang="en-US" sz="1550" dirty="0">
              <a:solidFill>
                <a:schemeClr val="tx2"/>
              </a:solidFill>
            </a:endParaRPr>
          </a:p>
        </p:txBody>
      </p:sp>
    </p:spTree>
    <p:extLst>
      <p:ext uri="{BB962C8B-B14F-4D97-AF65-F5344CB8AC3E}">
        <p14:creationId xmlns:p14="http://schemas.microsoft.com/office/powerpoint/2010/main" val="30490310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005" y="295382"/>
            <a:ext cx="8280597" cy="397483"/>
          </a:xfrm>
        </p:spPr>
        <p:txBody>
          <a:bodyPr/>
          <a:lstStyle/>
          <a:p>
            <a:r>
              <a:rPr lang="en-US" sz="2600" dirty="0" smtClean="0"/>
              <a:t>Backtesting SBE2 </a:t>
            </a:r>
            <a:r>
              <a:rPr lang="en-US" sz="2600" dirty="0" err="1" smtClean="0"/>
              <a:t>PayNet</a:t>
            </a:r>
            <a:r>
              <a:rPr lang="en-US" sz="2600" dirty="0" smtClean="0"/>
              <a:t> Model</a:t>
            </a:r>
            <a:endParaRPr lang="en-CA" sz="2600" dirty="0"/>
          </a:p>
        </p:txBody>
      </p:sp>
      <p:sp>
        <p:nvSpPr>
          <p:cNvPr id="7" name="Text Placeholder 3"/>
          <p:cNvSpPr>
            <a:spLocks noGrp="1"/>
          </p:cNvSpPr>
          <p:nvPr>
            <p:ph type="body" sz="quarter" idx="15"/>
          </p:nvPr>
        </p:nvSpPr>
        <p:spPr>
          <a:xfrm>
            <a:off x="406005" y="865477"/>
            <a:ext cx="8367291" cy="3920707"/>
          </a:xfrm>
        </p:spPr>
        <p:txBody>
          <a:bodyPr numCol="1"/>
          <a:lstStyle/>
          <a:p>
            <a:endParaRPr lang="en-US" sz="1400" dirty="0"/>
          </a:p>
          <a:p>
            <a:endParaRPr lang="en-US" sz="1400" dirty="0" smtClean="0"/>
          </a:p>
          <a:p>
            <a:endParaRPr lang="en-US" sz="1000" dirty="0"/>
          </a:p>
          <a:p>
            <a:endParaRPr lang="en-US" sz="1000" dirty="0" smtClean="0"/>
          </a:p>
          <a:p>
            <a:endParaRPr lang="en-US" sz="1000" dirty="0"/>
          </a:p>
          <a:p>
            <a:endParaRPr lang="en-US" sz="1000" dirty="0" smtClean="0"/>
          </a:p>
          <a:p>
            <a:endParaRPr lang="en-US" sz="1000" dirty="0"/>
          </a:p>
          <a:p>
            <a:endParaRPr lang="en-US" sz="1000" dirty="0" smtClean="0"/>
          </a:p>
          <a:p>
            <a:endParaRPr lang="en-US" sz="1000" dirty="0"/>
          </a:p>
          <a:p>
            <a:endParaRPr lang="en-US" sz="1000" dirty="0" smtClean="0"/>
          </a:p>
          <a:p>
            <a:endParaRPr lang="en-US" sz="1400" dirty="0" smtClean="0"/>
          </a:p>
          <a:p>
            <a:pPr marL="228600" indent="-228600">
              <a:buFont typeface="+mj-lt"/>
              <a:buAutoNum type="arabicParenR"/>
            </a:pPr>
            <a:endParaRPr lang="en-US" sz="1400" b="1" dirty="0" smtClean="0">
              <a:solidFill>
                <a:schemeClr val="tx2"/>
              </a:solidFill>
            </a:endParaRPr>
          </a:p>
          <a:p>
            <a:pPr marL="228600" indent="-228600">
              <a:buFont typeface="+mj-lt"/>
              <a:buAutoNum type="arabicParenR"/>
            </a:pPr>
            <a:r>
              <a:rPr lang="en-US" sz="1400" b="1" dirty="0" smtClean="0">
                <a:solidFill>
                  <a:schemeClr val="tx2"/>
                </a:solidFill>
              </a:rPr>
              <a:t>2016 </a:t>
            </a:r>
            <a:r>
              <a:rPr lang="en-US" sz="1400" b="1" dirty="0">
                <a:solidFill>
                  <a:schemeClr val="tx2"/>
                </a:solidFill>
              </a:rPr>
              <a:t>– </a:t>
            </a:r>
            <a:r>
              <a:rPr lang="en-US" sz="1400" b="1" dirty="0" smtClean="0">
                <a:solidFill>
                  <a:schemeClr val="tx2"/>
                </a:solidFill>
              </a:rPr>
              <a:t>2017: </a:t>
            </a:r>
            <a:r>
              <a:rPr lang="en-US" sz="1400" dirty="0" smtClean="0">
                <a:solidFill>
                  <a:schemeClr val="tx2"/>
                </a:solidFill>
              </a:rPr>
              <a:t>For all BRRs, predicted PDs (i.e., model PDs), as intended, are slightly higher than the observed default rates. </a:t>
            </a:r>
          </a:p>
          <a:p>
            <a:pPr marL="228600" indent="-228600">
              <a:buFont typeface="+mj-lt"/>
              <a:buAutoNum type="arabicParenR"/>
            </a:pPr>
            <a:r>
              <a:rPr lang="en-US" sz="1400" b="1" dirty="0" smtClean="0">
                <a:solidFill>
                  <a:schemeClr val="tx2"/>
                </a:solidFill>
              </a:rPr>
              <a:t>2017 – 2018: </a:t>
            </a:r>
            <a:r>
              <a:rPr lang="en-US" sz="1400" dirty="0">
                <a:solidFill>
                  <a:schemeClr val="tx2"/>
                </a:solidFill>
              </a:rPr>
              <a:t>For </a:t>
            </a:r>
            <a:r>
              <a:rPr lang="en-US" sz="1400" dirty="0" smtClean="0">
                <a:solidFill>
                  <a:schemeClr val="tx2"/>
                </a:solidFill>
              </a:rPr>
              <a:t>all BRRs, predicted PDs (i.e., model PDs), as intended, are slightly higher than the observed default rates.</a:t>
            </a:r>
          </a:p>
        </p:txBody>
      </p:sp>
      <p:graphicFrame>
        <p:nvGraphicFramePr>
          <p:cNvPr id="10" name="Table 9"/>
          <p:cNvGraphicFramePr>
            <a:graphicFrameLocks noGrp="1"/>
          </p:cNvGraphicFramePr>
          <p:nvPr>
            <p:extLst>
              <p:ext uri="{D42A27DB-BD31-4B8C-83A1-F6EECF244321}">
                <p14:modId xmlns:p14="http://schemas.microsoft.com/office/powerpoint/2010/main" val="3624707973"/>
              </p:ext>
            </p:extLst>
          </p:nvPr>
        </p:nvGraphicFramePr>
        <p:xfrm>
          <a:off x="406006" y="874231"/>
          <a:ext cx="3974562" cy="2133080"/>
        </p:xfrm>
        <a:graphic>
          <a:graphicData uri="http://schemas.openxmlformats.org/drawingml/2006/table">
            <a:tbl>
              <a:tblPr firstRow="1" bandRow="1">
                <a:tableStyleId>{B301B821-A1FF-4177-AEE7-76D212191A09}</a:tableStyleId>
              </a:tblPr>
              <a:tblGrid>
                <a:gridCol w="662427">
                  <a:extLst>
                    <a:ext uri="{9D8B030D-6E8A-4147-A177-3AD203B41FA5}">
                      <a16:colId xmlns:a16="http://schemas.microsoft.com/office/drawing/2014/main" val="839161199"/>
                    </a:ext>
                  </a:extLst>
                </a:gridCol>
                <a:gridCol w="662427">
                  <a:extLst>
                    <a:ext uri="{9D8B030D-6E8A-4147-A177-3AD203B41FA5}">
                      <a16:colId xmlns:a16="http://schemas.microsoft.com/office/drawing/2014/main" val="4009095429"/>
                    </a:ext>
                  </a:extLst>
                </a:gridCol>
                <a:gridCol w="662427">
                  <a:extLst>
                    <a:ext uri="{9D8B030D-6E8A-4147-A177-3AD203B41FA5}">
                      <a16:colId xmlns:a16="http://schemas.microsoft.com/office/drawing/2014/main" val="4154685194"/>
                    </a:ext>
                  </a:extLst>
                </a:gridCol>
                <a:gridCol w="662427">
                  <a:extLst>
                    <a:ext uri="{9D8B030D-6E8A-4147-A177-3AD203B41FA5}">
                      <a16:colId xmlns:a16="http://schemas.microsoft.com/office/drawing/2014/main" val="3786229257"/>
                    </a:ext>
                  </a:extLst>
                </a:gridCol>
                <a:gridCol w="662427">
                  <a:extLst>
                    <a:ext uri="{9D8B030D-6E8A-4147-A177-3AD203B41FA5}">
                      <a16:colId xmlns:a16="http://schemas.microsoft.com/office/drawing/2014/main" val="1800505661"/>
                    </a:ext>
                  </a:extLst>
                </a:gridCol>
                <a:gridCol w="662427">
                  <a:extLst>
                    <a:ext uri="{9D8B030D-6E8A-4147-A177-3AD203B41FA5}">
                      <a16:colId xmlns:a16="http://schemas.microsoft.com/office/drawing/2014/main" val="1882885175"/>
                    </a:ext>
                  </a:extLst>
                </a:gridCol>
              </a:tblGrid>
              <a:tr h="294219">
                <a:tc gridSpan="6">
                  <a:txBody>
                    <a:bodyPr/>
                    <a:lstStyle/>
                    <a:p>
                      <a:pPr algn="ctr" fontAlgn="ctr"/>
                      <a:r>
                        <a:rPr lang="en-CA" sz="1100" u="none" strike="noStrike" dirty="0">
                          <a:effectLst/>
                        </a:rPr>
                        <a:t>Observation Period: </a:t>
                      </a:r>
                      <a:r>
                        <a:rPr lang="en-CA" sz="1100" u="none" strike="noStrike" dirty="0" smtClean="0">
                          <a:effectLst/>
                        </a:rPr>
                        <a:t>2016 – 2017</a:t>
                      </a:r>
                      <a:endParaRPr lang="en-CA" sz="11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extLst>
                  <a:ext uri="{0D108BD9-81ED-4DB2-BD59-A6C34878D82A}">
                    <a16:rowId xmlns:a16="http://schemas.microsoft.com/office/drawing/2014/main" val="3195261453"/>
                  </a:ext>
                </a:extLst>
              </a:tr>
              <a:tr h="551659">
                <a:tc>
                  <a:txBody>
                    <a:bodyPr/>
                    <a:lstStyle/>
                    <a:p>
                      <a:pPr algn="ctr" fontAlgn="ctr"/>
                      <a:r>
                        <a:rPr lang="en-CA" sz="1100" b="1" u="none" strike="noStrike" dirty="0">
                          <a:solidFill>
                            <a:schemeClr val="tx2"/>
                          </a:solidFill>
                          <a:effectLst/>
                        </a:rPr>
                        <a:t>BRR</a:t>
                      </a:r>
                      <a:endParaRPr lang="en-CA" sz="1100" b="1" i="0" u="none" strike="noStrike" dirty="0">
                        <a:solidFill>
                          <a:schemeClr val="tx2"/>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chemeClr val="tx2"/>
                          </a:solidFill>
                          <a:effectLst/>
                        </a:rPr>
                        <a:t>Number of Obligors</a:t>
                      </a:r>
                      <a:endParaRPr lang="en-CA" sz="1100" b="1" i="0" u="none" strike="noStrike" dirty="0">
                        <a:solidFill>
                          <a:schemeClr val="tx2"/>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chemeClr val="tx2"/>
                          </a:solidFill>
                          <a:effectLst/>
                        </a:rPr>
                        <a:t>Expected Number of Defaults</a:t>
                      </a:r>
                      <a:endParaRPr lang="en-CA" sz="1100" b="1" i="0" u="none" strike="noStrike" dirty="0">
                        <a:solidFill>
                          <a:schemeClr val="tx2"/>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chemeClr val="tx2"/>
                          </a:solidFill>
                          <a:effectLst/>
                        </a:rPr>
                        <a:t>Observed Number of Defaults</a:t>
                      </a:r>
                      <a:endParaRPr lang="en-CA" sz="1100" b="1" i="0" u="none" strike="noStrike" dirty="0">
                        <a:solidFill>
                          <a:schemeClr val="tx2"/>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chemeClr val="tx2"/>
                          </a:solidFill>
                          <a:effectLst/>
                        </a:rPr>
                        <a:t>PD</a:t>
                      </a:r>
                      <a:endParaRPr lang="en-CA" sz="1100" b="1" i="0" u="none" strike="noStrike" dirty="0">
                        <a:solidFill>
                          <a:schemeClr val="tx2"/>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chemeClr val="tx2"/>
                          </a:solidFill>
                          <a:effectLst/>
                        </a:rPr>
                        <a:t>Observed Default Rate</a:t>
                      </a:r>
                      <a:endParaRPr lang="en-CA" sz="1100" b="1" i="0" u="none" strike="noStrike" dirty="0">
                        <a:solidFill>
                          <a:schemeClr val="tx2"/>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668071980"/>
                  </a:ext>
                </a:extLst>
              </a:tr>
              <a:tr h="183886">
                <a:tc>
                  <a:txBody>
                    <a:bodyPr/>
                    <a:lstStyle/>
                    <a:p>
                      <a:pPr algn="ctr" fontAlgn="ctr"/>
                      <a:r>
                        <a:rPr lang="en-CA" sz="1100" b="0" i="0" u="none" strike="noStrike">
                          <a:solidFill>
                            <a:schemeClr val="tx2"/>
                          </a:solidFill>
                          <a:effectLst/>
                          <a:latin typeface="Calibri" panose="020F0502020204030204" pitchFamily="34" charset="0"/>
                        </a:rPr>
                        <a:t>7 (6H)</a:t>
                      </a:r>
                    </a:p>
                  </a:txBody>
                  <a:tcPr marL="9525" marR="9525" marT="9525" marB="0" anchor="ctr"/>
                </a:tc>
                <a:tc>
                  <a:txBody>
                    <a:bodyPr/>
                    <a:lstStyle/>
                    <a:p>
                      <a:pPr algn="ctr" fontAlgn="ctr"/>
                      <a:r>
                        <a:rPr lang="en-CA" sz="1100" b="0" i="0" u="none" strike="noStrike" dirty="0">
                          <a:solidFill>
                            <a:schemeClr val="tx2"/>
                          </a:solidFill>
                          <a:effectLst/>
                          <a:latin typeface="Calibri" panose="020F0502020204030204" pitchFamily="34" charset="0"/>
                        </a:rPr>
                        <a:t>735</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3.16</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2</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0.43%</a:t>
                      </a:r>
                    </a:p>
                  </a:txBody>
                  <a:tcPr marL="9525" marR="9525" marT="9525" marB="0" anchor="ctr"/>
                </a:tc>
                <a:tc>
                  <a:txBody>
                    <a:bodyPr/>
                    <a:lstStyle/>
                    <a:p>
                      <a:pPr algn="ctr" fontAlgn="ctr"/>
                      <a:r>
                        <a:rPr lang="en-CA" sz="1100" b="0" i="0" u="none" strike="noStrike" dirty="0">
                          <a:solidFill>
                            <a:schemeClr val="tx2"/>
                          </a:solidFill>
                          <a:effectLst/>
                          <a:latin typeface="Calibri" panose="020F0502020204030204" pitchFamily="34" charset="0"/>
                        </a:rPr>
                        <a:t>0.27%</a:t>
                      </a:r>
                    </a:p>
                  </a:txBody>
                  <a:tcPr marL="9525" marR="9525" marT="9525" marB="0" anchor="ctr"/>
                </a:tc>
                <a:extLst>
                  <a:ext uri="{0D108BD9-81ED-4DB2-BD59-A6C34878D82A}">
                    <a16:rowId xmlns:a16="http://schemas.microsoft.com/office/drawing/2014/main" val="271924956"/>
                  </a:ext>
                </a:extLst>
              </a:tr>
              <a:tr h="183886">
                <a:tc>
                  <a:txBody>
                    <a:bodyPr/>
                    <a:lstStyle/>
                    <a:p>
                      <a:pPr algn="ctr" fontAlgn="ctr"/>
                      <a:r>
                        <a:rPr lang="en-CA" sz="1100" b="0" i="0" u="none" strike="noStrike">
                          <a:solidFill>
                            <a:schemeClr val="tx2"/>
                          </a:solidFill>
                          <a:effectLst/>
                          <a:latin typeface="Calibri" panose="020F0502020204030204" pitchFamily="34" charset="0"/>
                        </a:rPr>
                        <a:t>9 (6L)</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3767</a:t>
                      </a:r>
                    </a:p>
                  </a:txBody>
                  <a:tcPr marL="9525" marR="9525" marT="9525" marB="0" anchor="ctr"/>
                </a:tc>
                <a:tc>
                  <a:txBody>
                    <a:bodyPr/>
                    <a:lstStyle/>
                    <a:p>
                      <a:pPr algn="ctr" fontAlgn="ctr"/>
                      <a:r>
                        <a:rPr lang="en-CA" sz="1100" b="0" i="0" u="none" strike="noStrike" dirty="0">
                          <a:solidFill>
                            <a:schemeClr val="tx2"/>
                          </a:solidFill>
                          <a:effectLst/>
                          <a:latin typeface="Calibri" panose="020F0502020204030204" pitchFamily="34" charset="0"/>
                        </a:rPr>
                        <a:t>37.67</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24</a:t>
                      </a:r>
                    </a:p>
                  </a:txBody>
                  <a:tcPr marL="9525" marR="9525" marT="9525" marB="0" anchor="ctr"/>
                </a:tc>
                <a:tc>
                  <a:txBody>
                    <a:bodyPr/>
                    <a:lstStyle/>
                    <a:p>
                      <a:pPr algn="ctr" fontAlgn="ctr"/>
                      <a:r>
                        <a:rPr lang="en-CA" sz="1100" b="0" i="0" u="none" strike="noStrike" dirty="0">
                          <a:solidFill>
                            <a:schemeClr val="tx2"/>
                          </a:solidFill>
                          <a:effectLst/>
                          <a:latin typeface="Calibri" panose="020F0502020204030204" pitchFamily="34" charset="0"/>
                        </a:rPr>
                        <a:t>1.00%</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0.64%</a:t>
                      </a:r>
                    </a:p>
                  </a:txBody>
                  <a:tcPr marL="9525" marR="9525" marT="9525" marB="0" anchor="ctr"/>
                </a:tc>
                <a:extLst>
                  <a:ext uri="{0D108BD9-81ED-4DB2-BD59-A6C34878D82A}">
                    <a16:rowId xmlns:a16="http://schemas.microsoft.com/office/drawing/2014/main" val="3932383335"/>
                  </a:ext>
                </a:extLst>
              </a:tr>
              <a:tr h="183886">
                <a:tc>
                  <a:txBody>
                    <a:bodyPr/>
                    <a:lstStyle/>
                    <a:p>
                      <a:pPr algn="ctr" fontAlgn="ctr"/>
                      <a:r>
                        <a:rPr lang="en-CA" sz="1100" b="0" i="0" u="none" strike="noStrike">
                          <a:solidFill>
                            <a:schemeClr val="tx2"/>
                          </a:solidFill>
                          <a:effectLst/>
                          <a:latin typeface="Calibri" panose="020F0502020204030204" pitchFamily="34" charset="0"/>
                        </a:rPr>
                        <a:t>10 (7H)</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4137</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57.92</a:t>
                      </a:r>
                    </a:p>
                  </a:txBody>
                  <a:tcPr marL="9525" marR="9525" marT="9525" marB="0" anchor="ctr"/>
                </a:tc>
                <a:tc>
                  <a:txBody>
                    <a:bodyPr/>
                    <a:lstStyle/>
                    <a:p>
                      <a:pPr algn="ctr" fontAlgn="ctr"/>
                      <a:r>
                        <a:rPr lang="en-CA" sz="1100" b="0" i="0" u="none" strike="noStrike" dirty="0">
                          <a:solidFill>
                            <a:schemeClr val="tx2"/>
                          </a:solidFill>
                          <a:effectLst/>
                          <a:latin typeface="Calibri" panose="020F0502020204030204" pitchFamily="34" charset="0"/>
                        </a:rPr>
                        <a:t>47</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1.40%</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1.14%</a:t>
                      </a:r>
                    </a:p>
                  </a:txBody>
                  <a:tcPr marL="9525" marR="9525" marT="9525" marB="0" anchor="ctr"/>
                </a:tc>
                <a:extLst>
                  <a:ext uri="{0D108BD9-81ED-4DB2-BD59-A6C34878D82A}">
                    <a16:rowId xmlns:a16="http://schemas.microsoft.com/office/drawing/2014/main" val="4249387669"/>
                  </a:ext>
                </a:extLst>
              </a:tr>
              <a:tr h="183886">
                <a:tc>
                  <a:txBody>
                    <a:bodyPr/>
                    <a:lstStyle/>
                    <a:p>
                      <a:pPr algn="ctr" fontAlgn="ctr"/>
                      <a:r>
                        <a:rPr lang="en-CA" sz="1100" b="0" i="0" u="none" strike="noStrike">
                          <a:solidFill>
                            <a:schemeClr val="tx2"/>
                          </a:solidFill>
                          <a:effectLst/>
                          <a:latin typeface="Calibri" panose="020F0502020204030204" pitchFamily="34" charset="0"/>
                        </a:rPr>
                        <a:t>11 (7M)</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6351</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127.02</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97</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2.00%</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1.53%</a:t>
                      </a:r>
                    </a:p>
                  </a:txBody>
                  <a:tcPr marL="9525" marR="9525" marT="9525" marB="0" anchor="ctr"/>
                </a:tc>
                <a:extLst>
                  <a:ext uri="{0D108BD9-81ED-4DB2-BD59-A6C34878D82A}">
                    <a16:rowId xmlns:a16="http://schemas.microsoft.com/office/drawing/2014/main" val="1472851618"/>
                  </a:ext>
                </a:extLst>
              </a:tr>
              <a:tr h="183886">
                <a:tc>
                  <a:txBody>
                    <a:bodyPr/>
                    <a:lstStyle/>
                    <a:p>
                      <a:pPr algn="ctr" fontAlgn="ctr"/>
                      <a:r>
                        <a:rPr lang="en-CA" sz="1100" b="0" i="0" u="none" strike="noStrike">
                          <a:solidFill>
                            <a:schemeClr val="tx2"/>
                          </a:solidFill>
                          <a:effectLst/>
                          <a:latin typeface="Calibri" panose="020F0502020204030204" pitchFamily="34" charset="0"/>
                        </a:rPr>
                        <a:t>13 (8H)</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4412</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176.48</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120</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4.00%</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2.72%</a:t>
                      </a:r>
                    </a:p>
                  </a:txBody>
                  <a:tcPr marL="9525" marR="9525" marT="9525" marB="0" anchor="ctr"/>
                </a:tc>
                <a:extLst>
                  <a:ext uri="{0D108BD9-81ED-4DB2-BD59-A6C34878D82A}">
                    <a16:rowId xmlns:a16="http://schemas.microsoft.com/office/drawing/2014/main" val="1865185851"/>
                  </a:ext>
                </a:extLst>
              </a:tr>
              <a:tr h="183886">
                <a:tc>
                  <a:txBody>
                    <a:bodyPr/>
                    <a:lstStyle/>
                    <a:p>
                      <a:pPr algn="ctr" fontAlgn="ctr"/>
                      <a:r>
                        <a:rPr lang="en-CA" sz="1100" b="0" i="0" u="none" strike="noStrike">
                          <a:solidFill>
                            <a:schemeClr val="tx2"/>
                          </a:solidFill>
                          <a:effectLst/>
                          <a:latin typeface="Calibri" panose="020F0502020204030204" pitchFamily="34" charset="0"/>
                        </a:rPr>
                        <a:t>14 (8M)</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2549</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152.94</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125</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6.00%</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4.90%</a:t>
                      </a:r>
                    </a:p>
                  </a:txBody>
                  <a:tcPr marL="9525" marR="9525" marT="9525" marB="0" anchor="ctr"/>
                </a:tc>
                <a:extLst>
                  <a:ext uri="{0D108BD9-81ED-4DB2-BD59-A6C34878D82A}">
                    <a16:rowId xmlns:a16="http://schemas.microsoft.com/office/drawing/2014/main" val="1516968629"/>
                  </a:ext>
                </a:extLst>
              </a:tr>
              <a:tr h="183886">
                <a:tc>
                  <a:txBody>
                    <a:bodyPr/>
                    <a:lstStyle/>
                    <a:p>
                      <a:pPr algn="ctr" fontAlgn="ctr"/>
                      <a:r>
                        <a:rPr lang="en-CA" sz="1100" b="0" i="0" u="none" strike="noStrike" dirty="0">
                          <a:solidFill>
                            <a:schemeClr val="tx2"/>
                          </a:solidFill>
                          <a:effectLst/>
                          <a:latin typeface="Calibri" panose="020F0502020204030204" pitchFamily="34" charset="0"/>
                        </a:rPr>
                        <a:t>18 (9L)</a:t>
                      </a:r>
                    </a:p>
                  </a:txBody>
                  <a:tcPr marL="9525" marR="9525" marT="9525" marB="0" anchor="ctr"/>
                </a:tc>
                <a:tc>
                  <a:txBody>
                    <a:bodyPr/>
                    <a:lstStyle/>
                    <a:p>
                      <a:pPr algn="ctr" fontAlgn="ctr"/>
                      <a:r>
                        <a:rPr lang="en-CA" sz="1100" b="0" i="0" u="none" strike="noStrike" dirty="0">
                          <a:solidFill>
                            <a:schemeClr val="tx2"/>
                          </a:solidFill>
                          <a:effectLst/>
                          <a:latin typeface="Calibri" panose="020F0502020204030204" pitchFamily="34" charset="0"/>
                        </a:rPr>
                        <a:t>912</a:t>
                      </a:r>
                    </a:p>
                  </a:txBody>
                  <a:tcPr marL="9525" marR="9525" marT="9525" marB="0" anchor="ctr"/>
                </a:tc>
                <a:tc>
                  <a:txBody>
                    <a:bodyPr/>
                    <a:lstStyle/>
                    <a:p>
                      <a:pPr algn="ctr" fontAlgn="ctr"/>
                      <a:r>
                        <a:rPr lang="en-CA" sz="1100" b="0" i="0" u="none" strike="noStrike" dirty="0">
                          <a:solidFill>
                            <a:schemeClr val="tx2"/>
                          </a:solidFill>
                          <a:effectLst/>
                          <a:latin typeface="Calibri" panose="020F0502020204030204" pitchFamily="34" charset="0"/>
                        </a:rPr>
                        <a:t>191.52</a:t>
                      </a:r>
                    </a:p>
                  </a:txBody>
                  <a:tcPr marL="9525" marR="9525" marT="9525" marB="0" anchor="ctr"/>
                </a:tc>
                <a:tc>
                  <a:txBody>
                    <a:bodyPr/>
                    <a:lstStyle/>
                    <a:p>
                      <a:pPr algn="ctr" fontAlgn="ctr"/>
                      <a:r>
                        <a:rPr lang="en-CA" sz="1100" b="0" i="0" u="none" strike="noStrike" dirty="0">
                          <a:solidFill>
                            <a:schemeClr val="tx2"/>
                          </a:solidFill>
                          <a:effectLst/>
                          <a:latin typeface="Calibri" panose="020F0502020204030204" pitchFamily="34" charset="0"/>
                        </a:rPr>
                        <a:t>181</a:t>
                      </a:r>
                    </a:p>
                  </a:txBody>
                  <a:tcPr marL="9525" marR="9525" marT="9525" marB="0" anchor="ctr"/>
                </a:tc>
                <a:tc>
                  <a:txBody>
                    <a:bodyPr/>
                    <a:lstStyle/>
                    <a:p>
                      <a:pPr algn="ctr" fontAlgn="ctr"/>
                      <a:r>
                        <a:rPr lang="en-CA" sz="1100" b="0" i="0" u="none" strike="noStrike" dirty="0">
                          <a:solidFill>
                            <a:schemeClr val="tx2"/>
                          </a:solidFill>
                          <a:effectLst/>
                          <a:latin typeface="Calibri" panose="020F0502020204030204" pitchFamily="34" charset="0"/>
                        </a:rPr>
                        <a:t>21.00%</a:t>
                      </a:r>
                    </a:p>
                  </a:txBody>
                  <a:tcPr marL="9525" marR="9525" marT="9525" marB="0" anchor="ctr"/>
                </a:tc>
                <a:tc>
                  <a:txBody>
                    <a:bodyPr/>
                    <a:lstStyle/>
                    <a:p>
                      <a:pPr algn="ctr" fontAlgn="ctr"/>
                      <a:r>
                        <a:rPr lang="en-CA" sz="1100" b="0" i="0" u="none" strike="noStrike" dirty="0">
                          <a:solidFill>
                            <a:schemeClr val="tx2"/>
                          </a:solidFill>
                          <a:effectLst/>
                          <a:latin typeface="Calibri" panose="020F0502020204030204" pitchFamily="34" charset="0"/>
                        </a:rPr>
                        <a:t>19.85%</a:t>
                      </a:r>
                    </a:p>
                  </a:txBody>
                  <a:tcPr marL="9525" marR="9525" marT="9525" marB="0" anchor="ctr"/>
                </a:tc>
                <a:extLst>
                  <a:ext uri="{0D108BD9-81ED-4DB2-BD59-A6C34878D82A}">
                    <a16:rowId xmlns:a16="http://schemas.microsoft.com/office/drawing/2014/main" val="1251321915"/>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3039829941"/>
              </p:ext>
            </p:extLst>
          </p:nvPr>
        </p:nvGraphicFramePr>
        <p:xfrm>
          <a:off x="4761471" y="865477"/>
          <a:ext cx="3974562" cy="2133080"/>
        </p:xfrm>
        <a:graphic>
          <a:graphicData uri="http://schemas.openxmlformats.org/drawingml/2006/table">
            <a:tbl>
              <a:tblPr firstRow="1" bandRow="1">
                <a:tableStyleId>{B301B821-A1FF-4177-AEE7-76D212191A09}</a:tableStyleId>
              </a:tblPr>
              <a:tblGrid>
                <a:gridCol w="662427">
                  <a:extLst>
                    <a:ext uri="{9D8B030D-6E8A-4147-A177-3AD203B41FA5}">
                      <a16:colId xmlns:a16="http://schemas.microsoft.com/office/drawing/2014/main" val="3531414053"/>
                    </a:ext>
                  </a:extLst>
                </a:gridCol>
                <a:gridCol w="662427">
                  <a:extLst>
                    <a:ext uri="{9D8B030D-6E8A-4147-A177-3AD203B41FA5}">
                      <a16:colId xmlns:a16="http://schemas.microsoft.com/office/drawing/2014/main" val="3710890979"/>
                    </a:ext>
                  </a:extLst>
                </a:gridCol>
                <a:gridCol w="662427">
                  <a:extLst>
                    <a:ext uri="{9D8B030D-6E8A-4147-A177-3AD203B41FA5}">
                      <a16:colId xmlns:a16="http://schemas.microsoft.com/office/drawing/2014/main" val="506842641"/>
                    </a:ext>
                  </a:extLst>
                </a:gridCol>
                <a:gridCol w="662427">
                  <a:extLst>
                    <a:ext uri="{9D8B030D-6E8A-4147-A177-3AD203B41FA5}">
                      <a16:colId xmlns:a16="http://schemas.microsoft.com/office/drawing/2014/main" val="3288558782"/>
                    </a:ext>
                  </a:extLst>
                </a:gridCol>
                <a:gridCol w="662427">
                  <a:extLst>
                    <a:ext uri="{9D8B030D-6E8A-4147-A177-3AD203B41FA5}">
                      <a16:colId xmlns:a16="http://schemas.microsoft.com/office/drawing/2014/main" val="2980040611"/>
                    </a:ext>
                  </a:extLst>
                </a:gridCol>
                <a:gridCol w="662427">
                  <a:extLst>
                    <a:ext uri="{9D8B030D-6E8A-4147-A177-3AD203B41FA5}">
                      <a16:colId xmlns:a16="http://schemas.microsoft.com/office/drawing/2014/main" val="2490030578"/>
                    </a:ext>
                  </a:extLst>
                </a:gridCol>
              </a:tblGrid>
              <a:tr h="294219">
                <a:tc gridSpan="6">
                  <a:txBody>
                    <a:bodyPr/>
                    <a:lstStyle/>
                    <a:p>
                      <a:pPr algn="ctr" fontAlgn="ctr"/>
                      <a:r>
                        <a:rPr lang="en-CA" sz="1100" u="none" strike="noStrike" dirty="0">
                          <a:effectLst/>
                        </a:rPr>
                        <a:t>Observation Period: </a:t>
                      </a:r>
                      <a:r>
                        <a:rPr lang="en-CA" sz="1100" u="none" strike="noStrike" dirty="0" smtClean="0">
                          <a:effectLst/>
                        </a:rPr>
                        <a:t>2017 </a:t>
                      </a:r>
                      <a:r>
                        <a:rPr lang="en-CA" sz="1100" u="none" strike="noStrike" dirty="0">
                          <a:effectLst/>
                        </a:rPr>
                        <a:t>- </a:t>
                      </a:r>
                      <a:r>
                        <a:rPr lang="en-CA" sz="1100" u="none" strike="noStrike" dirty="0" smtClean="0">
                          <a:effectLst/>
                        </a:rPr>
                        <a:t>2018</a:t>
                      </a:r>
                      <a:endParaRPr lang="en-CA" sz="11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extLst>
                  <a:ext uri="{0D108BD9-81ED-4DB2-BD59-A6C34878D82A}">
                    <a16:rowId xmlns:a16="http://schemas.microsoft.com/office/drawing/2014/main" val="1980411550"/>
                  </a:ext>
                </a:extLst>
              </a:tr>
              <a:tr h="551659">
                <a:tc>
                  <a:txBody>
                    <a:bodyPr/>
                    <a:lstStyle/>
                    <a:p>
                      <a:pPr algn="ctr" fontAlgn="ctr"/>
                      <a:r>
                        <a:rPr lang="en-CA" sz="1100" b="1" u="none" strike="noStrike" dirty="0">
                          <a:solidFill>
                            <a:schemeClr val="tx2"/>
                          </a:solidFill>
                          <a:effectLst/>
                        </a:rPr>
                        <a:t>BRR</a:t>
                      </a:r>
                      <a:endParaRPr lang="en-CA" sz="1100" b="1" i="0" u="none" strike="noStrike" dirty="0">
                        <a:solidFill>
                          <a:schemeClr val="tx2"/>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chemeClr val="tx2"/>
                          </a:solidFill>
                          <a:effectLst/>
                        </a:rPr>
                        <a:t>Number of Obligors</a:t>
                      </a:r>
                      <a:endParaRPr lang="en-CA" sz="1100" b="1" i="0" u="none" strike="noStrike" dirty="0">
                        <a:solidFill>
                          <a:schemeClr val="tx2"/>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chemeClr val="tx2"/>
                          </a:solidFill>
                          <a:effectLst/>
                        </a:rPr>
                        <a:t>Expected Number of Defaults</a:t>
                      </a:r>
                      <a:endParaRPr lang="en-CA" sz="1100" b="1" i="0" u="none" strike="noStrike" dirty="0">
                        <a:solidFill>
                          <a:schemeClr val="tx2"/>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chemeClr val="tx2"/>
                          </a:solidFill>
                          <a:effectLst/>
                        </a:rPr>
                        <a:t>Observed Number of Defaults</a:t>
                      </a:r>
                      <a:endParaRPr lang="en-CA" sz="1100" b="1" i="0" u="none" strike="noStrike" dirty="0">
                        <a:solidFill>
                          <a:schemeClr val="tx2"/>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chemeClr val="tx2"/>
                          </a:solidFill>
                          <a:effectLst/>
                        </a:rPr>
                        <a:t>PD</a:t>
                      </a:r>
                      <a:endParaRPr lang="en-CA" sz="1100" b="1" i="0" u="none" strike="noStrike" dirty="0">
                        <a:solidFill>
                          <a:schemeClr val="tx2"/>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chemeClr val="tx2"/>
                          </a:solidFill>
                          <a:effectLst/>
                        </a:rPr>
                        <a:t>Observed Default Rate</a:t>
                      </a:r>
                      <a:endParaRPr lang="en-CA" sz="1100" b="1" i="0" u="none" strike="noStrike" dirty="0">
                        <a:solidFill>
                          <a:schemeClr val="tx2"/>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815293457"/>
                  </a:ext>
                </a:extLst>
              </a:tr>
              <a:tr h="183886">
                <a:tc>
                  <a:txBody>
                    <a:bodyPr/>
                    <a:lstStyle/>
                    <a:p>
                      <a:pPr algn="ctr" fontAlgn="ctr"/>
                      <a:r>
                        <a:rPr lang="en-CA" sz="1100" b="0" i="0" u="none" strike="noStrike">
                          <a:solidFill>
                            <a:schemeClr val="tx2"/>
                          </a:solidFill>
                          <a:effectLst/>
                          <a:latin typeface="Calibri" panose="020F0502020204030204" pitchFamily="34" charset="0"/>
                        </a:rPr>
                        <a:t>7 (6H)</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826</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3.55</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2</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0.43%</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0.24%</a:t>
                      </a:r>
                    </a:p>
                  </a:txBody>
                  <a:tcPr marL="9525" marR="9525" marT="9525" marB="0" anchor="ctr"/>
                </a:tc>
                <a:extLst>
                  <a:ext uri="{0D108BD9-81ED-4DB2-BD59-A6C34878D82A}">
                    <a16:rowId xmlns:a16="http://schemas.microsoft.com/office/drawing/2014/main" val="1966228280"/>
                  </a:ext>
                </a:extLst>
              </a:tr>
              <a:tr h="183886">
                <a:tc>
                  <a:txBody>
                    <a:bodyPr/>
                    <a:lstStyle/>
                    <a:p>
                      <a:pPr algn="ctr" fontAlgn="ctr"/>
                      <a:r>
                        <a:rPr lang="en-CA" sz="1100" b="0" i="0" u="none" strike="noStrike">
                          <a:solidFill>
                            <a:schemeClr val="tx2"/>
                          </a:solidFill>
                          <a:effectLst/>
                          <a:latin typeface="Calibri" panose="020F0502020204030204" pitchFamily="34" charset="0"/>
                        </a:rPr>
                        <a:t>9 (6L)</a:t>
                      </a:r>
                    </a:p>
                  </a:txBody>
                  <a:tcPr marL="9525" marR="9525" marT="9525" marB="0" anchor="ctr"/>
                </a:tc>
                <a:tc>
                  <a:txBody>
                    <a:bodyPr/>
                    <a:lstStyle/>
                    <a:p>
                      <a:pPr algn="ctr" fontAlgn="ctr"/>
                      <a:r>
                        <a:rPr lang="en-CA" sz="1100" b="0" i="0" u="none" strike="noStrike" dirty="0">
                          <a:solidFill>
                            <a:schemeClr val="tx2"/>
                          </a:solidFill>
                          <a:effectLst/>
                          <a:latin typeface="Calibri" panose="020F0502020204030204" pitchFamily="34" charset="0"/>
                        </a:rPr>
                        <a:t>4513</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45.13</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26</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1.00%</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0.58%</a:t>
                      </a:r>
                    </a:p>
                  </a:txBody>
                  <a:tcPr marL="9525" marR="9525" marT="9525" marB="0" anchor="ctr"/>
                </a:tc>
                <a:extLst>
                  <a:ext uri="{0D108BD9-81ED-4DB2-BD59-A6C34878D82A}">
                    <a16:rowId xmlns:a16="http://schemas.microsoft.com/office/drawing/2014/main" val="126855399"/>
                  </a:ext>
                </a:extLst>
              </a:tr>
              <a:tr h="183886">
                <a:tc>
                  <a:txBody>
                    <a:bodyPr/>
                    <a:lstStyle/>
                    <a:p>
                      <a:pPr algn="ctr" fontAlgn="ctr"/>
                      <a:r>
                        <a:rPr lang="en-CA" sz="1100" b="0" i="0" u="none" strike="noStrike">
                          <a:solidFill>
                            <a:schemeClr val="tx2"/>
                          </a:solidFill>
                          <a:effectLst/>
                          <a:latin typeface="Calibri" panose="020F0502020204030204" pitchFamily="34" charset="0"/>
                        </a:rPr>
                        <a:t>10 (7H)</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4444</a:t>
                      </a:r>
                    </a:p>
                  </a:txBody>
                  <a:tcPr marL="9525" marR="9525" marT="9525" marB="0" anchor="ctr"/>
                </a:tc>
                <a:tc>
                  <a:txBody>
                    <a:bodyPr/>
                    <a:lstStyle/>
                    <a:p>
                      <a:pPr algn="ctr" fontAlgn="ctr"/>
                      <a:r>
                        <a:rPr lang="en-CA" sz="1100" b="0" i="0" u="none" strike="noStrike" dirty="0">
                          <a:solidFill>
                            <a:schemeClr val="tx2"/>
                          </a:solidFill>
                          <a:effectLst/>
                          <a:latin typeface="Calibri" panose="020F0502020204030204" pitchFamily="34" charset="0"/>
                        </a:rPr>
                        <a:t>62.22</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35</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1.40%</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0.79%</a:t>
                      </a:r>
                    </a:p>
                  </a:txBody>
                  <a:tcPr marL="9525" marR="9525" marT="9525" marB="0" anchor="ctr"/>
                </a:tc>
                <a:extLst>
                  <a:ext uri="{0D108BD9-81ED-4DB2-BD59-A6C34878D82A}">
                    <a16:rowId xmlns:a16="http://schemas.microsoft.com/office/drawing/2014/main" val="3501910173"/>
                  </a:ext>
                </a:extLst>
              </a:tr>
              <a:tr h="183886">
                <a:tc>
                  <a:txBody>
                    <a:bodyPr/>
                    <a:lstStyle/>
                    <a:p>
                      <a:pPr algn="ctr" fontAlgn="ctr"/>
                      <a:r>
                        <a:rPr lang="en-CA" sz="1100" b="0" i="0" u="none" strike="noStrike">
                          <a:solidFill>
                            <a:schemeClr val="tx2"/>
                          </a:solidFill>
                          <a:effectLst/>
                          <a:latin typeface="Calibri" panose="020F0502020204030204" pitchFamily="34" charset="0"/>
                        </a:rPr>
                        <a:t>11 (7M)</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6213</a:t>
                      </a:r>
                    </a:p>
                  </a:txBody>
                  <a:tcPr marL="9525" marR="9525" marT="9525" marB="0" anchor="ctr"/>
                </a:tc>
                <a:tc>
                  <a:txBody>
                    <a:bodyPr/>
                    <a:lstStyle/>
                    <a:p>
                      <a:pPr algn="ctr" fontAlgn="ctr"/>
                      <a:r>
                        <a:rPr lang="en-CA" sz="1100" b="0" i="0" u="none" strike="noStrike" dirty="0">
                          <a:solidFill>
                            <a:schemeClr val="tx2"/>
                          </a:solidFill>
                          <a:effectLst/>
                          <a:latin typeface="Calibri" panose="020F0502020204030204" pitchFamily="34" charset="0"/>
                        </a:rPr>
                        <a:t>124.26</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90</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2.00%</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1.45%</a:t>
                      </a:r>
                    </a:p>
                  </a:txBody>
                  <a:tcPr marL="9525" marR="9525" marT="9525" marB="0" anchor="ctr"/>
                </a:tc>
                <a:extLst>
                  <a:ext uri="{0D108BD9-81ED-4DB2-BD59-A6C34878D82A}">
                    <a16:rowId xmlns:a16="http://schemas.microsoft.com/office/drawing/2014/main" val="701369710"/>
                  </a:ext>
                </a:extLst>
              </a:tr>
              <a:tr h="183886">
                <a:tc>
                  <a:txBody>
                    <a:bodyPr/>
                    <a:lstStyle/>
                    <a:p>
                      <a:pPr algn="ctr" fontAlgn="ctr"/>
                      <a:r>
                        <a:rPr lang="en-CA" sz="1100" b="0" i="0" u="none" strike="noStrike">
                          <a:solidFill>
                            <a:schemeClr val="tx2"/>
                          </a:solidFill>
                          <a:effectLst/>
                          <a:latin typeface="Calibri" panose="020F0502020204030204" pitchFamily="34" charset="0"/>
                        </a:rPr>
                        <a:t>13 (8H)</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3672</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146.88</a:t>
                      </a:r>
                    </a:p>
                  </a:txBody>
                  <a:tcPr marL="9525" marR="9525" marT="9525" marB="0" anchor="ctr"/>
                </a:tc>
                <a:tc>
                  <a:txBody>
                    <a:bodyPr/>
                    <a:lstStyle/>
                    <a:p>
                      <a:pPr algn="ctr" fontAlgn="ctr"/>
                      <a:r>
                        <a:rPr lang="en-CA" sz="1100" b="0" i="0" u="none" strike="noStrike" dirty="0">
                          <a:solidFill>
                            <a:schemeClr val="tx2"/>
                          </a:solidFill>
                          <a:effectLst/>
                          <a:latin typeface="Calibri" panose="020F0502020204030204" pitchFamily="34" charset="0"/>
                        </a:rPr>
                        <a:t>88</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4.00%</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2.40%</a:t>
                      </a:r>
                    </a:p>
                  </a:txBody>
                  <a:tcPr marL="9525" marR="9525" marT="9525" marB="0" anchor="ctr"/>
                </a:tc>
                <a:extLst>
                  <a:ext uri="{0D108BD9-81ED-4DB2-BD59-A6C34878D82A}">
                    <a16:rowId xmlns:a16="http://schemas.microsoft.com/office/drawing/2014/main" val="2239226100"/>
                  </a:ext>
                </a:extLst>
              </a:tr>
              <a:tr h="183886">
                <a:tc>
                  <a:txBody>
                    <a:bodyPr/>
                    <a:lstStyle/>
                    <a:p>
                      <a:pPr algn="ctr" fontAlgn="ctr"/>
                      <a:r>
                        <a:rPr lang="en-CA" sz="1100" b="0" i="0" u="none" strike="noStrike">
                          <a:solidFill>
                            <a:schemeClr val="tx2"/>
                          </a:solidFill>
                          <a:effectLst/>
                          <a:latin typeface="Calibri" panose="020F0502020204030204" pitchFamily="34" charset="0"/>
                        </a:rPr>
                        <a:t>14 (8M)</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1677</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100.62</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87</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6.00%</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5.19%</a:t>
                      </a:r>
                    </a:p>
                  </a:txBody>
                  <a:tcPr marL="9525" marR="9525" marT="9525" marB="0" anchor="ctr"/>
                </a:tc>
                <a:extLst>
                  <a:ext uri="{0D108BD9-81ED-4DB2-BD59-A6C34878D82A}">
                    <a16:rowId xmlns:a16="http://schemas.microsoft.com/office/drawing/2014/main" val="4062121081"/>
                  </a:ext>
                </a:extLst>
              </a:tr>
              <a:tr h="183886">
                <a:tc>
                  <a:txBody>
                    <a:bodyPr/>
                    <a:lstStyle/>
                    <a:p>
                      <a:pPr algn="ctr" fontAlgn="ctr"/>
                      <a:r>
                        <a:rPr lang="en-CA" sz="1100" b="0" i="0" u="none" strike="noStrike" dirty="0">
                          <a:solidFill>
                            <a:schemeClr val="tx2"/>
                          </a:solidFill>
                          <a:effectLst/>
                          <a:latin typeface="Calibri" panose="020F0502020204030204" pitchFamily="34" charset="0"/>
                        </a:rPr>
                        <a:t>18 (9L)</a:t>
                      </a:r>
                    </a:p>
                  </a:txBody>
                  <a:tcPr marL="9525" marR="9525" marT="9525" marB="0" anchor="ctr"/>
                </a:tc>
                <a:tc>
                  <a:txBody>
                    <a:bodyPr/>
                    <a:lstStyle/>
                    <a:p>
                      <a:pPr algn="ctr" fontAlgn="ctr"/>
                      <a:r>
                        <a:rPr lang="en-CA" sz="1100" b="0" i="0" u="none" strike="noStrike" dirty="0">
                          <a:solidFill>
                            <a:schemeClr val="tx2"/>
                          </a:solidFill>
                          <a:effectLst/>
                          <a:latin typeface="Calibri" panose="020F0502020204030204" pitchFamily="34" charset="0"/>
                        </a:rPr>
                        <a:t>816</a:t>
                      </a:r>
                    </a:p>
                  </a:txBody>
                  <a:tcPr marL="9525" marR="9525" marT="9525" marB="0" anchor="ctr"/>
                </a:tc>
                <a:tc>
                  <a:txBody>
                    <a:bodyPr/>
                    <a:lstStyle/>
                    <a:p>
                      <a:pPr algn="ctr" fontAlgn="ctr"/>
                      <a:r>
                        <a:rPr lang="en-CA" sz="1100" b="0" i="0" u="none" strike="noStrike" dirty="0">
                          <a:solidFill>
                            <a:schemeClr val="tx2"/>
                          </a:solidFill>
                          <a:effectLst/>
                          <a:latin typeface="Calibri" panose="020F0502020204030204" pitchFamily="34" charset="0"/>
                        </a:rPr>
                        <a:t>171.36</a:t>
                      </a:r>
                    </a:p>
                  </a:txBody>
                  <a:tcPr marL="9525" marR="9525" marT="9525" marB="0" anchor="ctr"/>
                </a:tc>
                <a:tc>
                  <a:txBody>
                    <a:bodyPr/>
                    <a:lstStyle/>
                    <a:p>
                      <a:pPr algn="ctr" fontAlgn="ctr"/>
                      <a:r>
                        <a:rPr lang="en-CA" sz="1100" b="0" i="0" u="none" strike="noStrike" dirty="0">
                          <a:solidFill>
                            <a:schemeClr val="tx2"/>
                          </a:solidFill>
                          <a:effectLst/>
                          <a:latin typeface="Calibri" panose="020F0502020204030204" pitchFamily="34" charset="0"/>
                        </a:rPr>
                        <a:t>147</a:t>
                      </a:r>
                    </a:p>
                  </a:txBody>
                  <a:tcPr marL="9525" marR="9525" marT="9525" marB="0" anchor="ctr"/>
                </a:tc>
                <a:tc>
                  <a:txBody>
                    <a:bodyPr/>
                    <a:lstStyle/>
                    <a:p>
                      <a:pPr algn="ctr" fontAlgn="ctr"/>
                      <a:r>
                        <a:rPr lang="en-CA" sz="1100" b="0" i="0" u="none" strike="noStrike" dirty="0">
                          <a:solidFill>
                            <a:schemeClr val="tx2"/>
                          </a:solidFill>
                          <a:effectLst/>
                          <a:latin typeface="Calibri" panose="020F0502020204030204" pitchFamily="34" charset="0"/>
                        </a:rPr>
                        <a:t>21.00%</a:t>
                      </a:r>
                    </a:p>
                  </a:txBody>
                  <a:tcPr marL="9525" marR="9525" marT="9525" marB="0" anchor="ctr"/>
                </a:tc>
                <a:tc>
                  <a:txBody>
                    <a:bodyPr/>
                    <a:lstStyle/>
                    <a:p>
                      <a:pPr algn="ctr" fontAlgn="ctr"/>
                      <a:r>
                        <a:rPr lang="en-CA" sz="1100" b="0" i="0" u="none" strike="noStrike" dirty="0">
                          <a:solidFill>
                            <a:schemeClr val="tx2"/>
                          </a:solidFill>
                          <a:effectLst/>
                          <a:latin typeface="Calibri" panose="020F0502020204030204" pitchFamily="34" charset="0"/>
                        </a:rPr>
                        <a:t>18.01%</a:t>
                      </a:r>
                    </a:p>
                  </a:txBody>
                  <a:tcPr marL="9525" marR="9525" marT="9525" marB="0" anchor="ctr"/>
                </a:tc>
                <a:extLst>
                  <a:ext uri="{0D108BD9-81ED-4DB2-BD59-A6C34878D82A}">
                    <a16:rowId xmlns:a16="http://schemas.microsoft.com/office/drawing/2014/main" val="290391797"/>
                  </a:ext>
                </a:extLst>
              </a:tr>
            </a:tbl>
          </a:graphicData>
        </a:graphic>
      </p:graphicFrame>
    </p:spTree>
    <p:extLst>
      <p:ext uri="{BB962C8B-B14F-4D97-AF65-F5344CB8AC3E}">
        <p14:creationId xmlns:p14="http://schemas.microsoft.com/office/powerpoint/2010/main" val="339588567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005" y="295382"/>
            <a:ext cx="8280597" cy="397483"/>
          </a:xfrm>
        </p:spPr>
        <p:txBody>
          <a:bodyPr/>
          <a:lstStyle/>
          <a:p>
            <a:r>
              <a:rPr lang="en-US" sz="2600" dirty="0" smtClean="0"/>
              <a:t>Backtesting SBE2 </a:t>
            </a:r>
            <a:r>
              <a:rPr lang="en-US" sz="2600" dirty="0" err="1" smtClean="0"/>
              <a:t>PayNet</a:t>
            </a:r>
            <a:r>
              <a:rPr lang="en-US" sz="2600" dirty="0" smtClean="0"/>
              <a:t> Model</a:t>
            </a:r>
            <a:endParaRPr lang="en-CA" sz="2600" dirty="0"/>
          </a:p>
        </p:txBody>
      </p:sp>
      <p:sp>
        <p:nvSpPr>
          <p:cNvPr id="7" name="Text Placeholder 3"/>
          <p:cNvSpPr>
            <a:spLocks noGrp="1"/>
          </p:cNvSpPr>
          <p:nvPr>
            <p:ph type="body" sz="quarter" idx="15"/>
          </p:nvPr>
        </p:nvSpPr>
        <p:spPr>
          <a:xfrm>
            <a:off x="406005" y="865477"/>
            <a:ext cx="8367291" cy="3920707"/>
          </a:xfrm>
        </p:spPr>
        <p:txBody>
          <a:bodyPr numCol="1"/>
          <a:lstStyle/>
          <a:p>
            <a:endParaRPr lang="en-US" sz="1400" dirty="0"/>
          </a:p>
          <a:p>
            <a:endParaRPr lang="en-US" sz="1400" dirty="0" smtClean="0"/>
          </a:p>
          <a:p>
            <a:endParaRPr lang="en-US" sz="1000" dirty="0"/>
          </a:p>
          <a:p>
            <a:endParaRPr lang="en-US" sz="1000" dirty="0" smtClean="0"/>
          </a:p>
          <a:p>
            <a:endParaRPr lang="en-US" sz="1000" dirty="0"/>
          </a:p>
          <a:p>
            <a:endParaRPr lang="en-US" sz="1000" dirty="0" smtClean="0"/>
          </a:p>
          <a:p>
            <a:endParaRPr lang="en-US" sz="1000" dirty="0"/>
          </a:p>
          <a:p>
            <a:endParaRPr lang="en-US" sz="1000" dirty="0" smtClean="0"/>
          </a:p>
          <a:p>
            <a:endParaRPr lang="en-US" sz="1000" dirty="0"/>
          </a:p>
          <a:p>
            <a:endParaRPr lang="en-US" sz="1000" dirty="0" smtClean="0"/>
          </a:p>
          <a:p>
            <a:endParaRPr lang="en-US" sz="1400" b="1" dirty="0" smtClean="0">
              <a:solidFill>
                <a:schemeClr val="tx2"/>
              </a:solidFill>
            </a:endParaRPr>
          </a:p>
          <a:p>
            <a:r>
              <a:rPr lang="en-US" sz="1200" b="1" dirty="0" smtClean="0">
                <a:solidFill>
                  <a:schemeClr val="tx2"/>
                </a:solidFill>
              </a:rPr>
              <a:t>2018 </a:t>
            </a:r>
            <a:r>
              <a:rPr lang="en-US" sz="1200" b="1" dirty="0">
                <a:solidFill>
                  <a:schemeClr val="tx2"/>
                </a:solidFill>
              </a:rPr>
              <a:t>– </a:t>
            </a:r>
            <a:r>
              <a:rPr lang="en-US" sz="1200" b="1" dirty="0" smtClean="0">
                <a:solidFill>
                  <a:schemeClr val="tx2"/>
                </a:solidFill>
              </a:rPr>
              <a:t>2019: </a:t>
            </a:r>
            <a:r>
              <a:rPr lang="en-US" sz="1200" dirty="0" smtClean="0">
                <a:solidFill>
                  <a:schemeClr val="tx2"/>
                </a:solidFill>
              </a:rPr>
              <a:t>For all BRRs, except BRR 7 (6H), predicted PDs (i.e., model PDs), as intended, are slightly higher than the observed default rates. For BRR 7 (6H), the realized default rate is 4 basis points higher than the model PD. Given the backtesting results for the previous two time periods, we do not consider this to be an issue.</a:t>
            </a:r>
          </a:p>
          <a:p>
            <a:endParaRPr lang="en-US" sz="1400" dirty="0" smtClean="0">
              <a:solidFill>
                <a:schemeClr val="tx2"/>
              </a:solidFill>
            </a:endParaRPr>
          </a:p>
        </p:txBody>
      </p:sp>
      <p:graphicFrame>
        <p:nvGraphicFramePr>
          <p:cNvPr id="10" name="Table 9"/>
          <p:cNvGraphicFramePr>
            <a:graphicFrameLocks noGrp="1"/>
          </p:cNvGraphicFramePr>
          <p:nvPr>
            <p:extLst>
              <p:ext uri="{D42A27DB-BD31-4B8C-83A1-F6EECF244321}">
                <p14:modId xmlns:p14="http://schemas.microsoft.com/office/powerpoint/2010/main" val="149821184"/>
              </p:ext>
            </p:extLst>
          </p:nvPr>
        </p:nvGraphicFramePr>
        <p:xfrm>
          <a:off x="2559022" y="865477"/>
          <a:ext cx="3974562" cy="2133080"/>
        </p:xfrm>
        <a:graphic>
          <a:graphicData uri="http://schemas.openxmlformats.org/drawingml/2006/table">
            <a:tbl>
              <a:tblPr firstRow="1" bandRow="1">
                <a:tableStyleId>{B301B821-A1FF-4177-AEE7-76D212191A09}</a:tableStyleId>
              </a:tblPr>
              <a:tblGrid>
                <a:gridCol w="662427">
                  <a:extLst>
                    <a:ext uri="{9D8B030D-6E8A-4147-A177-3AD203B41FA5}">
                      <a16:colId xmlns:a16="http://schemas.microsoft.com/office/drawing/2014/main" val="839161199"/>
                    </a:ext>
                  </a:extLst>
                </a:gridCol>
                <a:gridCol w="662427">
                  <a:extLst>
                    <a:ext uri="{9D8B030D-6E8A-4147-A177-3AD203B41FA5}">
                      <a16:colId xmlns:a16="http://schemas.microsoft.com/office/drawing/2014/main" val="4009095429"/>
                    </a:ext>
                  </a:extLst>
                </a:gridCol>
                <a:gridCol w="662427">
                  <a:extLst>
                    <a:ext uri="{9D8B030D-6E8A-4147-A177-3AD203B41FA5}">
                      <a16:colId xmlns:a16="http://schemas.microsoft.com/office/drawing/2014/main" val="4154685194"/>
                    </a:ext>
                  </a:extLst>
                </a:gridCol>
                <a:gridCol w="662427">
                  <a:extLst>
                    <a:ext uri="{9D8B030D-6E8A-4147-A177-3AD203B41FA5}">
                      <a16:colId xmlns:a16="http://schemas.microsoft.com/office/drawing/2014/main" val="3786229257"/>
                    </a:ext>
                  </a:extLst>
                </a:gridCol>
                <a:gridCol w="662427">
                  <a:extLst>
                    <a:ext uri="{9D8B030D-6E8A-4147-A177-3AD203B41FA5}">
                      <a16:colId xmlns:a16="http://schemas.microsoft.com/office/drawing/2014/main" val="1800505661"/>
                    </a:ext>
                  </a:extLst>
                </a:gridCol>
                <a:gridCol w="662427">
                  <a:extLst>
                    <a:ext uri="{9D8B030D-6E8A-4147-A177-3AD203B41FA5}">
                      <a16:colId xmlns:a16="http://schemas.microsoft.com/office/drawing/2014/main" val="1882885175"/>
                    </a:ext>
                  </a:extLst>
                </a:gridCol>
              </a:tblGrid>
              <a:tr h="294219">
                <a:tc gridSpan="6">
                  <a:txBody>
                    <a:bodyPr/>
                    <a:lstStyle/>
                    <a:p>
                      <a:pPr algn="ctr" fontAlgn="ctr"/>
                      <a:r>
                        <a:rPr lang="en-CA" sz="1100" u="none" strike="noStrike" dirty="0">
                          <a:effectLst/>
                        </a:rPr>
                        <a:t>Observation Period: </a:t>
                      </a:r>
                      <a:r>
                        <a:rPr lang="en-CA" sz="1100" u="none" strike="noStrike" dirty="0" smtClean="0">
                          <a:effectLst/>
                        </a:rPr>
                        <a:t>2018 – 2019</a:t>
                      </a:r>
                      <a:endParaRPr lang="en-CA" sz="11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extLst>
                  <a:ext uri="{0D108BD9-81ED-4DB2-BD59-A6C34878D82A}">
                    <a16:rowId xmlns:a16="http://schemas.microsoft.com/office/drawing/2014/main" val="3195261453"/>
                  </a:ext>
                </a:extLst>
              </a:tr>
              <a:tr h="551659">
                <a:tc>
                  <a:txBody>
                    <a:bodyPr/>
                    <a:lstStyle/>
                    <a:p>
                      <a:pPr algn="ctr" fontAlgn="ctr"/>
                      <a:r>
                        <a:rPr lang="en-CA" sz="1100" b="1" u="none" strike="noStrike" dirty="0">
                          <a:solidFill>
                            <a:schemeClr val="tx2"/>
                          </a:solidFill>
                          <a:effectLst/>
                        </a:rPr>
                        <a:t>BRR</a:t>
                      </a:r>
                      <a:endParaRPr lang="en-CA" sz="1100" b="1" i="0" u="none" strike="noStrike" dirty="0">
                        <a:solidFill>
                          <a:schemeClr val="tx2"/>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chemeClr val="tx2"/>
                          </a:solidFill>
                          <a:effectLst/>
                        </a:rPr>
                        <a:t>Number of Obligors</a:t>
                      </a:r>
                      <a:endParaRPr lang="en-CA" sz="1100" b="1" i="0" u="none" strike="noStrike" dirty="0">
                        <a:solidFill>
                          <a:schemeClr val="tx2"/>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chemeClr val="tx2"/>
                          </a:solidFill>
                          <a:effectLst/>
                        </a:rPr>
                        <a:t>Expected Number of Defaults</a:t>
                      </a:r>
                      <a:endParaRPr lang="en-CA" sz="1100" b="1" i="0" u="none" strike="noStrike" dirty="0">
                        <a:solidFill>
                          <a:schemeClr val="tx2"/>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chemeClr val="tx2"/>
                          </a:solidFill>
                          <a:effectLst/>
                        </a:rPr>
                        <a:t>Observed Number of Defaults</a:t>
                      </a:r>
                      <a:endParaRPr lang="en-CA" sz="1100" b="1" i="0" u="none" strike="noStrike" dirty="0">
                        <a:solidFill>
                          <a:schemeClr val="tx2"/>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chemeClr val="tx2"/>
                          </a:solidFill>
                          <a:effectLst/>
                        </a:rPr>
                        <a:t>PD</a:t>
                      </a:r>
                      <a:endParaRPr lang="en-CA" sz="1100" b="1" i="0" u="none" strike="noStrike" dirty="0">
                        <a:solidFill>
                          <a:schemeClr val="tx2"/>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chemeClr val="tx2"/>
                          </a:solidFill>
                          <a:effectLst/>
                        </a:rPr>
                        <a:t>Observed Default Rate</a:t>
                      </a:r>
                      <a:endParaRPr lang="en-CA" sz="1100" b="1" i="0" u="none" strike="noStrike" dirty="0">
                        <a:solidFill>
                          <a:schemeClr val="tx2"/>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668071980"/>
                  </a:ext>
                </a:extLst>
              </a:tr>
              <a:tr h="183886">
                <a:tc>
                  <a:txBody>
                    <a:bodyPr/>
                    <a:lstStyle/>
                    <a:p>
                      <a:pPr algn="ctr" fontAlgn="ctr"/>
                      <a:r>
                        <a:rPr lang="en-CA" sz="1100" b="0" i="0" u="none" strike="noStrike">
                          <a:solidFill>
                            <a:schemeClr val="tx2"/>
                          </a:solidFill>
                          <a:effectLst/>
                          <a:latin typeface="Calibri" panose="020F0502020204030204" pitchFamily="34" charset="0"/>
                        </a:rPr>
                        <a:t>7 (6H)</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1068</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4.59</a:t>
                      </a:r>
                    </a:p>
                  </a:txBody>
                  <a:tcPr marL="9525" marR="9525" marT="9525" marB="0" anchor="ctr"/>
                </a:tc>
                <a:tc>
                  <a:txBody>
                    <a:bodyPr/>
                    <a:lstStyle/>
                    <a:p>
                      <a:pPr algn="ctr" fontAlgn="ctr"/>
                      <a:r>
                        <a:rPr lang="en-CA" sz="1100" b="0" i="0" u="none" strike="noStrike" dirty="0">
                          <a:solidFill>
                            <a:schemeClr val="tx2"/>
                          </a:solidFill>
                          <a:effectLst/>
                          <a:latin typeface="Calibri" panose="020F0502020204030204" pitchFamily="34" charset="0"/>
                        </a:rPr>
                        <a:t>5</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0.43%</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0.47%</a:t>
                      </a:r>
                    </a:p>
                  </a:txBody>
                  <a:tcPr marL="9525" marR="9525" marT="9525" marB="0" anchor="ctr"/>
                </a:tc>
                <a:extLst>
                  <a:ext uri="{0D108BD9-81ED-4DB2-BD59-A6C34878D82A}">
                    <a16:rowId xmlns:a16="http://schemas.microsoft.com/office/drawing/2014/main" val="271924956"/>
                  </a:ext>
                </a:extLst>
              </a:tr>
              <a:tr h="183886">
                <a:tc>
                  <a:txBody>
                    <a:bodyPr/>
                    <a:lstStyle/>
                    <a:p>
                      <a:pPr algn="ctr" fontAlgn="ctr"/>
                      <a:r>
                        <a:rPr lang="en-CA" sz="1100" b="0" i="0" u="none" strike="noStrike">
                          <a:solidFill>
                            <a:schemeClr val="tx2"/>
                          </a:solidFill>
                          <a:effectLst/>
                          <a:latin typeface="Calibri" panose="020F0502020204030204" pitchFamily="34" charset="0"/>
                        </a:rPr>
                        <a:t>9 (6L)</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5082</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50.82</a:t>
                      </a:r>
                    </a:p>
                  </a:txBody>
                  <a:tcPr marL="9525" marR="9525" marT="9525" marB="0" anchor="ctr"/>
                </a:tc>
                <a:tc>
                  <a:txBody>
                    <a:bodyPr/>
                    <a:lstStyle/>
                    <a:p>
                      <a:pPr algn="ctr" fontAlgn="ctr"/>
                      <a:r>
                        <a:rPr lang="en-CA" sz="1100" b="0" i="0" u="none" strike="noStrike" dirty="0">
                          <a:solidFill>
                            <a:schemeClr val="tx2"/>
                          </a:solidFill>
                          <a:effectLst/>
                          <a:latin typeface="Calibri" panose="020F0502020204030204" pitchFamily="34" charset="0"/>
                        </a:rPr>
                        <a:t>29</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1.00%</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0.57%</a:t>
                      </a:r>
                    </a:p>
                  </a:txBody>
                  <a:tcPr marL="9525" marR="9525" marT="9525" marB="0" anchor="ctr"/>
                </a:tc>
                <a:extLst>
                  <a:ext uri="{0D108BD9-81ED-4DB2-BD59-A6C34878D82A}">
                    <a16:rowId xmlns:a16="http://schemas.microsoft.com/office/drawing/2014/main" val="3932383335"/>
                  </a:ext>
                </a:extLst>
              </a:tr>
              <a:tr h="183886">
                <a:tc>
                  <a:txBody>
                    <a:bodyPr/>
                    <a:lstStyle/>
                    <a:p>
                      <a:pPr algn="ctr" fontAlgn="ctr"/>
                      <a:r>
                        <a:rPr lang="en-CA" sz="1100" b="0" i="0" u="none" strike="noStrike">
                          <a:solidFill>
                            <a:schemeClr val="tx2"/>
                          </a:solidFill>
                          <a:effectLst/>
                          <a:latin typeface="Calibri" panose="020F0502020204030204" pitchFamily="34" charset="0"/>
                        </a:rPr>
                        <a:t>10 (7H)</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5491</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76.87</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60</a:t>
                      </a:r>
                    </a:p>
                  </a:txBody>
                  <a:tcPr marL="9525" marR="9525" marT="9525" marB="0" anchor="ctr"/>
                </a:tc>
                <a:tc>
                  <a:txBody>
                    <a:bodyPr/>
                    <a:lstStyle/>
                    <a:p>
                      <a:pPr algn="ctr" fontAlgn="ctr"/>
                      <a:r>
                        <a:rPr lang="en-CA" sz="1100" b="0" i="0" u="none" strike="noStrike" dirty="0">
                          <a:solidFill>
                            <a:schemeClr val="tx2"/>
                          </a:solidFill>
                          <a:effectLst/>
                          <a:latin typeface="Calibri" panose="020F0502020204030204" pitchFamily="34" charset="0"/>
                        </a:rPr>
                        <a:t>1.40%</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1.09%</a:t>
                      </a:r>
                    </a:p>
                  </a:txBody>
                  <a:tcPr marL="9525" marR="9525" marT="9525" marB="0" anchor="ctr"/>
                </a:tc>
                <a:extLst>
                  <a:ext uri="{0D108BD9-81ED-4DB2-BD59-A6C34878D82A}">
                    <a16:rowId xmlns:a16="http://schemas.microsoft.com/office/drawing/2014/main" val="4249387669"/>
                  </a:ext>
                </a:extLst>
              </a:tr>
              <a:tr h="183886">
                <a:tc>
                  <a:txBody>
                    <a:bodyPr/>
                    <a:lstStyle/>
                    <a:p>
                      <a:pPr algn="ctr" fontAlgn="ctr"/>
                      <a:r>
                        <a:rPr lang="en-CA" sz="1100" b="0" i="0" u="none" strike="noStrike">
                          <a:solidFill>
                            <a:schemeClr val="tx2"/>
                          </a:solidFill>
                          <a:effectLst/>
                          <a:latin typeface="Calibri" panose="020F0502020204030204" pitchFamily="34" charset="0"/>
                        </a:rPr>
                        <a:t>11 (7M)</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8308</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166.16</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103</a:t>
                      </a:r>
                    </a:p>
                  </a:txBody>
                  <a:tcPr marL="9525" marR="9525" marT="9525" marB="0" anchor="ctr"/>
                </a:tc>
                <a:tc>
                  <a:txBody>
                    <a:bodyPr/>
                    <a:lstStyle/>
                    <a:p>
                      <a:pPr algn="ctr" fontAlgn="ctr"/>
                      <a:r>
                        <a:rPr lang="en-CA" sz="1100" b="0" i="0" u="none" strike="noStrike" dirty="0">
                          <a:solidFill>
                            <a:schemeClr val="tx2"/>
                          </a:solidFill>
                          <a:effectLst/>
                          <a:latin typeface="Calibri" panose="020F0502020204030204" pitchFamily="34" charset="0"/>
                        </a:rPr>
                        <a:t>2.00%</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1.24%</a:t>
                      </a:r>
                    </a:p>
                  </a:txBody>
                  <a:tcPr marL="9525" marR="9525" marT="9525" marB="0" anchor="ctr"/>
                </a:tc>
                <a:extLst>
                  <a:ext uri="{0D108BD9-81ED-4DB2-BD59-A6C34878D82A}">
                    <a16:rowId xmlns:a16="http://schemas.microsoft.com/office/drawing/2014/main" val="1472851618"/>
                  </a:ext>
                </a:extLst>
              </a:tr>
              <a:tr h="183886">
                <a:tc>
                  <a:txBody>
                    <a:bodyPr/>
                    <a:lstStyle/>
                    <a:p>
                      <a:pPr algn="ctr" fontAlgn="ctr"/>
                      <a:r>
                        <a:rPr lang="en-CA" sz="1100" b="0" i="0" u="none" strike="noStrike">
                          <a:solidFill>
                            <a:schemeClr val="tx2"/>
                          </a:solidFill>
                          <a:effectLst/>
                          <a:latin typeface="Calibri" panose="020F0502020204030204" pitchFamily="34" charset="0"/>
                        </a:rPr>
                        <a:t>13 (8H)</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6500</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260.00</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150</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4.00%</a:t>
                      </a:r>
                    </a:p>
                  </a:txBody>
                  <a:tcPr marL="9525" marR="9525" marT="9525" marB="0" anchor="ctr"/>
                </a:tc>
                <a:tc>
                  <a:txBody>
                    <a:bodyPr/>
                    <a:lstStyle/>
                    <a:p>
                      <a:pPr algn="ctr" fontAlgn="ctr"/>
                      <a:r>
                        <a:rPr lang="en-CA" sz="1100" b="0" i="0" u="none" strike="noStrike" dirty="0">
                          <a:solidFill>
                            <a:schemeClr val="tx2"/>
                          </a:solidFill>
                          <a:effectLst/>
                          <a:latin typeface="Calibri" panose="020F0502020204030204" pitchFamily="34" charset="0"/>
                        </a:rPr>
                        <a:t>2.31%</a:t>
                      </a:r>
                    </a:p>
                  </a:txBody>
                  <a:tcPr marL="9525" marR="9525" marT="9525" marB="0" anchor="ctr"/>
                </a:tc>
                <a:extLst>
                  <a:ext uri="{0D108BD9-81ED-4DB2-BD59-A6C34878D82A}">
                    <a16:rowId xmlns:a16="http://schemas.microsoft.com/office/drawing/2014/main" val="1865185851"/>
                  </a:ext>
                </a:extLst>
              </a:tr>
              <a:tr h="183886">
                <a:tc>
                  <a:txBody>
                    <a:bodyPr/>
                    <a:lstStyle/>
                    <a:p>
                      <a:pPr algn="ctr" fontAlgn="ctr"/>
                      <a:r>
                        <a:rPr lang="en-CA" sz="1100" b="0" i="0" u="none" strike="noStrike">
                          <a:solidFill>
                            <a:schemeClr val="tx2"/>
                          </a:solidFill>
                          <a:effectLst/>
                          <a:latin typeface="Calibri" panose="020F0502020204030204" pitchFamily="34" charset="0"/>
                        </a:rPr>
                        <a:t>14 (8M)</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3874</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232.44</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171</a:t>
                      </a:r>
                    </a:p>
                  </a:txBody>
                  <a:tcPr marL="9525" marR="9525" marT="9525" marB="0" anchor="ctr"/>
                </a:tc>
                <a:tc>
                  <a:txBody>
                    <a:bodyPr/>
                    <a:lstStyle/>
                    <a:p>
                      <a:pPr algn="ctr" fontAlgn="ctr"/>
                      <a:r>
                        <a:rPr lang="en-CA" sz="1100" b="0" i="0" u="none" strike="noStrike">
                          <a:solidFill>
                            <a:schemeClr val="tx2"/>
                          </a:solidFill>
                          <a:effectLst/>
                          <a:latin typeface="Calibri" panose="020F0502020204030204" pitchFamily="34" charset="0"/>
                        </a:rPr>
                        <a:t>6.00%</a:t>
                      </a:r>
                    </a:p>
                  </a:txBody>
                  <a:tcPr marL="9525" marR="9525" marT="9525" marB="0" anchor="ctr"/>
                </a:tc>
                <a:tc>
                  <a:txBody>
                    <a:bodyPr/>
                    <a:lstStyle/>
                    <a:p>
                      <a:pPr algn="ctr" fontAlgn="ctr"/>
                      <a:r>
                        <a:rPr lang="en-CA" sz="1100" b="0" i="0" u="none" strike="noStrike" dirty="0">
                          <a:solidFill>
                            <a:schemeClr val="tx2"/>
                          </a:solidFill>
                          <a:effectLst/>
                          <a:latin typeface="Calibri" panose="020F0502020204030204" pitchFamily="34" charset="0"/>
                        </a:rPr>
                        <a:t>4.41%</a:t>
                      </a:r>
                    </a:p>
                  </a:txBody>
                  <a:tcPr marL="9525" marR="9525" marT="9525" marB="0" anchor="ctr"/>
                </a:tc>
                <a:extLst>
                  <a:ext uri="{0D108BD9-81ED-4DB2-BD59-A6C34878D82A}">
                    <a16:rowId xmlns:a16="http://schemas.microsoft.com/office/drawing/2014/main" val="1516968629"/>
                  </a:ext>
                </a:extLst>
              </a:tr>
              <a:tr h="183886">
                <a:tc>
                  <a:txBody>
                    <a:bodyPr/>
                    <a:lstStyle/>
                    <a:p>
                      <a:pPr algn="ctr" fontAlgn="ctr"/>
                      <a:r>
                        <a:rPr lang="en-CA" sz="1100" b="0" i="0" u="none" strike="noStrike" dirty="0">
                          <a:solidFill>
                            <a:schemeClr val="tx2"/>
                          </a:solidFill>
                          <a:effectLst/>
                          <a:latin typeface="Calibri" panose="020F0502020204030204" pitchFamily="34" charset="0"/>
                        </a:rPr>
                        <a:t>18 (9L)</a:t>
                      </a:r>
                    </a:p>
                  </a:txBody>
                  <a:tcPr marL="9525" marR="9525" marT="9525" marB="0" anchor="ctr"/>
                </a:tc>
                <a:tc>
                  <a:txBody>
                    <a:bodyPr/>
                    <a:lstStyle/>
                    <a:p>
                      <a:pPr algn="ctr" fontAlgn="ctr"/>
                      <a:r>
                        <a:rPr lang="en-CA" sz="1100" b="0" i="0" u="none" strike="noStrike" dirty="0">
                          <a:solidFill>
                            <a:schemeClr val="tx2"/>
                          </a:solidFill>
                          <a:effectLst/>
                          <a:latin typeface="Calibri" panose="020F0502020204030204" pitchFamily="34" charset="0"/>
                        </a:rPr>
                        <a:t>1034</a:t>
                      </a:r>
                    </a:p>
                  </a:txBody>
                  <a:tcPr marL="9525" marR="9525" marT="9525" marB="0" anchor="ctr"/>
                </a:tc>
                <a:tc>
                  <a:txBody>
                    <a:bodyPr/>
                    <a:lstStyle/>
                    <a:p>
                      <a:pPr algn="ctr" fontAlgn="ctr"/>
                      <a:r>
                        <a:rPr lang="en-CA" sz="1100" b="0" i="0" u="none" strike="noStrike" dirty="0">
                          <a:solidFill>
                            <a:schemeClr val="tx2"/>
                          </a:solidFill>
                          <a:effectLst/>
                          <a:latin typeface="Calibri" panose="020F0502020204030204" pitchFamily="34" charset="0"/>
                        </a:rPr>
                        <a:t>217.14</a:t>
                      </a:r>
                    </a:p>
                  </a:txBody>
                  <a:tcPr marL="9525" marR="9525" marT="9525" marB="0" anchor="ctr"/>
                </a:tc>
                <a:tc>
                  <a:txBody>
                    <a:bodyPr/>
                    <a:lstStyle/>
                    <a:p>
                      <a:pPr algn="ctr" fontAlgn="ctr"/>
                      <a:r>
                        <a:rPr lang="en-CA" sz="1100" b="0" i="0" u="none" strike="noStrike" dirty="0">
                          <a:solidFill>
                            <a:schemeClr val="tx2"/>
                          </a:solidFill>
                          <a:effectLst/>
                          <a:latin typeface="Calibri" panose="020F0502020204030204" pitchFamily="34" charset="0"/>
                        </a:rPr>
                        <a:t>203</a:t>
                      </a:r>
                    </a:p>
                  </a:txBody>
                  <a:tcPr marL="9525" marR="9525" marT="9525" marB="0" anchor="ctr"/>
                </a:tc>
                <a:tc>
                  <a:txBody>
                    <a:bodyPr/>
                    <a:lstStyle/>
                    <a:p>
                      <a:pPr algn="ctr" fontAlgn="ctr"/>
                      <a:r>
                        <a:rPr lang="en-CA" sz="1100" b="0" i="0" u="none" strike="noStrike" dirty="0">
                          <a:solidFill>
                            <a:schemeClr val="tx2"/>
                          </a:solidFill>
                          <a:effectLst/>
                          <a:latin typeface="Calibri" panose="020F0502020204030204" pitchFamily="34" charset="0"/>
                        </a:rPr>
                        <a:t>21.00%</a:t>
                      </a:r>
                    </a:p>
                  </a:txBody>
                  <a:tcPr marL="9525" marR="9525" marT="9525" marB="0" anchor="ctr"/>
                </a:tc>
                <a:tc>
                  <a:txBody>
                    <a:bodyPr/>
                    <a:lstStyle/>
                    <a:p>
                      <a:pPr algn="ctr" fontAlgn="ctr"/>
                      <a:r>
                        <a:rPr lang="en-CA" sz="1100" b="0" i="0" u="none" strike="noStrike" dirty="0">
                          <a:solidFill>
                            <a:schemeClr val="tx2"/>
                          </a:solidFill>
                          <a:effectLst/>
                          <a:latin typeface="Calibri" panose="020F0502020204030204" pitchFamily="34" charset="0"/>
                        </a:rPr>
                        <a:t>19.63%</a:t>
                      </a:r>
                    </a:p>
                  </a:txBody>
                  <a:tcPr marL="9525" marR="9525" marT="9525" marB="0" anchor="ctr"/>
                </a:tc>
                <a:extLst>
                  <a:ext uri="{0D108BD9-81ED-4DB2-BD59-A6C34878D82A}">
                    <a16:rowId xmlns:a16="http://schemas.microsoft.com/office/drawing/2014/main" val="1251321915"/>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90703711"/>
              </p:ext>
            </p:extLst>
          </p:nvPr>
        </p:nvGraphicFramePr>
        <p:xfrm>
          <a:off x="1461357" y="3763199"/>
          <a:ext cx="6600190" cy="846123"/>
        </p:xfrm>
        <a:graphic>
          <a:graphicData uri="http://schemas.openxmlformats.org/drawingml/2006/table">
            <a:tbl>
              <a:tblPr firstRow="1" firstCol="1" bandRow="1">
                <a:tableStyleId>{5C22544A-7EE6-4342-B048-85BDC9FD1C3A}</a:tableStyleId>
              </a:tblPr>
              <a:tblGrid>
                <a:gridCol w="1565910">
                  <a:extLst>
                    <a:ext uri="{9D8B030D-6E8A-4147-A177-3AD203B41FA5}">
                      <a16:colId xmlns:a16="http://schemas.microsoft.com/office/drawing/2014/main" val="2165911225"/>
                    </a:ext>
                  </a:extLst>
                </a:gridCol>
                <a:gridCol w="1435735">
                  <a:extLst>
                    <a:ext uri="{9D8B030D-6E8A-4147-A177-3AD203B41FA5}">
                      <a16:colId xmlns:a16="http://schemas.microsoft.com/office/drawing/2014/main" val="1619925705"/>
                    </a:ext>
                  </a:extLst>
                </a:gridCol>
                <a:gridCol w="1550035">
                  <a:extLst>
                    <a:ext uri="{9D8B030D-6E8A-4147-A177-3AD203B41FA5}">
                      <a16:colId xmlns:a16="http://schemas.microsoft.com/office/drawing/2014/main" val="1160176477"/>
                    </a:ext>
                  </a:extLst>
                </a:gridCol>
                <a:gridCol w="2048510">
                  <a:extLst>
                    <a:ext uri="{9D8B030D-6E8A-4147-A177-3AD203B41FA5}">
                      <a16:colId xmlns:a16="http://schemas.microsoft.com/office/drawing/2014/main" val="4111818077"/>
                    </a:ext>
                  </a:extLst>
                </a:gridCol>
              </a:tblGrid>
              <a:tr h="257321">
                <a:tc rowSpan="2">
                  <a:txBody>
                    <a:bodyPr/>
                    <a:lstStyle/>
                    <a:p>
                      <a:pPr algn="ctr">
                        <a:spcAft>
                          <a:spcPts val="0"/>
                        </a:spcAft>
                      </a:pPr>
                      <a:r>
                        <a:rPr lang="en-CA" sz="1100">
                          <a:effectLst/>
                        </a:rPr>
                        <a:t>Performance Measure</a:t>
                      </a:r>
                      <a:endParaRPr lang="en-CA" sz="1100">
                        <a:effectLst/>
                        <a:latin typeface="Calibri" panose="020F0502020204030204" pitchFamily="34" charset="0"/>
                        <a:ea typeface="Calibri" panose="020F0502020204030204" pitchFamily="34" charset="0"/>
                      </a:endParaRPr>
                    </a:p>
                  </a:txBody>
                  <a:tcPr marL="68580" marR="68580" marT="0" marB="0" anchor="ctr"/>
                </a:tc>
                <a:tc gridSpan="2">
                  <a:txBody>
                    <a:bodyPr/>
                    <a:lstStyle/>
                    <a:p>
                      <a:pPr algn="ctr">
                        <a:spcAft>
                          <a:spcPts val="0"/>
                        </a:spcAft>
                      </a:pPr>
                      <a:r>
                        <a:rPr lang="en-CA" sz="1100">
                          <a:effectLst/>
                        </a:rPr>
                        <a:t>Modelling Sample: 2011 - 2018</a:t>
                      </a:r>
                      <a:endParaRPr lang="en-CA" sz="1100">
                        <a:effectLst/>
                        <a:latin typeface="Calibri" panose="020F0502020204030204" pitchFamily="34" charset="0"/>
                        <a:ea typeface="Calibri" panose="020F0502020204030204" pitchFamily="34" charset="0"/>
                      </a:endParaRPr>
                    </a:p>
                  </a:txBody>
                  <a:tcPr marL="68580" marR="68580" marT="0" marB="0" anchor="ctr"/>
                </a:tc>
                <a:tc hMerge="1">
                  <a:txBody>
                    <a:bodyPr/>
                    <a:lstStyle/>
                    <a:p>
                      <a:endParaRPr lang="en-CA"/>
                    </a:p>
                  </a:txBody>
                  <a:tcPr/>
                </a:tc>
                <a:tc rowSpan="2">
                  <a:txBody>
                    <a:bodyPr/>
                    <a:lstStyle/>
                    <a:p>
                      <a:pPr algn="ctr">
                        <a:spcAft>
                          <a:spcPts val="0"/>
                        </a:spcAft>
                      </a:pPr>
                      <a:r>
                        <a:rPr lang="en-CA" sz="1100" dirty="0" err="1">
                          <a:solidFill>
                            <a:schemeClr val="bg1"/>
                          </a:solidFill>
                          <a:effectLst/>
                        </a:rPr>
                        <a:t>Backtesting</a:t>
                      </a:r>
                      <a:r>
                        <a:rPr lang="en-CA" sz="1100" dirty="0">
                          <a:solidFill>
                            <a:schemeClr val="bg1"/>
                          </a:solidFill>
                          <a:effectLst/>
                        </a:rPr>
                        <a:t> Sample: 2017 - 2019</a:t>
                      </a:r>
                      <a:endParaRPr lang="en-CA" sz="1100" dirty="0">
                        <a:solidFill>
                          <a:schemeClr val="bg1"/>
                        </a:solidFill>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1561054309"/>
                  </a:ext>
                </a:extLst>
              </a:tr>
              <a:tr h="257321">
                <a:tc vMerge="1">
                  <a:txBody>
                    <a:bodyPr/>
                    <a:lstStyle/>
                    <a:p>
                      <a:endParaRPr lang="en-CA"/>
                    </a:p>
                  </a:txBody>
                  <a:tcPr/>
                </a:tc>
                <a:tc>
                  <a:txBody>
                    <a:bodyPr/>
                    <a:lstStyle/>
                    <a:p>
                      <a:pPr algn="ctr">
                        <a:spcAft>
                          <a:spcPts val="0"/>
                        </a:spcAft>
                      </a:pPr>
                      <a:r>
                        <a:rPr lang="en-CA" sz="1100" dirty="0">
                          <a:solidFill>
                            <a:schemeClr val="tx2"/>
                          </a:solidFill>
                          <a:effectLst/>
                        </a:rPr>
                        <a:t>Training Sample (70%)</a:t>
                      </a:r>
                      <a:endParaRPr lang="en-CA" sz="1100" dirty="0">
                        <a:solidFill>
                          <a:schemeClr val="tx2"/>
                        </a:solidFill>
                        <a:effectLst/>
                        <a:latin typeface="Calibri" panose="020F0502020204030204" pitchFamily="34" charset="0"/>
                        <a:ea typeface="Calibri" panose="020F0502020204030204" pitchFamily="34" charset="0"/>
                      </a:endParaRPr>
                    </a:p>
                  </a:txBody>
                  <a:tcPr marL="68580" marR="68580" marT="0" marB="0" anchor="ctr"/>
                </a:tc>
                <a:tc>
                  <a:txBody>
                    <a:bodyPr/>
                    <a:lstStyle/>
                    <a:p>
                      <a:pPr algn="ctr">
                        <a:spcAft>
                          <a:spcPts val="0"/>
                        </a:spcAft>
                      </a:pPr>
                      <a:r>
                        <a:rPr lang="en-CA" sz="1100" dirty="0">
                          <a:solidFill>
                            <a:schemeClr val="tx2"/>
                          </a:solidFill>
                          <a:effectLst/>
                        </a:rPr>
                        <a:t>Validation Sample (30%)</a:t>
                      </a:r>
                      <a:endParaRPr lang="en-CA" sz="1100" dirty="0">
                        <a:solidFill>
                          <a:schemeClr val="tx2"/>
                        </a:solidFill>
                        <a:effectLst/>
                        <a:latin typeface="Calibri" panose="020F0502020204030204" pitchFamily="34" charset="0"/>
                        <a:ea typeface="Calibri" panose="020F0502020204030204" pitchFamily="34" charset="0"/>
                      </a:endParaRPr>
                    </a:p>
                  </a:txBody>
                  <a:tcPr marL="68580" marR="68580" marT="0" marB="0" anchor="ctr"/>
                </a:tc>
                <a:tc vMerge="1">
                  <a:txBody>
                    <a:bodyPr/>
                    <a:lstStyle/>
                    <a:p>
                      <a:endParaRPr lang="en-CA"/>
                    </a:p>
                  </a:txBody>
                  <a:tcPr/>
                </a:tc>
                <a:extLst>
                  <a:ext uri="{0D108BD9-81ED-4DB2-BD59-A6C34878D82A}">
                    <a16:rowId xmlns:a16="http://schemas.microsoft.com/office/drawing/2014/main" val="2266261411"/>
                  </a:ext>
                </a:extLst>
              </a:tr>
              <a:tr h="331481">
                <a:tc>
                  <a:txBody>
                    <a:bodyPr/>
                    <a:lstStyle/>
                    <a:p>
                      <a:pPr algn="ctr">
                        <a:spcAft>
                          <a:spcPts val="0"/>
                        </a:spcAft>
                      </a:pPr>
                      <a:r>
                        <a:rPr lang="en-CA" sz="1100" dirty="0" smtClean="0">
                          <a:effectLst/>
                        </a:rPr>
                        <a:t>Rank-Ordering Accuracy</a:t>
                      </a:r>
                      <a:endParaRPr lang="en-CA" sz="1100" dirty="0">
                        <a:effectLst/>
                        <a:latin typeface="Calibri" panose="020F0502020204030204" pitchFamily="34" charset="0"/>
                        <a:ea typeface="Calibri" panose="020F0502020204030204" pitchFamily="34" charset="0"/>
                      </a:endParaRPr>
                    </a:p>
                  </a:txBody>
                  <a:tcPr marL="68580" marR="68580" marT="0" marB="0" anchor="ctr"/>
                </a:tc>
                <a:tc>
                  <a:txBody>
                    <a:bodyPr/>
                    <a:lstStyle/>
                    <a:p>
                      <a:pPr algn="ctr">
                        <a:spcAft>
                          <a:spcPts val="0"/>
                        </a:spcAft>
                      </a:pPr>
                      <a:r>
                        <a:rPr lang="en-CA" sz="1100" dirty="0">
                          <a:solidFill>
                            <a:schemeClr val="tx2"/>
                          </a:solidFill>
                          <a:effectLst/>
                        </a:rPr>
                        <a:t>74.75%</a:t>
                      </a:r>
                      <a:endParaRPr lang="en-CA" sz="1100" dirty="0">
                        <a:solidFill>
                          <a:schemeClr val="tx2"/>
                        </a:solidFill>
                        <a:effectLst/>
                        <a:latin typeface="Calibri" panose="020F0502020204030204" pitchFamily="34" charset="0"/>
                        <a:ea typeface="Calibri" panose="020F0502020204030204" pitchFamily="34" charset="0"/>
                      </a:endParaRPr>
                    </a:p>
                  </a:txBody>
                  <a:tcPr marL="68580" marR="68580" marT="0" marB="0" anchor="ctr"/>
                </a:tc>
                <a:tc>
                  <a:txBody>
                    <a:bodyPr/>
                    <a:lstStyle/>
                    <a:p>
                      <a:pPr algn="ctr">
                        <a:spcAft>
                          <a:spcPts val="0"/>
                        </a:spcAft>
                      </a:pPr>
                      <a:r>
                        <a:rPr lang="en-CA" sz="1100" dirty="0">
                          <a:solidFill>
                            <a:schemeClr val="tx2"/>
                          </a:solidFill>
                          <a:effectLst/>
                        </a:rPr>
                        <a:t>74.22%</a:t>
                      </a:r>
                      <a:endParaRPr lang="en-CA" sz="1100" dirty="0">
                        <a:solidFill>
                          <a:schemeClr val="tx2"/>
                        </a:solidFill>
                        <a:effectLst/>
                        <a:latin typeface="Calibri" panose="020F0502020204030204" pitchFamily="34" charset="0"/>
                        <a:ea typeface="Calibri" panose="020F0502020204030204" pitchFamily="34" charset="0"/>
                      </a:endParaRPr>
                    </a:p>
                  </a:txBody>
                  <a:tcPr marL="68580" marR="68580" marT="0" marB="0" anchor="ctr"/>
                </a:tc>
                <a:tc>
                  <a:txBody>
                    <a:bodyPr/>
                    <a:lstStyle/>
                    <a:p>
                      <a:pPr algn="ctr">
                        <a:spcAft>
                          <a:spcPts val="0"/>
                        </a:spcAft>
                      </a:pPr>
                      <a:r>
                        <a:rPr lang="en-CA" sz="1100" dirty="0">
                          <a:solidFill>
                            <a:schemeClr val="tx2"/>
                          </a:solidFill>
                          <a:effectLst/>
                        </a:rPr>
                        <a:t>76.75%</a:t>
                      </a:r>
                      <a:endParaRPr lang="en-CA" sz="1100" dirty="0">
                        <a:solidFill>
                          <a:schemeClr val="tx2"/>
                        </a:solidFill>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1585032779"/>
                  </a:ext>
                </a:extLst>
              </a:tr>
            </a:tbl>
          </a:graphicData>
        </a:graphic>
      </p:graphicFrame>
    </p:spTree>
    <p:extLst>
      <p:ext uri="{BB962C8B-B14F-4D97-AF65-F5344CB8AC3E}">
        <p14:creationId xmlns:p14="http://schemas.microsoft.com/office/powerpoint/2010/main" val="32840908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3869267" y="1167800"/>
            <a:ext cx="4830301" cy="3463467"/>
          </a:xfrm>
        </p:spPr>
        <p:txBody>
          <a:bodyPr/>
          <a:lstStyle/>
          <a:p>
            <a:r>
              <a:rPr lang="en-US" sz="1600" dirty="0" err="1" smtClean="0">
                <a:solidFill>
                  <a:schemeClr val="tx2"/>
                </a:solidFill>
              </a:rPr>
              <a:t>PayNet</a:t>
            </a:r>
            <a:r>
              <a:rPr lang="en-US" sz="1600" dirty="0" smtClean="0">
                <a:solidFill>
                  <a:schemeClr val="tx2"/>
                </a:solidFill>
              </a:rPr>
              <a:t> Master Score</a:t>
            </a:r>
          </a:p>
          <a:p>
            <a:r>
              <a:rPr lang="en-US" sz="1600" dirty="0" smtClean="0">
                <a:solidFill>
                  <a:schemeClr val="tx2"/>
                </a:solidFill>
              </a:rPr>
              <a:t>Outstanding Balance-weighted Average Days Past Due for the Last 24 Months</a:t>
            </a:r>
          </a:p>
          <a:p>
            <a:r>
              <a:rPr lang="en-US" sz="1600" dirty="0" smtClean="0">
                <a:solidFill>
                  <a:schemeClr val="tx2"/>
                </a:solidFill>
              </a:rPr>
              <a:t>Percent of Current Delinquent Amount</a:t>
            </a:r>
          </a:p>
          <a:p>
            <a:r>
              <a:rPr lang="en-US" sz="1600" dirty="0" smtClean="0">
                <a:solidFill>
                  <a:schemeClr val="tx2"/>
                </a:solidFill>
              </a:rPr>
              <a:t>Maximum Delinquency over the Past 12 Months</a:t>
            </a:r>
          </a:p>
          <a:p>
            <a:r>
              <a:rPr lang="en-US" sz="1600" dirty="0" smtClean="0">
                <a:solidFill>
                  <a:schemeClr val="tx2"/>
                </a:solidFill>
              </a:rPr>
              <a:t>NAICS2</a:t>
            </a:r>
          </a:p>
          <a:p>
            <a:r>
              <a:rPr lang="en-US" sz="1600" dirty="0" smtClean="0">
                <a:solidFill>
                  <a:schemeClr val="tx2"/>
                </a:solidFill>
              </a:rPr>
              <a:t>Doctor Flag</a:t>
            </a:r>
          </a:p>
          <a:p>
            <a:r>
              <a:rPr lang="en-US" sz="1600" dirty="0" smtClean="0">
                <a:solidFill>
                  <a:schemeClr val="tx2"/>
                </a:solidFill>
              </a:rPr>
              <a:t>Number of Obligations Open in the Last 6 Months</a:t>
            </a:r>
          </a:p>
          <a:p>
            <a:r>
              <a:rPr lang="en-US" sz="1600" dirty="0" smtClean="0">
                <a:solidFill>
                  <a:schemeClr val="tx2"/>
                </a:solidFill>
              </a:rPr>
              <a:t>Province</a:t>
            </a:r>
          </a:p>
          <a:p>
            <a:r>
              <a:rPr lang="en-US" sz="1600" dirty="0" smtClean="0">
                <a:solidFill>
                  <a:schemeClr val="tx2"/>
                </a:solidFill>
              </a:rPr>
              <a:t>Number of Months in </a:t>
            </a:r>
            <a:r>
              <a:rPr lang="en-US" sz="1600" dirty="0" err="1" smtClean="0">
                <a:solidFill>
                  <a:schemeClr val="tx2"/>
                </a:solidFill>
              </a:rPr>
              <a:t>PayNet</a:t>
            </a:r>
            <a:r>
              <a:rPr lang="en-US" sz="1600" dirty="0" smtClean="0">
                <a:solidFill>
                  <a:schemeClr val="tx2"/>
                </a:solidFill>
              </a:rPr>
              <a:t> Database</a:t>
            </a:r>
          </a:p>
          <a:p>
            <a:endParaRPr lang="en-CA" sz="1600" dirty="0">
              <a:solidFill>
                <a:schemeClr val="tx2"/>
              </a:solidFill>
            </a:endParaRPr>
          </a:p>
        </p:txBody>
      </p:sp>
      <p:sp>
        <p:nvSpPr>
          <p:cNvPr id="3" name="Text Placeholder 2"/>
          <p:cNvSpPr>
            <a:spLocks noGrp="1"/>
          </p:cNvSpPr>
          <p:nvPr>
            <p:ph type="body" sz="quarter" idx="12"/>
          </p:nvPr>
        </p:nvSpPr>
        <p:spPr>
          <a:xfrm>
            <a:off x="406203" y="399966"/>
            <a:ext cx="3640864" cy="607567"/>
          </a:xfrm>
        </p:spPr>
        <p:txBody>
          <a:bodyPr/>
          <a:lstStyle/>
          <a:p>
            <a:r>
              <a:rPr lang="en-US" dirty="0" smtClean="0"/>
              <a:t>Analysis of Risk Drivers</a:t>
            </a:r>
            <a:endParaRPr lang="en-CA" dirty="0"/>
          </a:p>
        </p:txBody>
      </p:sp>
      <p:sp>
        <p:nvSpPr>
          <p:cNvPr id="4" name="Text Placeholder 3"/>
          <p:cNvSpPr>
            <a:spLocks noGrp="1"/>
          </p:cNvSpPr>
          <p:nvPr>
            <p:ph type="body" sz="quarter" idx="14"/>
          </p:nvPr>
        </p:nvSpPr>
        <p:spPr/>
        <p:txBody>
          <a:bodyPr/>
          <a:lstStyle/>
          <a:p>
            <a:endParaRPr lang="en-CA"/>
          </a:p>
        </p:txBody>
      </p:sp>
    </p:spTree>
    <p:extLst>
      <p:ext uri="{BB962C8B-B14F-4D97-AF65-F5344CB8AC3E}">
        <p14:creationId xmlns:p14="http://schemas.microsoft.com/office/powerpoint/2010/main" val="19681774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2400" dirty="0" smtClean="0"/>
              <a:t>Distribution by Master Score: Current Portfolio vs Historical Data</a:t>
            </a:r>
            <a:endParaRPr lang="en-CA" sz="2400" dirty="0"/>
          </a:p>
        </p:txBody>
      </p:sp>
      <p:sp>
        <p:nvSpPr>
          <p:cNvPr id="4" name="Text Placeholder 3"/>
          <p:cNvSpPr>
            <a:spLocks noGrp="1"/>
          </p:cNvSpPr>
          <p:nvPr>
            <p:ph type="body" sz="quarter" idx="15"/>
          </p:nvPr>
        </p:nvSpPr>
        <p:spPr>
          <a:xfrm>
            <a:off x="406399" y="1509712"/>
            <a:ext cx="8348133" cy="3180821"/>
          </a:xfrm>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pPr marL="228600" indent="-228600">
              <a:buFont typeface="+mj-lt"/>
              <a:buAutoNum type="arabicParenR"/>
            </a:pPr>
            <a:endParaRPr lang="en-US" sz="1000" dirty="0" smtClean="0"/>
          </a:p>
          <a:p>
            <a:r>
              <a:rPr lang="en-US" sz="1200" b="1" dirty="0" smtClean="0">
                <a:solidFill>
                  <a:schemeClr val="tx2"/>
                </a:solidFill>
              </a:rPr>
              <a:t>Overall Distribution: </a:t>
            </a:r>
            <a:r>
              <a:rPr lang="en-US" sz="1200" dirty="0" smtClean="0">
                <a:solidFill>
                  <a:schemeClr val="tx2"/>
                </a:solidFill>
              </a:rPr>
              <a:t>This risk driver was not available for the current portfolio. A score of 8 was assigned to each obligor in the current portfolio.</a:t>
            </a:r>
            <a:endParaRPr lang="en-US" sz="1200" b="1" dirty="0">
              <a:solidFill>
                <a:schemeClr val="tx2"/>
              </a:solidFill>
            </a:endParaRPr>
          </a:p>
        </p:txBody>
      </p:sp>
      <p:graphicFrame>
        <p:nvGraphicFramePr>
          <p:cNvPr id="5" name="Chart 4"/>
          <p:cNvGraphicFramePr>
            <a:graphicFrameLocks/>
          </p:cNvGraphicFramePr>
          <p:nvPr>
            <p:extLst>
              <p:ext uri="{D42A27DB-BD31-4B8C-83A1-F6EECF244321}">
                <p14:modId xmlns:p14="http://schemas.microsoft.com/office/powerpoint/2010/main" val="1268759912"/>
              </p:ext>
            </p:extLst>
          </p:nvPr>
        </p:nvGraphicFramePr>
        <p:xfrm>
          <a:off x="406400" y="745374"/>
          <a:ext cx="8280400" cy="341175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371838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1600" dirty="0" smtClean="0"/>
              <a:t>Distribution by Balance-weighted Average Days Past Due in Last 24 Months: Current Portfolio vs Historical Data</a:t>
            </a:r>
            <a:endParaRPr lang="en-CA" sz="1600" dirty="0"/>
          </a:p>
        </p:txBody>
      </p:sp>
      <p:sp>
        <p:nvSpPr>
          <p:cNvPr id="4" name="Text Placeholder 3"/>
          <p:cNvSpPr>
            <a:spLocks noGrp="1"/>
          </p:cNvSpPr>
          <p:nvPr>
            <p:ph type="body" sz="quarter" idx="15"/>
          </p:nvPr>
        </p:nvSpPr>
        <p:spPr>
          <a:xfrm>
            <a:off x="406400" y="1430867"/>
            <a:ext cx="8280400" cy="3140683"/>
          </a:xfrm>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sz="1000" dirty="0" smtClean="0"/>
          </a:p>
          <a:p>
            <a:endParaRPr lang="en-US" sz="1000" dirty="0" smtClean="0"/>
          </a:p>
          <a:p>
            <a:pPr marL="228600" indent="-228600">
              <a:buFont typeface="+mj-lt"/>
              <a:buAutoNum type="arabicParenR"/>
            </a:pPr>
            <a:r>
              <a:rPr lang="en-US" sz="1200" b="1" dirty="0">
                <a:solidFill>
                  <a:schemeClr val="tx2"/>
                </a:solidFill>
              </a:rPr>
              <a:t>Historical Data vs Current Portfolio: </a:t>
            </a:r>
            <a:r>
              <a:rPr lang="en-US" sz="1200" dirty="0">
                <a:solidFill>
                  <a:schemeClr val="tx2"/>
                </a:solidFill>
              </a:rPr>
              <a:t>The distribution of obligors is similar between the current portfolio and the historical sample. </a:t>
            </a:r>
          </a:p>
          <a:p>
            <a:pPr marL="228600" indent="-228600">
              <a:buFont typeface="+mj-lt"/>
              <a:buAutoNum type="arabicParenR"/>
            </a:pPr>
            <a:r>
              <a:rPr lang="en-US" sz="1200" b="1" dirty="0">
                <a:solidFill>
                  <a:schemeClr val="tx2"/>
                </a:solidFill>
              </a:rPr>
              <a:t>Concentration of Obligors: </a:t>
            </a:r>
            <a:r>
              <a:rPr lang="en-US" sz="1200" dirty="0">
                <a:solidFill>
                  <a:schemeClr val="tx2"/>
                </a:solidFill>
              </a:rPr>
              <a:t>For the majority of obligors, the balance-weighted average days past due in last 24 months is less than 0.02</a:t>
            </a:r>
            <a:endParaRPr lang="en-US" sz="1200" b="1" dirty="0" smtClean="0">
              <a:solidFill>
                <a:schemeClr val="tx2"/>
              </a:solidFill>
            </a:endParaRPr>
          </a:p>
        </p:txBody>
      </p:sp>
      <p:graphicFrame>
        <p:nvGraphicFramePr>
          <p:cNvPr id="6" name="Chart 5"/>
          <p:cNvGraphicFramePr>
            <a:graphicFrameLocks/>
          </p:cNvGraphicFramePr>
          <p:nvPr>
            <p:extLst>
              <p:ext uri="{D42A27DB-BD31-4B8C-83A1-F6EECF244321}">
                <p14:modId xmlns:p14="http://schemas.microsoft.com/office/powerpoint/2010/main" val="2976446544"/>
              </p:ext>
            </p:extLst>
          </p:nvPr>
        </p:nvGraphicFramePr>
        <p:xfrm>
          <a:off x="406399" y="745375"/>
          <a:ext cx="8280401" cy="342869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499896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1600" dirty="0" smtClean="0"/>
              <a:t>Distribution by Balance-weighted Average Days Past Due in Last 24 Months: EFG, NL and Non-EFG/Non-NL</a:t>
            </a:r>
            <a:endParaRPr lang="en-CA" sz="1600" dirty="0"/>
          </a:p>
        </p:txBody>
      </p:sp>
      <p:sp>
        <p:nvSpPr>
          <p:cNvPr id="4" name="Text Placeholder 3"/>
          <p:cNvSpPr>
            <a:spLocks noGrp="1"/>
          </p:cNvSpPr>
          <p:nvPr>
            <p:ph type="body" sz="quarter" idx="15"/>
          </p:nvPr>
        </p:nvSpPr>
        <p:spPr>
          <a:xfrm>
            <a:off x="482600" y="1763713"/>
            <a:ext cx="8280400" cy="3070754"/>
          </a:xfrm>
        </p:spPr>
        <p:txBody>
          <a:bodyPr/>
          <a:lstStyle/>
          <a:p>
            <a:endParaRPr lang="en-US" sz="1200" dirty="0" smtClean="0">
              <a:solidFill>
                <a:schemeClr val="tx2"/>
              </a:solidFill>
            </a:endParaRPr>
          </a:p>
          <a:p>
            <a:endParaRPr lang="en-US" sz="1200" dirty="0">
              <a:solidFill>
                <a:schemeClr val="tx2"/>
              </a:solidFill>
            </a:endParaRPr>
          </a:p>
          <a:p>
            <a:endParaRPr lang="en-US" sz="1200" dirty="0" smtClean="0">
              <a:solidFill>
                <a:schemeClr val="tx2"/>
              </a:solidFill>
            </a:endParaRPr>
          </a:p>
          <a:p>
            <a:endParaRPr lang="en-US" sz="1200" dirty="0">
              <a:solidFill>
                <a:schemeClr val="tx2"/>
              </a:solidFill>
            </a:endParaRPr>
          </a:p>
          <a:p>
            <a:endParaRPr lang="en-US" sz="1200" dirty="0" smtClean="0">
              <a:solidFill>
                <a:schemeClr val="tx2"/>
              </a:solidFill>
            </a:endParaRPr>
          </a:p>
          <a:p>
            <a:endParaRPr lang="en-US" sz="1200" dirty="0">
              <a:solidFill>
                <a:schemeClr val="tx2"/>
              </a:solidFill>
            </a:endParaRPr>
          </a:p>
          <a:p>
            <a:endParaRPr lang="en-US" sz="1200" dirty="0" smtClean="0">
              <a:solidFill>
                <a:schemeClr val="tx2"/>
              </a:solidFill>
            </a:endParaRPr>
          </a:p>
          <a:p>
            <a:endParaRPr lang="en-US" sz="1200" dirty="0" smtClean="0">
              <a:solidFill>
                <a:schemeClr val="tx2"/>
              </a:solidFill>
            </a:endParaRPr>
          </a:p>
          <a:p>
            <a:endParaRPr lang="en-US" sz="1200" dirty="0">
              <a:solidFill>
                <a:schemeClr val="tx2"/>
              </a:solidFill>
            </a:endParaRPr>
          </a:p>
          <a:p>
            <a:endParaRPr lang="en-US" sz="1200" dirty="0" smtClean="0">
              <a:solidFill>
                <a:schemeClr val="tx2"/>
              </a:solidFill>
            </a:endParaRPr>
          </a:p>
          <a:p>
            <a:pPr marL="228600" indent="-228600">
              <a:buFont typeface="+mj-lt"/>
              <a:buAutoNum type="arabicParenR"/>
            </a:pPr>
            <a:r>
              <a:rPr lang="en-US" sz="1200" b="1" dirty="0">
                <a:solidFill>
                  <a:schemeClr val="tx2"/>
                </a:solidFill>
              </a:rPr>
              <a:t>NL vs EFG and Non-EFG/Non-NL: </a:t>
            </a:r>
            <a:r>
              <a:rPr lang="en-US" sz="1200" dirty="0">
                <a:solidFill>
                  <a:schemeClr val="tx2"/>
                </a:solidFill>
              </a:rPr>
              <a:t>Among segments, NL has a higher concentration of obligors with the balance-weighted average days past due in last 24 months less than 0.02. </a:t>
            </a:r>
          </a:p>
          <a:p>
            <a:pPr marL="228600" indent="-228600">
              <a:buFont typeface="+mj-lt"/>
              <a:buAutoNum type="arabicParenR"/>
            </a:pPr>
            <a:r>
              <a:rPr lang="en-US" sz="1200" b="1" dirty="0">
                <a:solidFill>
                  <a:schemeClr val="tx2"/>
                </a:solidFill>
              </a:rPr>
              <a:t>Non-EFG/Non-NL vs EFG and NL: </a:t>
            </a:r>
            <a:r>
              <a:rPr lang="en-US" sz="1200" dirty="0">
                <a:solidFill>
                  <a:schemeClr val="tx2"/>
                </a:solidFill>
              </a:rPr>
              <a:t>Overall, Non-EFG/Non-NL obligors tend to have higher balance-weighted average days past due in last 24 months</a:t>
            </a:r>
            <a:r>
              <a:rPr lang="en-US" sz="1200" dirty="0" smtClean="0">
                <a:solidFill>
                  <a:schemeClr val="tx2"/>
                </a:solidFill>
              </a:rPr>
              <a:t>. </a:t>
            </a:r>
            <a:endParaRPr lang="en-CA" sz="1200" b="1" dirty="0">
              <a:solidFill>
                <a:schemeClr val="tx2"/>
              </a:solidFill>
            </a:endParaRPr>
          </a:p>
        </p:txBody>
      </p:sp>
      <p:graphicFrame>
        <p:nvGraphicFramePr>
          <p:cNvPr id="5" name="Chart 4"/>
          <p:cNvGraphicFramePr>
            <a:graphicFrameLocks/>
          </p:cNvGraphicFramePr>
          <p:nvPr>
            <p:extLst>
              <p:ext uri="{D42A27DB-BD31-4B8C-83A1-F6EECF244321}">
                <p14:modId xmlns:p14="http://schemas.microsoft.com/office/powerpoint/2010/main" val="2648710213"/>
              </p:ext>
            </p:extLst>
          </p:nvPr>
        </p:nvGraphicFramePr>
        <p:xfrm>
          <a:off x="406400" y="745376"/>
          <a:ext cx="8280400" cy="320009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446810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2000" dirty="0" smtClean="0"/>
              <a:t>Distribution by Percent of Current Delinquent Amount: Current Portfolio vs Historical Data</a:t>
            </a:r>
            <a:endParaRPr lang="en-CA" sz="2000" dirty="0"/>
          </a:p>
        </p:txBody>
      </p:sp>
      <p:sp>
        <p:nvSpPr>
          <p:cNvPr id="4" name="Text Placeholder 3"/>
          <p:cNvSpPr>
            <a:spLocks noGrp="1"/>
          </p:cNvSpPr>
          <p:nvPr>
            <p:ph type="body" sz="quarter" idx="15"/>
          </p:nvPr>
        </p:nvSpPr>
        <p:spPr>
          <a:xfrm>
            <a:off x="406400" y="1636712"/>
            <a:ext cx="8280400" cy="3113087"/>
          </a:xfrm>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sz="1000" dirty="0" smtClean="0"/>
          </a:p>
          <a:p>
            <a:pPr marL="228600" indent="-228600">
              <a:buFont typeface="+mj-lt"/>
              <a:buAutoNum type="arabicParenR"/>
            </a:pPr>
            <a:r>
              <a:rPr lang="en-US" sz="1100" b="1" dirty="0">
                <a:solidFill>
                  <a:schemeClr val="tx2"/>
                </a:solidFill>
              </a:rPr>
              <a:t>Historical Data vs Current Portfolio: </a:t>
            </a:r>
            <a:r>
              <a:rPr lang="en-US" sz="1100" dirty="0">
                <a:solidFill>
                  <a:schemeClr val="tx2"/>
                </a:solidFill>
              </a:rPr>
              <a:t>The distribution of obligors by </a:t>
            </a:r>
            <a:r>
              <a:rPr lang="en-US" sz="1100" dirty="0" smtClean="0">
                <a:solidFill>
                  <a:schemeClr val="tx2"/>
                </a:solidFill>
              </a:rPr>
              <a:t>“Percent of Current Delinquent Amount” </a:t>
            </a:r>
            <a:r>
              <a:rPr lang="en-US" sz="1100" dirty="0">
                <a:solidFill>
                  <a:schemeClr val="tx2"/>
                </a:solidFill>
              </a:rPr>
              <a:t>is similar between the current portfolio and historical sample.</a:t>
            </a:r>
          </a:p>
          <a:p>
            <a:pPr marL="228600" indent="-228600">
              <a:buFont typeface="+mj-lt"/>
              <a:buAutoNum type="arabicParenR"/>
            </a:pPr>
            <a:r>
              <a:rPr lang="en-US" sz="1100" b="1" dirty="0">
                <a:solidFill>
                  <a:schemeClr val="tx2"/>
                </a:solidFill>
              </a:rPr>
              <a:t>Concentration of Obligors: </a:t>
            </a:r>
            <a:r>
              <a:rPr lang="en-US" sz="1100" dirty="0">
                <a:solidFill>
                  <a:schemeClr val="tx2"/>
                </a:solidFill>
              </a:rPr>
              <a:t>For the majority of obligors, this variables is equal to 0%. </a:t>
            </a:r>
            <a:endParaRPr lang="en-CA" sz="1100" b="1" dirty="0">
              <a:solidFill>
                <a:schemeClr val="tx2"/>
              </a:solidFill>
            </a:endParaRPr>
          </a:p>
        </p:txBody>
      </p:sp>
      <p:graphicFrame>
        <p:nvGraphicFramePr>
          <p:cNvPr id="5" name="Chart 4"/>
          <p:cNvGraphicFramePr>
            <a:graphicFrameLocks/>
          </p:cNvGraphicFramePr>
          <p:nvPr>
            <p:extLst>
              <p:ext uri="{D42A27DB-BD31-4B8C-83A1-F6EECF244321}">
                <p14:modId xmlns:p14="http://schemas.microsoft.com/office/powerpoint/2010/main" val="1915693616"/>
              </p:ext>
            </p:extLst>
          </p:nvPr>
        </p:nvGraphicFramePr>
        <p:xfrm>
          <a:off x="406400" y="745375"/>
          <a:ext cx="8280400" cy="328475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3529830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2000" dirty="0" smtClean="0"/>
              <a:t>Distribution by Percent of Current Delinquent Amount: EFG, NL and Non-EFG/Non-NL</a:t>
            </a:r>
            <a:endParaRPr lang="en-CA" sz="2000" dirty="0"/>
          </a:p>
        </p:txBody>
      </p:sp>
      <p:sp>
        <p:nvSpPr>
          <p:cNvPr id="4" name="Text Placeholder 3"/>
          <p:cNvSpPr>
            <a:spLocks noGrp="1"/>
          </p:cNvSpPr>
          <p:nvPr>
            <p:ph type="body" sz="quarter" idx="15"/>
          </p:nvPr>
        </p:nvSpPr>
        <p:spPr>
          <a:xfrm>
            <a:off x="406400" y="1636713"/>
            <a:ext cx="8280400" cy="3130020"/>
          </a:xfrm>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sz="1000" dirty="0"/>
          </a:p>
          <a:p>
            <a:endParaRPr lang="en-US" sz="1100" b="1" dirty="0" smtClean="0">
              <a:solidFill>
                <a:schemeClr val="tx2"/>
              </a:solidFill>
            </a:endParaRPr>
          </a:p>
          <a:p>
            <a:r>
              <a:rPr lang="en-US" sz="1100" b="1" dirty="0" smtClean="0">
                <a:solidFill>
                  <a:schemeClr val="tx2"/>
                </a:solidFill>
              </a:rPr>
              <a:t>Distribution </a:t>
            </a:r>
            <a:r>
              <a:rPr lang="en-US" sz="1100" b="1" dirty="0">
                <a:solidFill>
                  <a:schemeClr val="tx2"/>
                </a:solidFill>
              </a:rPr>
              <a:t>of Obligors between Segments: </a:t>
            </a:r>
            <a:r>
              <a:rPr lang="en-US" sz="1100" dirty="0">
                <a:solidFill>
                  <a:schemeClr val="tx2"/>
                </a:solidFill>
              </a:rPr>
              <a:t>The distribution of obligors by </a:t>
            </a:r>
            <a:r>
              <a:rPr lang="en-US" sz="1100" dirty="0" smtClean="0">
                <a:solidFill>
                  <a:schemeClr val="tx2"/>
                </a:solidFill>
              </a:rPr>
              <a:t>“Percent of Current Delinquent Amount” </a:t>
            </a:r>
            <a:r>
              <a:rPr lang="en-US" sz="1100" dirty="0">
                <a:solidFill>
                  <a:schemeClr val="tx2"/>
                </a:solidFill>
              </a:rPr>
              <a:t>is similar for all segments with EFG having a higher percentage of new customers.</a:t>
            </a:r>
            <a:endParaRPr lang="en-US" sz="1100" b="1" dirty="0">
              <a:solidFill>
                <a:schemeClr val="tx2"/>
              </a:solidFill>
            </a:endParaRPr>
          </a:p>
        </p:txBody>
      </p:sp>
      <p:graphicFrame>
        <p:nvGraphicFramePr>
          <p:cNvPr id="6" name="Chart 5"/>
          <p:cNvGraphicFramePr>
            <a:graphicFrameLocks/>
          </p:cNvGraphicFramePr>
          <p:nvPr>
            <p:extLst>
              <p:ext uri="{D42A27DB-BD31-4B8C-83A1-F6EECF244321}">
                <p14:modId xmlns:p14="http://schemas.microsoft.com/office/powerpoint/2010/main" val="564958322"/>
              </p:ext>
            </p:extLst>
          </p:nvPr>
        </p:nvGraphicFramePr>
        <p:xfrm>
          <a:off x="406400" y="745374"/>
          <a:ext cx="8161867" cy="333555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8524624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2000" dirty="0" smtClean="0"/>
              <a:t>Distribution by Max Delinquency over Last 12 Months: Current Portfolio vs Historical Data</a:t>
            </a:r>
            <a:endParaRPr lang="en-CA" sz="2000" dirty="0"/>
          </a:p>
        </p:txBody>
      </p:sp>
      <p:sp>
        <p:nvSpPr>
          <p:cNvPr id="4" name="Text Placeholder 3"/>
          <p:cNvSpPr>
            <a:spLocks noGrp="1"/>
          </p:cNvSpPr>
          <p:nvPr>
            <p:ph type="body" sz="quarter" idx="15"/>
          </p:nvPr>
        </p:nvSpPr>
        <p:spPr>
          <a:xfrm>
            <a:off x="406400" y="1636713"/>
            <a:ext cx="8280400" cy="3130020"/>
          </a:xfrm>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sz="1000" dirty="0" smtClean="0"/>
          </a:p>
          <a:p>
            <a:endParaRPr lang="en-US" sz="1000" dirty="0" smtClean="0"/>
          </a:p>
          <a:p>
            <a:pPr marL="228600" indent="-228600">
              <a:buFont typeface="+mj-lt"/>
              <a:buAutoNum type="arabicParenR"/>
            </a:pPr>
            <a:r>
              <a:rPr lang="en-US" sz="1100" b="1" dirty="0">
                <a:solidFill>
                  <a:schemeClr val="tx2"/>
                </a:solidFill>
              </a:rPr>
              <a:t>Historical Data vs Current Portfolio: </a:t>
            </a:r>
            <a:r>
              <a:rPr lang="en-US" sz="1100" dirty="0">
                <a:solidFill>
                  <a:schemeClr val="tx2"/>
                </a:solidFill>
              </a:rPr>
              <a:t>The distribution of obligors is similar between the current portfolio and historical sample. </a:t>
            </a:r>
          </a:p>
          <a:p>
            <a:pPr marL="228600" indent="-228600">
              <a:buFont typeface="+mj-lt"/>
              <a:buAutoNum type="arabicParenR"/>
            </a:pPr>
            <a:r>
              <a:rPr lang="en-US" sz="1100" b="1" dirty="0">
                <a:solidFill>
                  <a:schemeClr val="tx2"/>
                </a:solidFill>
              </a:rPr>
              <a:t>Concentration of Obligors: </a:t>
            </a:r>
            <a:r>
              <a:rPr lang="en-US" sz="1100" dirty="0">
                <a:solidFill>
                  <a:schemeClr val="tx2"/>
                </a:solidFill>
              </a:rPr>
              <a:t>The majority of obligors have been less than 6 days delinquent over the past 12 months. </a:t>
            </a:r>
            <a:endParaRPr lang="en-CA" sz="1100" b="1" dirty="0">
              <a:solidFill>
                <a:schemeClr val="tx2"/>
              </a:solidFill>
            </a:endParaRPr>
          </a:p>
        </p:txBody>
      </p:sp>
      <p:graphicFrame>
        <p:nvGraphicFramePr>
          <p:cNvPr id="6" name="Chart 5"/>
          <p:cNvGraphicFramePr>
            <a:graphicFrameLocks/>
          </p:cNvGraphicFramePr>
          <p:nvPr>
            <p:extLst>
              <p:ext uri="{D42A27DB-BD31-4B8C-83A1-F6EECF244321}">
                <p14:modId xmlns:p14="http://schemas.microsoft.com/office/powerpoint/2010/main" val="2403703854"/>
              </p:ext>
            </p:extLst>
          </p:nvPr>
        </p:nvGraphicFramePr>
        <p:xfrm>
          <a:off x="406400" y="745375"/>
          <a:ext cx="8280400" cy="336942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398351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2000" dirty="0" smtClean="0"/>
              <a:t>Distribution by Max Delinquency over Last 12 Months: EFG, NL and Non-EFG/Non-NL</a:t>
            </a:r>
            <a:endParaRPr lang="en-CA" sz="2000" dirty="0"/>
          </a:p>
        </p:txBody>
      </p:sp>
      <p:sp>
        <p:nvSpPr>
          <p:cNvPr id="4" name="Text Placeholder 3"/>
          <p:cNvSpPr>
            <a:spLocks noGrp="1"/>
          </p:cNvSpPr>
          <p:nvPr>
            <p:ph type="body" sz="quarter" idx="15"/>
          </p:nvPr>
        </p:nvSpPr>
        <p:spPr>
          <a:xfrm>
            <a:off x="406400" y="1340380"/>
            <a:ext cx="8280400" cy="3223154"/>
          </a:xfrm>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sz="1000" dirty="0" smtClean="0"/>
          </a:p>
          <a:p>
            <a:endParaRPr lang="en-US" sz="1000" dirty="0" smtClean="0"/>
          </a:p>
          <a:p>
            <a:endParaRPr lang="en-US" sz="1100" dirty="0" smtClean="0">
              <a:solidFill>
                <a:schemeClr val="tx2"/>
              </a:solidFill>
            </a:endParaRPr>
          </a:p>
          <a:p>
            <a:pPr marL="228600" indent="-228600">
              <a:buFont typeface="+mj-lt"/>
              <a:buAutoNum type="arabicParenR"/>
            </a:pPr>
            <a:r>
              <a:rPr lang="en-US" sz="1200" b="1" dirty="0">
                <a:solidFill>
                  <a:schemeClr val="tx2"/>
                </a:solidFill>
              </a:rPr>
              <a:t>NL vs EFG and Non-EFG/Non-NL: </a:t>
            </a:r>
            <a:r>
              <a:rPr lang="en-US" sz="1200" dirty="0">
                <a:solidFill>
                  <a:schemeClr val="tx2"/>
                </a:solidFill>
              </a:rPr>
              <a:t>NL obligors have higher delinquencies than obligors from other segments with about </a:t>
            </a:r>
            <a:r>
              <a:rPr lang="en-US" sz="1200" dirty="0" smtClean="0">
                <a:solidFill>
                  <a:schemeClr val="tx2"/>
                </a:solidFill>
              </a:rPr>
              <a:t>17.52% </a:t>
            </a:r>
            <a:r>
              <a:rPr lang="en-US" sz="1200" dirty="0">
                <a:solidFill>
                  <a:schemeClr val="tx2"/>
                </a:solidFill>
              </a:rPr>
              <a:t>of obligors having been more than 5 days delinquent over the past 12 months.</a:t>
            </a:r>
            <a:r>
              <a:rPr lang="en-US" sz="1200" b="1" dirty="0">
                <a:solidFill>
                  <a:schemeClr val="tx2"/>
                </a:solidFill>
              </a:rPr>
              <a:t> </a:t>
            </a:r>
          </a:p>
          <a:p>
            <a:pPr marL="228600" indent="-228600">
              <a:buFont typeface="+mj-lt"/>
              <a:buAutoNum type="arabicParenR"/>
            </a:pPr>
            <a:r>
              <a:rPr lang="en-US" sz="1200" b="1" dirty="0">
                <a:solidFill>
                  <a:schemeClr val="tx2"/>
                </a:solidFill>
              </a:rPr>
              <a:t>Non-EFG/Non-NL vs EFG and NL: </a:t>
            </a:r>
            <a:r>
              <a:rPr lang="en-US" sz="1200" dirty="0" smtClean="0">
                <a:solidFill>
                  <a:schemeClr val="tx2"/>
                </a:solidFill>
              </a:rPr>
              <a:t>90.54% </a:t>
            </a:r>
            <a:r>
              <a:rPr lang="en-US" sz="1200" dirty="0">
                <a:solidFill>
                  <a:schemeClr val="tx2"/>
                </a:solidFill>
              </a:rPr>
              <a:t>of </a:t>
            </a:r>
            <a:r>
              <a:rPr lang="en-US" sz="1200" dirty="0" smtClean="0">
                <a:solidFill>
                  <a:schemeClr val="tx2"/>
                </a:solidFill>
              </a:rPr>
              <a:t>Non-EFG/Non-NL </a:t>
            </a:r>
            <a:r>
              <a:rPr lang="en-US" sz="1200" dirty="0">
                <a:solidFill>
                  <a:schemeClr val="tx2"/>
                </a:solidFill>
              </a:rPr>
              <a:t>obligors have been less than 6 days delinquent over the past 12 months. </a:t>
            </a:r>
            <a:endParaRPr lang="en-US" sz="1200" b="1" dirty="0">
              <a:solidFill>
                <a:schemeClr val="tx2"/>
              </a:solidFill>
            </a:endParaRPr>
          </a:p>
        </p:txBody>
      </p:sp>
      <p:graphicFrame>
        <p:nvGraphicFramePr>
          <p:cNvPr id="5" name="Chart 4"/>
          <p:cNvGraphicFramePr>
            <a:graphicFrameLocks/>
          </p:cNvGraphicFramePr>
          <p:nvPr>
            <p:extLst>
              <p:ext uri="{D42A27DB-BD31-4B8C-83A1-F6EECF244321}">
                <p14:modId xmlns:p14="http://schemas.microsoft.com/office/powerpoint/2010/main" val="2635180248"/>
              </p:ext>
            </p:extLst>
          </p:nvPr>
        </p:nvGraphicFramePr>
        <p:xfrm>
          <a:off x="406400" y="745376"/>
          <a:ext cx="8280400" cy="323395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567036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2000" dirty="0" smtClean="0"/>
              <a:t>Distribution by NAICS2: Current Portfolio vs Historical Data</a:t>
            </a:r>
            <a:endParaRPr lang="en-CA" sz="2000" dirty="0"/>
          </a:p>
        </p:txBody>
      </p:sp>
      <p:sp>
        <p:nvSpPr>
          <p:cNvPr id="4" name="Text Placeholder 3"/>
          <p:cNvSpPr>
            <a:spLocks noGrp="1"/>
          </p:cNvSpPr>
          <p:nvPr>
            <p:ph type="body" sz="quarter" idx="15"/>
          </p:nvPr>
        </p:nvSpPr>
        <p:spPr>
          <a:xfrm>
            <a:off x="406400" y="1570224"/>
            <a:ext cx="8280400" cy="3128775"/>
          </a:xfrm>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sz="1000" dirty="0" smtClean="0"/>
          </a:p>
          <a:p>
            <a:pPr marL="228600" indent="-228600">
              <a:buFont typeface="+mj-lt"/>
              <a:buAutoNum type="arabicParenR"/>
            </a:pPr>
            <a:r>
              <a:rPr lang="en-US" sz="1200" b="1" dirty="0">
                <a:solidFill>
                  <a:schemeClr val="tx2"/>
                </a:solidFill>
              </a:rPr>
              <a:t>Historical Data vs Current Portfolio: </a:t>
            </a:r>
            <a:r>
              <a:rPr lang="en-US" sz="1200" dirty="0">
                <a:solidFill>
                  <a:schemeClr val="tx2"/>
                </a:solidFill>
              </a:rPr>
              <a:t>The distribution of obligors is similar between the current portfolio and historical </a:t>
            </a:r>
            <a:r>
              <a:rPr lang="en-US" sz="1200" dirty="0" smtClean="0">
                <a:solidFill>
                  <a:schemeClr val="tx2"/>
                </a:solidFill>
              </a:rPr>
              <a:t>sample. There is a slightly higher percentage of obligors getting zero score for this risk driver in the current portfolio.</a:t>
            </a:r>
            <a:endParaRPr lang="en-US" sz="1200" dirty="0">
              <a:solidFill>
                <a:schemeClr val="tx2"/>
              </a:solidFill>
            </a:endParaRPr>
          </a:p>
          <a:p>
            <a:pPr marL="228600" indent="-228600">
              <a:buFont typeface="+mj-lt"/>
              <a:buAutoNum type="arabicParenR"/>
            </a:pPr>
            <a:r>
              <a:rPr lang="en-US" sz="1200" b="1" dirty="0">
                <a:solidFill>
                  <a:schemeClr val="tx2"/>
                </a:solidFill>
              </a:rPr>
              <a:t>Concentration of Obligors: </a:t>
            </a:r>
            <a:r>
              <a:rPr lang="en-US" sz="1200" dirty="0" smtClean="0">
                <a:solidFill>
                  <a:schemeClr val="tx2"/>
                </a:solidFill>
              </a:rPr>
              <a:t>Around 62.87% of current obligors get either 8 or 19 points for this risk driver.</a:t>
            </a:r>
            <a:endParaRPr lang="en-CA" sz="1200" b="1" dirty="0">
              <a:solidFill>
                <a:schemeClr val="tx2"/>
              </a:solidFill>
            </a:endParaRPr>
          </a:p>
        </p:txBody>
      </p:sp>
      <p:graphicFrame>
        <p:nvGraphicFramePr>
          <p:cNvPr id="5" name="Chart 4"/>
          <p:cNvGraphicFramePr>
            <a:graphicFrameLocks/>
          </p:cNvGraphicFramePr>
          <p:nvPr>
            <p:extLst>
              <p:ext uri="{D42A27DB-BD31-4B8C-83A1-F6EECF244321}">
                <p14:modId xmlns:p14="http://schemas.microsoft.com/office/powerpoint/2010/main" val="1458341273"/>
              </p:ext>
            </p:extLst>
          </p:nvPr>
        </p:nvGraphicFramePr>
        <p:xfrm>
          <a:off x="406400" y="745375"/>
          <a:ext cx="8280400" cy="331862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938811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2400" dirty="0" smtClean="0"/>
              <a:t>Distribution by NAICS2: EFG, NL and Non-EFG/Non-NL</a:t>
            </a:r>
            <a:endParaRPr lang="en-CA" sz="2400" dirty="0"/>
          </a:p>
        </p:txBody>
      </p:sp>
      <p:sp>
        <p:nvSpPr>
          <p:cNvPr id="4" name="Text Placeholder 3"/>
          <p:cNvSpPr>
            <a:spLocks noGrp="1"/>
          </p:cNvSpPr>
          <p:nvPr>
            <p:ph type="body" sz="quarter" idx="15"/>
          </p:nvPr>
        </p:nvSpPr>
        <p:spPr>
          <a:xfrm>
            <a:off x="406400" y="1382712"/>
            <a:ext cx="8280400" cy="3375555"/>
          </a:xfrm>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sz="1000" dirty="0" smtClean="0"/>
          </a:p>
          <a:p>
            <a:endParaRPr lang="en-US" sz="1000" dirty="0" smtClean="0"/>
          </a:p>
          <a:p>
            <a:endParaRPr lang="en-US" sz="1000" dirty="0" smtClean="0"/>
          </a:p>
          <a:p>
            <a:pPr marL="228600" indent="-228600">
              <a:buFont typeface="+mj-lt"/>
              <a:buAutoNum type="arabicParenR"/>
            </a:pPr>
            <a:r>
              <a:rPr lang="en-US" sz="1100" b="1" dirty="0" smtClean="0">
                <a:solidFill>
                  <a:schemeClr val="tx2"/>
                </a:solidFill>
              </a:rPr>
              <a:t>EFG vs NL and Non-EFG/Non-NL: </a:t>
            </a:r>
            <a:r>
              <a:rPr lang="en-US" sz="1100" dirty="0" smtClean="0">
                <a:solidFill>
                  <a:schemeClr val="tx2"/>
                </a:solidFill>
              </a:rPr>
              <a:t>Around 72.34% of EFG obligors get zero points. The majority of EFG borrowers (68.75%) are in Transportation and Warehousing (NAICS2 = 48) while the percentages of Non-EFG/Non-NL and NL obligors in the same industry are 6% and 14% respectively.</a:t>
            </a:r>
          </a:p>
          <a:p>
            <a:pPr marL="228600" indent="-228600">
              <a:buFont typeface="+mj-lt"/>
              <a:buAutoNum type="arabicParenR"/>
            </a:pPr>
            <a:r>
              <a:rPr lang="en-US" sz="1100" b="1" dirty="0" smtClean="0">
                <a:solidFill>
                  <a:schemeClr val="tx2"/>
                </a:solidFill>
              </a:rPr>
              <a:t>Non-EFG/Non-NL and NL: </a:t>
            </a:r>
            <a:r>
              <a:rPr lang="en-US" sz="1100" dirty="0" smtClean="0">
                <a:solidFill>
                  <a:schemeClr val="tx2"/>
                </a:solidFill>
              </a:rPr>
              <a:t>Non-EFG/Non-NL and NL obligors are distributed similarly. </a:t>
            </a:r>
            <a:endParaRPr lang="en-US" sz="1100" b="1" dirty="0">
              <a:solidFill>
                <a:schemeClr val="tx2"/>
              </a:solidFill>
            </a:endParaRPr>
          </a:p>
        </p:txBody>
      </p:sp>
      <p:graphicFrame>
        <p:nvGraphicFramePr>
          <p:cNvPr id="6" name="Chart 5"/>
          <p:cNvGraphicFramePr>
            <a:graphicFrameLocks/>
          </p:cNvGraphicFramePr>
          <p:nvPr>
            <p:extLst>
              <p:ext uri="{D42A27DB-BD31-4B8C-83A1-F6EECF244321}">
                <p14:modId xmlns:p14="http://schemas.microsoft.com/office/powerpoint/2010/main" val="2859760335"/>
              </p:ext>
            </p:extLst>
          </p:nvPr>
        </p:nvGraphicFramePr>
        <p:xfrm>
          <a:off x="406400" y="745374"/>
          <a:ext cx="8280400" cy="327629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208991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2400" dirty="0" smtClean="0"/>
              <a:t>Distribution by Doctor Flag: Current Portfolio vs Historical Data</a:t>
            </a:r>
            <a:endParaRPr lang="en-CA" sz="2400" dirty="0"/>
          </a:p>
        </p:txBody>
      </p:sp>
      <p:sp>
        <p:nvSpPr>
          <p:cNvPr id="4" name="Text Placeholder 3"/>
          <p:cNvSpPr>
            <a:spLocks noGrp="1"/>
          </p:cNvSpPr>
          <p:nvPr>
            <p:ph type="body" sz="quarter" idx="15"/>
          </p:nvPr>
        </p:nvSpPr>
        <p:spPr>
          <a:xfrm>
            <a:off x="406400" y="1392425"/>
            <a:ext cx="8280400" cy="3111842"/>
          </a:xfrm>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sz="1000" dirty="0" smtClean="0"/>
          </a:p>
          <a:p>
            <a:endParaRPr lang="en-US" sz="1100" dirty="0" smtClean="0">
              <a:solidFill>
                <a:schemeClr val="tx2"/>
              </a:solidFill>
            </a:endParaRPr>
          </a:p>
          <a:p>
            <a:pPr marL="228600" indent="-228600">
              <a:buFont typeface="+mj-lt"/>
              <a:buAutoNum type="arabicParenR"/>
            </a:pPr>
            <a:r>
              <a:rPr lang="en-US" sz="1100" b="1" dirty="0">
                <a:solidFill>
                  <a:schemeClr val="tx2"/>
                </a:solidFill>
              </a:rPr>
              <a:t>Historical Data vs Current Portfolio: </a:t>
            </a:r>
            <a:r>
              <a:rPr lang="en-US" sz="1100" dirty="0" smtClean="0">
                <a:solidFill>
                  <a:schemeClr val="tx2"/>
                </a:solidFill>
              </a:rPr>
              <a:t>There was a minor shift in the distribution of obligors between the historical data and the current portfolio.</a:t>
            </a:r>
            <a:endParaRPr lang="en-US" sz="1100" dirty="0">
              <a:solidFill>
                <a:schemeClr val="tx2"/>
              </a:solidFill>
            </a:endParaRPr>
          </a:p>
          <a:p>
            <a:pPr marL="228600" indent="-228600">
              <a:buFont typeface="+mj-lt"/>
              <a:buAutoNum type="arabicParenR"/>
            </a:pPr>
            <a:r>
              <a:rPr lang="en-US" sz="1100" b="1" dirty="0">
                <a:solidFill>
                  <a:schemeClr val="tx2"/>
                </a:solidFill>
              </a:rPr>
              <a:t>Concentration of Obligors: </a:t>
            </a:r>
            <a:r>
              <a:rPr lang="en-US" sz="1100" dirty="0" smtClean="0">
                <a:solidFill>
                  <a:schemeClr val="tx2"/>
                </a:solidFill>
              </a:rPr>
              <a:t>The majority of obligors, 99.81% in the current portfolio, are not doctors.</a:t>
            </a:r>
            <a:endParaRPr lang="en-CA" sz="1100" b="1" dirty="0">
              <a:solidFill>
                <a:schemeClr val="tx2"/>
              </a:solidFill>
            </a:endParaRPr>
          </a:p>
        </p:txBody>
      </p:sp>
      <p:graphicFrame>
        <p:nvGraphicFramePr>
          <p:cNvPr id="6" name="Chart 5"/>
          <p:cNvGraphicFramePr>
            <a:graphicFrameLocks/>
          </p:cNvGraphicFramePr>
          <p:nvPr>
            <p:extLst>
              <p:ext uri="{D42A27DB-BD31-4B8C-83A1-F6EECF244321}">
                <p14:modId xmlns:p14="http://schemas.microsoft.com/office/powerpoint/2010/main" val="1904787496"/>
              </p:ext>
            </p:extLst>
          </p:nvPr>
        </p:nvGraphicFramePr>
        <p:xfrm>
          <a:off x="406400" y="745375"/>
          <a:ext cx="8280400" cy="325089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3654335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2400" dirty="0" smtClean="0"/>
              <a:t>Distribution by Doctor Flag: EFG, NL and Non-EFG/Non-NL</a:t>
            </a:r>
            <a:endParaRPr lang="en-CA" sz="2400" dirty="0"/>
          </a:p>
        </p:txBody>
      </p:sp>
      <p:sp>
        <p:nvSpPr>
          <p:cNvPr id="4" name="Text Placeholder 3"/>
          <p:cNvSpPr>
            <a:spLocks noGrp="1"/>
          </p:cNvSpPr>
          <p:nvPr>
            <p:ph type="body" sz="quarter" idx="15"/>
          </p:nvPr>
        </p:nvSpPr>
        <p:spPr>
          <a:xfrm>
            <a:off x="406400" y="1636712"/>
            <a:ext cx="8280400" cy="3138487"/>
          </a:xfrm>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sz="1000" dirty="0" smtClean="0"/>
          </a:p>
          <a:p>
            <a:endParaRPr lang="en-US" sz="1000" dirty="0" smtClean="0"/>
          </a:p>
          <a:p>
            <a:endParaRPr lang="en-US" sz="1000" dirty="0" smtClean="0"/>
          </a:p>
          <a:p>
            <a:endParaRPr lang="en-US" sz="1000" dirty="0"/>
          </a:p>
          <a:p>
            <a:r>
              <a:rPr lang="en-US" sz="1100" b="1" dirty="0" smtClean="0">
                <a:solidFill>
                  <a:schemeClr val="tx2"/>
                </a:solidFill>
              </a:rPr>
              <a:t>Distribution of Obligors by Segment: </a:t>
            </a:r>
            <a:r>
              <a:rPr lang="en-US" sz="1100" dirty="0" smtClean="0">
                <a:solidFill>
                  <a:schemeClr val="tx2"/>
                </a:solidFill>
              </a:rPr>
              <a:t>The distribution of obligors is similar for all segments.</a:t>
            </a:r>
            <a:endParaRPr lang="en-US" sz="1100" b="1" dirty="0">
              <a:solidFill>
                <a:schemeClr val="tx2"/>
              </a:solidFill>
            </a:endParaRPr>
          </a:p>
        </p:txBody>
      </p:sp>
      <p:graphicFrame>
        <p:nvGraphicFramePr>
          <p:cNvPr id="5" name="Chart 4"/>
          <p:cNvGraphicFramePr>
            <a:graphicFrameLocks/>
          </p:cNvGraphicFramePr>
          <p:nvPr>
            <p:extLst>
              <p:ext uri="{D42A27DB-BD31-4B8C-83A1-F6EECF244321}">
                <p14:modId xmlns:p14="http://schemas.microsoft.com/office/powerpoint/2010/main" val="3195823637"/>
              </p:ext>
            </p:extLst>
          </p:nvPr>
        </p:nvGraphicFramePr>
        <p:xfrm>
          <a:off x="406400" y="745374"/>
          <a:ext cx="8280400" cy="370050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171685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2000" dirty="0" smtClean="0"/>
              <a:t>Distribution by Number of Open Obligations: Current Portfolio vs Historical Data</a:t>
            </a:r>
            <a:endParaRPr lang="en-CA" sz="2000" dirty="0"/>
          </a:p>
        </p:txBody>
      </p:sp>
      <p:sp>
        <p:nvSpPr>
          <p:cNvPr id="4" name="Text Placeholder 3"/>
          <p:cNvSpPr>
            <a:spLocks noGrp="1"/>
          </p:cNvSpPr>
          <p:nvPr>
            <p:ph type="body" sz="quarter" idx="15"/>
          </p:nvPr>
        </p:nvSpPr>
        <p:spPr>
          <a:xfrm>
            <a:off x="406400" y="1189224"/>
            <a:ext cx="8280400" cy="3585976"/>
          </a:xfrm>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sz="1000" dirty="0" smtClean="0"/>
          </a:p>
          <a:p>
            <a:endParaRPr lang="en-US" sz="1200" dirty="0" smtClean="0">
              <a:solidFill>
                <a:schemeClr val="tx2"/>
              </a:solidFill>
            </a:endParaRPr>
          </a:p>
          <a:p>
            <a:pPr marL="228600" indent="-228600">
              <a:buFont typeface="+mj-lt"/>
              <a:buAutoNum type="arabicParenR"/>
            </a:pPr>
            <a:r>
              <a:rPr lang="en-US" sz="1200" b="1" dirty="0">
                <a:solidFill>
                  <a:schemeClr val="tx2"/>
                </a:solidFill>
              </a:rPr>
              <a:t>Historical Data vs Current Portfolio: </a:t>
            </a:r>
            <a:r>
              <a:rPr lang="en-US" sz="1200" dirty="0" smtClean="0">
                <a:solidFill>
                  <a:schemeClr val="tx2"/>
                </a:solidFill>
              </a:rPr>
              <a:t>There was a minor shift in the distribution of obligors between the current portfolio and the historical data.</a:t>
            </a:r>
            <a:endParaRPr lang="en-US" sz="1200" dirty="0">
              <a:solidFill>
                <a:schemeClr val="tx2"/>
              </a:solidFill>
            </a:endParaRPr>
          </a:p>
          <a:p>
            <a:pPr marL="228600" indent="-228600">
              <a:buFont typeface="+mj-lt"/>
              <a:buAutoNum type="arabicParenR"/>
            </a:pPr>
            <a:r>
              <a:rPr lang="en-US" sz="1200" b="1" dirty="0">
                <a:solidFill>
                  <a:schemeClr val="tx2"/>
                </a:solidFill>
              </a:rPr>
              <a:t>Concentration of Obligors: </a:t>
            </a:r>
            <a:r>
              <a:rPr lang="en-US" sz="1200" dirty="0" smtClean="0">
                <a:solidFill>
                  <a:schemeClr val="tx2"/>
                </a:solidFill>
              </a:rPr>
              <a:t>Around 81% of obligors in the current portfolio have had between 1 and 7 open obligations in the past 6 months.</a:t>
            </a:r>
            <a:endParaRPr lang="en-CA" sz="1200" b="1" dirty="0">
              <a:solidFill>
                <a:schemeClr val="tx2"/>
              </a:solidFill>
            </a:endParaRPr>
          </a:p>
        </p:txBody>
      </p:sp>
      <p:graphicFrame>
        <p:nvGraphicFramePr>
          <p:cNvPr id="5" name="Chart 4"/>
          <p:cNvGraphicFramePr>
            <a:graphicFrameLocks/>
          </p:cNvGraphicFramePr>
          <p:nvPr>
            <p:extLst>
              <p:ext uri="{D42A27DB-BD31-4B8C-83A1-F6EECF244321}">
                <p14:modId xmlns:p14="http://schemas.microsoft.com/office/powerpoint/2010/main" val="3650675540"/>
              </p:ext>
            </p:extLst>
          </p:nvPr>
        </p:nvGraphicFramePr>
        <p:xfrm>
          <a:off x="406400" y="745374"/>
          <a:ext cx="8280400" cy="328476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9445714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2000" dirty="0" smtClean="0"/>
              <a:t>Distribution by Number of Open Obligations: EFG, NL and Non-EFG/Non-NL</a:t>
            </a:r>
            <a:endParaRPr lang="en-CA" sz="2000" dirty="0"/>
          </a:p>
        </p:txBody>
      </p:sp>
      <p:sp>
        <p:nvSpPr>
          <p:cNvPr id="4" name="Text Placeholder 3"/>
          <p:cNvSpPr>
            <a:spLocks noGrp="1"/>
          </p:cNvSpPr>
          <p:nvPr>
            <p:ph type="body" sz="quarter" idx="15"/>
          </p:nvPr>
        </p:nvSpPr>
        <p:spPr>
          <a:xfrm>
            <a:off x="406399" y="1298045"/>
            <a:ext cx="8280400" cy="3494088"/>
          </a:xfrm>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sz="1000" dirty="0" smtClean="0"/>
          </a:p>
          <a:p>
            <a:endParaRPr lang="en-US" sz="1000" dirty="0" smtClean="0"/>
          </a:p>
          <a:p>
            <a:endParaRPr lang="en-US" sz="1200" dirty="0" smtClean="0">
              <a:solidFill>
                <a:schemeClr val="tx2"/>
              </a:solidFill>
            </a:endParaRPr>
          </a:p>
          <a:p>
            <a:pPr marL="228600" indent="-228600">
              <a:buFont typeface="+mj-lt"/>
              <a:buAutoNum type="arabicParenR"/>
            </a:pPr>
            <a:r>
              <a:rPr lang="en-US" sz="1200" b="1" dirty="0" smtClean="0">
                <a:solidFill>
                  <a:schemeClr val="tx2"/>
                </a:solidFill>
              </a:rPr>
              <a:t>Non-EFG/Non-NL vs EFG and NL: </a:t>
            </a:r>
            <a:r>
              <a:rPr lang="en-US" sz="1200" dirty="0" smtClean="0">
                <a:solidFill>
                  <a:schemeClr val="tx2"/>
                </a:solidFill>
              </a:rPr>
              <a:t>There is a higher percentage of Non-EFG/Non-NL obligors with missing or no open obligations in the past 6 months as compared to the obligors from other segments.</a:t>
            </a:r>
          </a:p>
          <a:p>
            <a:pPr marL="228600" indent="-228600">
              <a:buFont typeface="+mj-lt"/>
              <a:buAutoNum type="arabicParenR"/>
            </a:pPr>
            <a:r>
              <a:rPr lang="en-US" sz="1200" b="1" dirty="0" smtClean="0">
                <a:solidFill>
                  <a:schemeClr val="tx2"/>
                </a:solidFill>
              </a:rPr>
              <a:t>EFG vs NL and Non-EFG/Non-NL: </a:t>
            </a:r>
            <a:r>
              <a:rPr lang="en-US" sz="1200" dirty="0" smtClean="0">
                <a:solidFill>
                  <a:schemeClr val="tx2"/>
                </a:solidFill>
              </a:rPr>
              <a:t>The percentage of obligors with more than six open obligations in the last 6 months is highest for EFG segment</a:t>
            </a:r>
            <a:r>
              <a:rPr lang="en-US" sz="1000" dirty="0" smtClean="0"/>
              <a:t>.</a:t>
            </a:r>
            <a:endParaRPr lang="en-US" sz="1000" b="1" dirty="0"/>
          </a:p>
        </p:txBody>
      </p:sp>
      <p:graphicFrame>
        <p:nvGraphicFramePr>
          <p:cNvPr id="6" name="Chart 5"/>
          <p:cNvGraphicFramePr>
            <a:graphicFrameLocks/>
          </p:cNvGraphicFramePr>
          <p:nvPr>
            <p:extLst>
              <p:ext uri="{D42A27DB-BD31-4B8C-83A1-F6EECF244321}">
                <p14:modId xmlns:p14="http://schemas.microsoft.com/office/powerpoint/2010/main" val="3314304713"/>
              </p:ext>
            </p:extLst>
          </p:nvPr>
        </p:nvGraphicFramePr>
        <p:xfrm>
          <a:off x="406400" y="745375"/>
          <a:ext cx="8280400" cy="324014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3027886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2400" dirty="0" smtClean="0"/>
              <a:t>Distribution by Province: Current Portfolio vs Historical Data</a:t>
            </a:r>
            <a:endParaRPr lang="en-CA" sz="2400" dirty="0"/>
          </a:p>
        </p:txBody>
      </p:sp>
      <p:sp>
        <p:nvSpPr>
          <p:cNvPr id="4" name="Text Placeholder 3"/>
          <p:cNvSpPr>
            <a:spLocks noGrp="1"/>
          </p:cNvSpPr>
          <p:nvPr>
            <p:ph type="body" sz="quarter" idx="15"/>
          </p:nvPr>
        </p:nvSpPr>
        <p:spPr>
          <a:xfrm>
            <a:off x="406400" y="1400890"/>
            <a:ext cx="8280400" cy="3204975"/>
          </a:xfrm>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sz="1000" dirty="0" smtClean="0"/>
          </a:p>
          <a:p>
            <a:endParaRPr lang="en-US" sz="1000" dirty="0" smtClean="0"/>
          </a:p>
          <a:p>
            <a:pPr marL="228600" indent="-228600">
              <a:buFont typeface="+mj-lt"/>
              <a:buAutoNum type="arabicParenR"/>
            </a:pPr>
            <a:r>
              <a:rPr lang="en-US" sz="1200" b="1" dirty="0" smtClean="0">
                <a:solidFill>
                  <a:schemeClr val="tx2"/>
                </a:solidFill>
              </a:rPr>
              <a:t>Historical Data vs Current Portfolio: </a:t>
            </a:r>
            <a:r>
              <a:rPr lang="en-US" sz="1200" dirty="0" smtClean="0">
                <a:solidFill>
                  <a:schemeClr val="tx2"/>
                </a:solidFill>
              </a:rPr>
              <a:t>The distribution of obligors is similar between the current portfolio and the historical data.</a:t>
            </a:r>
          </a:p>
          <a:p>
            <a:pPr marL="228600" indent="-228600">
              <a:buFont typeface="+mj-lt"/>
              <a:buAutoNum type="arabicParenR"/>
            </a:pPr>
            <a:r>
              <a:rPr lang="en-US" sz="1200" b="1" dirty="0" smtClean="0">
                <a:solidFill>
                  <a:schemeClr val="tx2"/>
                </a:solidFill>
              </a:rPr>
              <a:t>Concentration of Obligors: </a:t>
            </a:r>
            <a:r>
              <a:rPr lang="en-US" sz="1200" dirty="0" smtClean="0">
                <a:solidFill>
                  <a:schemeClr val="tx2"/>
                </a:solidFill>
              </a:rPr>
              <a:t>Around 50% of obligors in the current portfolio are in the provinces of Alberta, Northwest Territories, Nunavut, Ontario, Yukon. </a:t>
            </a:r>
            <a:endParaRPr lang="en-CA" sz="1200" b="1" dirty="0">
              <a:solidFill>
                <a:schemeClr val="tx2"/>
              </a:solidFill>
            </a:endParaRPr>
          </a:p>
        </p:txBody>
      </p:sp>
      <p:graphicFrame>
        <p:nvGraphicFramePr>
          <p:cNvPr id="6" name="Chart 5"/>
          <p:cNvGraphicFramePr>
            <a:graphicFrameLocks/>
          </p:cNvGraphicFramePr>
          <p:nvPr>
            <p:extLst>
              <p:ext uri="{D42A27DB-BD31-4B8C-83A1-F6EECF244321}">
                <p14:modId xmlns:p14="http://schemas.microsoft.com/office/powerpoint/2010/main" val="1061163582"/>
              </p:ext>
            </p:extLst>
          </p:nvPr>
        </p:nvGraphicFramePr>
        <p:xfrm>
          <a:off x="406400" y="745374"/>
          <a:ext cx="8280400" cy="348795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384068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2400" dirty="0" smtClean="0"/>
              <a:t>Distribution by Province: EFG, NL and Non-EFG/Non-NL</a:t>
            </a:r>
            <a:endParaRPr lang="en-CA" sz="2400" dirty="0"/>
          </a:p>
        </p:txBody>
      </p:sp>
      <p:sp>
        <p:nvSpPr>
          <p:cNvPr id="4" name="Text Placeholder 3"/>
          <p:cNvSpPr>
            <a:spLocks noGrp="1"/>
          </p:cNvSpPr>
          <p:nvPr>
            <p:ph type="body" sz="quarter" idx="15"/>
          </p:nvPr>
        </p:nvSpPr>
        <p:spPr>
          <a:xfrm>
            <a:off x="406400" y="1425045"/>
            <a:ext cx="8280400" cy="3358621"/>
          </a:xfrm>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sz="1000" dirty="0" smtClean="0"/>
          </a:p>
          <a:p>
            <a:endParaRPr lang="en-US" sz="1000" dirty="0" smtClean="0"/>
          </a:p>
          <a:p>
            <a:endParaRPr lang="en-US" sz="1200" dirty="0" smtClean="0">
              <a:solidFill>
                <a:schemeClr val="tx2"/>
              </a:solidFill>
            </a:endParaRPr>
          </a:p>
          <a:p>
            <a:pPr marL="228600" indent="-228600">
              <a:buFont typeface="+mj-lt"/>
              <a:buAutoNum type="arabicParenR"/>
            </a:pPr>
            <a:r>
              <a:rPr lang="en-US" sz="1200" b="1" dirty="0" smtClean="0">
                <a:solidFill>
                  <a:schemeClr val="tx2"/>
                </a:solidFill>
              </a:rPr>
              <a:t>NL vs EFG and Non-EFG/Non-NL: </a:t>
            </a:r>
            <a:r>
              <a:rPr lang="en-US" sz="1200" dirty="0" smtClean="0">
                <a:solidFill>
                  <a:schemeClr val="tx2"/>
                </a:solidFill>
              </a:rPr>
              <a:t>Around 23.34% of NL obligors are from Quebec and receive a score of 21. </a:t>
            </a:r>
          </a:p>
          <a:p>
            <a:pPr marL="228600" indent="-228600">
              <a:buFont typeface="+mj-lt"/>
              <a:buAutoNum type="arabicParenR"/>
            </a:pPr>
            <a:r>
              <a:rPr lang="en-US" sz="1200" b="1" dirty="0" smtClean="0">
                <a:solidFill>
                  <a:schemeClr val="tx2"/>
                </a:solidFill>
              </a:rPr>
              <a:t>Non-EFG/Non-NL vs EFG and NL: </a:t>
            </a:r>
            <a:r>
              <a:rPr lang="en-US" sz="1200" dirty="0" smtClean="0">
                <a:solidFill>
                  <a:schemeClr val="tx2"/>
                </a:solidFill>
              </a:rPr>
              <a:t>About 51.80% of Non-EFG/Non-NL obligors are from the provinces of ATL, BC, MB, NB, NL, NS, PE and SK. Correspondingly, they receive the highest score of 31 for this risk driver.</a:t>
            </a:r>
            <a:endParaRPr lang="en-US" sz="1200" b="1" dirty="0">
              <a:solidFill>
                <a:schemeClr val="tx2"/>
              </a:solidFill>
            </a:endParaRPr>
          </a:p>
        </p:txBody>
      </p:sp>
      <p:graphicFrame>
        <p:nvGraphicFramePr>
          <p:cNvPr id="5" name="Chart 4"/>
          <p:cNvGraphicFramePr>
            <a:graphicFrameLocks/>
          </p:cNvGraphicFramePr>
          <p:nvPr>
            <p:extLst>
              <p:ext uri="{D42A27DB-BD31-4B8C-83A1-F6EECF244321}">
                <p14:modId xmlns:p14="http://schemas.microsoft.com/office/powerpoint/2010/main" val="355843072"/>
              </p:ext>
            </p:extLst>
          </p:nvPr>
        </p:nvGraphicFramePr>
        <p:xfrm>
          <a:off x="406400" y="745374"/>
          <a:ext cx="8280400" cy="317469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821216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2400" dirty="0" smtClean="0"/>
              <a:t>Distribution by Time in File: Current Portfolio vs Historical Data</a:t>
            </a:r>
            <a:endParaRPr lang="en-CA" sz="2400" dirty="0"/>
          </a:p>
        </p:txBody>
      </p:sp>
      <p:sp>
        <p:nvSpPr>
          <p:cNvPr id="4" name="Text Placeholder 3"/>
          <p:cNvSpPr>
            <a:spLocks noGrp="1"/>
          </p:cNvSpPr>
          <p:nvPr>
            <p:ph type="body" sz="quarter" idx="15"/>
          </p:nvPr>
        </p:nvSpPr>
        <p:spPr>
          <a:xfrm>
            <a:off x="406400" y="1341625"/>
            <a:ext cx="8280400" cy="3391242"/>
          </a:xfrm>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sz="1000" dirty="0" smtClean="0"/>
          </a:p>
          <a:p>
            <a:endParaRPr lang="en-US" sz="1100" dirty="0" smtClean="0">
              <a:solidFill>
                <a:schemeClr val="tx2"/>
              </a:solidFill>
            </a:endParaRPr>
          </a:p>
          <a:p>
            <a:pPr marL="228600" indent="-228600">
              <a:buFont typeface="+mj-lt"/>
              <a:buAutoNum type="arabicParenR"/>
            </a:pPr>
            <a:r>
              <a:rPr lang="en-US" sz="1200" b="1" dirty="0" smtClean="0">
                <a:solidFill>
                  <a:schemeClr val="tx2"/>
                </a:solidFill>
              </a:rPr>
              <a:t>Historical Data vs Current Portfolio: </a:t>
            </a:r>
            <a:r>
              <a:rPr lang="en-US" sz="1200" dirty="0" smtClean="0">
                <a:solidFill>
                  <a:schemeClr val="tx2"/>
                </a:solidFill>
              </a:rPr>
              <a:t>There was a minor shift in the distribution of obligors between the current portfolio and the historical data.</a:t>
            </a:r>
          </a:p>
          <a:p>
            <a:pPr marL="228600" indent="-228600">
              <a:buFont typeface="+mj-lt"/>
              <a:buAutoNum type="arabicParenR"/>
            </a:pPr>
            <a:r>
              <a:rPr lang="en-US" sz="1200" b="1" dirty="0" smtClean="0">
                <a:solidFill>
                  <a:schemeClr val="tx2"/>
                </a:solidFill>
              </a:rPr>
              <a:t>Concentration of Obligors: </a:t>
            </a:r>
            <a:r>
              <a:rPr lang="en-US" sz="1200" dirty="0" smtClean="0">
                <a:solidFill>
                  <a:schemeClr val="tx2"/>
                </a:solidFill>
              </a:rPr>
              <a:t>Around 50% of obligors in the current portfolio have been more than 67 months in </a:t>
            </a:r>
            <a:r>
              <a:rPr lang="en-US" sz="1200" dirty="0" err="1" smtClean="0">
                <a:solidFill>
                  <a:schemeClr val="tx2"/>
                </a:solidFill>
              </a:rPr>
              <a:t>PayNet</a:t>
            </a:r>
            <a:r>
              <a:rPr lang="en-US" sz="1200" dirty="0" smtClean="0">
                <a:solidFill>
                  <a:schemeClr val="tx2"/>
                </a:solidFill>
              </a:rPr>
              <a:t> database.</a:t>
            </a:r>
            <a:endParaRPr lang="en-CA" sz="1200" b="1" dirty="0">
              <a:solidFill>
                <a:schemeClr val="tx2"/>
              </a:solidFill>
            </a:endParaRPr>
          </a:p>
        </p:txBody>
      </p:sp>
      <p:graphicFrame>
        <p:nvGraphicFramePr>
          <p:cNvPr id="5" name="Chart 4"/>
          <p:cNvGraphicFramePr>
            <a:graphicFrameLocks/>
          </p:cNvGraphicFramePr>
          <p:nvPr>
            <p:extLst>
              <p:ext uri="{D42A27DB-BD31-4B8C-83A1-F6EECF244321}">
                <p14:modId xmlns:p14="http://schemas.microsoft.com/office/powerpoint/2010/main" val="1179285084"/>
              </p:ext>
            </p:extLst>
          </p:nvPr>
        </p:nvGraphicFramePr>
        <p:xfrm>
          <a:off x="406400" y="745375"/>
          <a:ext cx="8280400" cy="320009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344689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2400" dirty="0" smtClean="0"/>
              <a:t>Distribution by Time in File: EFG, NL and Non-EFG/Non-NL</a:t>
            </a:r>
            <a:endParaRPr lang="en-CA" sz="2400" dirty="0"/>
          </a:p>
        </p:txBody>
      </p:sp>
      <p:sp>
        <p:nvSpPr>
          <p:cNvPr id="4" name="Text Placeholder 3"/>
          <p:cNvSpPr>
            <a:spLocks noGrp="1"/>
          </p:cNvSpPr>
          <p:nvPr>
            <p:ph type="body" sz="quarter" idx="15"/>
          </p:nvPr>
        </p:nvSpPr>
        <p:spPr>
          <a:xfrm>
            <a:off x="406400" y="1636713"/>
            <a:ext cx="8280400" cy="3104620"/>
          </a:xfrm>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sz="1000" dirty="0" smtClean="0"/>
          </a:p>
          <a:p>
            <a:endParaRPr lang="en-US" sz="1000" dirty="0" smtClean="0"/>
          </a:p>
          <a:p>
            <a:endParaRPr lang="en-US" sz="1000" dirty="0" smtClean="0"/>
          </a:p>
          <a:p>
            <a:endParaRPr lang="en-US" sz="1200" dirty="0" smtClean="0">
              <a:solidFill>
                <a:schemeClr val="tx2"/>
              </a:solidFill>
            </a:endParaRPr>
          </a:p>
          <a:p>
            <a:r>
              <a:rPr lang="en-US" sz="1200" b="1" dirty="0" smtClean="0">
                <a:solidFill>
                  <a:schemeClr val="tx2"/>
                </a:solidFill>
              </a:rPr>
              <a:t>Distribution between Segments: </a:t>
            </a:r>
            <a:r>
              <a:rPr lang="en-US" sz="1200" dirty="0" smtClean="0">
                <a:solidFill>
                  <a:schemeClr val="tx2"/>
                </a:solidFill>
              </a:rPr>
              <a:t>The distribution of obligors between segments is similar for the current portfolio. </a:t>
            </a:r>
            <a:endParaRPr lang="en-US" sz="1200" b="1" dirty="0">
              <a:solidFill>
                <a:schemeClr val="tx2"/>
              </a:solidFill>
            </a:endParaRPr>
          </a:p>
        </p:txBody>
      </p:sp>
      <p:graphicFrame>
        <p:nvGraphicFramePr>
          <p:cNvPr id="6" name="Chart 5"/>
          <p:cNvGraphicFramePr>
            <a:graphicFrameLocks/>
          </p:cNvGraphicFramePr>
          <p:nvPr>
            <p:extLst>
              <p:ext uri="{D42A27DB-BD31-4B8C-83A1-F6EECF244321}">
                <p14:modId xmlns:p14="http://schemas.microsoft.com/office/powerpoint/2010/main" val="519343983"/>
              </p:ext>
            </p:extLst>
          </p:nvPr>
        </p:nvGraphicFramePr>
        <p:xfrm>
          <a:off x="406400" y="884111"/>
          <a:ext cx="8280400" cy="330688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967705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1" y="366811"/>
            <a:ext cx="8280401" cy="397483"/>
          </a:xfrm>
        </p:spPr>
        <p:txBody>
          <a:bodyPr/>
          <a:lstStyle/>
          <a:p>
            <a:r>
              <a:rPr lang="en-US" dirty="0" smtClean="0"/>
              <a:t>NAICS2 Codes</a:t>
            </a:r>
            <a:endParaRPr lang="en-CA" dirty="0"/>
          </a:p>
        </p:txBody>
      </p:sp>
      <p:graphicFrame>
        <p:nvGraphicFramePr>
          <p:cNvPr id="6" name="Table 5"/>
          <p:cNvGraphicFramePr>
            <a:graphicFrameLocks noGrp="1"/>
          </p:cNvGraphicFramePr>
          <p:nvPr>
            <p:extLst>
              <p:ext uri="{D42A27DB-BD31-4B8C-83A1-F6EECF244321}">
                <p14:modId xmlns:p14="http://schemas.microsoft.com/office/powerpoint/2010/main" val="1680276837"/>
              </p:ext>
            </p:extLst>
          </p:nvPr>
        </p:nvGraphicFramePr>
        <p:xfrm>
          <a:off x="2536837" y="1079929"/>
          <a:ext cx="4019127" cy="3262308"/>
        </p:xfrm>
        <a:graphic>
          <a:graphicData uri="http://schemas.openxmlformats.org/drawingml/2006/table">
            <a:tbl>
              <a:tblPr/>
              <a:tblGrid>
                <a:gridCol w="309958">
                  <a:extLst>
                    <a:ext uri="{9D8B030D-6E8A-4147-A177-3AD203B41FA5}">
                      <a16:colId xmlns:a16="http://schemas.microsoft.com/office/drawing/2014/main" val="220675643"/>
                    </a:ext>
                  </a:extLst>
                </a:gridCol>
                <a:gridCol w="3709169">
                  <a:extLst>
                    <a:ext uri="{9D8B030D-6E8A-4147-A177-3AD203B41FA5}">
                      <a16:colId xmlns:a16="http://schemas.microsoft.com/office/drawing/2014/main" val="429639859"/>
                    </a:ext>
                  </a:extLst>
                </a:gridCol>
              </a:tblGrid>
              <a:tr h="154979">
                <a:tc>
                  <a:txBody>
                    <a:bodyPr/>
                    <a:lstStyle/>
                    <a:p>
                      <a:pPr algn="ctr" fontAlgn="ctr"/>
                      <a:r>
                        <a:rPr lang="en-CA" sz="900" b="1" i="0" u="none" strike="noStrike">
                          <a:solidFill>
                            <a:srgbClr val="FFFFFF"/>
                          </a:solidFill>
                          <a:effectLst/>
                          <a:latin typeface="Calibri" panose="020F0502020204030204" pitchFamily="34" charset="0"/>
                        </a:rPr>
                        <a:t>Code</a:t>
                      </a:r>
                    </a:p>
                  </a:txBody>
                  <a:tcPr marL="7749" marR="7749" marT="7749" marB="0" anchor="ctr">
                    <a:lnL w="12700" cap="flat" cmpd="sng" algn="ctr">
                      <a:solidFill>
                        <a:srgbClr val="0097A9"/>
                      </a:solidFill>
                      <a:prstDash val="solid"/>
                      <a:round/>
                      <a:headEnd type="none" w="med" len="med"/>
                      <a:tailEnd type="none" w="med" len="med"/>
                    </a:lnL>
                    <a:lnR>
                      <a:noFill/>
                    </a:lnR>
                    <a:lnT w="12700" cap="flat" cmpd="sng" algn="ctr">
                      <a:solidFill>
                        <a:srgbClr val="0097A9"/>
                      </a:solidFill>
                      <a:prstDash val="solid"/>
                      <a:round/>
                      <a:headEnd type="none" w="med" len="med"/>
                      <a:tailEnd type="none" w="med" len="med"/>
                    </a:lnT>
                    <a:lnB>
                      <a:noFill/>
                    </a:lnB>
                    <a:solidFill>
                      <a:srgbClr val="0097A9"/>
                    </a:solidFill>
                  </a:tcPr>
                </a:tc>
                <a:tc>
                  <a:txBody>
                    <a:bodyPr/>
                    <a:lstStyle/>
                    <a:p>
                      <a:pPr algn="ctr" fontAlgn="ctr"/>
                      <a:r>
                        <a:rPr lang="en-CA" sz="900" b="1" i="0" u="none" strike="noStrike">
                          <a:solidFill>
                            <a:srgbClr val="FFFFFF"/>
                          </a:solidFill>
                          <a:effectLst/>
                          <a:latin typeface="Calibri" panose="020F0502020204030204" pitchFamily="34" charset="0"/>
                        </a:rPr>
                        <a:t>Industry Title</a:t>
                      </a:r>
                    </a:p>
                  </a:txBody>
                  <a:tcPr marL="7749" marR="7749" marT="7749" marB="0" anchor="ctr">
                    <a:lnL>
                      <a:noFill/>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a:noFill/>
                    </a:lnB>
                    <a:solidFill>
                      <a:srgbClr val="0097A9"/>
                    </a:solidFill>
                  </a:tcPr>
                </a:tc>
                <a:extLst>
                  <a:ext uri="{0D108BD9-81ED-4DB2-BD59-A6C34878D82A}">
                    <a16:rowId xmlns:a16="http://schemas.microsoft.com/office/drawing/2014/main" val="976223741"/>
                  </a:ext>
                </a:extLst>
              </a:tr>
              <a:tr h="154979">
                <a:tc>
                  <a:txBody>
                    <a:bodyPr/>
                    <a:lstStyle/>
                    <a:p>
                      <a:pPr algn="ctr" fontAlgn="ctr"/>
                      <a:r>
                        <a:rPr lang="en-CA" sz="900" b="0" i="0" u="none" strike="noStrike" dirty="0">
                          <a:solidFill>
                            <a:schemeClr val="tx2"/>
                          </a:solidFill>
                          <a:effectLst/>
                          <a:latin typeface="Calibri" panose="020F0502020204030204" pitchFamily="34" charset="0"/>
                        </a:rPr>
                        <a:t>11</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E7EFF1"/>
                    </a:solidFill>
                  </a:tcPr>
                </a:tc>
                <a:tc>
                  <a:txBody>
                    <a:bodyPr/>
                    <a:lstStyle/>
                    <a:p>
                      <a:pPr algn="ctr" fontAlgn="ctr"/>
                      <a:r>
                        <a:rPr lang="en-US" sz="900" b="0" i="0" u="none" strike="noStrike">
                          <a:solidFill>
                            <a:schemeClr val="tx2"/>
                          </a:solidFill>
                          <a:effectLst/>
                          <a:latin typeface="Calibri" panose="020F0502020204030204" pitchFamily="34" charset="0"/>
                        </a:rPr>
                        <a:t>Agriculture, forestry, fishing and hunting</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4123905194"/>
                  </a:ext>
                </a:extLst>
              </a:tr>
              <a:tr h="154979">
                <a:tc>
                  <a:txBody>
                    <a:bodyPr/>
                    <a:lstStyle/>
                    <a:p>
                      <a:pPr algn="ctr" fontAlgn="ctr"/>
                      <a:r>
                        <a:rPr lang="en-CA" sz="900" b="0" i="0" u="none" strike="noStrike" dirty="0">
                          <a:solidFill>
                            <a:schemeClr val="tx2"/>
                          </a:solidFill>
                          <a:effectLst/>
                          <a:latin typeface="Calibri" panose="020F0502020204030204" pitchFamily="34" charset="0"/>
                        </a:rPr>
                        <a:t>21</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US" sz="900" b="0" i="0" u="none" strike="noStrike" dirty="0">
                          <a:solidFill>
                            <a:schemeClr val="tx2"/>
                          </a:solidFill>
                          <a:effectLst/>
                          <a:latin typeface="Calibri" panose="020F0502020204030204" pitchFamily="34" charset="0"/>
                        </a:rPr>
                        <a:t>Mining, quarrying, and oil and gas extraction</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904674206"/>
                  </a:ext>
                </a:extLst>
              </a:tr>
              <a:tr h="154979">
                <a:tc>
                  <a:txBody>
                    <a:bodyPr/>
                    <a:lstStyle/>
                    <a:p>
                      <a:pPr algn="ctr" fontAlgn="ctr"/>
                      <a:r>
                        <a:rPr lang="en-CA" sz="900" b="0" i="0" u="none" strike="noStrike">
                          <a:solidFill>
                            <a:schemeClr val="tx2"/>
                          </a:solidFill>
                          <a:effectLst/>
                          <a:latin typeface="Calibri" panose="020F0502020204030204" pitchFamily="34" charset="0"/>
                        </a:rPr>
                        <a:t>22</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E7EFF1"/>
                    </a:solidFill>
                  </a:tcPr>
                </a:tc>
                <a:tc>
                  <a:txBody>
                    <a:bodyPr/>
                    <a:lstStyle/>
                    <a:p>
                      <a:pPr algn="ctr" fontAlgn="ctr"/>
                      <a:r>
                        <a:rPr lang="en-CA" sz="900" b="0" i="0" u="none" strike="noStrike">
                          <a:solidFill>
                            <a:schemeClr val="tx2"/>
                          </a:solidFill>
                          <a:effectLst/>
                          <a:latin typeface="Calibri" panose="020F0502020204030204" pitchFamily="34" charset="0"/>
                        </a:rPr>
                        <a:t>Utilities</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524483428"/>
                  </a:ext>
                </a:extLst>
              </a:tr>
              <a:tr h="154979">
                <a:tc>
                  <a:txBody>
                    <a:bodyPr/>
                    <a:lstStyle/>
                    <a:p>
                      <a:pPr algn="ctr" fontAlgn="ctr"/>
                      <a:r>
                        <a:rPr lang="en-CA" sz="900" b="0" i="0" u="none" strike="noStrike">
                          <a:solidFill>
                            <a:schemeClr val="tx2"/>
                          </a:solidFill>
                          <a:effectLst/>
                          <a:latin typeface="Calibri" panose="020F0502020204030204" pitchFamily="34" charset="0"/>
                        </a:rPr>
                        <a:t>23</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CA" sz="900" b="0" i="0" u="none" strike="noStrike" dirty="0">
                          <a:solidFill>
                            <a:schemeClr val="tx2"/>
                          </a:solidFill>
                          <a:effectLst/>
                          <a:latin typeface="Calibri" panose="020F0502020204030204" pitchFamily="34" charset="0"/>
                        </a:rPr>
                        <a:t>Construction</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4273576931"/>
                  </a:ext>
                </a:extLst>
              </a:tr>
              <a:tr h="154979">
                <a:tc>
                  <a:txBody>
                    <a:bodyPr/>
                    <a:lstStyle/>
                    <a:p>
                      <a:pPr algn="ctr" fontAlgn="ctr"/>
                      <a:r>
                        <a:rPr lang="en-CA" sz="900" b="0" i="0" u="none" strike="noStrike">
                          <a:solidFill>
                            <a:schemeClr val="tx2"/>
                          </a:solidFill>
                          <a:effectLst/>
                          <a:latin typeface="Calibri" panose="020F0502020204030204" pitchFamily="34" charset="0"/>
                        </a:rPr>
                        <a:t>31-33</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E7EFF1"/>
                    </a:solidFill>
                  </a:tcPr>
                </a:tc>
                <a:tc>
                  <a:txBody>
                    <a:bodyPr/>
                    <a:lstStyle/>
                    <a:p>
                      <a:pPr algn="ctr" fontAlgn="ctr"/>
                      <a:r>
                        <a:rPr lang="en-CA" sz="900" b="0" i="0" u="none" strike="noStrike" dirty="0">
                          <a:solidFill>
                            <a:schemeClr val="tx2"/>
                          </a:solidFill>
                          <a:effectLst/>
                          <a:latin typeface="Calibri" panose="020F0502020204030204" pitchFamily="34" charset="0"/>
                        </a:rPr>
                        <a:t>Manufacturing</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219662013"/>
                  </a:ext>
                </a:extLst>
              </a:tr>
              <a:tr h="154979">
                <a:tc>
                  <a:txBody>
                    <a:bodyPr/>
                    <a:lstStyle/>
                    <a:p>
                      <a:pPr algn="ctr" fontAlgn="ctr"/>
                      <a:r>
                        <a:rPr lang="en-CA" sz="900" b="0" i="0" u="none" strike="noStrike">
                          <a:solidFill>
                            <a:schemeClr val="tx2"/>
                          </a:solidFill>
                          <a:effectLst/>
                          <a:latin typeface="Calibri" panose="020F0502020204030204" pitchFamily="34" charset="0"/>
                        </a:rPr>
                        <a:t>41-42</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CA" sz="900" b="0" i="0" u="none" strike="noStrike">
                          <a:solidFill>
                            <a:schemeClr val="tx2"/>
                          </a:solidFill>
                          <a:effectLst/>
                          <a:latin typeface="Calibri" panose="020F0502020204030204" pitchFamily="34" charset="0"/>
                        </a:rPr>
                        <a:t>Wholesale trade</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947916003"/>
                  </a:ext>
                </a:extLst>
              </a:tr>
              <a:tr h="154979">
                <a:tc>
                  <a:txBody>
                    <a:bodyPr/>
                    <a:lstStyle/>
                    <a:p>
                      <a:pPr algn="ctr" fontAlgn="ctr"/>
                      <a:r>
                        <a:rPr lang="en-CA" sz="900" b="0" i="0" u="none" strike="noStrike">
                          <a:solidFill>
                            <a:schemeClr val="tx2"/>
                          </a:solidFill>
                          <a:effectLst/>
                          <a:latin typeface="Calibri" panose="020F0502020204030204" pitchFamily="34" charset="0"/>
                        </a:rPr>
                        <a:t>44-45</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E7EFF1"/>
                    </a:solidFill>
                  </a:tcPr>
                </a:tc>
                <a:tc>
                  <a:txBody>
                    <a:bodyPr/>
                    <a:lstStyle/>
                    <a:p>
                      <a:pPr algn="ctr" fontAlgn="ctr"/>
                      <a:r>
                        <a:rPr lang="en-CA" sz="900" b="0" i="0" u="none" strike="noStrike" dirty="0">
                          <a:solidFill>
                            <a:schemeClr val="tx2"/>
                          </a:solidFill>
                          <a:effectLst/>
                          <a:latin typeface="Calibri" panose="020F0502020204030204" pitchFamily="34" charset="0"/>
                        </a:rPr>
                        <a:t>Retail trade</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2638785947"/>
                  </a:ext>
                </a:extLst>
              </a:tr>
              <a:tr h="154979">
                <a:tc>
                  <a:txBody>
                    <a:bodyPr/>
                    <a:lstStyle/>
                    <a:p>
                      <a:pPr algn="ctr" fontAlgn="ctr"/>
                      <a:r>
                        <a:rPr lang="en-CA" sz="900" b="0" i="0" u="none" strike="noStrike">
                          <a:solidFill>
                            <a:schemeClr val="tx2"/>
                          </a:solidFill>
                          <a:effectLst/>
                          <a:latin typeface="Calibri" panose="020F0502020204030204" pitchFamily="34" charset="0"/>
                        </a:rPr>
                        <a:t>48-49</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CA" sz="900" b="0" i="0" u="none" strike="noStrike">
                          <a:solidFill>
                            <a:schemeClr val="tx2"/>
                          </a:solidFill>
                          <a:effectLst/>
                          <a:latin typeface="Calibri" panose="020F0502020204030204" pitchFamily="34" charset="0"/>
                        </a:rPr>
                        <a:t>Transportation and warehousing</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4237738475"/>
                  </a:ext>
                </a:extLst>
              </a:tr>
              <a:tr h="154979">
                <a:tc>
                  <a:txBody>
                    <a:bodyPr/>
                    <a:lstStyle/>
                    <a:p>
                      <a:pPr algn="ctr" fontAlgn="ctr"/>
                      <a:r>
                        <a:rPr lang="en-CA" sz="900" b="0" i="0" u="none" strike="noStrike">
                          <a:solidFill>
                            <a:schemeClr val="tx2"/>
                          </a:solidFill>
                          <a:effectLst/>
                          <a:latin typeface="Calibri" panose="020F0502020204030204" pitchFamily="34" charset="0"/>
                        </a:rPr>
                        <a:t>51</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E7EFF1"/>
                    </a:solidFill>
                  </a:tcPr>
                </a:tc>
                <a:tc>
                  <a:txBody>
                    <a:bodyPr/>
                    <a:lstStyle/>
                    <a:p>
                      <a:pPr algn="ctr" fontAlgn="ctr"/>
                      <a:r>
                        <a:rPr lang="en-CA" sz="900" b="0" i="0" u="none" strike="noStrike" dirty="0">
                          <a:solidFill>
                            <a:schemeClr val="tx2"/>
                          </a:solidFill>
                          <a:effectLst/>
                          <a:latin typeface="Calibri" panose="020F0502020204030204" pitchFamily="34" charset="0"/>
                        </a:rPr>
                        <a:t>Information and cultural industries</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412789773"/>
                  </a:ext>
                </a:extLst>
              </a:tr>
              <a:tr h="154979">
                <a:tc>
                  <a:txBody>
                    <a:bodyPr/>
                    <a:lstStyle/>
                    <a:p>
                      <a:pPr algn="ctr" fontAlgn="ctr"/>
                      <a:r>
                        <a:rPr lang="en-CA" sz="900" b="0" i="0" u="none" strike="noStrike">
                          <a:solidFill>
                            <a:schemeClr val="tx2"/>
                          </a:solidFill>
                          <a:effectLst/>
                          <a:latin typeface="Calibri" panose="020F0502020204030204" pitchFamily="34" charset="0"/>
                        </a:rPr>
                        <a:t>52</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CA" sz="900" b="0" i="0" u="none" strike="noStrike" dirty="0">
                          <a:solidFill>
                            <a:schemeClr val="tx2"/>
                          </a:solidFill>
                          <a:effectLst/>
                          <a:latin typeface="Calibri" panose="020F0502020204030204" pitchFamily="34" charset="0"/>
                        </a:rPr>
                        <a:t>Finance and insurance</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368916587"/>
                  </a:ext>
                </a:extLst>
              </a:tr>
              <a:tr h="154979">
                <a:tc>
                  <a:txBody>
                    <a:bodyPr/>
                    <a:lstStyle/>
                    <a:p>
                      <a:pPr algn="ctr" fontAlgn="ctr"/>
                      <a:r>
                        <a:rPr lang="en-CA" sz="900" b="0" i="0" u="none" strike="noStrike">
                          <a:solidFill>
                            <a:schemeClr val="tx2"/>
                          </a:solidFill>
                          <a:effectLst/>
                          <a:latin typeface="Calibri" panose="020F0502020204030204" pitchFamily="34" charset="0"/>
                        </a:rPr>
                        <a:t>53</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E7EFF1"/>
                    </a:solidFill>
                  </a:tcPr>
                </a:tc>
                <a:tc>
                  <a:txBody>
                    <a:bodyPr/>
                    <a:lstStyle/>
                    <a:p>
                      <a:pPr algn="ctr" fontAlgn="ctr"/>
                      <a:r>
                        <a:rPr lang="en-US" sz="900" b="0" i="0" u="none" strike="noStrike" dirty="0">
                          <a:solidFill>
                            <a:schemeClr val="tx2"/>
                          </a:solidFill>
                          <a:effectLst/>
                          <a:latin typeface="Calibri" panose="020F0502020204030204" pitchFamily="34" charset="0"/>
                        </a:rPr>
                        <a:t>Real estate and rental and leasing</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539510565"/>
                  </a:ext>
                </a:extLst>
              </a:tr>
              <a:tr h="154979">
                <a:tc>
                  <a:txBody>
                    <a:bodyPr/>
                    <a:lstStyle/>
                    <a:p>
                      <a:pPr algn="ctr" fontAlgn="ctr"/>
                      <a:r>
                        <a:rPr lang="en-CA" sz="900" b="0" i="0" u="none" strike="noStrike">
                          <a:solidFill>
                            <a:schemeClr val="tx2"/>
                          </a:solidFill>
                          <a:effectLst/>
                          <a:latin typeface="Calibri" panose="020F0502020204030204" pitchFamily="34" charset="0"/>
                        </a:rPr>
                        <a:t>54</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US" sz="900" b="0" i="0" u="none" strike="noStrike">
                          <a:solidFill>
                            <a:schemeClr val="tx2"/>
                          </a:solidFill>
                          <a:effectLst/>
                          <a:latin typeface="Calibri" panose="020F0502020204030204" pitchFamily="34" charset="0"/>
                        </a:rPr>
                        <a:t>Professional, scientific and technical services</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908784120"/>
                  </a:ext>
                </a:extLst>
              </a:tr>
              <a:tr h="154979">
                <a:tc>
                  <a:txBody>
                    <a:bodyPr/>
                    <a:lstStyle/>
                    <a:p>
                      <a:pPr algn="ctr" fontAlgn="ctr"/>
                      <a:r>
                        <a:rPr lang="en-CA" sz="900" b="0" i="0" u="none" strike="noStrike">
                          <a:solidFill>
                            <a:schemeClr val="tx2"/>
                          </a:solidFill>
                          <a:effectLst/>
                          <a:latin typeface="Calibri" panose="020F0502020204030204" pitchFamily="34" charset="0"/>
                        </a:rPr>
                        <a:t>55</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E7EFF1"/>
                    </a:solidFill>
                  </a:tcPr>
                </a:tc>
                <a:tc>
                  <a:txBody>
                    <a:bodyPr/>
                    <a:lstStyle/>
                    <a:p>
                      <a:pPr algn="ctr" fontAlgn="ctr"/>
                      <a:r>
                        <a:rPr lang="en-US" sz="900" b="0" i="0" u="none" strike="noStrike">
                          <a:solidFill>
                            <a:schemeClr val="tx2"/>
                          </a:solidFill>
                          <a:effectLst/>
                          <a:latin typeface="Calibri" panose="020F0502020204030204" pitchFamily="34" charset="0"/>
                        </a:rPr>
                        <a:t>Management of companies and enterprises</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421960662"/>
                  </a:ext>
                </a:extLst>
              </a:tr>
              <a:tr h="154979">
                <a:tc>
                  <a:txBody>
                    <a:bodyPr/>
                    <a:lstStyle/>
                    <a:p>
                      <a:pPr algn="ctr" fontAlgn="ctr"/>
                      <a:r>
                        <a:rPr lang="en-CA" sz="900" b="0" i="0" u="none" strike="noStrike">
                          <a:solidFill>
                            <a:schemeClr val="tx2"/>
                          </a:solidFill>
                          <a:effectLst/>
                          <a:latin typeface="Calibri" panose="020F0502020204030204" pitchFamily="34" charset="0"/>
                        </a:rPr>
                        <a:t>56</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US" sz="900" b="0" i="0" u="none" strike="noStrike">
                          <a:solidFill>
                            <a:schemeClr val="tx2"/>
                          </a:solidFill>
                          <a:effectLst/>
                          <a:latin typeface="Calibri" panose="020F0502020204030204" pitchFamily="34" charset="0"/>
                        </a:rPr>
                        <a:t>Administrative and support, waste management and remediation services</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999688645"/>
                  </a:ext>
                </a:extLst>
              </a:tr>
              <a:tr h="154979">
                <a:tc>
                  <a:txBody>
                    <a:bodyPr/>
                    <a:lstStyle/>
                    <a:p>
                      <a:pPr algn="ctr" fontAlgn="ctr"/>
                      <a:r>
                        <a:rPr lang="en-CA" sz="900" b="0" i="0" u="none" strike="noStrike">
                          <a:solidFill>
                            <a:schemeClr val="tx2"/>
                          </a:solidFill>
                          <a:effectLst/>
                          <a:latin typeface="Calibri" panose="020F0502020204030204" pitchFamily="34" charset="0"/>
                        </a:rPr>
                        <a:t>61</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E7EFF1"/>
                    </a:solidFill>
                  </a:tcPr>
                </a:tc>
                <a:tc>
                  <a:txBody>
                    <a:bodyPr/>
                    <a:lstStyle/>
                    <a:p>
                      <a:pPr algn="ctr" fontAlgn="ctr"/>
                      <a:r>
                        <a:rPr lang="en-CA" sz="900" b="0" i="0" u="none" strike="noStrike">
                          <a:solidFill>
                            <a:schemeClr val="tx2"/>
                          </a:solidFill>
                          <a:effectLst/>
                          <a:latin typeface="Calibri" panose="020F0502020204030204" pitchFamily="34" charset="0"/>
                        </a:rPr>
                        <a:t>Educational services</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301407293"/>
                  </a:ext>
                </a:extLst>
              </a:tr>
              <a:tr h="154979">
                <a:tc>
                  <a:txBody>
                    <a:bodyPr/>
                    <a:lstStyle/>
                    <a:p>
                      <a:pPr algn="ctr" fontAlgn="ctr"/>
                      <a:r>
                        <a:rPr lang="en-CA" sz="900" b="0" i="0" u="none" strike="noStrike">
                          <a:solidFill>
                            <a:schemeClr val="tx2"/>
                          </a:solidFill>
                          <a:effectLst/>
                          <a:latin typeface="Calibri" panose="020F0502020204030204" pitchFamily="34" charset="0"/>
                        </a:rPr>
                        <a:t>62</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US" sz="900" b="0" i="0" u="none" strike="noStrike">
                          <a:solidFill>
                            <a:schemeClr val="tx2"/>
                          </a:solidFill>
                          <a:effectLst/>
                          <a:latin typeface="Calibri" panose="020F0502020204030204" pitchFamily="34" charset="0"/>
                        </a:rPr>
                        <a:t>Health care and socail assistance</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386600499"/>
                  </a:ext>
                </a:extLst>
              </a:tr>
              <a:tr h="154979">
                <a:tc>
                  <a:txBody>
                    <a:bodyPr/>
                    <a:lstStyle/>
                    <a:p>
                      <a:pPr algn="ctr" fontAlgn="ctr"/>
                      <a:r>
                        <a:rPr lang="en-CA" sz="900" b="0" i="0" u="none" strike="noStrike">
                          <a:solidFill>
                            <a:schemeClr val="tx2"/>
                          </a:solidFill>
                          <a:effectLst/>
                          <a:latin typeface="Calibri" panose="020F0502020204030204" pitchFamily="34" charset="0"/>
                        </a:rPr>
                        <a:t>71</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E7EFF1"/>
                    </a:solidFill>
                  </a:tcPr>
                </a:tc>
                <a:tc>
                  <a:txBody>
                    <a:bodyPr/>
                    <a:lstStyle/>
                    <a:p>
                      <a:pPr algn="ctr" fontAlgn="ctr"/>
                      <a:r>
                        <a:rPr lang="en-CA" sz="900" b="0" i="0" u="none" strike="noStrike">
                          <a:solidFill>
                            <a:schemeClr val="tx2"/>
                          </a:solidFill>
                          <a:effectLst/>
                          <a:latin typeface="Calibri" panose="020F0502020204030204" pitchFamily="34" charset="0"/>
                        </a:rPr>
                        <a:t>Arts, entertainment and recreation</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520428774"/>
                  </a:ext>
                </a:extLst>
              </a:tr>
              <a:tr h="154979">
                <a:tc>
                  <a:txBody>
                    <a:bodyPr/>
                    <a:lstStyle/>
                    <a:p>
                      <a:pPr algn="ctr" fontAlgn="ctr"/>
                      <a:r>
                        <a:rPr lang="en-CA" sz="900" b="0" i="0" u="none" strike="noStrike">
                          <a:solidFill>
                            <a:schemeClr val="tx2"/>
                          </a:solidFill>
                          <a:effectLst/>
                          <a:latin typeface="Calibri" panose="020F0502020204030204" pitchFamily="34" charset="0"/>
                        </a:rPr>
                        <a:t>72</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CA" sz="900" b="0" i="0" u="none" strike="noStrike" dirty="0">
                          <a:solidFill>
                            <a:schemeClr val="tx2"/>
                          </a:solidFill>
                          <a:effectLst/>
                          <a:latin typeface="Calibri" panose="020F0502020204030204" pitchFamily="34" charset="0"/>
                        </a:rPr>
                        <a:t>Accommodation and food services</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921468085"/>
                  </a:ext>
                </a:extLst>
              </a:tr>
              <a:tr h="154979">
                <a:tc>
                  <a:txBody>
                    <a:bodyPr/>
                    <a:lstStyle/>
                    <a:p>
                      <a:pPr algn="ctr" fontAlgn="ctr"/>
                      <a:r>
                        <a:rPr lang="en-CA" sz="900" b="0" i="0" u="none" strike="noStrike">
                          <a:solidFill>
                            <a:schemeClr val="tx2"/>
                          </a:solidFill>
                          <a:effectLst/>
                          <a:latin typeface="Calibri" panose="020F0502020204030204" pitchFamily="34" charset="0"/>
                        </a:rPr>
                        <a:t>81</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E7EFF1"/>
                    </a:solidFill>
                  </a:tcPr>
                </a:tc>
                <a:tc>
                  <a:txBody>
                    <a:bodyPr/>
                    <a:lstStyle/>
                    <a:p>
                      <a:pPr algn="ctr" fontAlgn="ctr"/>
                      <a:r>
                        <a:rPr lang="en-CA" sz="900" b="0" i="0" u="none" strike="noStrike">
                          <a:solidFill>
                            <a:schemeClr val="tx2"/>
                          </a:solidFill>
                          <a:effectLst/>
                          <a:latin typeface="Calibri" panose="020F0502020204030204" pitchFamily="34" charset="0"/>
                        </a:rPr>
                        <a:t>Other services (except public administration)</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4151924591"/>
                  </a:ext>
                </a:extLst>
              </a:tr>
              <a:tr h="162728">
                <a:tc>
                  <a:txBody>
                    <a:bodyPr/>
                    <a:lstStyle/>
                    <a:p>
                      <a:pPr algn="ctr" fontAlgn="ctr"/>
                      <a:r>
                        <a:rPr lang="en-CA" sz="900" b="0" i="0" u="none" strike="noStrike">
                          <a:solidFill>
                            <a:schemeClr val="tx2"/>
                          </a:solidFill>
                          <a:effectLst/>
                          <a:latin typeface="Calibri" panose="020F0502020204030204" pitchFamily="34" charset="0"/>
                        </a:rPr>
                        <a:t>91-92</a:t>
                      </a:r>
                    </a:p>
                  </a:txBody>
                  <a:tcPr marL="7749" marR="7749" marT="7749" marB="0" anchor="ctr">
                    <a:lnL w="12700" cap="flat" cmpd="sng" algn="ctr">
                      <a:solidFill>
                        <a:srgbClr val="0097A9"/>
                      </a:solidFill>
                      <a:prstDash val="solid"/>
                      <a:round/>
                      <a:headEnd type="none" w="med" len="med"/>
                      <a:tailEnd type="none" w="med" len="med"/>
                    </a:lnL>
                    <a:lnR>
                      <a:noFill/>
                    </a:lnR>
                    <a:lnT>
                      <a:noFill/>
                    </a:lnT>
                    <a:lnB w="12700" cap="flat" cmpd="sng" algn="ctr">
                      <a:solidFill>
                        <a:srgbClr val="0097A9"/>
                      </a:solidFill>
                      <a:prstDash val="solid"/>
                      <a:round/>
                      <a:headEnd type="none" w="med" len="med"/>
                      <a:tailEnd type="none" w="med" len="med"/>
                    </a:lnB>
                    <a:solidFill>
                      <a:srgbClr val="FFFFFF"/>
                    </a:solidFill>
                  </a:tcPr>
                </a:tc>
                <a:tc>
                  <a:txBody>
                    <a:bodyPr/>
                    <a:lstStyle/>
                    <a:p>
                      <a:pPr algn="ctr" fontAlgn="ctr"/>
                      <a:r>
                        <a:rPr lang="en-CA" sz="900" b="0" i="0" u="none" strike="noStrike" dirty="0">
                          <a:solidFill>
                            <a:schemeClr val="tx2"/>
                          </a:solidFill>
                          <a:effectLst/>
                          <a:latin typeface="Calibri" panose="020F0502020204030204" pitchFamily="34" charset="0"/>
                        </a:rPr>
                        <a:t>Public administration</a:t>
                      </a:r>
                    </a:p>
                  </a:txBody>
                  <a:tcPr marL="7749" marR="7749" marT="7749" marB="0" anchor="ctr">
                    <a:lnL>
                      <a:noFill/>
                    </a:lnL>
                    <a:lnR w="12700" cap="flat" cmpd="sng" algn="ctr">
                      <a:solidFill>
                        <a:srgbClr val="0097A9"/>
                      </a:solidFill>
                      <a:prstDash val="solid"/>
                      <a:round/>
                      <a:headEnd type="none" w="med" len="med"/>
                      <a:tailEnd type="none" w="med" len="med"/>
                    </a:lnR>
                    <a:lnT>
                      <a:noFill/>
                    </a:lnT>
                    <a:lnB w="12700" cap="flat" cmpd="sng" algn="ctr">
                      <a:solidFill>
                        <a:srgbClr val="0097A9"/>
                      </a:solidFill>
                      <a:prstDash val="solid"/>
                      <a:round/>
                      <a:headEnd type="none" w="med" len="med"/>
                      <a:tailEnd type="none" w="med" len="med"/>
                    </a:lnB>
                    <a:solidFill>
                      <a:srgbClr val="FFFFFF"/>
                    </a:solidFill>
                  </a:tcPr>
                </a:tc>
                <a:extLst>
                  <a:ext uri="{0D108BD9-81ED-4DB2-BD59-A6C34878D82A}">
                    <a16:rowId xmlns:a16="http://schemas.microsoft.com/office/drawing/2014/main" val="523299959"/>
                  </a:ext>
                </a:extLst>
              </a:tr>
            </a:tbl>
          </a:graphicData>
        </a:graphic>
      </p:graphicFrame>
    </p:spTree>
    <p:extLst>
      <p:ext uri="{BB962C8B-B14F-4D97-AF65-F5344CB8AC3E}">
        <p14:creationId xmlns:p14="http://schemas.microsoft.com/office/powerpoint/2010/main" val="8239844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3" y="221768"/>
            <a:ext cx="8280401" cy="397483"/>
          </a:xfrm>
        </p:spPr>
        <p:txBody>
          <a:bodyPr/>
          <a:lstStyle/>
          <a:p>
            <a:r>
              <a:rPr lang="en-US" sz="2400" dirty="0" smtClean="0"/>
              <a:t>Collateral Types</a:t>
            </a:r>
            <a:endParaRPr lang="en-CA" sz="2400" dirty="0"/>
          </a:p>
        </p:txBody>
      </p:sp>
      <p:graphicFrame>
        <p:nvGraphicFramePr>
          <p:cNvPr id="3" name="Table 2"/>
          <p:cNvGraphicFramePr>
            <a:graphicFrameLocks noGrp="1"/>
          </p:cNvGraphicFramePr>
          <p:nvPr>
            <p:extLst>
              <p:ext uri="{D42A27DB-BD31-4B8C-83A1-F6EECF244321}">
                <p14:modId xmlns:p14="http://schemas.microsoft.com/office/powerpoint/2010/main" val="2295907907"/>
              </p:ext>
            </p:extLst>
          </p:nvPr>
        </p:nvGraphicFramePr>
        <p:xfrm>
          <a:off x="406203" y="732647"/>
          <a:ext cx="8280400" cy="3870883"/>
        </p:xfrm>
        <a:graphic>
          <a:graphicData uri="http://schemas.openxmlformats.org/drawingml/2006/table">
            <a:tbl>
              <a:tblPr/>
              <a:tblGrid>
                <a:gridCol w="4140200">
                  <a:extLst>
                    <a:ext uri="{9D8B030D-6E8A-4147-A177-3AD203B41FA5}">
                      <a16:colId xmlns:a16="http://schemas.microsoft.com/office/drawing/2014/main" val="2513011608"/>
                    </a:ext>
                  </a:extLst>
                </a:gridCol>
                <a:gridCol w="4140200">
                  <a:extLst>
                    <a:ext uri="{9D8B030D-6E8A-4147-A177-3AD203B41FA5}">
                      <a16:colId xmlns:a16="http://schemas.microsoft.com/office/drawing/2014/main" val="2191197452"/>
                    </a:ext>
                  </a:extLst>
                </a:gridCol>
              </a:tblGrid>
              <a:tr h="189100">
                <a:tc>
                  <a:txBody>
                    <a:bodyPr/>
                    <a:lstStyle/>
                    <a:p>
                      <a:pPr algn="ctr" fontAlgn="ctr"/>
                      <a:r>
                        <a:rPr lang="en-CA" sz="800" b="1" i="0" u="none" strike="noStrike">
                          <a:solidFill>
                            <a:srgbClr val="FFFFFF"/>
                          </a:solidFill>
                          <a:effectLst/>
                          <a:latin typeface="Calibri" panose="020F0502020204030204" pitchFamily="34" charset="0"/>
                        </a:rPr>
                        <a:t>Collateral Group</a:t>
                      </a:r>
                    </a:p>
                  </a:txBody>
                  <a:tcPr marL="7969" marR="7969" marT="7969" marB="0" anchor="ctr">
                    <a:lnL w="12700" cap="flat" cmpd="sng" algn="ctr">
                      <a:solidFill>
                        <a:srgbClr val="0097A9"/>
                      </a:solidFill>
                      <a:prstDash val="solid"/>
                      <a:round/>
                      <a:headEnd type="none" w="med" len="med"/>
                      <a:tailEnd type="none" w="med" len="med"/>
                    </a:lnL>
                    <a:lnR>
                      <a:noFill/>
                    </a:lnR>
                    <a:lnT w="12700" cap="flat" cmpd="sng" algn="ctr">
                      <a:solidFill>
                        <a:srgbClr val="0097A9"/>
                      </a:solidFill>
                      <a:prstDash val="solid"/>
                      <a:round/>
                      <a:headEnd type="none" w="med" len="med"/>
                      <a:tailEnd type="none" w="med" len="med"/>
                    </a:lnT>
                    <a:lnB>
                      <a:noFill/>
                    </a:lnB>
                    <a:solidFill>
                      <a:srgbClr val="0097A9"/>
                    </a:solidFill>
                  </a:tcPr>
                </a:tc>
                <a:tc>
                  <a:txBody>
                    <a:bodyPr/>
                    <a:lstStyle/>
                    <a:p>
                      <a:pPr algn="ctr" fontAlgn="ctr"/>
                      <a:r>
                        <a:rPr lang="en-CA" sz="800" b="1" i="0" u="none" strike="noStrike">
                          <a:solidFill>
                            <a:srgbClr val="FFFFFF"/>
                          </a:solidFill>
                          <a:effectLst/>
                          <a:latin typeface="Calibri" panose="020F0502020204030204" pitchFamily="34" charset="0"/>
                        </a:rPr>
                        <a:t>Collateral</a:t>
                      </a:r>
                    </a:p>
                  </a:txBody>
                  <a:tcPr marL="7969" marR="7969" marT="7969" marB="0" anchor="ctr">
                    <a:lnL>
                      <a:noFill/>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a:noFill/>
                    </a:lnB>
                    <a:solidFill>
                      <a:srgbClr val="0097A9"/>
                    </a:solidFill>
                  </a:tcPr>
                </a:tc>
                <a:extLst>
                  <a:ext uri="{0D108BD9-81ED-4DB2-BD59-A6C34878D82A}">
                    <a16:rowId xmlns:a16="http://schemas.microsoft.com/office/drawing/2014/main" val="947766314"/>
                  </a:ext>
                </a:extLst>
              </a:tr>
              <a:tr h="189100">
                <a:tc rowSpan="15">
                  <a:txBody>
                    <a:bodyPr/>
                    <a:lstStyle/>
                    <a:p>
                      <a:pPr algn="ctr" fontAlgn="ctr"/>
                      <a:r>
                        <a:rPr lang="en-CA" sz="800" b="0" i="0" u="none" strike="noStrike" dirty="0">
                          <a:solidFill>
                            <a:schemeClr val="tx2"/>
                          </a:solidFill>
                          <a:effectLst/>
                          <a:latin typeface="Calibri" panose="020F0502020204030204" pitchFamily="34" charset="0"/>
                        </a:rPr>
                        <a:t>Vehicles</a:t>
                      </a:r>
                    </a:p>
                  </a:txBody>
                  <a:tcPr marL="7969" marR="7969" marT="7969" marB="0" anchor="ctr">
                    <a:lnL w="12700" cap="flat" cmpd="sng" algn="ctr">
                      <a:solidFill>
                        <a:srgbClr val="0097A9"/>
                      </a:solidFill>
                      <a:prstDash val="solid"/>
                      <a:round/>
                      <a:headEnd type="none" w="med" len="med"/>
                      <a:tailEnd type="none" w="med" len="med"/>
                    </a:lnL>
                    <a:lnR w="6350" cap="flat" cmpd="sng" algn="ctr">
                      <a:solidFill>
                        <a:srgbClr val="0097A9"/>
                      </a:solidFill>
                      <a:prstDash val="solid"/>
                      <a:round/>
                      <a:headEnd type="none" w="med" len="med"/>
                      <a:tailEnd type="none" w="med" len="med"/>
                    </a:lnR>
                    <a:lnT>
                      <a:noFill/>
                    </a:lnT>
                    <a:lnB w="6350" cap="flat" cmpd="sng" algn="ctr">
                      <a:solidFill>
                        <a:srgbClr val="0097A9"/>
                      </a:solidFill>
                      <a:prstDash val="solid"/>
                      <a:round/>
                      <a:headEnd type="none" w="med" len="med"/>
                      <a:tailEnd type="none" w="med" len="med"/>
                    </a:lnB>
                    <a:solidFill>
                      <a:srgbClr val="E7EFF1"/>
                    </a:solidFill>
                  </a:tcPr>
                </a:tc>
                <a:tc>
                  <a:txBody>
                    <a:bodyPr/>
                    <a:lstStyle/>
                    <a:p>
                      <a:pPr algn="ctr" fontAlgn="ctr"/>
                      <a:r>
                        <a:rPr lang="en-CA" sz="800" b="0" i="0" u="none" strike="noStrike" dirty="0">
                          <a:solidFill>
                            <a:schemeClr val="tx2"/>
                          </a:solidFill>
                          <a:effectLst/>
                          <a:latin typeface="Calibri" panose="020F0502020204030204" pitchFamily="34" charset="0"/>
                        </a:rPr>
                        <a:t>Aircraft</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484006782"/>
                  </a:ext>
                </a:extLst>
              </a:tr>
              <a:tr h="189100">
                <a:tc vMerge="1">
                  <a:txBody>
                    <a:bodyPr/>
                    <a:lstStyle/>
                    <a:p>
                      <a:endParaRPr lang="en-CA"/>
                    </a:p>
                  </a:txBody>
                  <a:tcPr/>
                </a:tc>
                <a:tc>
                  <a:txBody>
                    <a:bodyPr/>
                    <a:lstStyle/>
                    <a:p>
                      <a:pPr algn="ctr" fontAlgn="ctr"/>
                      <a:r>
                        <a:rPr lang="en-CA" sz="800" b="0" i="0" u="none" strike="noStrike">
                          <a:solidFill>
                            <a:schemeClr val="tx2"/>
                          </a:solidFill>
                          <a:effectLst/>
                          <a:latin typeface="Calibri" panose="020F0502020204030204" pitchFamily="34" charset="0"/>
                        </a:rPr>
                        <a:t>Equipment - Mobile (Licensed)</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4219880472"/>
                  </a:ext>
                </a:extLst>
              </a:tr>
              <a:tr h="189100">
                <a:tc vMerge="1">
                  <a:txBody>
                    <a:bodyPr/>
                    <a:lstStyle/>
                    <a:p>
                      <a:endParaRPr lang="en-CA"/>
                    </a:p>
                  </a:txBody>
                  <a:tcPr/>
                </a:tc>
                <a:tc>
                  <a:txBody>
                    <a:bodyPr/>
                    <a:lstStyle/>
                    <a:p>
                      <a:pPr algn="ctr" fontAlgn="ctr"/>
                      <a:r>
                        <a:rPr lang="en-CA" sz="800" b="0" i="0" u="none" strike="noStrike">
                          <a:solidFill>
                            <a:schemeClr val="tx2"/>
                          </a:solidFill>
                          <a:effectLst/>
                          <a:latin typeface="Calibri" panose="020F0502020204030204" pitchFamily="34" charset="0"/>
                        </a:rPr>
                        <a:t>Equipment - Mobile (Licensed-Leased)</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116782660"/>
                  </a:ext>
                </a:extLst>
              </a:tr>
              <a:tr h="189100">
                <a:tc vMerge="1">
                  <a:txBody>
                    <a:bodyPr/>
                    <a:lstStyle/>
                    <a:p>
                      <a:endParaRPr lang="en-CA"/>
                    </a:p>
                  </a:txBody>
                  <a:tcPr/>
                </a:tc>
                <a:tc>
                  <a:txBody>
                    <a:bodyPr/>
                    <a:lstStyle/>
                    <a:p>
                      <a:pPr algn="ctr" fontAlgn="ctr"/>
                      <a:r>
                        <a:rPr lang="en-CA" sz="800" b="0" i="0" u="none" strike="noStrike">
                          <a:solidFill>
                            <a:schemeClr val="tx2"/>
                          </a:solidFill>
                          <a:effectLst/>
                          <a:latin typeface="Calibri" panose="020F0502020204030204" pitchFamily="34" charset="0"/>
                        </a:rPr>
                        <a:t>Equipment - Mobile (Unlicensed)</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1778618231"/>
                  </a:ext>
                </a:extLst>
              </a:tr>
              <a:tr h="281761">
                <a:tc vMerge="1">
                  <a:txBody>
                    <a:bodyPr/>
                    <a:lstStyle/>
                    <a:p>
                      <a:endParaRPr lang="en-CA"/>
                    </a:p>
                  </a:txBody>
                  <a:tcPr/>
                </a:tc>
                <a:tc>
                  <a:txBody>
                    <a:bodyPr/>
                    <a:lstStyle/>
                    <a:p>
                      <a:pPr algn="ctr" fontAlgn="ctr"/>
                      <a:r>
                        <a:rPr lang="en-CA" sz="800" b="0" i="0" u="none" strike="noStrike">
                          <a:solidFill>
                            <a:schemeClr val="tx2"/>
                          </a:solidFill>
                          <a:effectLst/>
                          <a:latin typeface="Calibri" panose="020F0502020204030204" pitchFamily="34" charset="0"/>
                        </a:rPr>
                        <a:t>Equipment - Mobile (Unlicensed-Leased)</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403203488"/>
                  </a:ext>
                </a:extLst>
              </a:tr>
              <a:tr h="189100">
                <a:tc vMerge="1">
                  <a:txBody>
                    <a:bodyPr/>
                    <a:lstStyle/>
                    <a:p>
                      <a:endParaRPr lang="en-CA"/>
                    </a:p>
                  </a:txBody>
                  <a:tcPr/>
                </a:tc>
                <a:tc>
                  <a:txBody>
                    <a:bodyPr/>
                    <a:lstStyle/>
                    <a:p>
                      <a:pPr algn="ctr" fontAlgn="ctr"/>
                      <a:r>
                        <a:rPr lang="en-CA" sz="800" b="0" i="0" u="none" strike="noStrike">
                          <a:solidFill>
                            <a:schemeClr val="tx2"/>
                          </a:solidFill>
                          <a:effectLst/>
                          <a:latin typeface="Calibri" panose="020F0502020204030204" pitchFamily="34" charset="0"/>
                        </a:rPr>
                        <a:t>Equipment-Stationary</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2242994100"/>
                  </a:ext>
                </a:extLst>
              </a:tr>
              <a:tr h="189100">
                <a:tc vMerge="1">
                  <a:txBody>
                    <a:bodyPr/>
                    <a:lstStyle/>
                    <a:p>
                      <a:endParaRPr lang="en-CA"/>
                    </a:p>
                  </a:txBody>
                  <a:tcPr/>
                </a:tc>
                <a:tc>
                  <a:txBody>
                    <a:bodyPr/>
                    <a:lstStyle/>
                    <a:p>
                      <a:pPr algn="ctr" fontAlgn="ctr"/>
                      <a:r>
                        <a:rPr lang="en-CA" sz="800" b="0" i="0" u="none" strike="noStrike">
                          <a:solidFill>
                            <a:schemeClr val="tx2"/>
                          </a:solidFill>
                          <a:effectLst/>
                          <a:latin typeface="Calibri" panose="020F0502020204030204" pitchFamily="34" charset="0"/>
                        </a:rPr>
                        <a:t>Industrial Equipment (Revolving)</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887587534"/>
                  </a:ext>
                </a:extLst>
              </a:tr>
              <a:tr h="189100">
                <a:tc vMerge="1">
                  <a:txBody>
                    <a:bodyPr/>
                    <a:lstStyle/>
                    <a:p>
                      <a:endParaRPr lang="en-CA"/>
                    </a:p>
                  </a:txBody>
                  <a:tcPr/>
                </a:tc>
                <a:tc>
                  <a:txBody>
                    <a:bodyPr/>
                    <a:lstStyle/>
                    <a:p>
                      <a:pPr algn="ctr" fontAlgn="ctr"/>
                      <a:r>
                        <a:rPr lang="en-CA" sz="800" b="0" i="0" u="none" strike="noStrike">
                          <a:solidFill>
                            <a:schemeClr val="tx2"/>
                          </a:solidFill>
                          <a:effectLst/>
                          <a:latin typeface="Calibri" panose="020F0502020204030204" pitchFamily="34" charset="0"/>
                        </a:rPr>
                        <a:t>Marine Equipment</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1306148005"/>
                  </a:ext>
                </a:extLst>
              </a:tr>
              <a:tr h="189100">
                <a:tc vMerge="1">
                  <a:txBody>
                    <a:bodyPr/>
                    <a:lstStyle/>
                    <a:p>
                      <a:endParaRPr lang="en-CA"/>
                    </a:p>
                  </a:txBody>
                  <a:tcPr/>
                </a:tc>
                <a:tc>
                  <a:txBody>
                    <a:bodyPr/>
                    <a:lstStyle/>
                    <a:p>
                      <a:pPr algn="ctr" fontAlgn="ctr"/>
                      <a:r>
                        <a:rPr lang="en-CA" sz="800" b="0" i="0" u="none" strike="noStrike" dirty="0">
                          <a:solidFill>
                            <a:schemeClr val="tx2"/>
                          </a:solidFill>
                          <a:effectLst/>
                          <a:latin typeface="Calibri" panose="020F0502020204030204" pitchFamily="34" charset="0"/>
                        </a:rPr>
                        <a:t>Other - Equipment</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4249467230"/>
                  </a:ext>
                </a:extLst>
              </a:tr>
              <a:tr h="189100">
                <a:tc vMerge="1">
                  <a:txBody>
                    <a:bodyPr/>
                    <a:lstStyle/>
                    <a:p>
                      <a:endParaRPr lang="en-CA"/>
                    </a:p>
                  </a:txBody>
                  <a:tcPr/>
                </a:tc>
                <a:tc>
                  <a:txBody>
                    <a:bodyPr/>
                    <a:lstStyle/>
                    <a:p>
                      <a:pPr algn="ctr" fontAlgn="ctr"/>
                      <a:r>
                        <a:rPr lang="en-CA" sz="800" b="0" i="0" u="none" strike="noStrike" dirty="0">
                          <a:solidFill>
                            <a:schemeClr val="tx2"/>
                          </a:solidFill>
                          <a:effectLst/>
                          <a:latin typeface="Calibri" panose="020F0502020204030204" pitchFamily="34" charset="0"/>
                        </a:rPr>
                        <a:t>Passenger Vehicle</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2296319203"/>
                  </a:ext>
                </a:extLst>
              </a:tr>
              <a:tr h="189100">
                <a:tc vMerge="1">
                  <a:txBody>
                    <a:bodyPr/>
                    <a:lstStyle/>
                    <a:p>
                      <a:endParaRPr lang="en-CA"/>
                    </a:p>
                  </a:txBody>
                  <a:tcPr/>
                </a:tc>
                <a:tc>
                  <a:txBody>
                    <a:bodyPr/>
                    <a:lstStyle/>
                    <a:p>
                      <a:pPr algn="ctr" fontAlgn="ctr"/>
                      <a:r>
                        <a:rPr lang="en-CA" sz="800" b="0" i="0" u="none" strike="noStrike">
                          <a:solidFill>
                            <a:schemeClr val="tx2"/>
                          </a:solidFill>
                          <a:effectLst/>
                          <a:latin typeface="Calibri" panose="020F0502020204030204" pitchFamily="34" charset="0"/>
                        </a:rPr>
                        <a:t>School Bus</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2782163098"/>
                  </a:ext>
                </a:extLst>
              </a:tr>
              <a:tr h="189100">
                <a:tc vMerge="1">
                  <a:txBody>
                    <a:bodyPr/>
                    <a:lstStyle/>
                    <a:p>
                      <a:endParaRPr lang="en-CA"/>
                    </a:p>
                  </a:txBody>
                  <a:tcPr/>
                </a:tc>
                <a:tc>
                  <a:txBody>
                    <a:bodyPr/>
                    <a:lstStyle/>
                    <a:p>
                      <a:pPr algn="ctr" fontAlgn="ctr"/>
                      <a:r>
                        <a:rPr lang="en-CA" sz="800" b="0" i="0" u="none" strike="noStrike" dirty="0">
                          <a:solidFill>
                            <a:schemeClr val="tx2"/>
                          </a:solidFill>
                          <a:effectLst/>
                          <a:latin typeface="Calibri" panose="020F0502020204030204" pitchFamily="34" charset="0"/>
                        </a:rPr>
                        <a:t>Ship's Mortgage</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2987084906"/>
                  </a:ext>
                </a:extLst>
              </a:tr>
              <a:tr h="189100">
                <a:tc vMerge="1">
                  <a:txBody>
                    <a:bodyPr/>
                    <a:lstStyle/>
                    <a:p>
                      <a:endParaRPr lang="en-CA"/>
                    </a:p>
                  </a:txBody>
                  <a:tcPr/>
                </a:tc>
                <a:tc>
                  <a:txBody>
                    <a:bodyPr/>
                    <a:lstStyle/>
                    <a:p>
                      <a:pPr algn="ctr" fontAlgn="ctr"/>
                      <a:r>
                        <a:rPr lang="en-CA" sz="800" b="0" i="0" u="none" strike="noStrike">
                          <a:solidFill>
                            <a:schemeClr val="tx2"/>
                          </a:solidFill>
                          <a:effectLst/>
                          <a:latin typeface="Calibri" panose="020F0502020204030204" pitchFamily="34" charset="0"/>
                        </a:rPr>
                        <a:t>Vocational Vehicle - Standard</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2288069729"/>
                  </a:ext>
                </a:extLst>
              </a:tr>
              <a:tr h="281761">
                <a:tc vMerge="1">
                  <a:txBody>
                    <a:bodyPr/>
                    <a:lstStyle/>
                    <a:p>
                      <a:endParaRPr lang="en-CA"/>
                    </a:p>
                  </a:txBody>
                  <a:tcPr/>
                </a:tc>
                <a:tc>
                  <a:txBody>
                    <a:bodyPr/>
                    <a:lstStyle/>
                    <a:p>
                      <a:pPr algn="ctr" fontAlgn="ctr"/>
                      <a:r>
                        <a:rPr lang="en-US" sz="800" b="0" i="0" u="none" strike="noStrike" dirty="0">
                          <a:solidFill>
                            <a:schemeClr val="tx2"/>
                          </a:solidFill>
                          <a:effectLst/>
                          <a:latin typeface="Calibri" panose="020F0502020204030204" pitchFamily="34" charset="0"/>
                        </a:rPr>
                        <a:t>Vocational Vehicle with Special Attachments</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4277739161"/>
                  </a:ext>
                </a:extLst>
              </a:tr>
              <a:tr h="189100">
                <a:tc vMerge="1">
                  <a:txBody>
                    <a:bodyPr/>
                    <a:lstStyle/>
                    <a:p>
                      <a:endParaRPr lang="en-CA"/>
                    </a:p>
                  </a:txBody>
                  <a:tcPr/>
                </a:tc>
                <a:tc>
                  <a:txBody>
                    <a:bodyPr/>
                    <a:lstStyle/>
                    <a:p>
                      <a:pPr algn="ctr" fontAlgn="ctr"/>
                      <a:r>
                        <a:rPr lang="en-CA" sz="800" b="0" i="0" u="none" strike="noStrike" dirty="0">
                          <a:solidFill>
                            <a:schemeClr val="tx2"/>
                          </a:solidFill>
                          <a:effectLst/>
                          <a:latin typeface="Calibri" panose="020F0502020204030204" pitchFamily="34" charset="0"/>
                        </a:rPr>
                        <a:t>Vocational Vehicle with Tank</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w="6350" cap="flat" cmpd="sng" algn="ctr">
                      <a:solidFill>
                        <a:srgbClr val="0097A9"/>
                      </a:solidFill>
                      <a:prstDash val="solid"/>
                      <a:round/>
                      <a:headEnd type="none" w="med" len="med"/>
                      <a:tailEnd type="none" w="med" len="med"/>
                    </a:lnB>
                    <a:solidFill>
                      <a:srgbClr val="E7EFF1"/>
                    </a:solidFill>
                  </a:tcPr>
                </a:tc>
                <a:extLst>
                  <a:ext uri="{0D108BD9-81ED-4DB2-BD59-A6C34878D82A}">
                    <a16:rowId xmlns:a16="http://schemas.microsoft.com/office/drawing/2014/main" val="3392310030"/>
                  </a:ext>
                </a:extLst>
              </a:tr>
              <a:tr h="189100">
                <a:tc rowSpan="3">
                  <a:txBody>
                    <a:bodyPr/>
                    <a:lstStyle/>
                    <a:p>
                      <a:pPr algn="ctr" rtl="0" fontAlgn="ctr"/>
                      <a:r>
                        <a:rPr lang="en-CA" sz="800" b="0" i="0" u="none" strike="noStrike">
                          <a:solidFill>
                            <a:schemeClr val="tx2"/>
                          </a:solidFill>
                          <a:effectLst/>
                          <a:latin typeface="Calibri" panose="020F0502020204030204" pitchFamily="34" charset="0"/>
                        </a:rPr>
                        <a:t>Construction Equipment</a:t>
                      </a:r>
                    </a:p>
                  </a:txBody>
                  <a:tcPr marL="7969" marR="7969" marT="7969" marB="0" anchor="ctr">
                    <a:lnL w="12700" cap="flat" cmpd="sng" algn="ctr">
                      <a:solidFill>
                        <a:srgbClr val="0097A9"/>
                      </a:solidFill>
                      <a:prstDash val="solid"/>
                      <a:round/>
                      <a:headEnd type="none" w="med" len="med"/>
                      <a:tailEnd type="none" w="med" len="med"/>
                    </a:lnL>
                    <a:lnR w="6350" cap="flat" cmpd="sng" algn="ctr">
                      <a:solidFill>
                        <a:srgbClr val="0097A9"/>
                      </a:solidFill>
                      <a:prstDash val="solid"/>
                      <a:round/>
                      <a:headEnd type="none" w="med" len="med"/>
                      <a:tailEnd type="none" w="med" len="med"/>
                    </a:lnR>
                    <a:lnT w="635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tcPr>
                </a:tc>
                <a:tc>
                  <a:txBody>
                    <a:bodyPr/>
                    <a:lstStyle/>
                    <a:p>
                      <a:pPr algn="ctr" rtl="0" fontAlgn="ctr"/>
                      <a:r>
                        <a:rPr lang="en-CA" sz="800" b="0" i="0" u="none" strike="noStrike">
                          <a:solidFill>
                            <a:schemeClr val="tx2"/>
                          </a:solidFill>
                          <a:effectLst/>
                          <a:latin typeface="Calibri" panose="020F0502020204030204" pitchFamily="34" charset="0"/>
                        </a:rPr>
                        <a:t>Construction Equipment - Other</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6350" cap="flat" cmpd="sng" algn="ctr">
                      <a:solidFill>
                        <a:srgbClr val="0097A9"/>
                      </a:solidFill>
                      <a:prstDash val="solid"/>
                      <a:round/>
                      <a:headEnd type="none" w="med" len="med"/>
                      <a:tailEnd type="none" w="med" len="med"/>
                    </a:lnT>
                    <a:lnB>
                      <a:noFill/>
                    </a:lnB>
                  </a:tcPr>
                </a:tc>
                <a:extLst>
                  <a:ext uri="{0D108BD9-81ED-4DB2-BD59-A6C34878D82A}">
                    <a16:rowId xmlns:a16="http://schemas.microsoft.com/office/drawing/2014/main" val="338733124"/>
                  </a:ext>
                </a:extLst>
              </a:tr>
              <a:tr h="189100">
                <a:tc vMerge="1">
                  <a:txBody>
                    <a:bodyPr/>
                    <a:lstStyle/>
                    <a:p>
                      <a:endParaRPr lang="en-CA"/>
                    </a:p>
                  </a:txBody>
                  <a:tcPr/>
                </a:tc>
                <a:tc>
                  <a:txBody>
                    <a:bodyPr/>
                    <a:lstStyle/>
                    <a:p>
                      <a:pPr algn="ctr" rtl="0" fontAlgn="ctr"/>
                      <a:r>
                        <a:rPr lang="en-CA" sz="800" b="0" i="0" u="none" strike="noStrike" dirty="0">
                          <a:solidFill>
                            <a:schemeClr val="tx2"/>
                          </a:solidFill>
                          <a:effectLst/>
                          <a:latin typeface="Calibri" panose="020F0502020204030204" pitchFamily="34" charset="0"/>
                        </a:rPr>
                        <a:t>Construction Equipment - Self Propelled</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713579442"/>
                  </a:ext>
                </a:extLst>
              </a:tr>
              <a:tr h="281761">
                <a:tc vMerge="1">
                  <a:txBody>
                    <a:bodyPr/>
                    <a:lstStyle/>
                    <a:p>
                      <a:endParaRPr lang="en-CA"/>
                    </a:p>
                  </a:txBody>
                  <a:tcPr/>
                </a:tc>
                <a:tc>
                  <a:txBody>
                    <a:bodyPr/>
                    <a:lstStyle/>
                    <a:p>
                      <a:pPr algn="ctr" rtl="0" fontAlgn="ctr"/>
                      <a:r>
                        <a:rPr lang="en-US" sz="800" b="0" i="0" u="none" strike="noStrike" dirty="0">
                          <a:solidFill>
                            <a:schemeClr val="tx2"/>
                          </a:solidFill>
                          <a:effectLst/>
                          <a:latin typeface="Calibri" panose="020F0502020204030204" pitchFamily="34" charset="0"/>
                        </a:rPr>
                        <a:t>Construction Equipment - Towed by Vehicle</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w="12700" cap="flat" cmpd="sng" algn="ctr">
                      <a:solidFill>
                        <a:srgbClr val="0097A9"/>
                      </a:solidFill>
                      <a:prstDash val="solid"/>
                      <a:round/>
                      <a:headEnd type="none" w="med" len="med"/>
                      <a:tailEnd type="none" w="med" len="med"/>
                    </a:lnB>
                  </a:tcPr>
                </a:tc>
                <a:extLst>
                  <a:ext uri="{0D108BD9-81ED-4DB2-BD59-A6C34878D82A}">
                    <a16:rowId xmlns:a16="http://schemas.microsoft.com/office/drawing/2014/main" val="1614316021"/>
                  </a:ext>
                </a:extLst>
              </a:tr>
            </a:tbl>
          </a:graphicData>
        </a:graphic>
      </p:graphicFrame>
    </p:spTree>
    <p:extLst>
      <p:ext uri="{BB962C8B-B14F-4D97-AF65-F5344CB8AC3E}">
        <p14:creationId xmlns:p14="http://schemas.microsoft.com/office/powerpoint/2010/main" val="11006283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3" y="221768"/>
            <a:ext cx="8280401" cy="397483"/>
          </a:xfrm>
        </p:spPr>
        <p:txBody>
          <a:bodyPr/>
          <a:lstStyle/>
          <a:p>
            <a:r>
              <a:rPr lang="en-US" sz="2400" dirty="0" smtClean="0"/>
              <a:t>Collateral Types</a:t>
            </a:r>
            <a:endParaRPr lang="en-CA" sz="2400" dirty="0"/>
          </a:p>
        </p:txBody>
      </p:sp>
      <p:graphicFrame>
        <p:nvGraphicFramePr>
          <p:cNvPr id="5" name="Table 4"/>
          <p:cNvGraphicFramePr>
            <a:graphicFrameLocks noGrp="1"/>
          </p:cNvGraphicFramePr>
          <p:nvPr>
            <p:extLst>
              <p:ext uri="{D42A27DB-BD31-4B8C-83A1-F6EECF244321}">
                <p14:modId xmlns:p14="http://schemas.microsoft.com/office/powerpoint/2010/main" val="4205505673"/>
              </p:ext>
            </p:extLst>
          </p:nvPr>
        </p:nvGraphicFramePr>
        <p:xfrm>
          <a:off x="406202" y="756750"/>
          <a:ext cx="8280402" cy="3916144"/>
        </p:xfrm>
        <a:graphic>
          <a:graphicData uri="http://schemas.openxmlformats.org/drawingml/2006/table">
            <a:tbl>
              <a:tblPr/>
              <a:tblGrid>
                <a:gridCol w="4140201">
                  <a:extLst>
                    <a:ext uri="{9D8B030D-6E8A-4147-A177-3AD203B41FA5}">
                      <a16:colId xmlns:a16="http://schemas.microsoft.com/office/drawing/2014/main" val="4202736628"/>
                    </a:ext>
                  </a:extLst>
                </a:gridCol>
                <a:gridCol w="4140201">
                  <a:extLst>
                    <a:ext uri="{9D8B030D-6E8A-4147-A177-3AD203B41FA5}">
                      <a16:colId xmlns:a16="http://schemas.microsoft.com/office/drawing/2014/main" val="3557169473"/>
                    </a:ext>
                  </a:extLst>
                </a:gridCol>
              </a:tblGrid>
              <a:tr h="146856">
                <a:tc>
                  <a:txBody>
                    <a:bodyPr/>
                    <a:lstStyle/>
                    <a:p>
                      <a:pPr algn="ctr" fontAlgn="ctr"/>
                      <a:r>
                        <a:rPr lang="en-CA" sz="800" b="1" i="0" u="none" strike="noStrike" dirty="0">
                          <a:solidFill>
                            <a:srgbClr val="FFFFFF"/>
                          </a:solidFill>
                          <a:effectLst/>
                          <a:latin typeface="Calibri" panose="020F0502020204030204" pitchFamily="34" charset="0"/>
                        </a:rPr>
                        <a:t>Collateral Group</a:t>
                      </a:r>
                    </a:p>
                  </a:txBody>
                  <a:tcPr marL="5826" marR="5826" marT="5826" marB="0" anchor="ctr">
                    <a:lnL w="12700" cap="flat" cmpd="sng" algn="ctr">
                      <a:solidFill>
                        <a:srgbClr val="0097A9"/>
                      </a:solidFill>
                      <a:prstDash val="solid"/>
                      <a:round/>
                      <a:headEnd type="none" w="med" len="med"/>
                      <a:tailEnd type="none" w="med" len="med"/>
                    </a:lnL>
                    <a:lnR>
                      <a:noFill/>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solidFill>
                      <a:srgbClr val="0097A9"/>
                    </a:solidFill>
                  </a:tcPr>
                </a:tc>
                <a:tc>
                  <a:txBody>
                    <a:bodyPr/>
                    <a:lstStyle/>
                    <a:p>
                      <a:pPr algn="ctr" fontAlgn="ctr"/>
                      <a:r>
                        <a:rPr lang="en-CA" sz="800" b="1" i="0" u="none" strike="noStrike">
                          <a:solidFill>
                            <a:srgbClr val="FFFFFF"/>
                          </a:solidFill>
                          <a:effectLst/>
                          <a:latin typeface="Calibri" panose="020F0502020204030204" pitchFamily="34" charset="0"/>
                        </a:rPr>
                        <a:t>Collateral</a:t>
                      </a:r>
                    </a:p>
                  </a:txBody>
                  <a:tcPr marL="5826" marR="5826" marT="5826" marB="0" anchor="ctr">
                    <a:lnL>
                      <a:noFill/>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solidFill>
                      <a:srgbClr val="0097A9"/>
                    </a:solidFill>
                  </a:tcPr>
                </a:tc>
                <a:extLst>
                  <a:ext uri="{0D108BD9-81ED-4DB2-BD59-A6C34878D82A}">
                    <a16:rowId xmlns:a16="http://schemas.microsoft.com/office/drawing/2014/main" val="1711723501"/>
                  </a:ext>
                </a:extLst>
              </a:tr>
              <a:tr h="139862">
                <a:tc rowSpan="14">
                  <a:txBody>
                    <a:bodyPr/>
                    <a:lstStyle/>
                    <a:p>
                      <a:pPr algn="ctr" rtl="0" fontAlgn="ctr"/>
                      <a:r>
                        <a:rPr lang="en-CA" sz="800" b="0" i="0" u="none" strike="noStrike" dirty="0">
                          <a:solidFill>
                            <a:schemeClr val="tx2"/>
                          </a:solidFill>
                          <a:effectLst/>
                          <a:latin typeface="Calibri" panose="020F0502020204030204" pitchFamily="34" charset="0"/>
                        </a:rPr>
                        <a:t>Industrial Equipment</a:t>
                      </a:r>
                    </a:p>
                  </a:txBody>
                  <a:tcPr marL="5826" marR="5826" marT="5826" marB="0" anchor="ctr">
                    <a:lnL w="12700" cap="flat" cmpd="sng" algn="ctr">
                      <a:solidFill>
                        <a:srgbClr val="0097A9"/>
                      </a:solidFill>
                      <a:prstDash val="solid"/>
                      <a:round/>
                      <a:headEnd type="none" w="med" len="med"/>
                      <a:tailEnd type="none" w="med" len="med"/>
                    </a:lnL>
                    <a:lnR w="635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solidFill>
                      <a:srgbClr val="E7EFF1"/>
                    </a:solidFill>
                  </a:tcPr>
                </a:tc>
                <a:tc>
                  <a:txBody>
                    <a:bodyPr/>
                    <a:lstStyle/>
                    <a:p>
                      <a:pPr algn="ctr" rtl="0" fontAlgn="ctr"/>
                      <a:r>
                        <a:rPr lang="en-CA" sz="800" b="0" i="0" u="none" strike="noStrike" dirty="0">
                          <a:solidFill>
                            <a:schemeClr val="tx2"/>
                          </a:solidFill>
                          <a:effectLst/>
                          <a:latin typeface="Calibri" panose="020F0502020204030204" pitchFamily="34" charset="0"/>
                        </a:rPr>
                        <a:t>Aerial Lifts / Skyjacks</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a:noFill/>
                    </a:lnB>
                    <a:solidFill>
                      <a:srgbClr val="E7EFF1"/>
                    </a:solidFill>
                  </a:tcPr>
                </a:tc>
                <a:extLst>
                  <a:ext uri="{0D108BD9-81ED-4DB2-BD59-A6C34878D82A}">
                    <a16:rowId xmlns:a16="http://schemas.microsoft.com/office/drawing/2014/main" val="1522138554"/>
                  </a:ext>
                </a:extLst>
              </a:tr>
              <a:tr h="139862">
                <a:tc vMerge="1">
                  <a:txBody>
                    <a:bodyPr/>
                    <a:lstStyle/>
                    <a:p>
                      <a:endParaRPr lang="en-CA"/>
                    </a:p>
                  </a:txBody>
                  <a:tcPr/>
                </a:tc>
                <a:tc>
                  <a:txBody>
                    <a:bodyPr/>
                    <a:lstStyle/>
                    <a:p>
                      <a:pPr algn="ctr" rtl="0" fontAlgn="ctr"/>
                      <a:r>
                        <a:rPr lang="en-CA" sz="800" b="0" i="0" u="none" strike="noStrike" dirty="0">
                          <a:solidFill>
                            <a:schemeClr val="tx2"/>
                          </a:solidFill>
                          <a:effectLst/>
                          <a:latin typeface="Calibri" panose="020F0502020204030204" pitchFamily="34" charset="0"/>
                        </a:rPr>
                        <a:t>Forestry Equipment</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981653232"/>
                  </a:ext>
                </a:extLst>
              </a:tr>
              <a:tr h="139862">
                <a:tc vMerge="1">
                  <a:txBody>
                    <a:bodyPr/>
                    <a:lstStyle/>
                    <a:p>
                      <a:endParaRPr lang="en-CA"/>
                    </a:p>
                  </a:txBody>
                  <a:tcPr/>
                </a:tc>
                <a:tc>
                  <a:txBody>
                    <a:bodyPr/>
                    <a:lstStyle/>
                    <a:p>
                      <a:pPr algn="ctr" rtl="0" fontAlgn="ctr"/>
                      <a:r>
                        <a:rPr lang="en-CA" sz="800" b="0" i="0" u="none" strike="noStrike">
                          <a:solidFill>
                            <a:schemeClr val="tx2"/>
                          </a:solidFill>
                          <a:effectLst/>
                          <a:latin typeface="Calibri" panose="020F0502020204030204" pitchFamily="34" charset="0"/>
                        </a:rPr>
                        <a:t>Furnaces</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969663658"/>
                  </a:ext>
                </a:extLst>
              </a:tr>
              <a:tr h="223780">
                <a:tc vMerge="1">
                  <a:txBody>
                    <a:bodyPr/>
                    <a:lstStyle/>
                    <a:p>
                      <a:endParaRPr lang="en-CA"/>
                    </a:p>
                  </a:txBody>
                  <a:tcPr/>
                </a:tc>
                <a:tc>
                  <a:txBody>
                    <a:bodyPr/>
                    <a:lstStyle/>
                    <a:p>
                      <a:pPr algn="ctr" rtl="0" fontAlgn="ctr"/>
                      <a:r>
                        <a:rPr lang="en-CA" sz="800" b="0" i="0" u="none" strike="noStrike">
                          <a:solidFill>
                            <a:schemeClr val="tx2"/>
                          </a:solidFill>
                          <a:effectLst/>
                          <a:latin typeface="Calibri" panose="020F0502020204030204" pitchFamily="34" charset="0"/>
                        </a:rPr>
                        <a:t>Industrial and Manufacturing Equipment</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3931007456"/>
                  </a:ext>
                </a:extLst>
              </a:tr>
              <a:tr h="139862">
                <a:tc vMerge="1">
                  <a:txBody>
                    <a:bodyPr/>
                    <a:lstStyle/>
                    <a:p>
                      <a:endParaRPr lang="en-CA"/>
                    </a:p>
                  </a:txBody>
                  <a:tcPr/>
                </a:tc>
                <a:tc>
                  <a:txBody>
                    <a:bodyPr/>
                    <a:lstStyle/>
                    <a:p>
                      <a:pPr algn="ctr" rtl="0" fontAlgn="ctr"/>
                      <a:r>
                        <a:rPr lang="en-CA" sz="800" b="0" i="0" u="none" strike="noStrike" dirty="0">
                          <a:solidFill>
                            <a:schemeClr val="tx2"/>
                          </a:solidFill>
                          <a:effectLst/>
                          <a:latin typeface="Calibri" panose="020F0502020204030204" pitchFamily="34" charset="0"/>
                        </a:rPr>
                        <a:t>Industrial Printing Equipment</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584610917"/>
                  </a:ext>
                </a:extLst>
              </a:tr>
              <a:tr h="139862">
                <a:tc vMerge="1">
                  <a:txBody>
                    <a:bodyPr/>
                    <a:lstStyle/>
                    <a:p>
                      <a:endParaRPr lang="en-CA"/>
                    </a:p>
                  </a:txBody>
                  <a:tcPr/>
                </a:tc>
                <a:tc>
                  <a:txBody>
                    <a:bodyPr/>
                    <a:lstStyle/>
                    <a:p>
                      <a:pPr algn="ctr" rtl="0" fontAlgn="ctr"/>
                      <a:r>
                        <a:rPr lang="en-CA" sz="800" b="0" i="0" u="none" strike="noStrike" dirty="0">
                          <a:solidFill>
                            <a:schemeClr val="tx2"/>
                          </a:solidFill>
                          <a:effectLst/>
                          <a:latin typeface="Calibri" panose="020F0502020204030204" pitchFamily="34" charset="0"/>
                        </a:rPr>
                        <a:t>Landscaping Equipment</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2351147084"/>
                  </a:ext>
                </a:extLst>
              </a:tr>
              <a:tr h="139862">
                <a:tc vMerge="1">
                  <a:txBody>
                    <a:bodyPr/>
                    <a:lstStyle/>
                    <a:p>
                      <a:endParaRPr lang="en-CA"/>
                    </a:p>
                  </a:txBody>
                  <a:tcPr/>
                </a:tc>
                <a:tc>
                  <a:txBody>
                    <a:bodyPr/>
                    <a:lstStyle/>
                    <a:p>
                      <a:pPr algn="ctr" rtl="0" fontAlgn="ctr"/>
                      <a:r>
                        <a:rPr lang="en-CA" sz="800" b="0" i="0" u="none" strike="noStrike">
                          <a:solidFill>
                            <a:schemeClr val="tx2"/>
                          </a:solidFill>
                          <a:effectLst/>
                          <a:latin typeface="Calibri" panose="020F0502020204030204" pitchFamily="34" charset="0"/>
                        </a:rPr>
                        <a:t>Portable / Modular Office Trailers</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2503221804"/>
                  </a:ext>
                </a:extLst>
              </a:tr>
              <a:tr h="139862">
                <a:tc vMerge="1">
                  <a:txBody>
                    <a:bodyPr/>
                    <a:lstStyle/>
                    <a:p>
                      <a:endParaRPr lang="en-CA"/>
                    </a:p>
                  </a:txBody>
                  <a:tcPr/>
                </a:tc>
                <a:tc>
                  <a:txBody>
                    <a:bodyPr/>
                    <a:lstStyle/>
                    <a:p>
                      <a:pPr algn="ctr" rtl="0" fontAlgn="ctr"/>
                      <a:r>
                        <a:rPr lang="en-CA" sz="800" b="0" i="0" u="none" strike="noStrike" dirty="0">
                          <a:solidFill>
                            <a:schemeClr val="tx2"/>
                          </a:solidFill>
                          <a:effectLst/>
                          <a:latin typeface="Calibri" panose="020F0502020204030204" pitchFamily="34" charset="0"/>
                        </a:rPr>
                        <a:t>Propane Tanks</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3503952442"/>
                  </a:ext>
                </a:extLst>
              </a:tr>
              <a:tr h="139862">
                <a:tc vMerge="1">
                  <a:txBody>
                    <a:bodyPr/>
                    <a:lstStyle/>
                    <a:p>
                      <a:endParaRPr lang="en-CA"/>
                    </a:p>
                  </a:txBody>
                  <a:tcPr/>
                </a:tc>
                <a:tc>
                  <a:txBody>
                    <a:bodyPr/>
                    <a:lstStyle/>
                    <a:p>
                      <a:pPr algn="ctr" rtl="0" fontAlgn="ctr"/>
                      <a:r>
                        <a:rPr lang="en-CA" sz="800" b="0" i="0" u="none" strike="noStrike" dirty="0">
                          <a:solidFill>
                            <a:schemeClr val="tx2"/>
                          </a:solidFill>
                          <a:effectLst/>
                          <a:latin typeface="Calibri" panose="020F0502020204030204" pitchFamily="34" charset="0"/>
                        </a:rPr>
                        <a:t>Skid Steer Loaders / Bobcats</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2928646079"/>
                  </a:ext>
                </a:extLst>
              </a:tr>
              <a:tr h="139862">
                <a:tc vMerge="1">
                  <a:txBody>
                    <a:bodyPr/>
                    <a:lstStyle/>
                    <a:p>
                      <a:endParaRPr lang="en-CA"/>
                    </a:p>
                  </a:txBody>
                  <a:tcPr/>
                </a:tc>
                <a:tc>
                  <a:txBody>
                    <a:bodyPr/>
                    <a:lstStyle/>
                    <a:p>
                      <a:pPr algn="ctr" rtl="0" fontAlgn="ctr"/>
                      <a:r>
                        <a:rPr lang="en-US" sz="800" b="0" i="0" u="none" strike="noStrike" dirty="0">
                          <a:solidFill>
                            <a:schemeClr val="tx2"/>
                          </a:solidFill>
                          <a:effectLst/>
                          <a:latin typeface="Calibri" panose="020F0502020204030204" pitchFamily="34" charset="0"/>
                        </a:rPr>
                        <a:t>Storage Tanks - Above Ground / Other</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337616716"/>
                  </a:ext>
                </a:extLst>
              </a:tr>
              <a:tr h="139862">
                <a:tc vMerge="1">
                  <a:txBody>
                    <a:bodyPr/>
                    <a:lstStyle/>
                    <a:p>
                      <a:endParaRPr lang="en-CA"/>
                    </a:p>
                  </a:txBody>
                  <a:tcPr/>
                </a:tc>
                <a:tc>
                  <a:txBody>
                    <a:bodyPr/>
                    <a:lstStyle/>
                    <a:p>
                      <a:pPr algn="ctr" rtl="0" fontAlgn="ctr"/>
                      <a:r>
                        <a:rPr lang="en-CA" sz="800" b="0" i="0" u="none" strike="noStrike" dirty="0">
                          <a:solidFill>
                            <a:schemeClr val="tx2"/>
                          </a:solidFill>
                          <a:effectLst/>
                          <a:latin typeface="Calibri" panose="020F0502020204030204" pitchFamily="34" charset="0"/>
                        </a:rPr>
                        <a:t>Surveying Equipment</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660533109"/>
                  </a:ext>
                </a:extLst>
              </a:tr>
              <a:tr h="139862">
                <a:tc vMerge="1">
                  <a:txBody>
                    <a:bodyPr/>
                    <a:lstStyle/>
                    <a:p>
                      <a:endParaRPr lang="en-CA"/>
                    </a:p>
                  </a:txBody>
                  <a:tcPr/>
                </a:tc>
                <a:tc>
                  <a:txBody>
                    <a:bodyPr/>
                    <a:lstStyle/>
                    <a:p>
                      <a:pPr algn="ctr" rtl="0" fontAlgn="ctr"/>
                      <a:r>
                        <a:rPr lang="en-CA" sz="800" b="0" i="0" u="none" strike="noStrike" dirty="0">
                          <a:solidFill>
                            <a:schemeClr val="tx2"/>
                          </a:solidFill>
                          <a:effectLst/>
                          <a:latin typeface="Calibri" panose="020F0502020204030204" pitchFamily="34" charset="0"/>
                        </a:rPr>
                        <a:t>Warehouse Equipment</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121900559"/>
                  </a:ext>
                </a:extLst>
              </a:tr>
              <a:tr h="139862">
                <a:tc vMerge="1">
                  <a:txBody>
                    <a:bodyPr/>
                    <a:lstStyle/>
                    <a:p>
                      <a:endParaRPr lang="en-CA"/>
                    </a:p>
                  </a:txBody>
                  <a:tcPr/>
                </a:tc>
                <a:tc>
                  <a:txBody>
                    <a:bodyPr/>
                    <a:lstStyle/>
                    <a:p>
                      <a:pPr algn="ctr" rtl="0" fontAlgn="ctr"/>
                      <a:r>
                        <a:rPr lang="en-CA" sz="800" b="0" i="0" u="none" strike="noStrike" dirty="0">
                          <a:solidFill>
                            <a:schemeClr val="tx2"/>
                          </a:solidFill>
                          <a:effectLst/>
                          <a:latin typeface="Calibri" panose="020F0502020204030204" pitchFamily="34" charset="0"/>
                        </a:rPr>
                        <a:t>Welding Equipment</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340201322"/>
                  </a:ext>
                </a:extLst>
              </a:tr>
              <a:tr h="146856">
                <a:tc vMerge="1">
                  <a:txBody>
                    <a:bodyPr/>
                    <a:lstStyle/>
                    <a:p>
                      <a:endParaRPr lang="en-CA"/>
                    </a:p>
                  </a:txBody>
                  <a:tcPr/>
                </a:tc>
                <a:tc>
                  <a:txBody>
                    <a:bodyPr/>
                    <a:lstStyle/>
                    <a:p>
                      <a:pPr algn="ctr" rtl="0" fontAlgn="ctr"/>
                      <a:r>
                        <a:rPr lang="en-CA" sz="800" b="0" i="0" u="none" strike="noStrike">
                          <a:solidFill>
                            <a:schemeClr val="tx2"/>
                          </a:solidFill>
                          <a:effectLst/>
                          <a:latin typeface="Calibri" panose="020F0502020204030204" pitchFamily="34" charset="0"/>
                        </a:rPr>
                        <a:t>Wood Processing Equipment</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w="12700" cap="flat" cmpd="sng" algn="ctr">
                      <a:solidFill>
                        <a:srgbClr val="0097A9"/>
                      </a:solidFill>
                      <a:prstDash val="solid"/>
                      <a:round/>
                      <a:headEnd type="none" w="med" len="med"/>
                      <a:tailEnd type="none" w="med" len="med"/>
                    </a:lnB>
                    <a:solidFill>
                      <a:srgbClr val="FFFFFF"/>
                    </a:solidFill>
                  </a:tcPr>
                </a:tc>
                <a:extLst>
                  <a:ext uri="{0D108BD9-81ED-4DB2-BD59-A6C34878D82A}">
                    <a16:rowId xmlns:a16="http://schemas.microsoft.com/office/drawing/2014/main" val="1747419723"/>
                  </a:ext>
                </a:extLst>
              </a:tr>
              <a:tr h="139862">
                <a:tc rowSpan="9">
                  <a:txBody>
                    <a:bodyPr/>
                    <a:lstStyle/>
                    <a:p>
                      <a:pPr algn="ctr" rtl="0" fontAlgn="ctr"/>
                      <a:r>
                        <a:rPr lang="en-CA" sz="800" b="0" i="0" u="none" strike="noStrike">
                          <a:solidFill>
                            <a:schemeClr val="tx2"/>
                          </a:solidFill>
                          <a:effectLst/>
                          <a:latin typeface="Calibri" panose="020F0502020204030204" pitchFamily="34" charset="0"/>
                        </a:rPr>
                        <a:t>Agricultural Buildings and Equipment</a:t>
                      </a:r>
                    </a:p>
                  </a:txBody>
                  <a:tcPr marL="5826" marR="5826" marT="5826" marB="0" anchor="ctr">
                    <a:lnL w="12700" cap="flat" cmpd="sng" algn="ctr">
                      <a:solidFill>
                        <a:srgbClr val="0097A9"/>
                      </a:solidFill>
                      <a:prstDash val="solid"/>
                      <a:round/>
                      <a:headEnd type="none" w="med" len="med"/>
                      <a:tailEnd type="none" w="med" len="med"/>
                    </a:lnL>
                    <a:lnR w="635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solidFill>
                      <a:srgbClr val="FFFFFF"/>
                    </a:solidFill>
                  </a:tcPr>
                </a:tc>
                <a:tc>
                  <a:txBody>
                    <a:bodyPr/>
                    <a:lstStyle/>
                    <a:p>
                      <a:pPr algn="ctr" rtl="0" fontAlgn="ctr"/>
                      <a:r>
                        <a:rPr lang="en-CA" sz="800" b="0" i="0" u="none" strike="noStrike" dirty="0">
                          <a:solidFill>
                            <a:schemeClr val="tx2"/>
                          </a:solidFill>
                          <a:effectLst/>
                          <a:latin typeface="Calibri" panose="020F0502020204030204" pitchFamily="34" charset="0"/>
                        </a:rPr>
                        <a:t>Agricultural Buildings</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a:noFill/>
                    </a:lnB>
                    <a:solidFill>
                      <a:srgbClr val="E7EFF1"/>
                    </a:solidFill>
                  </a:tcPr>
                </a:tc>
                <a:extLst>
                  <a:ext uri="{0D108BD9-81ED-4DB2-BD59-A6C34878D82A}">
                    <a16:rowId xmlns:a16="http://schemas.microsoft.com/office/drawing/2014/main" val="629034917"/>
                  </a:ext>
                </a:extLst>
              </a:tr>
              <a:tr h="139862">
                <a:tc vMerge="1">
                  <a:txBody>
                    <a:bodyPr/>
                    <a:lstStyle/>
                    <a:p>
                      <a:endParaRPr lang="en-CA"/>
                    </a:p>
                  </a:txBody>
                  <a:tcPr/>
                </a:tc>
                <a:tc>
                  <a:txBody>
                    <a:bodyPr/>
                    <a:lstStyle/>
                    <a:p>
                      <a:pPr algn="ctr" rtl="0" fontAlgn="ctr"/>
                      <a:r>
                        <a:rPr lang="en-CA" sz="800" b="0" i="0" u="none" strike="noStrike">
                          <a:solidFill>
                            <a:schemeClr val="tx2"/>
                          </a:solidFill>
                          <a:effectLst/>
                          <a:latin typeface="Calibri" panose="020F0502020204030204" pitchFamily="34" charset="0"/>
                        </a:rPr>
                        <a:t>Agricultural Equipment - GPS Systems</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178911428"/>
                  </a:ext>
                </a:extLst>
              </a:tr>
              <a:tr h="223780">
                <a:tc vMerge="1">
                  <a:txBody>
                    <a:bodyPr/>
                    <a:lstStyle/>
                    <a:p>
                      <a:endParaRPr lang="en-CA"/>
                    </a:p>
                  </a:txBody>
                  <a:tcPr/>
                </a:tc>
                <a:tc>
                  <a:txBody>
                    <a:bodyPr/>
                    <a:lstStyle/>
                    <a:p>
                      <a:pPr algn="ctr" rtl="0" fontAlgn="ctr"/>
                      <a:r>
                        <a:rPr lang="en-US" sz="800" b="0" i="0" u="none" strike="noStrike" dirty="0">
                          <a:solidFill>
                            <a:schemeClr val="tx2"/>
                          </a:solidFill>
                          <a:effectLst/>
                          <a:latin typeface="Calibri" panose="020F0502020204030204" pitchFamily="34" charset="0"/>
                        </a:rPr>
                        <a:t>Agricultural Equipment - Grain Bins Large</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884652942"/>
                  </a:ext>
                </a:extLst>
              </a:tr>
              <a:tr h="335671">
                <a:tc vMerge="1">
                  <a:txBody>
                    <a:bodyPr/>
                    <a:lstStyle/>
                    <a:p>
                      <a:endParaRPr lang="en-CA"/>
                    </a:p>
                  </a:txBody>
                  <a:tcPr/>
                </a:tc>
                <a:tc>
                  <a:txBody>
                    <a:bodyPr/>
                    <a:lstStyle/>
                    <a:p>
                      <a:pPr algn="ctr" rtl="0" fontAlgn="ctr"/>
                      <a:r>
                        <a:rPr lang="en-US" sz="800" b="0" i="0" u="none" strike="noStrike" dirty="0">
                          <a:solidFill>
                            <a:schemeClr val="tx2"/>
                          </a:solidFill>
                          <a:effectLst/>
                          <a:latin typeface="Calibri" panose="020F0502020204030204" pitchFamily="34" charset="0"/>
                        </a:rPr>
                        <a:t>Agricultural Equipment - Grain Bins / Dry Fertilizers Bins - Movable (&lt; 21 </a:t>
                      </a:r>
                      <a:r>
                        <a:rPr lang="en-US" sz="800" b="0" i="0" u="none" strike="noStrike" dirty="0" err="1">
                          <a:solidFill>
                            <a:schemeClr val="tx2"/>
                          </a:solidFill>
                          <a:effectLst/>
                          <a:latin typeface="Calibri" panose="020F0502020204030204" pitchFamily="34" charset="0"/>
                        </a:rPr>
                        <a:t>ft</a:t>
                      </a:r>
                      <a:r>
                        <a:rPr lang="en-US" sz="800" b="0" i="0" u="none" strike="noStrike" dirty="0">
                          <a:solidFill>
                            <a:schemeClr val="tx2"/>
                          </a:solidFill>
                          <a:effectLst/>
                          <a:latin typeface="Calibri" panose="020F0502020204030204" pitchFamily="34" charset="0"/>
                        </a:rPr>
                        <a:t> diameter)</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425397759"/>
                  </a:ext>
                </a:extLst>
              </a:tr>
              <a:tr h="230773">
                <a:tc vMerge="1">
                  <a:txBody>
                    <a:bodyPr/>
                    <a:lstStyle/>
                    <a:p>
                      <a:endParaRPr lang="en-CA"/>
                    </a:p>
                  </a:txBody>
                  <a:tcPr/>
                </a:tc>
                <a:tc>
                  <a:txBody>
                    <a:bodyPr/>
                    <a:lstStyle/>
                    <a:p>
                      <a:pPr algn="ctr" rtl="0" fontAlgn="ctr"/>
                      <a:r>
                        <a:rPr lang="en-CA" sz="800" b="0" i="0" u="none" strike="noStrike" dirty="0">
                          <a:solidFill>
                            <a:schemeClr val="tx2"/>
                          </a:solidFill>
                          <a:effectLst/>
                          <a:latin typeface="Calibri" panose="020F0502020204030204" pitchFamily="34" charset="0"/>
                        </a:rPr>
                        <a:t>Agricultural Equipment - Mobile</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65979513"/>
                  </a:ext>
                </a:extLst>
              </a:tr>
              <a:tr h="139862">
                <a:tc vMerge="1">
                  <a:txBody>
                    <a:bodyPr/>
                    <a:lstStyle/>
                    <a:p>
                      <a:endParaRPr lang="en-CA"/>
                    </a:p>
                  </a:txBody>
                  <a:tcPr/>
                </a:tc>
                <a:tc>
                  <a:txBody>
                    <a:bodyPr/>
                    <a:lstStyle/>
                    <a:p>
                      <a:pPr algn="ctr" rtl="0" fontAlgn="ctr"/>
                      <a:r>
                        <a:rPr lang="en-CA" sz="800" b="0" i="0" u="none" strike="noStrike" dirty="0">
                          <a:solidFill>
                            <a:schemeClr val="tx2"/>
                          </a:solidFill>
                          <a:effectLst/>
                          <a:latin typeface="Calibri" panose="020F0502020204030204" pitchFamily="34" charset="0"/>
                        </a:rPr>
                        <a:t>Agricultural Equipment - Stationary</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3669238548"/>
                  </a:ext>
                </a:extLst>
              </a:tr>
              <a:tr h="223780">
                <a:tc vMerge="1">
                  <a:txBody>
                    <a:bodyPr/>
                    <a:lstStyle/>
                    <a:p>
                      <a:endParaRPr lang="en-CA"/>
                    </a:p>
                  </a:txBody>
                  <a:tcPr/>
                </a:tc>
                <a:tc>
                  <a:txBody>
                    <a:bodyPr/>
                    <a:lstStyle/>
                    <a:p>
                      <a:pPr algn="ctr" rtl="0" fontAlgn="ctr"/>
                      <a:r>
                        <a:rPr lang="en-CA" sz="800" b="0" i="0" u="none" strike="noStrike" dirty="0">
                          <a:solidFill>
                            <a:schemeClr val="tx2"/>
                          </a:solidFill>
                          <a:effectLst/>
                          <a:latin typeface="Calibri" panose="020F0502020204030204" pitchFamily="34" charset="0"/>
                        </a:rPr>
                        <a:t>Agricultural Equipment - Fertilizer Tanks</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381595053"/>
                  </a:ext>
                </a:extLst>
              </a:tr>
              <a:tr h="139862">
                <a:tc vMerge="1">
                  <a:txBody>
                    <a:bodyPr/>
                    <a:lstStyle/>
                    <a:p>
                      <a:endParaRPr lang="en-CA"/>
                    </a:p>
                  </a:txBody>
                  <a:tcPr/>
                </a:tc>
                <a:tc>
                  <a:txBody>
                    <a:bodyPr/>
                    <a:lstStyle/>
                    <a:p>
                      <a:pPr algn="ctr" rtl="0" fontAlgn="ctr"/>
                      <a:r>
                        <a:rPr lang="en-CA" sz="800" b="0" i="0" u="none" strike="noStrike" dirty="0">
                          <a:solidFill>
                            <a:schemeClr val="tx2"/>
                          </a:solidFill>
                          <a:effectLst/>
                          <a:latin typeface="Calibri" panose="020F0502020204030204" pitchFamily="34" charset="0"/>
                        </a:rPr>
                        <a:t>Anhydrous Ammonia (NH3) Tanks</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3898949029"/>
                  </a:ext>
                </a:extLst>
              </a:tr>
              <a:tr h="146856">
                <a:tc vMerge="1">
                  <a:txBody>
                    <a:bodyPr/>
                    <a:lstStyle/>
                    <a:p>
                      <a:endParaRPr lang="en-CA"/>
                    </a:p>
                  </a:txBody>
                  <a:tcPr/>
                </a:tc>
                <a:tc>
                  <a:txBody>
                    <a:bodyPr/>
                    <a:lstStyle/>
                    <a:p>
                      <a:pPr algn="ctr" rtl="0" fontAlgn="ctr"/>
                      <a:r>
                        <a:rPr lang="en-CA" sz="800" b="0" i="0" u="none" strike="noStrike" dirty="0">
                          <a:solidFill>
                            <a:schemeClr val="tx2"/>
                          </a:solidFill>
                          <a:effectLst/>
                          <a:latin typeface="Calibri" panose="020F0502020204030204" pitchFamily="34" charset="0"/>
                        </a:rPr>
                        <a:t>Steel Buildings</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w="12700" cap="flat" cmpd="sng" algn="ctr">
                      <a:solidFill>
                        <a:srgbClr val="0097A9"/>
                      </a:solidFill>
                      <a:prstDash val="solid"/>
                      <a:round/>
                      <a:headEnd type="none" w="med" len="med"/>
                      <a:tailEnd type="none" w="med" len="med"/>
                    </a:lnB>
                    <a:solidFill>
                      <a:srgbClr val="E7EFF1"/>
                    </a:solidFill>
                  </a:tcPr>
                </a:tc>
                <a:extLst>
                  <a:ext uri="{0D108BD9-81ED-4DB2-BD59-A6C34878D82A}">
                    <a16:rowId xmlns:a16="http://schemas.microsoft.com/office/drawing/2014/main" val="57995691"/>
                  </a:ext>
                </a:extLst>
              </a:tr>
            </a:tbl>
          </a:graphicData>
        </a:graphic>
      </p:graphicFrame>
    </p:spTree>
    <p:extLst>
      <p:ext uri="{BB962C8B-B14F-4D97-AF65-F5344CB8AC3E}">
        <p14:creationId xmlns:p14="http://schemas.microsoft.com/office/powerpoint/2010/main" val="1997095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3" y="221768"/>
            <a:ext cx="8280401" cy="397483"/>
          </a:xfrm>
        </p:spPr>
        <p:txBody>
          <a:bodyPr/>
          <a:lstStyle/>
          <a:p>
            <a:r>
              <a:rPr lang="en-US" sz="2400" dirty="0" smtClean="0"/>
              <a:t>Collateral Types</a:t>
            </a:r>
            <a:endParaRPr lang="en-CA" sz="2400" dirty="0"/>
          </a:p>
        </p:txBody>
      </p:sp>
      <p:graphicFrame>
        <p:nvGraphicFramePr>
          <p:cNvPr id="4" name="Table 3"/>
          <p:cNvGraphicFramePr>
            <a:graphicFrameLocks noGrp="1"/>
          </p:cNvGraphicFramePr>
          <p:nvPr>
            <p:extLst>
              <p:ext uri="{D42A27DB-BD31-4B8C-83A1-F6EECF244321}">
                <p14:modId xmlns:p14="http://schemas.microsoft.com/office/powerpoint/2010/main" val="3664844430"/>
              </p:ext>
            </p:extLst>
          </p:nvPr>
        </p:nvGraphicFramePr>
        <p:xfrm>
          <a:off x="406202" y="700548"/>
          <a:ext cx="8280402" cy="3968205"/>
        </p:xfrm>
        <a:graphic>
          <a:graphicData uri="http://schemas.openxmlformats.org/drawingml/2006/table">
            <a:tbl>
              <a:tblPr/>
              <a:tblGrid>
                <a:gridCol w="4140201">
                  <a:extLst>
                    <a:ext uri="{9D8B030D-6E8A-4147-A177-3AD203B41FA5}">
                      <a16:colId xmlns:a16="http://schemas.microsoft.com/office/drawing/2014/main" val="1826130896"/>
                    </a:ext>
                  </a:extLst>
                </a:gridCol>
                <a:gridCol w="4140201">
                  <a:extLst>
                    <a:ext uri="{9D8B030D-6E8A-4147-A177-3AD203B41FA5}">
                      <a16:colId xmlns:a16="http://schemas.microsoft.com/office/drawing/2014/main" val="2952713507"/>
                    </a:ext>
                  </a:extLst>
                </a:gridCol>
              </a:tblGrid>
              <a:tr h="132879">
                <a:tc>
                  <a:txBody>
                    <a:bodyPr/>
                    <a:lstStyle/>
                    <a:p>
                      <a:pPr algn="ctr" fontAlgn="ctr"/>
                      <a:r>
                        <a:rPr lang="en-CA" sz="800" b="1" i="0" u="none" strike="noStrike">
                          <a:solidFill>
                            <a:srgbClr val="FFFFFF"/>
                          </a:solidFill>
                          <a:effectLst/>
                          <a:latin typeface="Calibri" panose="020F0502020204030204" pitchFamily="34" charset="0"/>
                        </a:rPr>
                        <a:t>Collateral Group</a:t>
                      </a:r>
                    </a:p>
                  </a:txBody>
                  <a:tcPr marL="5221" marR="5221" marT="5221" marB="0" anchor="ctr">
                    <a:lnL w="12700" cap="flat" cmpd="sng" algn="ctr">
                      <a:solidFill>
                        <a:srgbClr val="0097A9"/>
                      </a:solidFill>
                      <a:prstDash val="solid"/>
                      <a:round/>
                      <a:headEnd type="none" w="med" len="med"/>
                      <a:tailEnd type="none" w="med" len="med"/>
                    </a:lnL>
                    <a:lnR>
                      <a:noFill/>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solidFill>
                      <a:srgbClr val="0097A9"/>
                    </a:solidFill>
                  </a:tcPr>
                </a:tc>
                <a:tc>
                  <a:txBody>
                    <a:bodyPr/>
                    <a:lstStyle/>
                    <a:p>
                      <a:pPr algn="ctr" fontAlgn="ctr"/>
                      <a:r>
                        <a:rPr lang="en-CA" sz="800" b="1" i="0" u="none" strike="noStrike">
                          <a:solidFill>
                            <a:srgbClr val="FFFFFF"/>
                          </a:solidFill>
                          <a:effectLst/>
                          <a:latin typeface="Calibri" panose="020F0502020204030204" pitchFamily="34" charset="0"/>
                        </a:rPr>
                        <a:t>Collateral</a:t>
                      </a:r>
                    </a:p>
                  </a:txBody>
                  <a:tcPr marL="5221" marR="5221" marT="5221" marB="0" anchor="ctr">
                    <a:lnL>
                      <a:noFill/>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solidFill>
                      <a:srgbClr val="0097A9"/>
                    </a:solidFill>
                  </a:tcPr>
                </a:tc>
                <a:extLst>
                  <a:ext uri="{0D108BD9-81ED-4DB2-BD59-A6C34878D82A}">
                    <a16:rowId xmlns:a16="http://schemas.microsoft.com/office/drawing/2014/main" val="1295728022"/>
                  </a:ext>
                </a:extLst>
              </a:tr>
              <a:tr h="132879">
                <a:tc rowSpan="12">
                  <a:txBody>
                    <a:bodyPr/>
                    <a:lstStyle/>
                    <a:p>
                      <a:pPr algn="ctr" rtl="0" fontAlgn="ctr"/>
                      <a:r>
                        <a:rPr lang="en-CA" sz="800" b="0" i="0" u="none" strike="noStrike" dirty="0">
                          <a:solidFill>
                            <a:schemeClr val="tx2"/>
                          </a:solidFill>
                          <a:effectLst/>
                          <a:latin typeface="Calibri" panose="020F0502020204030204" pitchFamily="34" charset="0"/>
                        </a:rPr>
                        <a:t>Medical Equipment</a:t>
                      </a:r>
                    </a:p>
                  </a:txBody>
                  <a:tcPr marL="5221" marR="5221" marT="5221" marB="0" anchor="ctr">
                    <a:lnL w="12700" cap="flat" cmpd="sng" algn="ctr">
                      <a:solidFill>
                        <a:srgbClr val="0097A9"/>
                      </a:solidFill>
                      <a:prstDash val="solid"/>
                      <a:round/>
                      <a:headEnd type="none" w="med" len="med"/>
                      <a:tailEnd type="none" w="med" len="med"/>
                    </a:lnL>
                    <a:lnR w="635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6350" cap="flat" cmpd="sng" algn="ctr">
                      <a:solidFill>
                        <a:srgbClr val="0097A9"/>
                      </a:solidFill>
                      <a:prstDash val="solid"/>
                      <a:round/>
                      <a:headEnd type="none" w="med" len="med"/>
                      <a:tailEnd type="none" w="med" len="med"/>
                    </a:lnB>
                    <a:solidFill>
                      <a:srgbClr val="E7EFF1"/>
                    </a:solidFill>
                  </a:tcPr>
                </a:tc>
                <a:tc>
                  <a:txBody>
                    <a:bodyPr/>
                    <a:lstStyle/>
                    <a:p>
                      <a:pPr algn="ctr" rtl="0" fontAlgn="ctr"/>
                      <a:r>
                        <a:rPr lang="en-CA" sz="800" b="0" i="0" u="none" strike="noStrike" dirty="0">
                          <a:solidFill>
                            <a:schemeClr val="tx2"/>
                          </a:solidFill>
                          <a:effectLst/>
                          <a:latin typeface="Calibri" panose="020F0502020204030204" pitchFamily="34" charset="0"/>
                        </a:rPr>
                        <a:t>Aesthetic Equipment - Commercial Market</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a:noFill/>
                    </a:lnB>
                    <a:solidFill>
                      <a:srgbClr val="E7EFF1"/>
                    </a:solidFill>
                  </a:tcPr>
                </a:tc>
                <a:extLst>
                  <a:ext uri="{0D108BD9-81ED-4DB2-BD59-A6C34878D82A}">
                    <a16:rowId xmlns:a16="http://schemas.microsoft.com/office/drawing/2014/main" val="2499668459"/>
                  </a:ext>
                </a:extLst>
              </a:tr>
              <a:tr h="202482">
                <a:tc vMerge="1">
                  <a:txBody>
                    <a:bodyPr/>
                    <a:lstStyle/>
                    <a:p>
                      <a:endParaRPr lang="en-CA"/>
                    </a:p>
                  </a:txBody>
                  <a:tcPr/>
                </a:tc>
                <a:tc>
                  <a:txBody>
                    <a:bodyPr/>
                    <a:lstStyle/>
                    <a:p>
                      <a:pPr algn="ctr" rtl="0" fontAlgn="ctr"/>
                      <a:r>
                        <a:rPr lang="en-US" sz="800" b="0" i="0" u="none" strike="noStrike" dirty="0">
                          <a:solidFill>
                            <a:schemeClr val="tx2"/>
                          </a:solidFill>
                          <a:effectLst/>
                          <a:latin typeface="Calibri" panose="020F0502020204030204" pitchFamily="34" charset="0"/>
                        </a:rPr>
                        <a:t>Medical &amp; Lab Equipment - Commercial Market</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914583495"/>
                  </a:ext>
                </a:extLst>
              </a:tr>
              <a:tr h="188561">
                <a:tc vMerge="1">
                  <a:txBody>
                    <a:bodyPr/>
                    <a:lstStyle/>
                    <a:p>
                      <a:endParaRPr lang="en-CA"/>
                    </a:p>
                  </a:txBody>
                  <a:tcPr/>
                </a:tc>
                <a:tc>
                  <a:txBody>
                    <a:bodyPr/>
                    <a:lstStyle/>
                    <a:p>
                      <a:pPr algn="ctr" fontAlgn="ctr"/>
                      <a:r>
                        <a:rPr lang="en-US" sz="800" b="0" i="0" u="none" strike="noStrike" dirty="0">
                          <a:solidFill>
                            <a:schemeClr val="tx2"/>
                          </a:solidFill>
                          <a:effectLst/>
                          <a:latin typeface="Calibri" panose="020F0502020204030204" pitchFamily="34" charset="0"/>
                        </a:rPr>
                        <a:t>Medical Equipment - Aesthetic Equipment, Doctors Only</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674018446"/>
                  </a:ext>
                </a:extLst>
              </a:tr>
              <a:tr h="126550">
                <a:tc vMerge="1">
                  <a:txBody>
                    <a:bodyPr/>
                    <a:lstStyle/>
                    <a:p>
                      <a:endParaRPr lang="en-CA"/>
                    </a:p>
                  </a:txBody>
                  <a:tcPr/>
                </a:tc>
                <a:tc>
                  <a:txBody>
                    <a:bodyPr/>
                    <a:lstStyle/>
                    <a:p>
                      <a:pPr algn="ctr" fontAlgn="ctr"/>
                      <a:r>
                        <a:rPr lang="en-CA" sz="800" b="0" i="0" u="none" strike="noStrike" dirty="0">
                          <a:solidFill>
                            <a:schemeClr val="tx2"/>
                          </a:solidFill>
                          <a:effectLst/>
                          <a:latin typeface="Calibri" panose="020F0502020204030204" pitchFamily="34" charset="0"/>
                        </a:rPr>
                        <a:t>Medical Equipment - Chiropractic</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579977896"/>
                  </a:ext>
                </a:extLst>
              </a:tr>
              <a:tr h="126550">
                <a:tc vMerge="1">
                  <a:txBody>
                    <a:bodyPr/>
                    <a:lstStyle/>
                    <a:p>
                      <a:endParaRPr lang="en-CA"/>
                    </a:p>
                  </a:txBody>
                  <a:tcPr/>
                </a:tc>
                <a:tc>
                  <a:txBody>
                    <a:bodyPr/>
                    <a:lstStyle/>
                    <a:p>
                      <a:pPr algn="ctr" fontAlgn="ctr"/>
                      <a:r>
                        <a:rPr lang="en-CA" sz="800" b="0" i="0" u="none" strike="noStrike" dirty="0">
                          <a:solidFill>
                            <a:schemeClr val="tx2"/>
                          </a:solidFill>
                          <a:effectLst/>
                          <a:latin typeface="Calibri" panose="020F0502020204030204" pitchFamily="34" charset="0"/>
                        </a:rPr>
                        <a:t>Medical Equipment - Defibrillators</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318934962"/>
                  </a:ext>
                </a:extLst>
              </a:tr>
              <a:tr h="126550">
                <a:tc vMerge="1">
                  <a:txBody>
                    <a:bodyPr/>
                    <a:lstStyle/>
                    <a:p>
                      <a:endParaRPr lang="en-CA"/>
                    </a:p>
                  </a:txBody>
                  <a:tcPr/>
                </a:tc>
                <a:tc>
                  <a:txBody>
                    <a:bodyPr/>
                    <a:lstStyle/>
                    <a:p>
                      <a:pPr algn="ctr" fontAlgn="ctr"/>
                      <a:r>
                        <a:rPr lang="en-CA" sz="800" b="0" i="0" u="none" strike="noStrike">
                          <a:solidFill>
                            <a:schemeClr val="tx2"/>
                          </a:solidFill>
                          <a:effectLst/>
                          <a:latin typeface="Calibri" panose="020F0502020204030204" pitchFamily="34" charset="0"/>
                        </a:rPr>
                        <a:t>Medical Equipment - Dental</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139346386"/>
                  </a:ext>
                </a:extLst>
              </a:tr>
              <a:tr h="126550">
                <a:tc vMerge="1">
                  <a:txBody>
                    <a:bodyPr/>
                    <a:lstStyle/>
                    <a:p>
                      <a:endParaRPr lang="en-CA"/>
                    </a:p>
                  </a:txBody>
                  <a:tcPr/>
                </a:tc>
                <a:tc>
                  <a:txBody>
                    <a:bodyPr/>
                    <a:lstStyle/>
                    <a:p>
                      <a:pPr algn="ctr" fontAlgn="ctr"/>
                      <a:r>
                        <a:rPr lang="en-CA" sz="800" b="0" i="0" u="none" strike="noStrike" dirty="0">
                          <a:solidFill>
                            <a:schemeClr val="tx2"/>
                          </a:solidFill>
                          <a:effectLst/>
                          <a:latin typeface="Calibri" panose="020F0502020204030204" pitchFamily="34" charset="0"/>
                        </a:rPr>
                        <a:t>Medical Equipment - General</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2635104206"/>
                  </a:ext>
                </a:extLst>
              </a:tr>
              <a:tr h="126550">
                <a:tc vMerge="1">
                  <a:txBody>
                    <a:bodyPr/>
                    <a:lstStyle/>
                    <a:p>
                      <a:endParaRPr lang="en-CA"/>
                    </a:p>
                  </a:txBody>
                  <a:tcPr/>
                </a:tc>
                <a:tc>
                  <a:txBody>
                    <a:bodyPr/>
                    <a:lstStyle/>
                    <a:p>
                      <a:pPr algn="ctr" fontAlgn="ctr"/>
                      <a:r>
                        <a:rPr lang="en-CA" sz="800" b="0" i="0" u="none" strike="noStrike" dirty="0">
                          <a:solidFill>
                            <a:schemeClr val="tx2"/>
                          </a:solidFill>
                          <a:effectLst/>
                          <a:latin typeface="Calibri" panose="020F0502020204030204" pitchFamily="34" charset="0"/>
                        </a:rPr>
                        <a:t>Medical Equipment - Optometric</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4071961541"/>
                  </a:ext>
                </a:extLst>
              </a:tr>
              <a:tr h="126550">
                <a:tc vMerge="1">
                  <a:txBody>
                    <a:bodyPr/>
                    <a:lstStyle/>
                    <a:p>
                      <a:endParaRPr lang="en-CA"/>
                    </a:p>
                  </a:txBody>
                  <a:tcPr/>
                </a:tc>
                <a:tc>
                  <a:txBody>
                    <a:bodyPr/>
                    <a:lstStyle/>
                    <a:p>
                      <a:pPr algn="ctr" fontAlgn="ctr"/>
                      <a:r>
                        <a:rPr lang="en-CA" sz="800" b="0" i="0" u="none" strike="noStrike" dirty="0">
                          <a:solidFill>
                            <a:schemeClr val="tx2"/>
                          </a:solidFill>
                          <a:effectLst/>
                          <a:latin typeface="Calibri" panose="020F0502020204030204" pitchFamily="34" charset="0"/>
                        </a:rPr>
                        <a:t>Medical Equipment - Veterinary</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851060385"/>
                  </a:ext>
                </a:extLst>
              </a:tr>
              <a:tr h="126550">
                <a:tc vMerge="1">
                  <a:txBody>
                    <a:bodyPr/>
                    <a:lstStyle/>
                    <a:p>
                      <a:endParaRPr lang="en-CA"/>
                    </a:p>
                  </a:txBody>
                  <a:tcPr/>
                </a:tc>
                <a:tc>
                  <a:txBody>
                    <a:bodyPr/>
                    <a:lstStyle/>
                    <a:p>
                      <a:pPr algn="ctr" fontAlgn="ctr"/>
                      <a:r>
                        <a:rPr lang="en-CA" sz="800" b="0" i="0" u="none" strike="noStrike" dirty="0">
                          <a:solidFill>
                            <a:schemeClr val="tx2"/>
                          </a:solidFill>
                          <a:effectLst/>
                          <a:latin typeface="Calibri" panose="020F0502020204030204" pitchFamily="34" charset="0"/>
                        </a:rPr>
                        <a:t>Medical Leaseholds</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1020000520"/>
                  </a:ext>
                </a:extLst>
              </a:tr>
              <a:tr h="126550">
                <a:tc vMerge="1">
                  <a:txBody>
                    <a:bodyPr/>
                    <a:lstStyle/>
                    <a:p>
                      <a:endParaRPr lang="en-CA"/>
                    </a:p>
                  </a:txBody>
                  <a:tcPr/>
                </a:tc>
                <a:tc>
                  <a:txBody>
                    <a:bodyPr/>
                    <a:lstStyle/>
                    <a:p>
                      <a:pPr algn="ctr" rtl="0" fontAlgn="ctr"/>
                      <a:r>
                        <a:rPr lang="en-CA" sz="800" b="0" i="0" u="none" strike="noStrike" dirty="0">
                          <a:solidFill>
                            <a:schemeClr val="tx2"/>
                          </a:solidFill>
                          <a:effectLst/>
                          <a:latin typeface="Calibri" panose="020F0502020204030204" pitchFamily="34" charset="0"/>
                        </a:rPr>
                        <a:t>Orthotic Scanning Equipment</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2943830646"/>
                  </a:ext>
                </a:extLst>
              </a:tr>
              <a:tr h="126550">
                <a:tc vMerge="1">
                  <a:txBody>
                    <a:bodyPr/>
                    <a:lstStyle/>
                    <a:p>
                      <a:endParaRPr lang="en-CA"/>
                    </a:p>
                  </a:txBody>
                  <a:tcPr/>
                </a:tc>
                <a:tc>
                  <a:txBody>
                    <a:bodyPr/>
                    <a:lstStyle/>
                    <a:p>
                      <a:pPr algn="ctr" fontAlgn="ctr"/>
                      <a:r>
                        <a:rPr lang="en-CA" sz="800" b="0" i="0" u="none" strike="noStrike">
                          <a:solidFill>
                            <a:schemeClr val="tx2"/>
                          </a:solidFill>
                          <a:effectLst/>
                          <a:latin typeface="Calibri" panose="020F0502020204030204" pitchFamily="34" charset="0"/>
                        </a:rPr>
                        <a:t>Physio/Rehab Equipment</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w="6350" cap="flat" cmpd="sng" algn="ctr">
                      <a:solidFill>
                        <a:srgbClr val="0097A9"/>
                      </a:solidFill>
                      <a:prstDash val="solid"/>
                      <a:round/>
                      <a:headEnd type="none" w="med" len="med"/>
                      <a:tailEnd type="none" w="med" len="med"/>
                    </a:lnB>
                  </a:tcPr>
                </a:tc>
                <a:extLst>
                  <a:ext uri="{0D108BD9-81ED-4DB2-BD59-A6C34878D82A}">
                    <a16:rowId xmlns:a16="http://schemas.microsoft.com/office/drawing/2014/main" val="2224344571"/>
                  </a:ext>
                </a:extLst>
              </a:tr>
              <a:tr h="126550">
                <a:tc rowSpan="17">
                  <a:txBody>
                    <a:bodyPr/>
                    <a:lstStyle/>
                    <a:p>
                      <a:pPr algn="ctr" fontAlgn="ctr"/>
                      <a:r>
                        <a:rPr lang="en-CA" sz="800" b="0" i="0" u="none" strike="noStrike" dirty="0">
                          <a:solidFill>
                            <a:schemeClr val="tx2"/>
                          </a:solidFill>
                          <a:effectLst/>
                          <a:latin typeface="Calibri" panose="020F0502020204030204" pitchFamily="34" charset="0"/>
                        </a:rPr>
                        <a:t>Real Estate Collateral</a:t>
                      </a:r>
                    </a:p>
                  </a:txBody>
                  <a:tcPr marL="5221" marR="5221" marT="5221" marB="0" anchor="ctr">
                    <a:lnL w="12700" cap="flat" cmpd="sng" algn="ctr">
                      <a:solidFill>
                        <a:srgbClr val="0097A9"/>
                      </a:solidFill>
                      <a:prstDash val="solid"/>
                      <a:round/>
                      <a:headEnd type="none" w="med" len="med"/>
                      <a:tailEnd type="none" w="med" len="med"/>
                    </a:lnL>
                    <a:lnR w="6350" cap="flat" cmpd="sng" algn="ctr">
                      <a:solidFill>
                        <a:srgbClr val="0097A9"/>
                      </a:solidFill>
                      <a:prstDash val="solid"/>
                      <a:round/>
                      <a:headEnd type="none" w="med" len="med"/>
                      <a:tailEnd type="none" w="med" len="med"/>
                    </a:lnR>
                    <a:lnT w="635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tcPr>
                </a:tc>
                <a:tc>
                  <a:txBody>
                    <a:bodyPr/>
                    <a:lstStyle/>
                    <a:p>
                      <a:pPr algn="ctr" fontAlgn="ctr"/>
                      <a:r>
                        <a:rPr lang="en-CA" sz="800" b="0" i="0" u="none" strike="noStrike" dirty="0">
                          <a:solidFill>
                            <a:schemeClr val="tx2"/>
                          </a:solidFill>
                          <a:effectLst/>
                          <a:latin typeface="Calibri" panose="020F0502020204030204" pitchFamily="34" charset="0"/>
                        </a:rPr>
                        <a:t>Commercial Building</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6350" cap="flat" cmpd="sng" algn="ctr">
                      <a:solidFill>
                        <a:srgbClr val="0097A9"/>
                      </a:solidFill>
                      <a:prstDash val="solid"/>
                      <a:round/>
                      <a:headEnd type="none" w="med" len="med"/>
                      <a:tailEnd type="none" w="med" len="med"/>
                    </a:lnT>
                    <a:lnB>
                      <a:noFill/>
                    </a:lnB>
                    <a:solidFill>
                      <a:srgbClr val="E7EFF1"/>
                    </a:solidFill>
                  </a:tcPr>
                </a:tc>
                <a:extLst>
                  <a:ext uri="{0D108BD9-81ED-4DB2-BD59-A6C34878D82A}">
                    <a16:rowId xmlns:a16="http://schemas.microsoft.com/office/drawing/2014/main" val="769942636"/>
                  </a:ext>
                </a:extLst>
              </a:tr>
              <a:tr h="126550">
                <a:tc vMerge="1">
                  <a:txBody>
                    <a:bodyPr/>
                    <a:lstStyle/>
                    <a:p>
                      <a:endParaRPr lang="en-CA"/>
                    </a:p>
                  </a:txBody>
                  <a:tcPr/>
                </a:tc>
                <a:tc>
                  <a:txBody>
                    <a:bodyPr/>
                    <a:lstStyle/>
                    <a:p>
                      <a:pPr algn="ctr" fontAlgn="ctr"/>
                      <a:r>
                        <a:rPr lang="en-CA" sz="800" b="0" i="0" u="none" strike="noStrike">
                          <a:solidFill>
                            <a:schemeClr val="tx2"/>
                          </a:solidFill>
                          <a:effectLst/>
                          <a:latin typeface="Calibri" panose="020F0502020204030204" pitchFamily="34" charset="0"/>
                        </a:rPr>
                        <a:t>Condo - Single Unit</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1116170649"/>
                  </a:ext>
                </a:extLst>
              </a:tr>
              <a:tr h="126550">
                <a:tc vMerge="1">
                  <a:txBody>
                    <a:bodyPr/>
                    <a:lstStyle/>
                    <a:p>
                      <a:endParaRPr lang="en-CA"/>
                    </a:p>
                  </a:txBody>
                  <a:tcPr/>
                </a:tc>
                <a:tc>
                  <a:txBody>
                    <a:bodyPr/>
                    <a:lstStyle/>
                    <a:p>
                      <a:pPr algn="ctr" fontAlgn="ctr"/>
                      <a:r>
                        <a:rPr lang="en-CA" sz="800" b="0" i="0" u="none" strike="noStrike" dirty="0">
                          <a:solidFill>
                            <a:schemeClr val="tx2"/>
                          </a:solidFill>
                          <a:effectLst/>
                          <a:latin typeface="Calibri" panose="020F0502020204030204" pitchFamily="34" charset="0"/>
                        </a:rPr>
                        <a:t>Farm</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2278511993"/>
                  </a:ext>
                </a:extLst>
              </a:tr>
              <a:tr h="126550">
                <a:tc vMerge="1">
                  <a:txBody>
                    <a:bodyPr/>
                    <a:lstStyle/>
                    <a:p>
                      <a:endParaRPr lang="en-CA"/>
                    </a:p>
                  </a:txBody>
                  <a:tcPr/>
                </a:tc>
                <a:tc>
                  <a:txBody>
                    <a:bodyPr/>
                    <a:lstStyle/>
                    <a:p>
                      <a:pPr algn="ctr" fontAlgn="ctr"/>
                      <a:r>
                        <a:rPr lang="en-CA" sz="800" b="0" i="0" u="none" strike="noStrike" dirty="0">
                          <a:solidFill>
                            <a:schemeClr val="tx2"/>
                          </a:solidFill>
                          <a:effectLst/>
                          <a:latin typeface="Calibri" panose="020F0502020204030204" pitchFamily="34" charset="0"/>
                        </a:rPr>
                        <a:t>Hotel/Lodging Facility</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3341329070"/>
                  </a:ext>
                </a:extLst>
              </a:tr>
              <a:tr h="126550">
                <a:tc vMerge="1">
                  <a:txBody>
                    <a:bodyPr/>
                    <a:lstStyle/>
                    <a:p>
                      <a:endParaRPr lang="en-CA"/>
                    </a:p>
                  </a:txBody>
                  <a:tcPr/>
                </a:tc>
                <a:tc>
                  <a:txBody>
                    <a:bodyPr/>
                    <a:lstStyle/>
                    <a:p>
                      <a:pPr algn="ctr" fontAlgn="ctr"/>
                      <a:r>
                        <a:rPr lang="en-CA" sz="800" b="0" i="0" u="none" strike="noStrike">
                          <a:solidFill>
                            <a:schemeClr val="tx2"/>
                          </a:solidFill>
                          <a:effectLst/>
                          <a:latin typeface="Calibri" panose="020F0502020204030204" pitchFamily="34" charset="0"/>
                        </a:rPr>
                        <a:t>Land - Commercial Development</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234951103"/>
                  </a:ext>
                </a:extLst>
              </a:tr>
              <a:tr h="126550">
                <a:tc vMerge="1">
                  <a:txBody>
                    <a:bodyPr/>
                    <a:lstStyle/>
                    <a:p>
                      <a:endParaRPr lang="en-CA"/>
                    </a:p>
                  </a:txBody>
                  <a:tcPr/>
                </a:tc>
                <a:tc>
                  <a:txBody>
                    <a:bodyPr/>
                    <a:lstStyle/>
                    <a:p>
                      <a:pPr algn="ctr" fontAlgn="ctr"/>
                      <a:r>
                        <a:rPr lang="en-CA" sz="800" b="0" i="0" u="none" strike="noStrike">
                          <a:solidFill>
                            <a:schemeClr val="tx2"/>
                          </a:solidFill>
                          <a:effectLst/>
                          <a:latin typeface="Calibri" panose="020F0502020204030204" pitchFamily="34" charset="0"/>
                        </a:rPr>
                        <a:t>Land - Residential Development</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41156707"/>
                  </a:ext>
                </a:extLst>
              </a:tr>
              <a:tr h="126550">
                <a:tc vMerge="1">
                  <a:txBody>
                    <a:bodyPr/>
                    <a:lstStyle/>
                    <a:p>
                      <a:endParaRPr lang="en-CA"/>
                    </a:p>
                  </a:txBody>
                  <a:tcPr/>
                </a:tc>
                <a:tc>
                  <a:txBody>
                    <a:bodyPr/>
                    <a:lstStyle/>
                    <a:p>
                      <a:pPr algn="ctr" fontAlgn="ctr"/>
                      <a:r>
                        <a:rPr lang="en-CA" sz="800" b="0" i="0" u="none" strike="noStrike">
                          <a:solidFill>
                            <a:schemeClr val="tx2"/>
                          </a:solidFill>
                          <a:effectLst/>
                          <a:latin typeface="Calibri" panose="020F0502020204030204" pitchFamily="34" charset="0"/>
                        </a:rPr>
                        <a:t>Mixed Use Development</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2737686578"/>
                  </a:ext>
                </a:extLst>
              </a:tr>
              <a:tr h="126550">
                <a:tc vMerge="1">
                  <a:txBody>
                    <a:bodyPr/>
                    <a:lstStyle/>
                    <a:p>
                      <a:endParaRPr lang="en-CA"/>
                    </a:p>
                  </a:txBody>
                  <a:tcPr/>
                </a:tc>
                <a:tc>
                  <a:txBody>
                    <a:bodyPr/>
                    <a:lstStyle/>
                    <a:p>
                      <a:pPr algn="ctr" fontAlgn="ctr"/>
                      <a:r>
                        <a:rPr lang="en-CA" sz="800" b="0" i="0" u="none" strike="noStrike" dirty="0">
                          <a:solidFill>
                            <a:schemeClr val="tx2"/>
                          </a:solidFill>
                          <a:effectLst/>
                          <a:latin typeface="Calibri" panose="020F0502020204030204" pitchFamily="34" charset="0"/>
                        </a:rPr>
                        <a:t>Multi Family</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1862085778"/>
                  </a:ext>
                </a:extLst>
              </a:tr>
              <a:tr h="126550">
                <a:tc vMerge="1">
                  <a:txBody>
                    <a:bodyPr/>
                    <a:lstStyle/>
                    <a:p>
                      <a:endParaRPr lang="en-CA"/>
                    </a:p>
                  </a:txBody>
                  <a:tcPr/>
                </a:tc>
                <a:tc>
                  <a:txBody>
                    <a:bodyPr/>
                    <a:lstStyle/>
                    <a:p>
                      <a:pPr algn="ctr" fontAlgn="ctr"/>
                      <a:r>
                        <a:rPr lang="en-CA" sz="800" b="0" i="0" u="none" strike="noStrike">
                          <a:solidFill>
                            <a:schemeClr val="tx2"/>
                          </a:solidFill>
                          <a:effectLst/>
                          <a:latin typeface="Calibri" panose="020F0502020204030204" pitchFamily="34" charset="0"/>
                        </a:rPr>
                        <a:t>Office Building</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90171516"/>
                  </a:ext>
                </a:extLst>
              </a:tr>
              <a:tr h="126550">
                <a:tc vMerge="1">
                  <a:txBody>
                    <a:bodyPr/>
                    <a:lstStyle/>
                    <a:p>
                      <a:endParaRPr lang="en-CA"/>
                    </a:p>
                  </a:txBody>
                  <a:tcPr/>
                </a:tc>
                <a:tc>
                  <a:txBody>
                    <a:bodyPr/>
                    <a:lstStyle/>
                    <a:p>
                      <a:pPr algn="ctr" fontAlgn="ctr"/>
                      <a:r>
                        <a:rPr lang="en-CA" sz="800" b="0" i="0" u="none" strike="noStrike" dirty="0">
                          <a:solidFill>
                            <a:schemeClr val="tx2"/>
                          </a:solidFill>
                          <a:effectLst/>
                          <a:latin typeface="Calibri" panose="020F0502020204030204" pitchFamily="34" charset="0"/>
                        </a:rPr>
                        <a:t>Other - Non-Residential</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4080350962"/>
                  </a:ext>
                </a:extLst>
              </a:tr>
              <a:tr h="126550">
                <a:tc vMerge="1">
                  <a:txBody>
                    <a:bodyPr/>
                    <a:lstStyle/>
                    <a:p>
                      <a:endParaRPr lang="en-CA"/>
                    </a:p>
                  </a:txBody>
                  <a:tcPr/>
                </a:tc>
                <a:tc>
                  <a:txBody>
                    <a:bodyPr/>
                    <a:lstStyle/>
                    <a:p>
                      <a:pPr algn="ctr" fontAlgn="ctr"/>
                      <a:r>
                        <a:rPr lang="en-CA" sz="800" b="0" i="0" u="none" strike="noStrike" dirty="0">
                          <a:solidFill>
                            <a:schemeClr val="tx2"/>
                          </a:solidFill>
                          <a:effectLst/>
                          <a:latin typeface="Calibri" panose="020F0502020204030204" pitchFamily="34" charset="0"/>
                        </a:rPr>
                        <a:t>Other - Residential</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4232888358"/>
                  </a:ext>
                </a:extLst>
              </a:tr>
              <a:tr h="126550">
                <a:tc vMerge="1">
                  <a:txBody>
                    <a:bodyPr/>
                    <a:lstStyle/>
                    <a:p>
                      <a:endParaRPr lang="en-CA"/>
                    </a:p>
                  </a:txBody>
                  <a:tcPr/>
                </a:tc>
                <a:tc>
                  <a:txBody>
                    <a:bodyPr/>
                    <a:lstStyle/>
                    <a:p>
                      <a:pPr algn="ctr" fontAlgn="ctr"/>
                      <a:r>
                        <a:rPr lang="en-CA" sz="800" b="0" i="0" u="none" strike="noStrike" dirty="0">
                          <a:solidFill>
                            <a:schemeClr val="tx2"/>
                          </a:solidFill>
                          <a:effectLst/>
                          <a:latin typeface="Calibri" panose="020F0502020204030204" pitchFamily="34" charset="0"/>
                        </a:rPr>
                        <a:t>Recreational Property</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3389810475"/>
                  </a:ext>
                </a:extLst>
              </a:tr>
              <a:tr h="126550">
                <a:tc vMerge="1">
                  <a:txBody>
                    <a:bodyPr/>
                    <a:lstStyle/>
                    <a:p>
                      <a:endParaRPr lang="en-CA"/>
                    </a:p>
                  </a:txBody>
                  <a:tcPr/>
                </a:tc>
                <a:tc>
                  <a:txBody>
                    <a:bodyPr/>
                    <a:lstStyle/>
                    <a:p>
                      <a:pPr algn="ctr" fontAlgn="ctr"/>
                      <a:r>
                        <a:rPr lang="en-CA" sz="800" b="0" i="0" u="none" strike="noStrike" dirty="0">
                          <a:solidFill>
                            <a:schemeClr val="tx2"/>
                          </a:solidFill>
                          <a:effectLst/>
                          <a:latin typeface="Calibri" panose="020F0502020204030204" pitchFamily="34" charset="0"/>
                        </a:rPr>
                        <a:t>Restaurant/Pub</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913544904"/>
                  </a:ext>
                </a:extLst>
              </a:tr>
              <a:tr h="126550">
                <a:tc vMerge="1">
                  <a:txBody>
                    <a:bodyPr/>
                    <a:lstStyle/>
                    <a:p>
                      <a:endParaRPr lang="en-CA"/>
                    </a:p>
                  </a:txBody>
                  <a:tcPr/>
                </a:tc>
                <a:tc>
                  <a:txBody>
                    <a:bodyPr/>
                    <a:lstStyle/>
                    <a:p>
                      <a:pPr algn="ctr" fontAlgn="ctr"/>
                      <a:r>
                        <a:rPr lang="en-CA" sz="800" b="0" i="0" u="none" strike="noStrike" dirty="0">
                          <a:solidFill>
                            <a:schemeClr val="tx2"/>
                          </a:solidFill>
                          <a:effectLst/>
                          <a:latin typeface="Calibri" panose="020F0502020204030204" pitchFamily="34" charset="0"/>
                        </a:rPr>
                        <a:t>Shopping Centre/Retail Stores</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3484998471"/>
                  </a:ext>
                </a:extLst>
              </a:tr>
              <a:tr h="126550">
                <a:tc vMerge="1">
                  <a:txBody>
                    <a:bodyPr/>
                    <a:lstStyle/>
                    <a:p>
                      <a:endParaRPr lang="en-CA"/>
                    </a:p>
                  </a:txBody>
                  <a:tcPr/>
                </a:tc>
                <a:tc>
                  <a:txBody>
                    <a:bodyPr/>
                    <a:lstStyle/>
                    <a:p>
                      <a:pPr algn="ctr" fontAlgn="ctr"/>
                      <a:r>
                        <a:rPr lang="en-CA" sz="800" b="0" i="0" u="none" strike="noStrike" dirty="0">
                          <a:solidFill>
                            <a:schemeClr val="tx2"/>
                          </a:solidFill>
                          <a:effectLst/>
                          <a:latin typeface="Calibri" panose="020F0502020204030204" pitchFamily="34" charset="0"/>
                        </a:rPr>
                        <a:t>Single Family Attached</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215353774"/>
                  </a:ext>
                </a:extLst>
              </a:tr>
              <a:tr h="126550">
                <a:tc vMerge="1">
                  <a:txBody>
                    <a:bodyPr/>
                    <a:lstStyle/>
                    <a:p>
                      <a:endParaRPr lang="en-CA"/>
                    </a:p>
                  </a:txBody>
                  <a:tcPr/>
                </a:tc>
                <a:tc>
                  <a:txBody>
                    <a:bodyPr/>
                    <a:lstStyle/>
                    <a:p>
                      <a:pPr algn="ctr" fontAlgn="ctr"/>
                      <a:r>
                        <a:rPr lang="en-CA" sz="800" b="0" i="0" u="none" strike="noStrike" dirty="0">
                          <a:solidFill>
                            <a:schemeClr val="tx2"/>
                          </a:solidFill>
                          <a:effectLst/>
                          <a:latin typeface="Calibri" panose="020F0502020204030204" pitchFamily="34" charset="0"/>
                        </a:rPr>
                        <a:t>Single Family Detached</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3074707929"/>
                  </a:ext>
                </a:extLst>
              </a:tr>
              <a:tr h="132879">
                <a:tc vMerge="1">
                  <a:txBody>
                    <a:bodyPr/>
                    <a:lstStyle/>
                    <a:p>
                      <a:endParaRPr lang="en-CA"/>
                    </a:p>
                  </a:txBody>
                  <a:tcPr/>
                </a:tc>
                <a:tc>
                  <a:txBody>
                    <a:bodyPr/>
                    <a:lstStyle/>
                    <a:p>
                      <a:pPr algn="ctr" fontAlgn="ctr"/>
                      <a:r>
                        <a:rPr lang="en-CA" sz="800" b="0" i="0" u="none" strike="noStrike" dirty="0">
                          <a:solidFill>
                            <a:schemeClr val="tx2"/>
                          </a:solidFill>
                          <a:effectLst/>
                          <a:latin typeface="Calibri" panose="020F0502020204030204" pitchFamily="34" charset="0"/>
                        </a:rPr>
                        <a:t>Warehouse/Industrial Building</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w="12700" cap="flat" cmpd="sng" algn="ctr">
                      <a:solidFill>
                        <a:srgbClr val="0097A9"/>
                      </a:solidFill>
                      <a:prstDash val="solid"/>
                      <a:round/>
                      <a:headEnd type="none" w="med" len="med"/>
                      <a:tailEnd type="none" w="med" len="med"/>
                    </a:lnB>
                    <a:solidFill>
                      <a:srgbClr val="E7EFF1"/>
                    </a:solidFill>
                  </a:tcPr>
                </a:tc>
                <a:extLst>
                  <a:ext uri="{0D108BD9-81ED-4DB2-BD59-A6C34878D82A}">
                    <a16:rowId xmlns:a16="http://schemas.microsoft.com/office/drawing/2014/main" val="2379735470"/>
                  </a:ext>
                </a:extLst>
              </a:tr>
            </a:tbl>
          </a:graphicData>
        </a:graphic>
      </p:graphicFrame>
    </p:spTree>
    <p:extLst>
      <p:ext uri="{BB962C8B-B14F-4D97-AF65-F5344CB8AC3E}">
        <p14:creationId xmlns:p14="http://schemas.microsoft.com/office/powerpoint/2010/main" val="37832941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3" y="221768"/>
            <a:ext cx="8280401" cy="397483"/>
          </a:xfrm>
        </p:spPr>
        <p:txBody>
          <a:bodyPr/>
          <a:lstStyle/>
          <a:p>
            <a:r>
              <a:rPr lang="en-US" sz="2400" dirty="0" smtClean="0"/>
              <a:t>Collateral Types</a:t>
            </a:r>
            <a:endParaRPr lang="en-CA" sz="2400" dirty="0"/>
          </a:p>
        </p:txBody>
      </p:sp>
      <p:graphicFrame>
        <p:nvGraphicFramePr>
          <p:cNvPr id="5" name="Table 4"/>
          <p:cNvGraphicFramePr>
            <a:graphicFrameLocks noGrp="1"/>
          </p:cNvGraphicFramePr>
          <p:nvPr>
            <p:extLst>
              <p:ext uri="{D42A27DB-BD31-4B8C-83A1-F6EECF244321}">
                <p14:modId xmlns:p14="http://schemas.microsoft.com/office/powerpoint/2010/main" val="2827659614"/>
              </p:ext>
            </p:extLst>
          </p:nvPr>
        </p:nvGraphicFramePr>
        <p:xfrm>
          <a:off x="406202" y="769356"/>
          <a:ext cx="8280401" cy="3777427"/>
        </p:xfrm>
        <a:graphic>
          <a:graphicData uri="http://schemas.openxmlformats.org/drawingml/2006/table">
            <a:tbl>
              <a:tblPr/>
              <a:tblGrid>
                <a:gridCol w="3034898">
                  <a:extLst>
                    <a:ext uri="{9D8B030D-6E8A-4147-A177-3AD203B41FA5}">
                      <a16:colId xmlns:a16="http://schemas.microsoft.com/office/drawing/2014/main" val="2369227511"/>
                    </a:ext>
                  </a:extLst>
                </a:gridCol>
                <a:gridCol w="5245503">
                  <a:extLst>
                    <a:ext uri="{9D8B030D-6E8A-4147-A177-3AD203B41FA5}">
                      <a16:colId xmlns:a16="http://schemas.microsoft.com/office/drawing/2014/main" val="1522225804"/>
                    </a:ext>
                  </a:extLst>
                </a:gridCol>
              </a:tblGrid>
              <a:tr h="221550">
                <a:tc>
                  <a:txBody>
                    <a:bodyPr/>
                    <a:lstStyle/>
                    <a:p>
                      <a:pPr algn="ctr" rtl="0" fontAlgn="ctr"/>
                      <a:r>
                        <a:rPr lang="en-CA" sz="900" b="1" i="0" u="none" strike="noStrike">
                          <a:solidFill>
                            <a:srgbClr val="FFFFFF"/>
                          </a:solidFill>
                          <a:effectLst/>
                          <a:latin typeface="Calibri" panose="020F0502020204030204" pitchFamily="34" charset="0"/>
                        </a:rPr>
                        <a:t>Collateral Group</a:t>
                      </a:r>
                    </a:p>
                  </a:txBody>
                  <a:tcPr marL="9525" marR="9525" marT="9525" marB="0" anchor="ctr">
                    <a:lnL w="12700" cap="flat" cmpd="sng" algn="ctr">
                      <a:solidFill>
                        <a:srgbClr val="0097A9"/>
                      </a:solidFill>
                      <a:prstDash val="solid"/>
                      <a:round/>
                      <a:headEnd type="none" w="med" len="med"/>
                      <a:tailEnd type="none" w="med" len="med"/>
                    </a:lnL>
                    <a:lnR w="635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a:noFill/>
                    </a:lnB>
                    <a:solidFill>
                      <a:srgbClr val="0097A9"/>
                    </a:solidFill>
                  </a:tcPr>
                </a:tc>
                <a:tc>
                  <a:txBody>
                    <a:bodyPr/>
                    <a:lstStyle/>
                    <a:p>
                      <a:pPr algn="ctr" rtl="0" fontAlgn="ctr"/>
                      <a:r>
                        <a:rPr lang="en-CA" sz="900" b="1" i="0" u="none" strike="noStrike">
                          <a:solidFill>
                            <a:srgbClr val="FFFFFF"/>
                          </a:solidFill>
                          <a:effectLst/>
                          <a:latin typeface="Calibri" panose="020F0502020204030204" pitchFamily="34" charset="0"/>
                        </a:rPr>
                        <a:t>Collateral</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a:noFill/>
                    </a:lnB>
                    <a:solidFill>
                      <a:srgbClr val="0097A9"/>
                    </a:solidFill>
                  </a:tcPr>
                </a:tc>
                <a:extLst>
                  <a:ext uri="{0D108BD9-81ED-4DB2-BD59-A6C34878D82A}">
                    <a16:rowId xmlns:a16="http://schemas.microsoft.com/office/drawing/2014/main" val="960551724"/>
                  </a:ext>
                </a:extLst>
              </a:tr>
              <a:tr h="221550">
                <a:tc rowSpan="16">
                  <a:txBody>
                    <a:bodyPr/>
                    <a:lstStyle/>
                    <a:p>
                      <a:pPr algn="ctr" fontAlgn="ctr"/>
                      <a:r>
                        <a:rPr lang="en-CA" sz="900" b="0" i="0" u="none" strike="noStrike" dirty="0">
                          <a:solidFill>
                            <a:schemeClr val="tx2"/>
                          </a:solidFill>
                          <a:effectLst/>
                          <a:latin typeface="Calibri" panose="020F0502020204030204" pitchFamily="34" charset="0"/>
                        </a:rPr>
                        <a:t>Business Operation Equipment</a:t>
                      </a:r>
                    </a:p>
                  </a:txBody>
                  <a:tcPr marL="9525" marR="9525" marT="9525" marB="0" anchor="ctr">
                    <a:lnL w="12700" cap="flat" cmpd="sng" algn="ctr">
                      <a:solidFill>
                        <a:srgbClr val="0097A9"/>
                      </a:solidFill>
                      <a:prstDash val="solid"/>
                      <a:round/>
                      <a:headEnd type="none" w="med" len="med"/>
                      <a:tailEnd type="none" w="med" len="med"/>
                    </a:lnL>
                    <a:lnR w="6350" cap="flat" cmpd="sng" algn="ctr">
                      <a:solidFill>
                        <a:srgbClr val="0097A9"/>
                      </a:solidFill>
                      <a:prstDash val="solid"/>
                      <a:round/>
                      <a:headEnd type="none" w="med" len="med"/>
                      <a:tailEnd type="none" w="med" len="med"/>
                    </a:lnR>
                    <a:lnT>
                      <a:noFill/>
                    </a:lnT>
                    <a:lnB w="12700" cap="flat" cmpd="sng" algn="ctr">
                      <a:solidFill>
                        <a:srgbClr val="0097A9"/>
                      </a:solidFill>
                      <a:prstDash val="solid"/>
                      <a:round/>
                      <a:headEnd type="none" w="med" len="med"/>
                      <a:tailEnd type="none" w="med" len="med"/>
                    </a:lnB>
                    <a:solidFill>
                      <a:srgbClr val="FFFFFF"/>
                    </a:solidFill>
                  </a:tcPr>
                </a:tc>
                <a:tc>
                  <a:txBody>
                    <a:bodyPr/>
                    <a:lstStyle/>
                    <a:p>
                      <a:pPr algn="ctr" fontAlgn="ctr"/>
                      <a:r>
                        <a:rPr lang="en-CA" sz="900" b="0" i="0" u="none" strike="noStrike">
                          <a:solidFill>
                            <a:schemeClr val="tx2"/>
                          </a:solidFill>
                          <a:effectLst/>
                          <a:latin typeface="Calibri" panose="020F0502020204030204" pitchFamily="34" charset="0"/>
                        </a:rPr>
                        <a:t>ATMs</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2152314714"/>
                  </a:ext>
                </a:extLst>
              </a:tr>
              <a:tr h="221550">
                <a:tc vMerge="1">
                  <a:txBody>
                    <a:bodyPr/>
                    <a:lstStyle/>
                    <a:p>
                      <a:endParaRPr lang="en-CA"/>
                    </a:p>
                  </a:txBody>
                  <a:tcPr/>
                </a:tc>
                <a:tc>
                  <a:txBody>
                    <a:bodyPr/>
                    <a:lstStyle/>
                    <a:p>
                      <a:pPr algn="ctr" fontAlgn="ctr"/>
                      <a:r>
                        <a:rPr lang="en-CA" sz="900" b="0" i="0" u="none" strike="noStrike" dirty="0">
                          <a:solidFill>
                            <a:schemeClr val="tx2"/>
                          </a:solidFill>
                          <a:effectLst/>
                          <a:latin typeface="Calibri" panose="020F0502020204030204" pitchFamily="34" charset="0"/>
                        </a:rPr>
                        <a:t>Alternative Energy Generating Equipment</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478177113"/>
                  </a:ext>
                </a:extLst>
              </a:tr>
              <a:tr h="221550">
                <a:tc vMerge="1">
                  <a:txBody>
                    <a:bodyPr/>
                    <a:lstStyle/>
                    <a:p>
                      <a:endParaRPr lang="en-CA"/>
                    </a:p>
                  </a:txBody>
                  <a:tcPr/>
                </a:tc>
                <a:tc>
                  <a:txBody>
                    <a:bodyPr/>
                    <a:lstStyle/>
                    <a:p>
                      <a:pPr algn="ctr" fontAlgn="ctr"/>
                      <a:r>
                        <a:rPr lang="en-CA" sz="900" b="0" i="0" u="none" strike="noStrike" dirty="0">
                          <a:solidFill>
                            <a:schemeClr val="tx2"/>
                          </a:solidFill>
                          <a:effectLst/>
                          <a:latin typeface="Calibri" panose="020F0502020204030204" pitchFamily="34" charset="0"/>
                        </a:rPr>
                        <a:t>Cash Registers/POS Systems</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1891513537"/>
                  </a:ext>
                </a:extLst>
              </a:tr>
              <a:tr h="221550">
                <a:tc vMerge="1">
                  <a:txBody>
                    <a:bodyPr/>
                    <a:lstStyle/>
                    <a:p>
                      <a:endParaRPr lang="en-CA"/>
                    </a:p>
                  </a:txBody>
                  <a:tcPr/>
                </a:tc>
                <a:tc>
                  <a:txBody>
                    <a:bodyPr/>
                    <a:lstStyle/>
                    <a:p>
                      <a:pPr algn="ctr" fontAlgn="ctr"/>
                      <a:r>
                        <a:rPr lang="en-CA" sz="900" b="0" i="0" u="none" strike="noStrike" dirty="0">
                          <a:solidFill>
                            <a:schemeClr val="tx2"/>
                          </a:solidFill>
                          <a:effectLst/>
                          <a:latin typeface="Calibri" panose="020F0502020204030204" pitchFamily="34" charset="0"/>
                        </a:rPr>
                        <a:t>Commercial Cleaning Equipment</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278045446"/>
                  </a:ext>
                </a:extLst>
              </a:tr>
              <a:tr h="221550">
                <a:tc vMerge="1">
                  <a:txBody>
                    <a:bodyPr/>
                    <a:lstStyle/>
                    <a:p>
                      <a:endParaRPr lang="en-CA"/>
                    </a:p>
                  </a:txBody>
                  <a:tcPr/>
                </a:tc>
                <a:tc>
                  <a:txBody>
                    <a:bodyPr/>
                    <a:lstStyle/>
                    <a:p>
                      <a:pPr algn="ctr" fontAlgn="ctr"/>
                      <a:r>
                        <a:rPr lang="en-CA" sz="900" b="0" i="0" u="none" strike="noStrike" dirty="0">
                          <a:solidFill>
                            <a:schemeClr val="tx2"/>
                          </a:solidFill>
                          <a:effectLst/>
                          <a:latin typeface="Calibri" panose="020F0502020204030204" pitchFamily="34" charset="0"/>
                        </a:rPr>
                        <a:t>Funeral Home / Crematory Equipment</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3149818114"/>
                  </a:ext>
                </a:extLst>
              </a:tr>
              <a:tr h="221550">
                <a:tc vMerge="1">
                  <a:txBody>
                    <a:bodyPr/>
                    <a:lstStyle/>
                    <a:p>
                      <a:endParaRPr lang="en-CA"/>
                    </a:p>
                  </a:txBody>
                  <a:tcPr/>
                </a:tc>
                <a:tc>
                  <a:txBody>
                    <a:bodyPr/>
                    <a:lstStyle/>
                    <a:p>
                      <a:pPr algn="ctr" fontAlgn="ctr"/>
                      <a:r>
                        <a:rPr lang="en-CA" sz="900" b="0" i="0" u="none" strike="noStrike" dirty="0">
                          <a:solidFill>
                            <a:schemeClr val="tx2"/>
                          </a:solidFill>
                          <a:effectLst/>
                          <a:latin typeface="Calibri" panose="020F0502020204030204" pitchFamily="34" charset="0"/>
                        </a:rPr>
                        <a:t>Life Rafts</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044826352"/>
                  </a:ext>
                </a:extLst>
              </a:tr>
              <a:tr h="221550">
                <a:tc vMerge="1">
                  <a:txBody>
                    <a:bodyPr/>
                    <a:lstStyle/>
                    <a:p>
                      <a:endParaRPr lang="en-CA"/>
                    </a:p>
                  </a:txBody>
                  <a:tcPr/>
                </a:tc>
                <a:tc>
                  <a:txBody>
                    <a:bodyPr/>
                    <a:lstStyle/>
                    <a:p>
                      <a:pPr algn="ctr" fontAlgn="ctr"/>
                      <a:r>
                        <a:rPr lang="en-CA" sz="900" b="0" i="0" u="none" strike="noStrike">
                          <a:solidFill>
                            <a:schemeClr val="tx2"/>
                          </a:solidFill>
                          <a:effectLst/>
                          <a:latin typeface="Calibri" panose="020F0502020204030204" pitchFamily="34" charset="0"/>
                        </a:rPr>
                        <a:t>Parking Lot Equipment</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1787261421"/>
                  </a:ext>
                </a:extLst>
              </a:tr>
              <a:tr h="221550">
                <a:tc vMerge="1">
                  <a:txBody>
                    <a:bodyPr/>
                    <a:lstStyle/>
                    <a:p>
                      <a:endParaRPr lang="en-CA"/>
                    </a:p>
                  </a:txBody>
                  <a:tcPr/>
                </a:tc>
                <a:tc>
                  <a:txBody>
                    <a:bodyPr/>
                    <a:lstStyle/>
                    <a:p>
                      <a:pPr algn="ctr" fontAlgn="ctr"/>
                      <a:r>
                        <a:rPr lang="en-CA" sz="900" b="0" i="0" u="none" strike="noStrike" dirty="0">
                          <a:solidFill>
                            <a:schemeClr val="tx2"/>
                          </a:solidFill>
                          <a:effectLst/>
                          <a:latin typeface="Calibri" panose="020F0502020204030204" pitchFamily="34" charset="0"/>
                        </a:rPr>
                        <a:t>Pressure Washer Cleaning Equipment</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055306358"/>
                  </a:ext>
                </a:extLst>
              </a:tr>
              <a:tr h="221550">
                <a:tc vMerge="1">
                  <a:txBody>
                    <a:bodyPr/>
                    <a:lstStyle/>
                    <a:p>
                      <a:endParaRPr lang="en-CA"/>
                    </a:p>
                  </a:txBody>
                  <a:tcPr/>
                </a:tc>
                <a:tc>
                  <a:txBody>
                    <a:bodyPr/>
                    <a:lstStyle/>
                    <a:p>
                      <a:pPr algn="ctr" fontAlgn="ctr"/>
                      <a:r>
                        <a:rPr lang="en-CA" sz="900" b="0" i="0" u="none" strike="noStrike">
                          <a:solidFill>
                            <a:schemeClr val="tx2"/>
                          </a:solidFill>
                          <a:effectLst/>
                          <a:latin typeface="Calibri" panose="020F0502020204030204" pitchFamily="34" charset="0"/>
                        </a:rPr>
                        <a:t>Refrigeration Equipment</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2144758033"/>
                  </a:ext>
                </a:extLst>
              </a:tr>
              <a:tr h="221550">
                <a:tc vMerge="1">
                  <a:txBody>
                    <a:bodyPr/>
                    <a:lstStyle/>
                    <a:p>
                      <a:endParaRPr lang="en-CA"/>
                    </a:p>
                  </a:txBody>
                  <a:tcPr/>
                </a:tc>
                <a:tc>
                  <a:txBody>
                    <a:bodyPr/>
                    <a:lstStyle/>
                    <a:p>
                      <a:pPr algn="ctr" fontAlgn="ctr"/>
                      <a:r>
                        <a:rPr lang="en-CA" sz="900" b="0" i="0" u="none" strike="noStrike" dirty="0">
                          <a:solidFill>
                            <a:schemeClr val="tx2"/>
                          </a:solidFill>
                          <a:effectLst/>
                          <a:latin typeface="Calibri" panose="020F0502020204030204" pitchFamily="34" charset="0"/>
                        </a:rPr>
                        <a:t>Restaurant Equipment</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629891689"/>
                  </a:ext>
                </a:extLst>
              </a:tr>
              <a:tr h="221550">
                <a:tc vMerge="1">
                  <a:txBody>
                    <a:bodyPr/>
                    <a:lstStyle/>
                    <a:p>
                      <a:endParaRPr lang="en-CA"/>
                    </a:p>
                  </a:txBody>
                  <a:tcPr/>
                </a:tc>
                <a:tc>
                  <a:txBody>
                    <a:bodyPr/>
                    <a:lstStyle/>
                    <a:p>
                      <a:pPr algn="ctr" fontAlgn="ctr"/>
                      <a:r>
                        <a:rPr lang="en-CA" sz="900" b="0" i="0" u="none" strike="noStrike" dirty="0">
                          <a:solidFill>
                            <a:schemeClr val="tx2"/>
                          </a:solidFill>
                          <a:effectLst/>
                          <a:latin typeface="Calibri" panose="020F0502020204030204" pitchFamily="34" charset="0"/>
                        </a:rPr>
                        <a:t>Security Systems - Corporate &amp; Commercial</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2411559062"/>
                  </a:ext>
                </a:extLst>
              </a:tr>
              <a:tr h="221550">
                <a:tc vMerge="1">
                  <a:txBody>
                    <a:bodyPr/>
                    <a:lstStyle/>
                    <a:p>
                      <a:endParaRPr lang="en-CA"/>
                    </a:p>
                  </a:txBody>
                  <a:tcPr/>
                </a:tc>
                <a:tc>
                  <a:txBody>
                    <a:bodyPr/>
                    <a:lstStyle/>
                    <a:p>
                      <a:pPr algn="ctr" fontAlgn="ctr"/>
                      <a:r>
                        <a:rPr lang="en-US" sz="900" b="0" i="0" u="none" strike="noStrike" dirty="0">
                          <a:solidFill>
                            <a:schemeClr val="tx2"/>
                          </a:solidFill>
                          <a:effectLst/>
                          <a:latin typeface="Calibri" panose="020F0502020204030204" pitchFamily="34" charset="0"/>
                        </a:rPr>
                        <a:t>Security Systems - Retail Stores, Gas Stations, Convenience Stores</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1987701468"/>
                  </a:ext>
                </a:extLst>
              </a:tr>
              <a:tr h="221550">
                <a:tc vMerge="1">
                  <a:txBody>
                    <a:bodyPr/>
                    <a:lstStyle/>
                    <a:p>
                      <a:endParaRPr lang="en-CA"/>
                    </a:p>
                  </a:txBody>
                  <a:tcPr/>
                </a:tc>
                <a:tc>
                  <a:txBody>
                    <a:bodyPr/>
                    <a:lstStyle/>
                    <a:p>
                      <a:pPr algn="ctr" fontAlgn="ctr"/>
                      <a:r>
                        <a:rPr lang="en-CA" sz="900" b="0" i="0" u="none" strike="noStrike" dirty="0">
                          <a:solidFill>
                            <a:schemeClr val="tx2"/>
                          </a:solidFill>
                          <a:effectLst/>
                          <a:latin typeface="Calibri" panose="020F0502020204030204" pitchFamily="34" charset="0"/>
                        </a:rPr>
                        <a:t>Shelving/Racking</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2239240429"/>
                  </a:ext>
                </a:extLst>
              </a:tr>
              <a:tr h="221550">
                <a:tc vMerge="1">
                  <a:txBody>
                    <a:bodyPr/>
                    <a:lstStyle/>
                    <a:p>
                      <a:endParaRPr lang="en-CA"/>
                    </a:p>
                  </a:txBody>
                  <a:tcPr/>
                </a:tc>
                <a:tc>
                  <a:txBody>
                    <a:bodyPr/>
                    <a:lstStyle/>
                    <a:p>
                      <a:pPr algn="ctr" fontAlgn="ctr"/>
                      <a:r>
                        <a:rPr lang="en-CA" sz="900" b="0" i="0" u="none" strike="noStrike" dirty="0">
                          <a:solidFill>
                            <a:schemeClr val="tx2"/>
                          </a:solidFill>
                          <a:effectLst/>
                          <a:latin typeface="Calibri" panose="020F0502020204030204" pitchFamily="34" charset="0"/>
                        </a:rPr>
                        <a:t>Signage</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1973500692"/>
                  </a:ext>
                </a:extLst>
              </a:tr>
              <a:tr h="221550">
                <a:tc vMerge="1">
                  <a:txBody>
                    <a:bodyPr/>
                    <a:lstStyle/>
                    <a:p>
                      <a:endParaRPr lang="en-CA"/>
                    </a:p>
                  </a:txBody>
                  <a:tcPr/>
                </a:tc>
                <a:tc>
                  <a:txBody>
                    <a:bodyPr/>
                    <a:lstStyle/>
                    <a:p>
                      <a:pPr algn="ctr" fontAlgn="ctr"/>
                      <a:r>
                        <a:rPr lang="en-CA" sz="900" b="0" i="0" u="none" strike="noStrike" dirty="0">
                          <a:solidFill>
                            <a:schemeClr val="tx2"/>
                          </a:solidFill>
                          <a:effectLst/>
                          <a:latin typeface="Calibri" panose="020F0502020204030204" pitchFamily="34" charset="0"/>
                        </a:rPr>
                        <a:t>Sports Equipment</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283859020"/>
                  </a:ext>
                </a:extLst>
              </a:tr>
              <a:tr h="232627">
                <a:tc vMerge="1">
                  <a:txBody>
                    <a:bodyPr/>
                    <a:lstStyle/>
                    <a:p>
                      <a:endParaRPr lang="en-CA"/>
                    </a:p>
                  </a:txBody>
                  <a:tcPr/>
                </a:tc>
                <a:tc>
                  <a:txBody>
                    <a:bodyPr/>
                    <a:lstStyle/>
                    <a:p>
                      <a:pPr algn="ctr" fontAlgn="ctr"/>
                      <a:r>
                        <a:rPr lang="en-CA" sz="900" b="0" i="0" u="none" strike="noStrike" dirty="0">
                          <a:solidFill>
                            <a:schemeClr val="tx2"/>
                          </a:solidFill>
                          <a:effectLst/>
                          <a:latin typeface="Calibri" panose="020F0502020204030204" pitchFamily="34" charset="0"/>
                        </a:rPr>
                        <a:t>Vending Machines</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w="12700" cap="flat" cmpd="sng" algn="ctr">
                      <a:solidFill>
                        <a:srgbClr val="0097A9"/>
                      </a:solidFill>
                      <a:prstDash val="solid"/>
                      <a:round/>
                      <a:headEnd type="none" w="med" len="med"/>
                      <a:tailEnd type="none" w="med" len="med"/>
                    </a:lnB>
                  </a:tcPr>
                </a:tc>
                <a:extLst>
                  <a:ext uri="{0D108BD9-81ED-4DB2-BD59-A6C34878D82A}">
                    <a16:rowId xmlns:a16="http://schemas.microsoft.com/office/drawing/2014/main" val="2595000070"/>
                  </a:ext>
                </a:extLst>
              </a:tr>
            </a:tbl>
          </a:graphicData>
        </a:graphic>
      </p:graphicFrame>
    </p:spTree>
    <p:extLst>
      <p:ext uri="{BB962C8B-B14F-4D97-AF65-F5344CB8AC3E}">
        <p14:creationId xmlns:p14="http://schemas.microsoft.com/office/powerpoint/2010/main" val="26426916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399" y="265912"/>
            <a:ext cx="8280401" cy="397483"/>
          </a:xfrm>
        </p:spPr>
        <p:txBody>
          <a:bodyPr/>
          <a:lstStyle/>
          <a:p>
            <a:r>
              <a:rPr lang="en-US" sz="2800" dirty="0" smtClean="0"/>
              <a:t>Example: Scoring Customers using SBE2 </a:t>
            </a:r>
            <a:r>
              <a:rPr lang="en-US" sz="2800" dirty="0" err="1" smtClean="0"/>
              <a:t>PayNet</a:t>
            </a:r>
            <a:r>
              <a:rPr lang="en-US" sz="2800" dirty="0" smtClean="0"/>
              <a:t> Model</a:t>
            </a:r>
            <a:endParaRPr lang="en-CA" sz="2800" dirty="0"/>
          </a:p>
        </p:txBody>
      </p:sp>
      <p:graphicFrame>
        <p:nvGraphicFramePr>
          <p:cNvPr id="8" name="Table 7"/>
          <p:cNvGraphicFramePr>
            <a:graphicFrameLocks noGrp="1"/>
          </p:cNvGraphicFramePr>
          <p:nvPr>
            <p:extLst>
              <p:ext uri="{D42A27DB-BD31-4B8C-83A1-F6EECF244321}">
                <p14:modId xmlns:p14="http://schemas.microsoft.com/office/powerpoint/2010/main" val="4036961358"/>
              </p:ext>
            </p:extLst>
          </p:nvPr>
        </p:nvGraphicFramePr>
        <p:xfrm>
          <a:off x="406399" y="882869"/>
          <a:ext cx="8280402" cy="3864111"/>
        </p:xfrm>
        <a:graphic>
          <a:graphicData uri="http://schemas.openxmlformats.org/drawingml/2006/table">
            <a:tbl>
              <a:tblPr firstRow="1" bandRow="1">
                <a:tableStyleId>{B301B821-A1FF-4177-AEE7-76D212191A09}</a:tableStyleId>
              </a:tblPr>
              <a:tblGrid>
                <a:gridCol w="636954">
                  <a:extLst>
                    <a:ext uri="{9D8B030D-6E8A-4147-A177-3AD203B41FA5}">
                      <a16:colId xmlns:a16="http://schemas.microsoft.com/office/drawing/2014/main" val="371269701"/>
                    </a:ext>
                  </a:extLst>
                </a:gridCol>
                <a:gridCol w="636954">
                  <a:extLst>
                    <a:ext uri="{9D8B030D-6E8A-4147-A177-3AD203B41FA5}">
                      <a16:colId xmlns:a16="http://schemas.microsoft.com/office/drawing/2014/main" val="3482679052"/>
                    </a:ext>
                  </a:extLst>
                </a:gridCol>
                <a:gridCol w="636954">
                  <a:extLst>
                    <a:ext uri="{9D8B030D-6E8A-4147-A177-3AD203B41FA5}">
                      <a16:colId xmlns:a16="http://schemas.microsoft.com/office/drawing/2014/main" val="1750878288"/>
                    </a:ext>
                  </a:extLst>
                </a:gridCol>
                <a:gridCol w="636954">
                  <a:extLst>
                    <a:ext uri="{9D8B030D-6E8A-4147-A177-3AD203B41FA5}">
                      <a16:colId xmlns:a16="http://schemas.microsoft.com/office/drawing/2014/main" val="519424496"/>
                    </a:ext>
                  </a:extLst>
                </a:gridCol>
                <a:gridCol w="636954">
                  <a:extLst>
                    <a:ext uri="{9D8B030D-6E8A-4147-A177-3AD203B41FA5}">
                      <a16:colId xmlns:a16="http://schemas.microsoft.com/office/drawing/2014/main" val="2673156117"/>
                    </a:ext>
                  </a:extLst>
                </a:gridCol>
                <a:gridCol w="636954">
                  <a:extLst>
                    <a:ext uri="{9D8B030D-6E8A-4147-A177-3AD203B41FA5}">
                      <a16:colId xmlns:a16="http://schemas.microsoft.com/office/drawing/2014/main" val="3960946535"/>
                    </a:ext>
                  </a:extLst>
                </a:gridCol>
                <a:gridCol w="636954">
                  <a:extLst>
                    <a:ext uri="{9D8B030D-6E8A-4147-A177-3AD203B41FA5}">
                      <a16:colId xmlns:a16="http://schemas.microsoft.com/office/drawing/2014/main" val="784505970"/>
                    </a:ext>
                  </a:extLst>
                </a:gridCol>
                <a:gridCol w="636954">
                  <a:extLst>
                    <a:ext uri="{9D8B030D-6E8A-4147-A177-3AD203B41FA5}">
                      <a16:colId xmlns:a16="http://schemas.microsoft.com/office/drawing/2014/main" val="1172871085"/>
                    </a:ext>
                  </a:extLst>
                </a:gridCol>
                <a:gridCol w="636954">
                  <a:extLst>
                    <a:ext uri="{9D8B030D-6E8A-4147-A177-3AD203B41FA5}">
                      <a16:colId xmlns:a16="http://schemas.microsoft.com/office/drawing/2014/main" val="2441436367"/>
                    </a:ext>
                  </a:extLst>
                </a:gridCol>
                <a:gridCol w="636954">
                  <a:extLst>
                    <a:ext uri="{9D8B030D-6E8A-4147-A177-3AD203B41FA5}">
                      <a16:colId xmlns:a16="http://schemas.microsoft.com/office/drawing/2014/main" val="3754768512"/>
                    </a:ext>
                  </a:extLst>
                </a:gridCol>
                <a:gridCol w="636954">
                  <a:extLst>
                    <a:ext uri="{9D8B030D-6E8A-4147-A177-3AD203B41FA5}">
                      <a16:colId xmlns:a16="http://schemas.microsoft.com/office/drawing/2014/main" val="2157045135"/>
                    </a:ext>
                  </a:extLst>
                </a:gridCol>
                <a:gridCol w="636954">
                  <a:extLst>
                    <a:ext uri="{9D8B030D-6E8A-4147-A177-3AD203B41FA5}">
                      <a16:colId xmlns:a16="http://schemas.microsoft.com/office/drawing/2014/main" val="3008037979"/>
                    </a:ext>
                  </a:extLst>
                </a:gridCol>
                <a:gridCol w="636954">
                  <a:extLst>
                    <a:ext uri="{9D8B030D-6E8A-4147-A177-3AD203B41FA5}">
                      <a16:colId xmlns:a16="http://schemas.microsoft.com/office/drawing/2014/main" val="2158073052"/>
                    </a:ext>
                  </a:extLst>
                </a:gridCol>
              </a:tblGrid>
              <a:tr h="751700">
                <a:tc>
                  <a:txBody>
                    <a:bodyPr/>
                    <a:lstStyle/>
                    <a:p>
                      <a:pPr algn="ctr" fontAlgn="ctr"/>
                      <a:r>
                        <a:rPr lang="en-CA" sz="800" u="none" strike="noStrike">
                          <a:effectLst/>
                        </a:rPr>
                        <a:t>Name</a:t>
                      </a:r>
                      <a:endParaRPr lang="en-CA" sz="800" b="1" i="0" u="none" strike="noStrike">
                        <a:solidFill>
                          <a:srgbClr val="FFFFFF"/>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effectLst/>
                        </a:rPr>
                        <a:t>Master Score</a:t>
                      </a:r>
                      <a:endParaRPr lang="en-CA" sz="800" b="1" i="0" u="none" strike="noStrike" dirty="0">
                        <a:solidFill>
                          <a:srgbClr val="FFFFFF"/>
                        </a:solidFill>
                        <a:effectLst/>
                        <a:latin typeface="Calibri" panose="020F0502020204030204" pitchFamily="34" charset="0"/>
                      </a:endParaRPr>
                    </a:p>
                  </a:txBody>
                  <a:tcPr marL="3871" marR="3871" marT="3871" marB="0" anchor="ctr"/>
                </a:tc>
                <a:tc>
                  <a:txBody>
                    <a:bodyPr/>
                    <a:lstStyle/>
                    <a:p>
                      <a:pPr algn="ctr" fontAlgn="ctr"/>
                      <a:r>
                        <a:rPr lang="en-US" sz="800" u="none" strike="noStrike" dirty="0">
                          <a:effectLst/>
                        </a:rPr>
                        <a:t>Outstanding Balance-weighted Average Days Past Due for the Last 24 Months</a:t>
                      </a:r>
                      <a:endParaRPr lang="en-US" sz="800" b="1" i="0" u="none" strike="noStrike" dirty="0">
                        <a:solidFill>
                          <a:srgbClr val="FFFFFF"/>
                        </a:solidFill>
                        <a:effectLst/>
                        <a:latin typeface="Calibri" panose="020F0502020204030204" pitchFamily="34" charset="0"/>
                      </a:endParaRPr>
                    </a:p>
                  </a:txBody>
                  <a:tcPr marL="3871" marR="3871" marT="3871" marB="0" anchor="ctr"/>
                </a:tc>
                <a:tc>
                  <a:txBody>
                    <a:bodyPr/>
                    <a:lstStyle/>
                    <a:p>
                      <a:pPr algn="ctr" fontAlgn="ctr"/>
                      <a:r>
                        <a:rPr lang="en-US" sz="800" u="none" strike="noStrike">
                          <a:effectLst/>
                        </a:rPr>
                        <a:t>Percent of Current Delinquent Amount</a:t>
                      </a:r>
                      <a:endParaRPr lang="en-US" sz="800" b="1" i="0" u="none" strike="noStrike">
                        <a:solidFill>
                          <a:srgbClr val="FFFFFF"/>
                        </a:solidFill>
                        <a:effectLst/>
                        <a:latin typeface="Calibri" panose="020F0502020204030204" pitchFamily="34" charset="0"/>
                      </a:endParaRPr>
                    </a:p>
                  </a:txBody>
                  <a:tcPr marL="3871" marR="3871" marT="3871" marB="0" anchor="ctr"/>
                </a:tc>
                <a:tc>
                  <a:txBody>
                    <a:bodyPr/>
                    <a:lstStyle/>
                    <a:p>
                      <a:pPr algn="ctr" fontAlgn="ctr"/>
                      <a:r>
                        <a:rPr lang="en-US" sz="800" u="none" strike="noStrike">
                          <a:effectLst/>
                        </a:rPr>
                        <a:t>Maximum Delinquency over the Past 12 Months</a:t>
                      </a:r>
                      <a:endParaRPr lang="en-US" sz="800" b="1" i="0" u="none" strike="noStrike">
                        <a:solidFill>
                          <a:srgbClr val="FFFFFF"/>
                        </a:solidFill>
                        <a:effectLst/>
                        <a:latin typeface="Calibri" panose="020F0502020204030204" pitchFamily="34" charset="0"/>
                      </a:endParaRPr>
                    </a:p>
                  </a:txBody>
                  <a:tcPr marL="3871" marR="3871" marT="3871" marB="0" anchor="ctr"/>
                </a:tc>
                <a:tc>
                  <a:txBody>
                    <a:bodyPr/>
                    <a:lstStyle/>
                    <a:p>
                      <a:pPr algn="ctr" fontAlgn="ctr"/>
                      <a:r>
                        <a:rPr lang="en-CA" sz="800" u="none" strike="noStrike">
                          <a:effectLst/>
                        </a:rPr>
                        <a:t>NAICS2</a:t>
                      </a:r>
                      <a:endParaRPr lang="en-CA" sz="800" b="1" i="0" u="none" strike="noStrike">
                        <a:solidFill>
                          <a:srgbClr val="FFFFFF"/>
                        </a:solidFill>
                        <a:effectLst/>
                        <a:latin typeface="Calibri" panose="020F0502020204030204" pitchFamily="34" charset="0"/>
                      </a:endParaRPr>
                    </a:p>
                  </a:txBody>
                  <a:tcPr marL="3871" marR="3871" marT="3871" marB="0" anchor="ctr"/>
                </a:tc>
                <a:tc>
                  <a:txBody>
                    <a:bodyPr/>
                    <a:lstStyle/>
                    <a:p>
                      <a:pPr algn="ctr" fontAlgn="ctr"/>
                      <a:r>
                        <a:rPr lang="en-CA" sz="800" u="none" strike="noStrike">
                          <a:effectLst/>
                        </a:rPr>
                        <a:t>Doctor Flag</a:t>
                      </a:r>
                      <a:endParaRPr lang="en-CA" sz="800" b="1" i="0" u="none" strike="noStrike">
                        <a:solidFill>
                          <a:srgbClr val="FFFFFF"/>
                        </a:solidFill>
                        <a:effectLst/>
                        <a:latin typeface="Calibri" panose="020F0502020204030204" pitchFamily="34" charset="0"/>
                      </a:endParaRPr>
                    </a:p>
                  </a:txBody>
                  <a:tcPr marL="3871" marR="3871" marT="3871" marB="0" anchor="ctr"/>
                </a:tc>
                <a:tc>
                  <a:txBody>
                    <a:bodyPr/>
                    <a:lstStyle/>
                    <a:p>
                      <a:pPr algn="ctr" fontAlgn="ctr"/>
                      <a:r>
                        <a:rPr lang="en-CA" sz="800" u="none" strike="noStrike">
                          <a:effectLst/>
                        </a:rPr>
                        <a:t>Number of Open Obligations</a:t>
                      </a:r>
                      <a:endParaRPr lang="en-CA" sz="800" b="1" i="0" u="none" strike="noStrike">
                        <a:solidFill>
                          <a:srgbClr val="FFFFFF"/>
                        </a:solidFill>
                        <a:effectLst/>
                        <a:latin typeface="Calibri" panose="020F0502020204030204" pitchFamily="34" charset="0"/>
                      </a:endParaRPr>
                    </a:p>
                  </a:txBody>
                  <a:tcPr marL="3871" marR="3871" marT="3871" marB="0" anchor="ctr"/>
                </a:tc>
                <a:tc>
                  <a:txBody>
                    <a:bodyPr/>
                    <a:lstStyle/>
                    <a:p>
                      <a:pPr algn="ctr" fontAlgn="ctr"/>
                      <a:r>
                        <a:rPr lang="en-CA" sz="800" u="none" strike="noStrike">
                          <a:effectLst/>
                        </a:rPr>
                        <a:t>Province</a:t>
                      </a:r>
                      <a:endParaRPr lang="en-CA" sz="800" b="1" i="0" u="none" strike="noStrike">
                        <a:solidFill>
                          <a:srgbClr val="FFFFFF"/>
                        </a:solidFill>
                        <a:effectLst/>
                        <a:latin typeface="Calibri" panose="020F0502020204030204" pitchFamily="34" charset="0"/>
                      </a:endParaRPr>
                    </a:p>
                  </a:txBody>
                  <a:tcPr marL="3871" marR="3871" marT="3871" marB="0" anchor="ctr"/>
                </a:tc>
                <a:tc>
                  <a:txBody>
                    <a:bodyPr/>
                    <a:lstStyle/>
                    <a:p>
                      <a:pPr algn="ctr" fontAlgn="ctr"/>
                      <a:r>
                        <a:rPr lang="en-CA" sz="800" u="none" strike="noStrike">
                          <a:effectLst/>
                        </a:rPr>
                        <a:t>Time in File</a:t>
                      </a:r>
                      <a:endParaRPr lang="en-CA" sz="800" b="1" i="0" u="none" strike="noStrike">
                        <a:solidFill>
                          <a:srgbClr val="FFFFFF"/>
                        </a:solidFill>
                        <a:effectLst/>
                        <a:latin typeface="Calibri" panose="020F0502020204030204" pitchFamily="34" charset="0"/>
                      </a:endParaRPr>
                    </a:p>
                  </a:txBody>
                  <a:tcPr marL="3871" marR="3871" marT="3871" marB="0" anchor="ctr"/>
                </a:tc>
                <a:tc>
                  <a:txBody>
                    <a:bodyPr/>
                    <a:lstStyle/>
                    <a:p>
                      <a:pPr algn="ctr" fontAlgn="ctr"/>
                      <a:r>
                        <a:rPr lang="en-CA" sz="800" u="none" strike="noStrike">
                          <a:effectLst/>
                        </a:rPr>
                        <a:t>Scorecard Points</a:t>
                      </a:r>
                      <a:endParaRPr lang="en-CA" sz="800" b="1" i="0" u="none" strike="noStrike">
                        <a:solidFill>
                          <a:srgbClr val="FFFFFF"/>
                        </a:solidFill>
                        <a:effectLst/>
                        <a:latin typeface="Calibri" panose="020F0502020204030204" pitchFamily="34" charset="0"/>
                      </a:endParaRPr>
                    </a:p>
                  </a:txBody>
                  <a:tcPr marL="3871" marR="3871" marT="3871" marB="0" anchor="ctr"/>
                </a:tc>
                <a:tc>
                  <a:txBody>
                    <a:bodyPr/>
                    <a:lstStyle/>
                    <a:p>
                      <a:pPr algn="ctr" fontAlgn="ctr"/>
                      <a:r>
                        <a:rPr lang="en-CA" sz="800" u="none" strike="noStrike">
                          <a:effectLst/>
                        </a:rPr>
                        <a:t>BRR</a:t>
                      </a:r>
                      <a:endParaRPr lang="en-CA" sz="800" b="1" i="0" u="none" strike="noStrike">
                        <a:solidFill>
                          <a:srgbClr val="FFFFFF"/>
                        </a:solidFill>
                        <a:effectLst/>
                        <a:latin typeface="Calibri" panose="020F0502020204030204" pitchFamily="34" charset="0"/>
                      </a:endParaRPr>
                    </a:p>
                  </a:txBody>
                  <a:tcPr marL="3871" marR="3871" marT="3871" marB="0" anchor="ctr"/>
                </a:tc>
                <a:tc>
                  <a:txBody>
                    <a:bodyPr/>
                    <a:lstStyle/>
                    <a:p>
                      <a:pPr algn="ctr" fontAlgn="ctr"/>
                      <a:r>
                        <a:rPr lang="en-CA" sz="800" u="none" strike="noStrike">
                          <a:effectLst/>
                        </a:rPr>
                        <a:t>PD</a:t>
                      </a:r>
                      <a:endParaRPr lang="en-CA" sz="800" b="1" i="0" u="none" strike="noStrike">
                        <a:solidFill>
                          <a:srgbClr val="FFFFFF"/>
                        </a:solidFill>
                        <a:effectLst/>
                        <a:latin typeface="Calibri" panose="020F0502020204030204" pitchFamily="34" charset="0"/>
                      </a:endParaRPr>
                    </a:p>
                  </a:txBody>
                  <a:tcPr marL="3871" marR="3871" marT="3871" marB="0" anchor="ctr"/>
                </a:tc>
                <a:extLst>
                  <a:ext uri="{0D108BD9-81ED-4DB2-BD59-A6C34878D82A}">
                    <a16:rowId xmlns:a16="http://schemas.microsoft.com/office/drawing/2014/main" val="3371923752"/>
                  </a:ext>
                </a:extLst>
              </a:tr>
              <a:tr h="751700">
                <a:tc>
                  <a:txBody>
                    <a:bodyPr/>
                    <a:lstStyle/>
                    <a:p>
                      <a:pPr algn="ctr" fontAlgn="ctr"/>
                      <a:r>
                        <a:rPr lang="en-CA" sz="800" u="none" strike="noStrike" dirty="0">
                          <a:solidFill>
                            <a:schemeClr val="tx2"/>
                          </a:solidFill>
                          <a:effectLst/>
                        </a:rPr>
                        <a:t>1643513 Alberta Corp.</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Missing</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Missing</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a:solidFill>
                            <a:schemeClr val="tx2"/>
                          </a:solidFill>
                          <a:effectLst/>
                        </a:rPr>
                        <a:t>0%</a:t>
                      </a:r>
                      <a:endParaRPr lang="en-CA" sz="800" b="0" i="0" u="none" strike="noStrike">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a:solidFill>
                            <a:schemeClr val="tx2"/>
                          </a:solidFill>
                          <a:effectLst/>
                        </a:rPr>
                        <a:t>0</a:t>
                      </a:r>
                      <a:endParaRPr lang="en-CA" sz="800" b="0" i="0" u="none" strike="noStrike">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54</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a:solidFill>
                            <a:schemeClr val="tx2"/>
                          </a:solidFill>
                          <a:effectLst/>
                        </a:rPr>
                        <a:t>0</a:t>
                      </a:r>
                      <a:endParaRPr lang="en-CA" sz="800" b="0" i="0" u="none" strike="noStrike">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2</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AB</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52</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624</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9 (6L)</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a:solidFill>
                            <a:schemeClr val="tx2"/>
                          </a:solidFill>
                          <a:effectLst/>
                        </a:rPr>
                        <a:t>1.00%</a:t>
                      </a:r>
                      <a:endParaRPr lang="en-CA" sz="800" b="0" i="0" u="none" strike="noStrike">
                        <a:solidFill>
                          <a:schemeClr val="tx2"/>
                        </a:solidFill>
                        <a:effectLst/>
                        <a:latin typeface="Calibri" panose="020F0502020204030204" pitchFamily="34" charset="0"/>
                      </a:endParaRPr>
                    </a:p>
                  </a:txBody>
                  <a:tcPr marL="3871" marR="3871" marT="3871" marB="0" anchor="ctr"/>
                </a:tc>
                <a:extLst>
                  <a:ext uri="{0D108BD9-81ED-4DB2-BD59-A6C34878D82A}">
                    <a16:rowId xmlns:a16="http://schemas.microsoft.com/office/drawing/2014/main" val="3611506138"/>
                  </a:ext>
                </a:extLst>
              </a:tr>
              <a:tr h="751700">
                <a:tc>
                  <a:txBody>
                    <a:bodyPr/>
                    <a:lstStyle/>
                    <a:p>
                      <a:pPr algn="ctr" fontAlgn="ctr"/>
                      <a:r>
                        <a:rPr lang="en-CA" sz="800" u="none" strike="noStrike">
                          <a:solidFill>
                            <a:schemeClr val="tx2"/>
                          </a:solidFill>
                          <a:effectLst/>
                        </a:rPr>
                        <a:t>Cerno Enterprises</a:t>
                      </a:r>
                      <a:endParaRPr lang="en-CA" sz="800" b="0" i="0" u="none" strike="noStrike">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a:solidFill>
                            <a:schemeClr val="tx2"/>
                          </a:solidFill>
                          <a:effectLst/>
                        </a:rPr>
                        <a:t>Missing</a:t>
                      </a:r>
                      <a:endParaRPr lang="en-CA" sz="800" b="0" i="0" u="none" strike="noStrike">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Missing</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0%</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0</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33</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a:solidFill>
                            <a:schemeClr val="tx2"/>
                          </a:solidFill>
                          <a:effectLst/>
                        </a:rPr>
                        <a:t>0</a:t>
                      </a:r>
                      <a:endParaRPr lang="en-CA" sz="800" b="0" i="0" u="none" strike="noStrike">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1</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AB</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0</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604</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a:solidFill>
                            <a:schemeClr val="tx2"/>
                          </a:solidFill>
                          <a:effectLst/>
                        </a:rPr>
                        <a:t>11 (7M)</a:t>
                      </a:r>
                      <a:endParaRPr lang="en-CA" sz="800" b="0" i="0" u="none" strike="noStrike">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a:solidFill>
                            <a:schemeClr val="tx2"/>
                          </a:solidFill>
                          <a:effectLst/>
                        </a:rPr>
                        <a:t>2.00%</a:t>
                      </a:r>
                      <a:endParaRPr lang="en-CA" sz="800" b="0" i="0" u="none" strike="noStrike">
                        <a:solidFill>
                          <a:schemeClr val="tx2"/>
                        </a:solidFill>
                        <a:effectLst/>
                        <a:latin typeface="Calibri" panose="020F0502020204030204" pitchFamily="34" charset="0"/>
                      </a:endParaRPr>
                    </a:p>
                  </a:txBody>
                  <a:tcPr marL="3871" marR="3871" marT="3871" marB="0" anchor="ctr"/>
                </a:tc>
                <a:extLst>
                  <a:ext uri="{0D108BD9-81ED-4DB2-BD59-A6C34878D82A}">
                    <a16:rowId xmlns:a16="http://schemas.microsoft.com/office/drawing/2014/main" val="3028134649"/>
                  </a:ext>
                </a:extLst>
              </a:tr>
              <a:tr h="751700">
                <a:tc>
                  <a:txBody>
                    <a:bodyPr/>
                    <a:lstStyle/>
                    <a:p>
                      <a:pPr algn="ctr" fontAlgn="ctr"/>
                      <a:r>
                        <a:rPr lang="en-CA" sz="800" u="none" strike="noStrike">
                          <a:solidFill>
                            <a:schemeClr val="tx2"/>
                          </a:solidFill>
                          <a:effectLst/>
                        </a:rPr>
                        <a:t>Hurst Automotive Ltd.</a:t>
                      </a:r>
                      <a:endParaRPr lang="en-CA" sz="800" b="0" i="0" u="none" strike="noStrike">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a:solidFill>
                            <a:schemeClr val="tx2"/>
                          </a:solidFill>
                          <a:effectLst/>
                        </a:rPr>
                        <a:t>Missing</a:t>
                      </a:r>
                      <a:endParaRPr lang="en-CA" sz="800" b="0" i="0" u="none" strike="noStrike">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Missing</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0%</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a:solidFill>
                            <a:schemeClr val="tx2"/>
                          </a:solidFill>
                          <a:effectLst/>
                        </a:rPr>
                        <a:t>0</a:t>
                      </a:r>
                      <a:endParaRPr lang="en-CA" sz="800" b="0" i="0" u="none" strike="noStrike">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81</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0</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0</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AB</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119</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a:solidFill>
                            <a:schemeClr val="tx2"/>
                          </a:solidFill>
                          <a:effectLst/>
                        </a:rPr>
                        <a:t>614</a:t>
                      </a:r>
                      <a:endParaRPr lang="en-CA" sz="800" b="0" i="0" u="none" strike="noStrike">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10 (7H)</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a:solidFill>
                            <a:schemeClr val="tx2"/>
                          </a:solidFill>
                          <a:effectLst/>
                        </a:rPr>
                        <a:t>1.40%</a:t>
                      </a:r>
                      <a:endParaRPr lang="en-CA" sz="800" b="0" i="0" u="none" strike="noStrike">
                        <a:solidFill>
                          <a:schemeClr val="tx2"/>
                        </a:solidFill>
                        <a:effectLst/>
                        <a:latin typeface="Calibri" panose="020F0502020204030204" pitchFamily="34" charset="0"/>
                      </a:endParaRPr>
                    </a:p>
                  </a:txBody>
                  <a:tcPr marL="3871" marR="3871" marT="3871" marB="0" anchor="ctr"/>
                </a:tc>
                <a:extLst>
                  <a:ext uri="{0D108BD9-81ED-4DB2-BD59-A6C34878D82A}">
                    <a16:rowId xmlns:a16="http://schemas.microsoft.com/office/drawing/2014/main" val="2925421340"/>
                  </a:ext>
                </a:extLst>
              </a:tr>
              <a:tr h="751700">
                <a:tc>
                  <a:txBody>
                    <a:bodyPr/>
                    <a:lstStyle/>
                    <a:p>
                      <a:pPr algn="ctr" fontAlgn="ctr"/>
                      <a:r>
                        <a:rPr lang="en-CA" sz="800" u="none" strike="noStrike">
                          <a:solidFill>
                            <a:schemeClr val="tx2"/>
                          </a:solidFill>
                          <a:effectLst/>
                        </a:rPr>
                        <a:t>T3 Pump Technology Inc.</a:t>
                      </a:r>
                      <a:endParaRPr lang="en-CA" sz="800" b="0" i="0" u="none" strike="noStrike">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Missing</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Missing</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a:solidFill>
                            <a:schemeClr val="tx2"/>
                          </a:solidFill>
                          <a:effectLst/>
                        </a:rPr>
                        <a:t>0%</a:t>
                      </a:r>
                      <a:endParaRPr lang="en-CA" sz="800" b="0" i="0" u="none" strike="noStrike">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0</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33</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a:solidFill>
                            <a:schemeClr val="tx2"/>
                          </a:solidFill>
                          <a:effectLst/>
                        </a:rPr>
                        <a:t>0</a:t>
                      </a:r>
                      <a:endParaRPr lang="en-CA" sz="800" b="0" i="0" u="none" strike="noStrike">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0</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AB</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101</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603</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11 (7M)</a:t>
                      </a:r>
                      <a:endParaRPr lang="en-CA" sz="800" b="0" i="0" u="none" strike="noStrike" dirty="0">
                        <a:solidFill>
                          <a:schemeClr val="tx2"/>
                        </a:solidFill>
                        <a:effectLst/>
                        <a:latin typeface="Calibri" panose="020F0502020204030204" pitchFamily="34" charset="0"/>
                      </a:endParaRPr>
                    </a:p>
                  </a:txBody>
                  <a:tcPr marL="3871" marR="3871" marT="3871" marB="0" anchor="ctr"/>
                </a:tc>
                <a:tc>
                  <a:txBody>
                    <a:bodyPr/>
                    <a:lstStyle/>
                    <a:p>
                      <a:pPr algn="ctr" fontAlgn="ctr"/>
                      <a:r>
                        <a:rPr lang="en-CA" sz="800" u="none" strike="noStrike" dirty="0">
                          <a:solidFill>
                            <a:schemeClr val="tx2"/>
                          </a:solidFill>
                          <a:effectLst/>
                        </a:rPr>
                        <a:t>2.00%</a:t>
                      </a:r>
                      <a:endParaRPr lang="en-CA" sz="800" b="0" i="0" u="none" strike="noStrike" dirty="0">
                        <a:solidFill>
                          <a:schemeClr val="tx2"/>
                        </a:solidFill>
                        <a:effectLst/>
                        <a:latin typeface="Calibri" panose="020F0502020204030204" pitchFamily="34" charset="0"/>
                      </a:endParaRPr>
                    </a:p>
                  </a:txBody>
                  <a:tcPr marL="3871" marR="3871" marT="3871" marB="0" anchor="ctr"/>
                </a:tc>
                <a:extLst>
                  <a:ext uri="{0D108BD9-81ED-4DB2-BD59-A6C34878D82A}">
                    <a16:rowId xmlns:a16="http://schemas.microsoft.com/office/drawing/2014/main" val="399007766"/>
                  </a:ext>
                </a:extLst>
              </a:tr>
            </a:tbl>
          </a:graphicData>
        </a:graphic>
      </p:graphicFrame>
    </p:spTree>
    <p:extLst>
      <p:ext uri="{BB962C8B-B14F-4D97-AF65-F5344CB8AC3E}">
        <p14:creationId xmlns:p14="http://schemas.microsoft.com/office/powerpoint/2010/main" val="7048828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315313" y="386060"/>
            <a:ext cx="8280401" cy="397483"/>
          </a:xfrm>
        </p:spPr>
        <p:txBody>
          <a:bodyPr/>
          <a:lstStyle/>
          <a:p>
            <a:r>
              <a:rPr lang="en-US" sz="3000" dirty="0" smtClean="0"/>
              <a:t>CWB PD Master Scale</a:t>
            </a:r>
            <a:endParaRPr lang="en-CA" sz="3000" dirty="0"/>
          </a:p>
        </p:txBody>
      </p:sp>
      <p:graphicFrame>
        <p:nvGraphicFramePr>
          <p:cNvPr id="8" name="Table 7"/>
          <p:cNvGraphicFramePr>
            <a:graphicFrameLocks noGrp="1"/>
          </p:cNvGraphicFramePr>
          <p:nvPr>
            <p:extLst/>
          </p:nvPr>
        </p:nvGraphicFramePr>
        <p:xfrm>
          <a:off x="1544070" y="847598"/>
          <a:ext cx="5822885" cy="3855605"/>
        </p:xfrm>
        <a:graphic>
          <a:graphicData uri="http://schemas.openxmlformats.org/drawingml/2006/table">
            <a:tbl>
              <a:tblPr firstRow="1" bandRow="1">
                <a:tableStyleId>{B301B821-A1FF-4177-AEE7-76D212191A09}</a:tableStyleId>
              </a:tblPr>
              <a:tblGrid>
                <a:gridCol w="598007">
                  <a:extLst>
                    <a:ext uri="{9D8B030D-6E8A-4147-A177-3AD203B41FA5}">
                      <a16:colId xmlns:a16="http://schemas.microsoft.com/office/drawing/2014/main" val="976676975"/>
                    </a:ext>
                  </a:extLst>
                </a:gridCol>
                <a:gridCol w="602960">
                  <a:extLst>
                    <a:ext uri="{9D8B030D-6E8A-4147-A177-3AD203B41FA5}">
                      <a16:colId xmlns:a16="http://schemas.microsoft.com/office/drawing/2014/main" val="3089833359"/>
                    </a:ext>
                  </a:extLst>
                </a:gridCol>
                <a:gridCol w="512743">
                  <a:extLst>
                    <a:ext uri="{9D8B030D-6E8A-4147-A177-3AD203B41FA5}">
                      <a16:colId xmlns:a16="http://schemas.microsoft.com/office/drawing/2014/main" val="3890346065"/>
                    </a:ext>
                  </a:extLst>
                </a:gridCol>
                <a:gridCol w="484488">
                  <a:extLst>
                    <a:ext uri="{9D8B030D-6E8A-4147-A177-3AD203B41FA5}">
                      <a16:colId xmlns:a16="http://schemas.microsoft.com/office/drawing/2014/main" val="216206275"/>
                    </a:ext>
                  </a:extLst>
                </a:gridCol>
                <a:gridCol w="735704">
                  <a:extLst>
                    <a:ext uri="{9D8B030D-6E8A-4147-A177-3AD203B41FA5}">
                      <a16:colId xmlns:a16="http://schemas.microsoft.com/office/drawing/2014/main" val="2540051438"/>
                    </a:ext>
                  </a:extLst>
                </a:gridCol>
                <a:gridCol w="654956">
                  <a:extLst>
                    <a:ext uri="{9D8B030D-6E8A-4147-A177-3AD203B41FA5}">
                      <a16:colId xmlns:a16="http://schemas.microsoft.com/office/drawing/2014/main" val="3772930496"/>
                    </a:ext>
                  </a:extLst>
                </a:gridCol>
                <a:gridCol w="601124">
                  <a:extLst>
                    <a:ext uri="{9D8B030D-6E8A-4147-A177-3AD203B41FA5}">
                      <a16:colId xmlns:a16="http://schemas.microsoft.com/office/drawing/2014/main" val="3062903697"/>
                    </a:ext>
                  </a:extLst>
                </a:gridCol>
                <a:gridCol w="502431">
                  <a:extLst>
                    <a:ext uri="{9D8B030D-6E8A-4147-A177-3AD203B41FA5}">
                      <a16:colId xmlns:a16="http://schemas.microsoft.com/office/drawing/2014/main" val="3464167178"/>
                    </a:ext>
                  </a:extLst>
                </a:gridCol>
                <a:gridCol w="610096">
                  <a:extLst>
                    <a:ext uri="{9D8B030D-6E8A-4147-A177-3AD203B41FA5}">
                      <a16:colId xmlns:a16="http://schemas.microsoft.com/office/drawing/2014/main" val="3955193884"/>
                    </a:ext>
                  </a:extLst>
                </a:gridCol>
                <a:gridCol w="520376">
                  <a:extLst>
                    <a:ext uri="{9D8B030D-6E8A-4147-A177-3AD203B41FA5}">
                      <a16:colId xmlns:a16="http://schemas.microsoft.com/office/drawing/2014/main" val="4230038612"/>
                    </a:ext>
                  </a:extLst>
                </a:gridCol>
              </a:tblGrid>
              <a:tr h="273836">
                <a:tc gridSpan="10">
                  <a:txBody>
                    <a:bodyPr/>
                    <a:lstStyle/>
                    <a:p>
                      <a:pPr algn="ctr" rtl="0" fontAlgn="ctr"/>
                      <a:r>
                        <a:rPr lang="en-CA" sz="900" u="none" strike="noStrike" dirty="0">
                          <a:effectLst/>
                        </a:rPr>
                        <a:t>CWB PD Master </a:t>
                      </a:r>
                      <a:r>
                        <a:rPr lang="en-CA" sz="900" u="none" strike="noStrike" dirty="0" smtClean="0">
                          <a:effectLst/>
                        </a:rPr>
                        <a:t>Scale</a:t>
                      </a:r>
                      <a:endParaRPr lang="en-CA" sz="900" b="1" i="0" u="none" strike="noStrike" dirty="0">
                        <a:solidFill>
                          <a:srgbClr val="FFFFFF"/>
                        </a:solidFill>
                        <a:effectLst/>
                        <a:latin typeface="Calibri" panose="020F0502020204030204" pitchFamily="34" charset="0"/>
                      </a:endParaRPr>
                    </a:p>
                  </a:txBody>
                  <a:tcPr marL="6499" marR="6499" marT="6499" marB="0" anchor="ct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fontAlgn="ctr"/>
                      <a:endParaRPr lang="en-CA" sz="700" b="0" i="0" u="none" strike="noStrike" dirty="0">
                        <a:solidFill>
                          <a:srgbClr val="000000"/>
                        </a:solidFill>
                        <a:effectLst/>
                        <a:latin typeface="Calibri" panose="020F0502020204030204" pitchFamily="34" charset="0"/>
                      </a:endParaRPr>
                    </a:p>
                  </a:txBody>
                  <a:tcPr marL="6499" marR="6499" marT="6499" marB="0" anchor="ctr"/>
                </a:tc>
                <a:tc hMerge="1">
                  <a:txBody>
                    <a:bodyPr/>
                    <a:lstStyle/>
                    <a:p>
                      <a:pPr algn="ctr" fontAlgn="ctr"/>
                      <a:endParaRPr lang="en-CA" sz="700" b="0" i="0" u="none" strike="noStrike" dirty="0">
                        <a:solidFill>
                          <a:srgbClr val="000000"/>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196978422"/>
                  </a:ext>
                </a:extLst>
              </a:tr>
              <a:tr h="380561">
                <a:tc gridSpan="2">
                  <a:txBody>
                    <a:bodyPr/>
                    <a:lstStyle/>
                    <a:p>
                      <a:pPr algn="ctr" rtl="0" fontAlgn="ctr"/>
                      <a:r>
                        <a:rPr lang="en-CA" sz="900" b="1" u="none" strike="noStrike" dirty="0">
                          <a:solidFill>
                            <a:schemeClr val="tx2"/>
                          </a:solidFill>
                          <a:effectLst/>
                        </a:rPr>
                        <a:t>Status</a:t>
                      </a:r>
                      <a:endParaRPr lang="en-CA" sz="900" b="1" i="0" u="none" strike="noStrike" dirty="0">
                        <a:solidFill>
                          <a:schemeClr val="tx2"/>
                        </a:solidFill>
                        <a:effectLst/>
                        <a:latin typeface="Calibri" panose="020F0502020204030204" pitchFamily="34" charset="0"/>
                      </a:endParaRPr>
                    </a:p>
                  </a:txBody>
                  <a:tcPr marL="6499" marR="6499" marT="6499" marB="0" anchor="ctr"/>
                </a:tc>
                <a:tc hMerge="1">
                  <a:txBody>
                    <a:bodyPr/>
                    <a:lstStyle/>
                    <a:p>
                      <a:endParaRPr lang="en-CA"/>
                    </a:p>
                  </a:txBody>
                  <a:tcPr/>
                </a:tc>
                <a:tc>
                  <a:txBody>
                    <a:bodyPr/>
                    <a:lstStyle/>
                    <a:p>
                      <a:pPr algn="ctr" rtl="0" fontAlgn="ctr"/>
                      <a:r>
                        <a:rPr lang="en-CA" sz="900" b="1" u="none" strike="noStrike" dirty="0">
                          <a:solidFill>
                            <a:schemeClr val="tx2"/>
                          </a:solidFill>
                          <a:effectLst/>
                        </a:rPr>
                        <a:t>System Risk Rating </a:t>
                      </a:r>
                      <a:endParaRPr lang="en-CA" sz="900" b="1"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chemeClr val="tx2"/>
                          </a:solidFill>
                          <a:effectLst/>
                        </a:rPr>
                        <a:t>BRR</a:t>
                      </a:r>
                      <a:endParaRPr lang="en-CA" sz="900" b="1"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chemeClr val="tx2"/>
                          </a:solidFill>
                          <a:effectLst/>
                        </a:rPr>
                        <a:t>Qualitative Score</a:t>
                      </a:r>
                      <a:endParaRPr lang="en-CA" sz="900" b="1"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chemeClr val="tx2"/>
                          </a:solidFill>
                          <a:effectLst/>
                        </a:rPr>
                        <a:t>Min PD</a:t>
                      </a:r>
                      <a:endParaRPr lang="en-CA" sz="900" b="1"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Mid PD</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chemeClr val="tx2"/>
                          </a:solidFill>
                          <a:effectLst/>
                        </a:rPr>
                        <a:t>Max PD</a:t>
                      </a:r>
                      <a:endParaRPr lang="en-CA" sz="900" b="1"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smtClean="0">
                          <a:solidFill>
                            <a:schemeClr val="tx2"/>
                          </a:solidFill>
                          <a:effectLst/>
                        </a:rPr>
                        <a:t>S&amp;P’s and </a:t>
                      </a:r>
                      <a:r>
                        <a:rPr lang="en-CA" sz="900" b="1" u="none" strike="noStrike" dirty="0">
                          <a:solidFill>
                            <a:schemeClr val="tx2"/>
                          </a:solidFill>
                          <a:effectLst/>
                        </a:rPr>
                        <a:t>Fitch</a:t>
                      </a:r>
                      <a:endParaRPr lang="en-CA" sz="900" b="1"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chemeClr val="tx2"/>
                          </a:solidFill>
                          <a:effectLst/>
                        </a:rPr>
                        <a:t>Moody's</a:t>
                      </a:r>
                      <a:endParaRPr lang="en-CA" sz="900" b="1" i="0" u="none" strike="noStrike" dirty="0">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477439438"/>
                  </a:ext>
                </a:extLst>
              </a:tr>
              <a:tr h="130799">
                <a:tc rowSpan="20">
                  <a:txBody>
                    <a:bodyPr/>
                    <a:lstStyle/>
                    <a:p>
                      <a:pPr algn="ctr" rtl="0" fontAlgn="ctr"/>
                      <a:r>
                        <a:rPr lang="en-CA" sz="900" b="1" u="none" strike="noStrike" dirty="0">
                          <a:solidFill>
                            <a:schemeClr val="bg1"/>
                          </a:solidFill>
                          <a:effectLst/>
                        </a:rPr>
                        <a:t>Performing</a:t>
                      </a:r>
                      <a:endParaRPr lang="en-CA" sz="900" b="1" i="0" u="none" strike="noStrike" dirty="0">
                        <a:solidFill>
                          <a:schemeClr val="bg1"/>
                        </a:solidFill>
                        <a:effectLst/>
                        <a:latin typeface="Calibri" panose="020F0502020204030204" pitchFamily="34" charset="0"/>
                      </a:endParaRPr>
                    </a:p>
                    <a:p>
                      <a:pPr algn="ctr" rtl="0" fontAlgn="ctr"/>
                      <a:r>
                        <a:rPr lang="en-CA" sz="900" b="1" u="none" strike="noStrike" dirty="0">
                          <a:effectLst/>
                        </a:rPr>
                        <a:t> </a:t>
                      </a:r>
                      <a:endParaRPr lang="en-CA" sz="900" b="1" i="0" u="none" strike="noStrike" dirty="0">
                        <a:solidFill>
                          <a:srgbClr val="003B5C"/>
                        </a:solidFill>
                        <a:effectLst/>
                        <a:latin typeface="Calibri" panose="020F0502020204030204" pitchFamily="34" charset="0"/>
                      </a:endParaRPr>
                    </a:p>
                  </a:txBody>
                  <a:tcPr marL="6499" marR="6499" marT="6499" marB="0" anchor="ctr">
                    <a:solidFill>
                      <a:srgbClr val="00B050"/>
                    </a:solidFill>
                  </a:tcPr>
                </a:tc>
                <a:tc rowSpan="15">
                  <a:txBody>
                    <a:bodyPr/>
                    <a:lstStyle/>
                    <a:p>
                      <a:pPr algn="ctr" rtl="0" fontAlgn="ctr"/>
                      <a:r>
                        <a:rPr lang="en-CA" sz="900" b="1" u="none" strike="noStrike" dirty="0">
                          <a:solidFill>
                            <a:schemeClr val="bg1"/>
                          </a:solidFill>
                          <a:effectLst/>
                        </a:rPr>
                        <a:t>Origination</a:t>
                      </a:r>
                      <a:endParaRPr lang="en-CA" sz="900" b="1" i="0" u="none" strike="noStrike" dirty="0">
                        <a:solidFill>
                          <a:schemeClr val="bg1"/>
                        </a:solidFill>
                        <a:effectLst/>
                        <a:latin typeface="Calibri" panose="020F0502020204030204" pitchFamily="34" charset="0"/>
                      </a:endParaRPr>
                    </a:p>
                  </a:txBody>
                  <a:tcPr marL="6499" marR="6499" marT="6499" marB="0" anchor="ctr">
                    <a:solidFill>
                      <a:srgbClr val="00B050"/>
                    </a:solidFill>
                  </a:tcPr>
                </a:tc>
                <a:tc>
                  <a:txBody>
                    <a:bodyPr/>
                    <a:lstStyle/>
                    <a:p>
                      <a:pPr algn="ctr" rtl="0" fontAlgn="ctr"/>
                      <a:r>
                        <a:rPr lang="en-CA" sz="900" u="none" strike="noStrike" dirty="0">
                          <a:solidFill>
                            <a:schemeClr val="tx2"/>
                          </a:solidFill>
                          <a:effectLst/>
                        </a:rPr>
                        <a:t>1</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NA</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0.01%</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0.05%</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0.06%</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AAA/AA+</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Aaa/Aa1</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660816787"/>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dirty="0">
                          <a:solidFill>
                            <a:schemeClr val="tx2"/>
                          </a:solidFill>
                          <a:effectLst/>
                        </a:rPr>
                        <a:t>2</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2</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NA</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0.06%</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a:solidFill>
                            <a:srgbClr val="FF0000"/>
                          </a:solidFill>
                          <a:effectLst/>
                        </a:rPr>
                        <a:t>0.07%</a:t>
                      </a:r>
                      <a:endParaRPr lang="en-CA" sz="900" b="1" i="0" u="none" strike="noStrike">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0.09%</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AA/AA-</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Aa2/Aa3</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975720102"/>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a:solidFill>
                            <a:schemeClr val="tx2"/>
                          </a:solidFill>
                          <a:effectLst/>
                        </a:rPr>
                        <a:t>3</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3</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5</a:t>
                      </a:r>
                      <a:endParaRPr lang="en-CA" sz="900" b="1"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0.09%</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0.11%</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0.14%</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A+</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A1</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2964483862"/>
                  </a:ext>
                </a:extLst>
              </a:tr>
              <a:tr h="134918">
                <a:tc vMerge="1">
                  <a:txBody>
                    <a:bodyPr/>
                    <a:lstStyle/>
                    <a:p>
                      <a:endParaRPr lang="en-CA"/>
                    </a:p>
                  </a:txBody>
                  <a:tcPr/>
                </a:tc>
                <a:tc vMerge="1">
                  <a:txBody>
                    <a:bodyPr/>
                    <a:lstStyle/>
                    <a:p>
                      <a:endParaRPr lang="en-CA"/>
                    </a:p>
                  </a:txBody>
                  <a:tcPr/>
                </a:tc>
                <a:tc>
                  <a:txBody>
                    <a:bodyPr/>
                    <a:lstStyle/>
                    <a:p>
                      <a:pPr algn="ctr" rtl="0" fontAlgn="ctr"/>
                      <a:r>
                        <a:rPr lang="en-CA" sz="900" u="none" strike="noStrike" dirty="0">
                          <a:solidFill>
                            <a:schemeClr val="tx2"/>
                          </a:solidFill>
                          <a:effectLst/>
                        </a:rPr>
                        <a:t>4</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4</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4.75</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0.14%</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a:solidFill>
                            <a:srgbClr val="FF0000"/>
                          </a:solidFill>
                          <a:effectLst/>
                        </a:rPr>
                        <a:t>0.16%</a:t>
                      </a:r>
                      <a:endParaRPr lang="en-CA" sz="900" b="1" i="0" u="none" strike="noStrike">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0.18%</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A</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A2</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240009489"/>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a:solidFill>
                            <a:schemeClr val="tx2"/>
                          </a:solidFill>
                          <a:effectLst/>
                        </a:rPr>
                        <a:t>5H</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5</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4.5</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0.18%</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0.21%</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0.24%</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A-</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A3</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2743169332"/>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dirty="0">
                          <a:solidFill>
                            <a:schemeClr val="tx2"/>
                          </a:solidFill>
                          <a:effectLst/>
                        </a:rPr>
                        <a:t>5L</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6</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4.25</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0.24%</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0.28%</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0.35%</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BBB+</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Baa1</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1839687780"/>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a:solidFill>
                            <a:schemeClr val="tx2"/>
                          </a:solidFill>
                          <a:effectLst/>
                        </a:rPr>
                        <a:t>6H</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7</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4</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0.35%</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0.43%</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0.53%</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BBB</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Baa2</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15050822"/>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a:solidFill>
                            <a:schemeClr val="tx2"/>
                          </a:solidFill>
                          <a:effectLst/>
                        </a:rPr>
                        <a:t>6M</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8</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3.75</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0.53%</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0.65%</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0.81%</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BBB-</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Baa3</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3789970806"/>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dirty="0">
                          <a:solidFill>
                            <a:schemeClr val="tx2"/>
                          </a:solidFill>
                          <a:effectLst/>
                        </a:rPr>
                        <a:t>6L</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9</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3.5</a:t>
                      </a:r>
                      <a:endParaRPr lang="en-CA" sz="900" b="1"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0.81%</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1.00%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1.18%</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BB+</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Ba1</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3123898535"/>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a:solidFill>
                            <a:schemeClr val="tx2"/>
                          </a:solidFill>
                          <a:effectLst/>
                        </a:rPr>
                        <a:t>7H</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10</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3.25</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1.18%</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1.40%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1.67%</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BB</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Ba2</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3695867069"/>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dirty="0">
                          <a:solidFill>
                            <a:schemeClr val="tx2"/>
                          </a:solidFill>
                          <a:effectLst/>
                        </a:rPr>
                        <a:t>7M</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11</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3</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1.67%</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a:solidFill>
                            <a:srgbClr val="FF0000"/>
                          </a:solidFill>
                          <a:effectLst/>
                        </a:rPr>
                        <a:t>2.00%</a:t>
                      </a:r>
                      <a:endParaRPr lang="en-CA" sz="900" b="1" i="0" u="none" strike="noStrike">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2.45%</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BB-</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Ba3</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1427385968"/>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dirty="0">
                          <a:solidFill>
                            <a:schemeClr val="tx2"/>
                          </a:solidFill>
                          <a:effectLst/>
                        </a:rPr>
                        <a:t>7L</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12</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2.75</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2.45%</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3.00%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3.46%</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B1</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2712821305"/>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dirty="0">
                          <a:solidFill>
                            <a:schemeClr val="tx2"/>
                          </a:solidFill>
                          <a:effectLst/>
                        </a:rPr>
                        <a:t>8H</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13</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2.5</a:t>
                      </a:r>
                      <a:endParaRPr lang="en-CA" sz="900" b="1"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3.46%</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4.00%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4.90%</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B2</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2312638235"/>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dirty="0">
                          <a:solidFill>
                            <a:schemeClr val="tx2"/>
                          </a:solidFill>
                          <a:effectLst/>
                        </a:rPr>
                        <a:t>8M</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14</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2.25</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4.90%</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6.00%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6.93%</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B3</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4099049875"/>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a:solidFill>
                            <a:schemeClr val="tx2"/>
                          </a:solidFill>
                          <a:effectLst/>
                        </a:rPr>
                        <a:t>8L</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15</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2</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6.93%</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8.00%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9.38%</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CCC+</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Caa1</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1118232827"/>
                  </a:ext>
                </a:extLst>
              </a:tr>
              <a:tr h="130799">
                <a:tc vMerge="1">
                  <a:txBody>
                    <a:bodyPr/>
                    <a:lstStyle/>
                    <a:p>
                      <a:endParaRPr lang="en-CA"/>
                    </a:p>
                  </a:txBody>
                  <a:tcPr/>
                </a:tc>
                <a:tc rowSpan="5">
                  <a:txBody>
                    <a:bodyPr/>
                    <a:lstStyle/>
                    <a:p>
                      <a:pPr algn="ctr" rtl="0" fontAlgn="ctr"/>
                      <a:r>
                        <a:rPr lang="en-CA" sz="900" b="1" u="none" strike="noStrike" dirty="0">
                          <a:solidFill>
                            <a:schemeClr val="bg1"/>
                          </a:solidFill>
                          <a:effectLst/>
                        </a:rPr>
                        <a:t>Watch List</a:t>
                      </a:r>
                      <a:endParaRPr lang="en-CA" sz="900" b="1" i="0" u="none" strike="noStrike" dirty="0">
                        <a:solidFill>
                          <a:schemeClr val="bg1"/>
                        </a:solidFill>
                        <a:effectLst/>
                        <a:latin typeface="Calibri" panose="020F0502020204030204" pitchFamily="34" charset="0"/>
                      </a:endParaRPr>
                    </a:p>
                  </a:txBody>
                  <a:tcPr marL="6499" marR="6499" marT="6499" marB="0" anchor="ctr">
                    <a:solidFill>
                      <a:srgbClr val="00B050"/>
                    </a:solidFill>
                  </a:tcPr>
                </a:tc>
                <a:tc>
                  <a:txBody>
                    <a:bodyPr/>
                    <a:lstStyle/>
                    <a:p>
                      <a:pPr algn="ctr" rtl="0" fontAlgn="ctr"/>
                      <a:r>
                        <a:rPr lang="en-CA" sz="900" u="none" strike="noStrike">
                          <a:solidFill>
                            <a:schemeClr val="tx2"/>
                          </a:solidFill>
                          <a:effectLst/>
                        </a:rPr>
                        <a:t>9H</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16</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1.75</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9.38%</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11.00%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12.85%</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CCC</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Caa2</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563129751"/>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a:solidFill>
                            <a:schemeClr val="tx2"/>
                          </a:solidFill>
                          <a:effectLst/>
                        </a:rPr>
                        <a:t>9M</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17</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1.5</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12.85%</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15.00%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17.75%</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CCC-</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Caa3</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2644343062"/>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a:solidFill>
                            <a:schemeClr val="tx2"/>
                          </a:solidFill>
                          <a:effectLst/>
                        </a:rPr>
                        <a:t>9L</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18</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1.25</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17.75%</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21.00%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25.10%</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CC</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Ca</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3001061531"/>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a:solidFill>
                            <a:schemeClr val="tx2"/>
                          </a:solidFill>
                          <a:effectLst/>
                        </a:rPr>
                        <a:t>10H</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19</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25.10%</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30.00%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40.00%</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C</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C</a:t>
                      </a:r>
                      <a:endParaRPr lang="en-CA" sz="900" b="0" i="0" u="none" strike="noStrike" dirty="0">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3697515406"/>
                  </a:ext>
                </a:extLst>
              </a:tr>
              <a:tr h="130799">
                <a:tc vMerge="1">
                  <a:txBody>
                    <a:bodyPr/>
                    <a:lstStyle/>
                    <a:p>
                      <a:pPr algn="ctr" rtl="0" fontAlgn="ctr"/>
                      <a:endParaRPr lang="en-CA" sz="900" b="1" i="0" u="none" strike="noStrike" dirty="0">
                        <a:solidFill>
                          <a:srgbClr val="003B5C"/>
                        </a:solidFill>
                        <a:effectLst/>
                        <a:latin typeface="Calibri" panose="020F0502020204030204" pitchFamily="34" charset="0"/>
                      </a:endParaRPr>
                    </a:p>
                  </a:txBody>
                  <a:tcPr marL="6499" marR="6499" marT="6499" marB="0" anchor="ctr">
                    <a:noFill/>
                  </a:tcPr>
                </a:tc>
                <a:tc vMerge="1">
                  <a:txBody>
                    <a:bodyPr/>
                    <a:lstStyle/>
                    <a:p>
                      <a:endParaRPr lang="en-CA"/>
                    </a:p>
                  </a:txBody>
                  <a:tcPr/>
                </a:tc>
                <a:tc>
                  <a:txBody>
                    <a:bodyPr/>
                    <a:lstStyle/>
                    <a:p>
                      <a:pPr algn="ctr" rtl="0" fontAlgn="ctr"/>
                      <a:r>
                        <a:rPr lang="en-CA" sz="900" u="none" strike="noStrike">
                          <a:solidFill>
                            <a:schemeClr val="tx2"/>
                          </a:solidFill>
                          <a:effectLst/>
                        </a:rPr>
                        <a:t>10L</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20</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NA</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40.00%</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55.00%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70.00%</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fontAlgn="ctr"/>
                      <a:r>
                        <a:rPr lang="en-CA" sz="900" u="none" strike="noStrike">
                          <a:solidFill>
                            <a:schemeClr val="tx2"/>
                          </a:solidFill>
                          <a:effectLst/>
                        </a:rPr>
                        <a:t>NA</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fontAlgn="ctr"/>
                      <a:r>
                        <a:rPr lang="en-CA" sz="900" u="none" strike="noStrike" dirty="0">
                          <a:solidFill>
                            <a:schemeClr val="tx2"/>
                          </a:solidFill>
                          <a:effectLst/>
                        </a:rPr>
                        <a:t>NA</a:t>
                      </a:r>
                      <a:endParaRPr lang="en-CA" sz="900" b="0" i="0" u="none" strike="noStrike" dirty="0">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590699852"/>
                  </a:ext>
                </a:extLst>
              </a:tr>
              <a:tr h="146951">
                <a:tc rowSpan="2" gridSpan="2">
                  <a:txBody>
                    <a:bodyPr/>
                    <a:lstStyle/>
                    <a:p>
                      <a:pPr algn="ctr" rtl="0" fontAlgn="ctr"/>
                      <a:r>
                        <a:rPr lang="en-CA" sz="900" b="1" u="none" strike="noStrike" dirty="0">
                          <a:solidFill>
                            <a:schemeClr val="bg1"/>
                          </a:solidFill>
                          <a:effectLst/>
                        </a:rPr>
                        <a:t>Non-Performing</a:t>
                      </a:r>
                      <a:endParaRPr lang="en-CA" sz="900" b="1"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tc rowSpan="2" hMerge="1">
                  <a:txBody>
                    <a:bodyPr/>
                    <a:lstStyle/>
                    <a:p>
                      <a:endParaRPr lang="en-CA"/>
                    </a:p>
                  </a:txBody>
                  <a:tcPr/>
                </a:tc>
                <a:tc>
                  <a:txBody>
                    <a:bodyPr/>
                    <a:lstStyle/>
                    <a:p>
                      <a:pPr algn="ctr" rtl="0" fontAlgn="ctr"/>
                      <a:r>
                        <a:rPr lang="en-CA" sz="900" u="none" strike="noStrike">
                          <a:solidFill>
                            <a:schemeClr val="bg1"/>
                          </a:solidFill>
                          <a:effectLst/>
                        </a:rPr>
                        <a:t>11</a:t>
                      </a:r>
                      <a:endParaRPr lang="en-CA" sz="900" b="0" i="0" u="none" strike="noStrike">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rtl="0" fontAlgn="ctr"/>
                      <a:r>
                        <a:rPr lang="en-CA" sz="900" u="none" strike="noStrike">
                          <a:solidFill>
                            <a:schemeClr val="bg1"/>
                          </a:solidFill>
                          <a:effectLst/>
                        </a:rPr>
                        <a:t>D1</a:t>
                      </a:r>
                      <a:endParaRPr lang="en-CA" sz="900" b="0" i="0" u="none" strike="noStrike">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rtl="0" fontAlgn="ctr"/>
                      <a:r>
                        <a:rPr lang="en-CA" sz="900" u="none" strike="noStrike">
                          <a:solidFill>
                            <a:schemeClr val="bg1"/>
                          </a:solidFill>
                          <a:effectLst/>
                        </a:rPr>
                        <a:t>NA</a:t>
                      </a:r>
                      <a:endParaRPr lang="en-CA" sz="900" b="0" i="0" u="none" strike="noStrike">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rtl="0" fontAlgn="ctr"/>
                      <a:r>
                        <a:rPr lang="en-CA" sz="900" u="none" strike="noStrike">
                          <a:solidFill>
                            <a:schemeClr val="bg1"/>
                          </a:solidFill>
                          <a:effectLst/>
                        </a:rPr>
                        <a:t>100%</a:t>
                      </a:r>
                      <a:endParaRPr lang="en-CA" sz="900" b="0" i="0" u="none" strike="noStrike">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rtl="0" fontAlgn="ctr"/>
                      <a:r>
                        <a:rPr lang="en-CA" sz="900" u="none" strike="noStrike">
                          <a:solidFill>
                            <a:schemeClr val="bg1"/>
                          </a:solidFill>
                          <a:effectLst/>
                        </a:rPr>
                        <a:t>100%</a:t>
                      </a:r>
                      <a:endParaRPr lang="en-CA" sz="900" b="0" i="0" u="none" strike="noStrike">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rtl="0" fontAlgn="ctr"/>
                      <a:r>
                        <a:rPr lang="en-CA" sz="900" u="none" strike="noStrike">
                          <a:solidFill>
                            <a:schemeClr val="bg1"/>
                          </a:solidFill>
                          <a:effectLst/>
                        </a:rPr>
                        <a:t>100%</a:t>
                      </a:r>
                      <a:endParaRPr lang="en-CA" sz="900" b="0" i="0" u="none" strike="noStrike">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fontAlgn="ctr"/>
                      <a:r>
                        <a:rPr lang="en-CA" sz="900" u="none" strike="noStrike" dirty="0" smtClean="0">
                          <a:solidFill>
                            <a:schemeClr val="bg1"/>
                          </a:solidFill>
                          <a:effectLst/>
                        </a:rPr>
                        <a:t>NA</a:t>
                      </a:r>
                      <a:endParaRPr lang="en-CA" sz="900" b="0"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fontAlgn="ctr"/>
                      <a:r>
                        <a:rPr lang="en-CA" sz="900" u="none" strike="noStrike" dirty="0" smtClean="0">
                          <a:solidFill>
                            <a:schemeClr val="bg1"/>
                          </a:solidFill>
                          <a:effectLst/>
                        </a:rPr>
                        <a:t>NA</a:t>
                      </a:r>
                      <a:endParaRPr lang="en-CA" sz="900" b="0"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extLst>
                  <a:ext uri="{0D108BD9-81ED-4DB2-BD59-A6C34878D82A}">
                    <a16:rowId xmlns:a16="http://schemas.microsoft.com/office/drawing/2014/main" val="2154255153"/>
                  </a:ext>
                </a:extLst>
              </a:tr>
              <a:tr h="130799">
                <a:tc gridSpan="2" vMerge="1">
                  <a:txBody>
                    <a:bodyPr/>
                    <a:lstStyle/>
                    <a:p>
                      <a:endParaRPr lang="en-CA"/>
                    </a:p>
                  </a:txBody>
                  <a:tcPr/>
                </a:tc>
                <a:tc hMerge="1" vMerge="1">
                  <a:txBody>
                    <a:bodyPr/>
                    <a:lstStyle/>
                    <a:p>
                      <a:endParaRPr lang="en-CA"/>
                    </a:p>
                  </a:txBody>
                  <a:tcPr/>
                </a:tc>
                <a:tc>
                  <a:txBody>
                    <a:bodyPr/>
                    <a:lstStyle/>
                    <a:p>
                      <a:pPr algn="ctr" rtl="0" fontAlgn="ctr"/>
                      <a:r>
                        <a:rPr lang="en-CA" sz="900" u="none" strike="noStrike" dirty="0">
                          <a:solidFill>
                            <a:schemeClr val="bg1"/>
                          </a:solidFill>
                          <a:effectLst/>
                        </a:rPr>
                        <a:t>12</a:t>
                      </a:r>
                      <a:endParaRPr lang="en-CA" sz="900" b="0"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rtl="0" fontAlgn="ctr"/>
                      <a:r>
                        <a:rPr lang="en-CA" sz="900" u="none" strike="noStrike" dirty="0">
                          <a:solidFill>
                            <a:schemeClr val="bg1"/>
                          </a:solidFill>
                          <a:effectLst/>
                        </a:rPr>
                        <a:t>D2</a:t>
                      </a:r>
                      <a:endParaRPr lang="en-CA" sz="900" b="0"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rtl="0" fontAlgn="ctr"/>
                      <a:r>
                        <a:rPr lang="en-CA" sz="900" u="none" strike="noStrike" dirty="0">
                          <a:solidFill>
                            <a:schemeClr val="bg1"/>
                          </a:solidFill>
                          <a:effectLst/>
                        </a:rPr>
                        <a:t>NA</a:t>
                      </a:r>
                      <a:endParaRPr lang="en-CA" sz="900" b="0"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rtl="0" fontAlgn="ctr"/>
                      <a:r>
                        <a:rPr lang="en-CA" sz="900" u="none" strike="noStrike" dirty="0">
                          <a:solidFill>
                            <a:schemeClr val="bg1"/>
                          </a:solidFill>
                          <a:effectLst/>
                        </a:rPr>
                        <a:t>100%</a:t>
                      </a:r>
                      <a:endParaRPr lang="en-CA" sz="900" b="0"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rtl="0" fontAlgn="ctr"/>
                      <a:r>
                        <a:rPr lang="en-CA" sz="900" u="none" strike="noStrike" dirty="0">
                          <a:solidFill>
                            <a:schemeClr val="bg1"/>
                          </a:solidFill>
                          <a:effectLst/>
                        </a:rPr>
                        <a:t>100%</a:t>
                      </a:r>
                      <a:endParaRPr lang="en-CA" sz="900" b="0"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rtl="0" fontAlgn="ctr"/>
                      <a:r>
                        <a:rPr lang="en-CA" sz="900" u="none" strike="noStrike" dirty="0">
                          <a:solidFill>
                            <a:schemeClr val="bg1"/>
                          </a:solidFill>
                          <a:effectLst/>
                        </a:rPr>
                        <a:t>100%</a:t>
                      </a:r>
                      <a:endParaRPr lang="en-CA" sz="900" b="0"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fontAlgn="ctr"/>
                      <a:r>
                        <a:rPr lang="en-CA" sz="900" u="none" strike="noStrike" dirty="0" smtClean="0">
                          <a:solidFill>
                            <a:schemeClr val="bg1"/>
                          </a:solidFill>
                          <a:effectLst/>
                        </a:rPr>
                        <a:t>NA</a:t>
                      </a:r>
                      <a:r>
                        <a:rPr lang="en-CA" sz="900" u="none" strike="noStrike" dirty="0">
                          <a:solidFill>
                            <a:schemeClr val="bg1"/>
                          </a:solidFill>
                          <a:effectLst/>
                        </a:rPr>
                        <a:t> </a:t>
                      </a:r>
                      <a:endParaRPr lang="en-CA" sz="900" b="0"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fontAlgn="ctr"/>
                      <a:r>
                        <a:rPr lang="en-US" sz="900" b="0" i="0" u="none" strike="noStrike" dirty="0" smtClean="0">
                          <a:solidFill>
                            <a:schemeClr val="bg1"/>
                          </a:solidFill>
                          <a:effectLst/>
                          <a:latin typeface="+mn-lt"/>
                        </a:rPr>
                        <a:t>NA</a:t>
                      </a:r>
                      <a:endParaRPr lang="en-CA" sz="900" b="0"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extLst>
                  <a:ext uri="{0D108BD9-81ED-4DB2-BD59-A6C34878D82A}">
                    <a16:rowId xmlns:a16="http://schemas.microsoft.com/office/drawing/2014/main" val="2798211904"/>
                  </a:ext>
                </a:extLst>
              </a:tr>
            </a:tbl>
          </a:graphicData>
        </a:graphic>
      </p:graphicFrame>
    </p:spTree>
    <p:extLst>
      <p:ext uri="{BB962C8B-B14F-4D97-AF65-F5344CB8AC3E}">
        <p14:creationId xmlns:p14="http://schemas.microsoft.com/office/powerpoint/2010/main" val="102071699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51670"/>
            <a:ext cx="8640960" cy="1207483"/>
          </a:xfrm>
        </p:spPr>
        <p:txBody>
          <a:bodyPr/>
          <a:lstStyle/>
          <a:p>
            <a:pPr algn="ctr"/>
            <a:r>
              <a:rPr lang="en-US" sz="8000" dirty="0"/>
              <a:t>Thank You</a:t>
            </a:r>
            <a:endParaRPr lang="en-CA" sz="8000" dirty="0"/>
          </a:p>
        </p:txBody>
      </p:sp>
    </p:spTree>
    <p:extLst>
      <p:ext uri="{BB962C8B-B14F-4D97-AF65-F5344CB8AC3E}">
        <p14:creationId xmlns:p14="http://schemas.microsoft.com/office/powerpoint/2010/main" val="2088382238"/>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AFFC32FA-3CF9-41ED-8902-57C1207CEBA2}"/>
    </a:ext>
  </a:extLst>
</a:theme>
</file>

<file path=ppt/theme/theme2.xml><?xml version="1.0" encoding="utf-8"?>
<a:theme xmlns:a="http://schemas.openxmlformats.org/drawingml/2006/main" name="1 Primary Gold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6F595E1B-48F7-4866-8CD3-2FF272826443}"/>
    </a:ext>
  </a:extLst>
</a:theme>
</file>

<file path=ppt/theme/theme3.xml><?xml version="1.0" encoding="utf-8"?>
<a:theme xmlns:a="http://schemas.openxmlformats.org/drawingml/2006/main" name="1 Primary Gold - Section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30561B8F-A223-4C90-AF26-CAC113BC1661}"/>
    </a:ext>
  </a:extLst>
</a:theme>
</file>

<file path=ppt/theme/theme4.xml><?xml version="1.0" encoding="utf-8"?>
<a:theme xmlns:a="http://schemas.openxmlformats.org/drawingml/2006/main" name="2 Primary Teal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A1EC64B9-2DCC-44E8-88E6-2E2C1FD5F64D}"/>
    </a:ext>
  </a:extLst>
</a:theme>
</file>

<file path=ppt/theme/theme5.xml><?xml version="1.0" encoding="utf-8"?>
<a:theme xmlns:a="http://schemas.openxmlformats.org/drawingml/2006/main" name="2 Primary Gold - Section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9CE1E473-DF07-47CB-8773-FAE2A69A5346}"/>
    </a:ext>
  </a:extLst>
</a:theme>
</file>

<file path=ppt/theme/theme6.xml><?xml version="1.0" encoding="utf-8"?>
<a:theme xmlns:a="http://schemas.openxmlformats.org/drawingml/2006/main" name="2 Primary Gold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WBank Presentation 16x9" id="{67B570B4-D408-4BE5-8E41-CC240DD36237}" vid="{835D080A-3A1C-4C94-B807-05181462BCF2}"/>
    </a:ext>
  </a:extLst>
</a:theme>
</file>

<file path=ppt/theme/theme7.xml><?xml version="1.0" encoding="utf-8"?>
<a:theme xmlns:a="http://schemas.openxmlformats.org/drawingml/2006/main" name="3 Navy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D7D753B9-3033-4AE9-977A-3630F1EEA671}"/>
    </a:ext>
  </a:extLst>
</a:theme>
</file>

<file path=ppt/theme/theme8.xml><?xml version="1.0" encoding="utf-8"?>
<a:theme xmlns:a="http://schemas.openxmlformats.org/drawingml/2006/main" name="3 Navy - Section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45E4F62F-B122-4274-AA1B-3B94A3A42C46}"/>
    </a:ext>
  </a:extLst>
</a:theme>
</file>

<file path=ppt/theme/theme9.xml><?xml version="1.0" encoding="utf-8"?>
<a:theme xmlns:a="http://schemas.openxmlformats.org/drawingml/2006/main" name="3 Navy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WBank Presentation 16x9" id="{67B570B4-D408-4BE5-8E41-CC240DD36237}" vid="{B998A1DF-8287-4BA4-A893-BA211001F5EF}"/>
    </a:ext>
  </a:extLst>
</a:theme>
</file>

<file path=ppt/theme/theme10.xml><?xml version="1.0" encoding="utf-8"?>
<a:theme xmlns:a="http://schemas.openxmlformats.org/drawingml/2006/main" name="4 Light Teal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E65D8729-05C8-479E-8AF6-9BDB5B865786}"/>
    </a:ext>
  </a:extLst>
</a:theme>
</file>

<file path=ppt/theme/theme11.xml><?xml version="1.0" encoding="utf-8"?>
<a:theme xmlns:a="http://schemas.openxmlformats.org/drawingml/2006/main" name="4 Light Teal - Section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F511EBDF-FDE9-4C2B-A29C-BCBA3A7F7DF4}"/>
    </a:ext>
  </a:extLst>
</a:theme>
</file>

<file path=ppt/theme/theme12.xml><?xml version="1.0" encoding="utf-8"?>
<a:theme xmlns:a="http://schemas.openxmlformats.org/drawingml/2006/main" name="4 Light Teal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WBank Presentation 16x9" id="{67B570B4-D408-4BE5-8E41-CC240DD36237}" vid="{21F07EE1-9923-4B74-8B9F-DFBDAF8BAFD3}"/>
    </a:ext>
  </a:extLst>
</a:theme>
</file>

<file path=ppt/theme/theme13.xml><?xml version="1.0" encoding="utf-8"?>
<a:theme xmlns:a="http://schemas.openxmlformats.org/drawingml/2006/main" name="6 Dark Gold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E5A06807-39A0-4E57-89E0-9DBC6D67A921}"/>
    </a:ext>
  </a:extLst>
</a:theme>
</file>

<file path=ppt/theme/theme14.xml><?xml version="1.0" encoding="utf-8"?>
<a:theme xmlns:a="http://schemas.openxmlformats.org/drawingml/2006/main" name="6 Dark Gold - Section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54647542-15F9-4F78-83A8-29E066D45CB4}"/>
    </a:ext>
  </a:extLst>
</a:theme>
</file>

<file path=ppt/theme/theme15.xml><?xml version="1.0" encoding="utf-8"?>
<a:theme xmlns:a="http://schemas.openxmlformats.org/drawingml/2006/main" name="6 Dark Gold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WBank Presentation 16x9" id="{67B570B4-D408-4BE5-8E41-CC240DD36237}" vid="{719C9F3D-ED5E-4AF4-B0AF-C95002611559}"/>
    </a:ext>
  </a:extLst>
</a:theme>
</file>

<file path=ppt/theme/theme16.xml><?xml version="1.0" encoding="utf-8"?>
<a:theme xmlns:a="http://schemas.openxmlformats.org/drawingml/2006/main" name="7 Orange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0560C50E-6632-4FE7-9D78-599FAA257B74}"/>
    </a:ext>
  </a:extLst>
</a:theme>
</file>

<file path=ppt/theme/theme17.xml><?xml version="1.0" encoding="utf-8"?>
<a:theme xmlns:a="http://schemas.openxmlformats.org/drawingml/2006/main" name="7 Orange - Section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89CEFB3A-4A5C-4B1D-91EB-D62E9BFAA955}"/>
    </a:ext>
  </a:extLst>
</a:theme>
</file>

<file path=ppt/theme/theme18.xml><?xml version="1.0" encoding="utf-8"?>
<a:theme xmlns:a="http://schemas.openxmlformats.org/drawingml/2006/main" name="7 Orange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WBank Presentation 16x9" id="{67B570B4-D408-4BE5-8E41-CC240DD36237}" vid="{C11D73AD-5315-4486-94D2-E64FA5E1DB9A}"/>
    </a:ext>
  </a:extLst>
</a:theme>
</file>

<file path=ppt/theme/theme19.xml><?xml version="1.0" encoding="utf-8"?>
<a:theme xmlns:a="http://schemas.openxmlformats.org/drawingml/2006/main" name="8 Grey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BFEFCC51-2D2A-469B-89F5-0C692C1A4DC2}"/>
    </a:ext>
  </a:extLst>
</a:theme>
</file>

<file path=ppt/theme/theme20.xml><?xml version="1.0" encoding="utf-8"?>
<a:theme xmlns:a="http://schemas.openxmlformats.org/drawingml/2006/main" name="8 Grey - Section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148D378B-638E-400B-947E-5A5843F4BDC0}"/>
    </a:ext>
  </a:extLst>
</a:theme>
</file>

<file path=ppt/theme/theme21.xml><?xml version="1.0" encoding="utf-8"?>
<a:theme xmlns:a="http://schemas.openxmlformats.org/drawingml/2006/main" name="8 Grey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WBank Presentation 16x9" id="{67B570B4-D408-4BE5-8E41-CC240DD36237}" vid="{B11517A5-955C-407B-946D-F82AE420A6A6}"/>
    </a:ext>
  </a:extLst>
</a:theme>
</file>

<file path=ppt/theme/theme22.xml><?xml version="1.0" encoding="utf-8"?>
<a:theme xmlns:a="http://schemas.openxmlformats.org/drawingml/2006/main" name="Section Title - Phot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50B547C6-07E2-4AC4-BD59-A67AAD8A2944}"/>
    </a:ext>
  </a:extLst>
</a:theme>
</file>

<file path=ppt/theme/theme23.xml><?xml version="1.0" encoding="utf-8"?>
<a:theme xmlns:a="http://schemas.openxmlformats.org/drawingml/2006/main" name="1_Section Title - Phot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23F58467-4976-428F-B5D9-3C9112269D62}"/>
    </a:ext>
  </a:extLst>
</a:theme>
</file>

<file path=ppt/theme/theme24.xml><?xml version="1.0" encoding="utf-8"?>
<a:theme xmlns:a="http://schemas.openxmlformats.org/drawingml/2006/main" name="2_Section Title - Phot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79267145-6C3F-45DC-9F13-5264C553C788}"/>
    </a:ext>
  </a:extLst>
</a:theme>
</file>

<file path=ppt/theme/theme25.xml><?xml version="1.0" encoding="utf-8"?>
<a:theme xmlns:a="http://schemas.openxmlformats.org/drawingml/2006/main" name="Quote - Teal Ladd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F9EC8069-171E-4ADE-B526-D208324FBB58}"/>
    </a:ext>
  </a:extLst>
</a:theme>
</file>

<file path=ppt/theme/theme26.xml><?xml version="1.0" encoding="utf-8"?>
<a:theme xmlns:a="http://schemas.openxmlformats.org/drawingml/2006/main" name="Quote - Navy Path">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6120AEB7-75A6-4DFE-886D-C65605ABADA7}"/>
    </a:ext>
  </a:extLst>
</a:theme>
</file>

<file path=ppt/theme/theme27.xml><?xml version="1.0" encoding="utf-8"?>
<a:theme xmlns:a="http://schemas.openxmlformats.org/drawingml/2006/main" name="1_Quote - Navy Path">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1E2EC6B8-1999-467C-BD83-E30657CD27A6}"/>
    </a:ext>
  </a:extLst>
</a:theme>
</file>

<file path=ppt/theme/theme2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A6E2191C135504F9351B7DBCB2BE606" ma:contentTypeVersion="19" ma:contentTypeDescription="Create a new document." ma:contentTypeScope="" ma:versionID="144ddb5c3dec5e6553fff6a9e46bb08f">
  <xsd:schema xmlns:xsd="http://www.w3.org/2001/XMLSchema" xmlns:xs="http://www.w3.org/2001/XMLSchema" xmlns:p="http://schemas.microsoft.com/office/2006/metadata/properties" xmlns:ns2="6d778449-ff75-428e-914f-0c7c3a330bda" xmlns:ns3="9685b3f0-18b8-4ac0-8917-75cacc3928c8" xmlns:ns4="http://schemas.microsoft.com/sharepoint/v4" targetNamespace="http://schemas.microsoft.com/office/2006/metadata/properties" ma:root="true" ma:fieldsID="20e32d3dfd06a5d03c1eec57e40fefd4" ns2:_="" ns3:_="" ns4:_="">
    <xsd:import namespace="6d778449-ff75-428e-914f-0c7c3a330bda"/>
    <xsd:import namespace="9685b3f0-18b8-4ac0-8917-75cacc3928c8"/>
    <xsd:import namespace="http://schemas.microsoft.com/sharepoint/v4"/>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DateTaken" minOccurs="0"/>
                <xsd:element ref="ns4:IconOverlay"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778449-ff75-428e-914f-0c7c3a330bd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a104f31a-2814-4102-809d-73f760290a87"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685b3f0-18b8-4ac0-8917-75cacc3928c8"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fdc0967b-2da2-44e6-873a-f241ab05c942}" ma:internalName="TaxCatchAll" ma:showField="CatchAllData" ma:web="9685b3f0-18b8-4ac0-8917-75cacc3928c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9"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d778449-ff75-428e-914f-0c7c3a330bda">
      <Terms xmlns="http://schemas.microsoft.com/office/infopath/2007/PartnerControls"/>
    </lcf76f155ced4ddcb4097134ff3c332f>
    <TaxCatchAll xmlns="9685b3f0-18b8-4ac0-8917-75cacc3928c8" xsi:nil="true"/>
    <IconOverlay xmlns="http://schemas.microsoft.com/sharepoint/v4" xsi:nil="true"/>
  </documentManagement>
</p:properties>
</file>

<file path=customXml/itemProps1.xml><?xml version="1.0" encoding="utf-8"?>
<ds:datastoreItem xmlns:ds="http://schemas.openxmlformats.org/officeDocument/2006/customXml" ds:itemID="{F0E4CCF4-E0D2-4150-8D7A-EF1F890DF2C7}"/>
</file>

<file path=customXml/itemProps2.xml><?xml version="1.0" encoding="utf-8"?>
<ds:datastoreItem xmlns:ds="http://schemas.openxmlformats.org/officeDocument/2006/customXml" ds:itemID="{E3464F87-E625-4209-9420-365472136408}"/>
</file>

<file path=customXml/itemProps3.xml><?xml version="1.0" encoding="utf-8"?>
<ds:datastoreItem xmlns:ds="http://schemas.openxmlformats.org/officeDocument/2006/customXml" ds:itemID="{EB70FF4F-E68C-4AAC-8184-5125A2CDC81E}"/>
</file>

<file path=docMetadata/LabelInfo.xml><?xml version="1.0" encoding="utf-8"?>
<clbl:labelList xmlns:clbl="http://schemas.microsoft.com/office/2020/mipLabelMetadata">
  <clbl:label id="{4e1dbe9c-67f7-4be6-a2b7-0951d57be59d}" enabled="1" method="Standard" siteId="{bbf04c3f-b0e3-4b50-bd1b-10ce0b74385d}" removed="0"/>
</clbl:labelList>
</file>

<file path=docProps/app.xml><?xml version="1.0" encoding="utf-8"?>
<Properties xmlns="http://schemas.openxmlformats.org/officeDocument/2006/extended-properties" xmlns:vt="http://schemas.openxmlformats.org/officeDocument/2006/docPropsVTypes">
  <Template>CWBank Presentation 16x9</Template>
  <TotalTime>14186</TotalTime>
  <Words>4591</Words>
  <Application>Microsoft Office PowerPoint</Application>
  <PresentationFormat>On-screen Show (16:9)</PresentationFormat>
  <Paragraphs>1317</Paragraphs>
  <Slides>47</Slides>
  <Notes>1</Notes>
  <HiddenSlides>0</HiddenSlides>
  <MMClips>0</MMClips>
  <ScaleCrop>false</ScaleCrop>
  <HeadingPairs>
    <vt:vector size="6" baseType="variant">
      <vt:variant>
        <vt:lpstr>Fonts Used</vt:lpstr>
      </vt:variant>
      <vt:variant>
        <vt:i4>4</vt:i4>
      </vt:variant>
      <vt:variant>
        <vt:lpstr>Theme</vt:lpstr>
      </vt:variant>
      <vt:variant>
        <vt:i4>27</vt:i4>
      </vt:variant>
      <vt:variant>
        <vt:lpstr>Slide Titles</vt:lpstr>
      </vt:variant>
      <vt:variant>
        <vt:i4>47</vt:i4>
      </vt:variant>
    </vt:vector>
  </HeadingPairs>
  <TitlesOfParts>
    <vt:vector size="78" baseType="lpstr">
      <vt:lpstr>Arial</vt:lpstr>
      <vt:lpstr>Calibri</vt:lpstr>
      <vt:lpstr>Times New Roman</vt:lpstr>
      <vt:lpstr>Wingdings</vt:lpstr>
      <vt:lpstr>Custom Design</vt:lpstr>
      <vt:lpstr>1 Primary Gold - Section Title</vt:lpstr>
      <vt:lpstr>1 Primary Gold - Section Content</vt:lpstr>
      <vt:lpstr>2 Primary Teal - Section Title</vt:lpstr>
      <vt:lpstr>2 Primary Gold - Section Content</vt:lpstr>
      <vt:lpstr>2 Primary Gold - Content</vt:lpstr>
      <vt:lpstr>3 Navy - Section Title</vt:lpstr>
      <vt:lpstr>3 Navy - Section Content</vt:lpstr>
      <vt:lpstr>3 Navy - Content</vt:lpstr>
      <vt:lpstr>4 Light Teal - Section Title</vt:lpstr>
      <vt:lpstr>4 Light Teal - Section Content</vt:lpstr>
      <vt:lpstr>4 Light Teal - Content</vt:lpstr>
      <vt:lpstr>6 Dark Gold - Section Title</vt:lpstr>
      <vt:lpstr>6 Dark Gold - Section Content</vt:lpstr>
      <vt:lpstr>6 Dark Gold - Content</vt:lpstr>
      <vt:lpstr>7 Orange - Section Title</vt:lpstr>
      <vt:lpstr>7 Orange - Section Content</vt:lpstr>
      <vt:lpstr>7 Orange - Content</vt:lpstr>
      <vt:lpstr>8 Grey - Section Title</vt:lpstr>
      <vt:lpstr>8 Grey - Section Content</vt:lpstr>
      <vt:lpstr>8 Grey - Content</vt:lpstr>
      <vt:lpstr>Section Title - Photo</vt:lpstr>
      <vt:lpstr>1_Section Title - Photo</vt:lpstr>
      <vt:lpstr>2_Section Title - Photo</vt:lpstr>
      <vt:lpstr>Quote - Teal Ladder</vt:lpstr>
      <vt:lpstr>Quote - Navy Path</vt:lpstr>
      <vt:lpstr>1_Quote - Navy Path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Canadian Western 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Daisy Amador</dc:creator>
  <cp:lastModifiedBy>Jerry Ni</cp:lastModifiedBy>
  <cp:revision>588</cp:revision>
  <cp:lastPrinted>2014-01-17T22:29:57Z</cp:lastPrinted>
  <dcterms:created xsi:type="dcterms:W3CDTF">2020-04-16T21:47:44Z</dcterms:created>
  <dcterms:modified xsi:type="dcterms:W3CDTF">2021-01-26T00:38:28Z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0x010100CA6E2191C135504F9351B7DBCB2BE606</vt:lpwstr>
  </property>
  <property fmtid="{D5CDD505-2E9C-101B-9397-08002B2CF9AE}" pid="3" name="Order">
    <vt:r8>611900</vt:r8>
  </property>
  <property fmtid="{D5CDD505-2E9C-101B-9397-08002B2CF9AE}" pid="4" name="URL">
    <vt:lpwstr/>
  </property>
</Properties>
</file>