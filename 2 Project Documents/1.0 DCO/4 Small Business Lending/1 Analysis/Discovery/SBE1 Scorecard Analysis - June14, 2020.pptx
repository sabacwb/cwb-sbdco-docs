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slides/slide29.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30.xml" ContentType="application/vnd.openxmlformats-officedocument.presentationml.slide+xml"/>
  <Override PartName="/ppt/presentation.xml" ContentType="application/vnd.openxmlformats-officedocument.presentationml.presentation.main+xml"/>
  <Override PartName="/ppt/slides/slide28.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7.xml" ContentType="application/vnd.openxmlformats-officedocument.presentationml.slide+xml"/>
  <Override PartName="/ppt/slides/slide15.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Masters/slideMaster9.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15.xml" ContentType="application/vnd.openxmlformats-officedocument.presentationml.slideMaster+xml"/>
  <Override PartName="/ppt/slideMasters/slideMaster14.xml" ContentType="application/vnd.openxmlformats-officedocument.presentationml.slideMaster+xml"/>
  <Override PartName="/ppt/slideMasters/slideMaster13.xml" ContentType="application/vnd.openxmlformats-officedocument.presentationml.slideMaster+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20.xml" ContentType="application/vnd.openxmlformats-officedocument.presentationml.slideMaster+xml"/>
  <Override PartName="/ppt/slideMasters/slideMaster1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notesSlides/notesSlide2.xml" ContentType="application/vnd.openxmlformats-officedocument.presentationml.notesSlide+xml"/>
  <Override PartName="/ppt/slideMasters/slideMaster6.xml" ContentType="application/vnd.openxmlformats-officedocument.presentationml.slideMaster+xml"/>
  <Override PartName="/ppt/slideMasters/slideMaster1.xml" ContentType="application/vnd.openxmlformats-officedocument.presentationml.slideMaster+xml"/>
  <Override PartName="/ppt/slideLayouts/slideLayout38.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Slides/notesSlide1.xml" ContentType="application/vnd.openxmlformats-officedocument.presentationml.notesSlid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57.xml" ContentType="application/vnd.openxmlformats-officedocument.presentationml.slideLayout+xml"/>
  <Override PartName="/ppt/slideLayouts/slideLayout56.xml" ContentType="application/vnd.openxmlformats-officedocument.presentationml.slideLayout+xml"/>
  <Override PartName="/ppt/slideLayouts/slideLayout29.xml" ContentType="application/vnd.openxmlformats-officedocument.presentationml.slideLayout+xml"/>
  <Override PartName="/ppt/slideLayouts/slideLayout5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37.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54.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36.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3.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52.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12.xml" ContentType="application/vnd.openxmlformats-officedocument.presentationml.slideLayout+xml"/>
  <Override PartName="/ppt/slideLayouts/slideLayout18.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7.xml" ContentType="application/vnd.openxmlformats-officedocument.theme+xml"/>
  <Override PartName="/ppt/notesMasters/notesMaster1.xml" ContentType="application/vnd.openxmlformats-officedocument.presentationml.notesMaster+xml"/>
  <Override PartName="/ppt/theme/theme15.xml" ContentType="application/vnd.openxmlformats-officedocument.theme+xml"/>
  <Override PartName="/ppt/charts/colors6.xml" ContentType="application/vnd.ms-office.chartcolorstyle+xml"/>
  <Override PartName="/ppt/theme/theme16.xml" ContentType="application/vnd.openxmlformats-officedocument.theme+xml"/>
  <Override PartName="/ppt/theme/theme14.xml" ContentType="application/vnd.openxmlformats-officedocument.theme+xml"/>
  <Override PartName="/ppt/theme/theme11.xml" ContentType="application/vnd.openxmlformats-officedocument.theme+xml"/>
  <Override PartName="/ppt/theme/theme4.xml" ContentType="application/vnd.openxmlformats-officedocument.theme+xml"/>
  <Override PartName="/ppt/theme/theme10.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theme/theme1.xml" ContentType="application/vnd.openxmlformats-officedocument.theme+xml"/>
  <Override PartName="/ppt/theme/theme13.xml" ContentType="application/vnd.openxmlformats-officedocument.theme+xml"/>
  <Override PartName="/ppt/theme/theme12.xml" ContentType="application/vnd.openxmlformats-officedocument.theme+xml"/>
  <Override PartName="/ppt/charts/style6.xml" ContentType="application/vnd.ms-office.chartstyle+xml"/>
  <Override PartName="/ppt/theme/theme18.xml" ContentType="application/vnd.openxmlformats-officedocument.theme+xml"/>
  <Override PartName="/ppt/charts/chart17.xml" ContentType="application/vnd.openxmlformats-officedocument.drawingml.chart+xml"/>
  <Override PartName="/ppt/charts/colors16.xml" ContentType="application/vnd.ms-office.chartcolorstyle+xml"/>
  <Override PartName="/ppt/charts/style16.xml" ContentType="application/vnd.ms-office.chartstyle+xml"/>
  <Override PartName="/ppt/charts/chart16.xml" ContentType="application/vnd.openxmlformats-officedocument.drawingml.chart+xml"/>
  <Override PartName="/ppt/charts/colors15.xml" ContentType="application/vnd.ms-office.chartcolorstyle+xml"/>
  <Override PartName="/ppt/charts/style15.xml" ContentType="application/vnd.ms-office.chartstyle+xml"/>
  <Override PartName="/ppt/charts/chart15.xml" ContentType="application/vnd.openxmlformats-officedocument.drawingml.chart+xml"/>
  <Override PartName="/ppt/charts/colors14.xml" ContentType="application/vnd.ms-office.chartcolorstyle+xml"/>
  <Override PartName="/ppt/charts/style14.xml" ContentType="application/vnd.ms-office.chartstyle+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theme/theme17.xml" ContentType="application/vnd.openxmlformats-officedocument.theme+xml"/>
  <Override PartName="/ppt/charts/style20.xml" ContentType="application/vnd.ms-office.chartstyle+xml"/>
  <Override PartName="/ppt/charts/chart20.xml" ContentType="application/vnd.openxmlformats-officedocument.drawingml.chart+xml"/>
  <Override PartName="/ppt/charts/colors19.xml" ContentType="application/vnd.ms-office.chartcolorstyle+xml"/>
  <Override PartName="/ppt/charts/style19.xml" ContentType="application/vnd.ms-office.chartstyle+xml"/>
  <Override PartName="/ppt/charts/chart19.xml" ContentType="application/vnd.openxmlformats-officedocument.drawingml.chart+xml"/>
  <Override PartName="/ppt/charts/colors18.xml" ContentType="application/vnd.ms-office.chartcolorstyle+xml"/>
  <Override PartName="/ppt/charts/style18.xml" ContentType="application/vnd.ms-office.chartstyle+xml"/>
  <Override PartName="/ppt/charts/chart14.xml" ContentType="application/vnd.openxmlformats-officedocument.drawingml.chart+xml"/>
  <Override PartName="/ppt/charts/colors13.xml" ContentType="application/vnd.ms-office.chartcolorstyle+xml"/>
  <Override PartName="/ppt/charts/style13.xml" ContentType="application/vnd.ms-office.chartstyle+xml"/>
  <Override PartName="/ppt/charts/style9.xml" ContentType="application/vnd.ms-office.chartstyle+xml"/>
  <Override PartName="/ppt/charts/chart9.xml" ContentType="application/vnd.openxmlformats-officedocument.drawingml.chart+xml"/>
  <Override PartName="/ppt/charts/colors8.xml" ContentType="application/vnd.ms-office.chartcolorstyle+xml"/>
  <Override PartName="/ppt/charts/style8.xml" ContentType="application/vnd.ms-office.chartstyle+xml"/>
  <Override PartName="/ppt/charts/chart8.xml" ContentType="application/vnd.openxmlformats-officedocument.drawingml.chart+xml"/>
  <Override PartName="/ppt/charts/chart6.xml" ContentType="application/vnd.openxmlformats-officedocument.drawingml.chart+xml"/>
  <Override PartName="/ppt/charts/colors7.xml" ContentType="application/vnd.ms-office.chartcolorstyle+xml"/>
  <Override PartName="/ppt/charts/style7.xml" ContentType="application/vnd.ms-office.chartstyle+xml"/>
  <Override PartName="/ppt/charts/chart7.xml" ContentType="application/vnd.openxmlformats-officedocument.drawingml.chart+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hart13.xml" ContentType="application/vnd.openxmlformats-officedocument.drawingml.chart+xml"/>
  <Override PartName="/ppt/charts/colors12.xml" ContentType="application/vnd.ms-office.chartcolorstyle+xml"/>
  <Override PartName="/ppt/charts/style12.xml" ContentType="application/vnd.ms-office.chartstyle+xml"/>
  <Override PartName="/ppt/charts/chart12.xml" ContentType="application/vnd.openxmlformats-officedocument.drawingml.chart+xml"/>
  <Override PartName="/ppt/charts/colors11.xml" ContentType="application/vnd.ms-office.chartcolorstyle+xml"/>
  <Override PartName="/ppt/charts/style11.xml" ContentType="application/vnd.ms-office.chartstyle+xml"/>
  <Override PartName="/ppt/charts/chart11.xml" ContentType="application/vnd.openxmlformats-officedocument.drawingml.chart+xml"/>
  <Override PartName="/ppt/charts/colors10.xml" ContentType="application/vnd.ms-office.chartcolorstyle+xml"/>
  <Override PartName="/ppt/charts/chart21.xml" ContentType="application/vnd.openxmlformats-officedocument.drawingml.chart+xml"/>
  <Override PartName="/ppt/charts/colors20.xml" ContentType="application/vnd.ms-office.chartcolorstyle+xml"/>
  <Override PartName="/ppt/charts/colors21.xml" ContentType="application/vnd.ms-office.chartcolorstyl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24.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olors22.xml" ContentType="application/vnd.ms-office.chartcolorstyle+xml"/>
  <Override PartName="/ppt/charts/style22.xml" ContentType="application/vnd.ms-office.chartstyle+xml"/>
  <Override PartName="/ppt/charts/chart22.xml" ContentType="application/vnd.openxmlformats-officedocument.drawingml.chart+xml"/>
  <Override PartName="/ppt/charts/style21.xml" ContentType="application/vnd.ms-office.chartstyle+xml"/>
  <Override PartName="/ppt/charts/style4.xml" ContentType="application/vnd.ms-office.chartstyle+xml"/>
  <Override PartName="/ppt/charts/colors3.xml" ContentType="application/vnd.ms-office.chartcolorstyle+xml"/>
  <Override PartName="/ppt/charts/chart2.xml" ContentType="application/vnd.openxmlformats-officedocument.drawingml.chart+xml"/>
  <Override PartName="/ppt/charts/style2.xml" ContentType="application/vnd.ms-office.chartstyle+xml"/>
  <Override PartName="/ppt/charts/chart4.xml" ContentType="application/vnd.openxmlformats-officedocument.drawingml.chart+xml"/>
  <Override PartName="/ppt/charts/chart3.xml" ContentType="application/vnd.openxmlformats-officedocument.drawingml.chart+xml"/>
  <Override PartName="/ppt/charts/style3.xml" ContentType="application/vnd.ms-office.chartstyle+xml"/>
  <Override PartName="/ppt/charts/colors2.xml" ContentType="application/vnd.ms-office.chartcolorstyl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4" r:id="rId1"/>
    <p:sldMasterId id="2147483701" r:id="rId2"/>
    <p:sldMasterId id="2147483709" r:id="rId3"/>
    <p:sldMasterId id="2147483699" r:id="rId4"/>
    <p:sldMasterId id="2147483711" r:id="rId5"/>
    <p:sldMasterId id="2147483800" r:id="rId6"/>
    <p:sldMasterId id="2147483758" r:id="rId7"/>
    <p:sldMasterId id="2147483715" r:id="rId8"/>
    <p:sldMasterId id="2147483808" r:id="rId9"/>
    <p:sldMasterId id="2147483785" r:id="rId10"/>
    <p:sldMasterId id="2147483707" r:id="rId11"/>
    <p:sldMasterId id="2147483816" r:id="rId12"/>
    <p:sldMasterId id="2147483783" r:id="rId13"/>
    <p:sldMasterId id="2147483713" r:id="rId14"/>
    <p:sldMasterId id="2147483823" r:id="rId15"/>
    <p:sldMasterId id="2147483763" r:id="rId16"/>
    <p:sldMasterId id="2147483717" r:id="rId17"/>
    <p:sldMasterId id="2147483830" r:id="rId18"/>
    <p:sldMasterId id="2147483773" r:id="rId19"/>
    <p:sldMasterId id="2147483719" r:id="rId20"/>
    <p:sldMasterId id="2147483837" r:id="rId21"/>
    <p:sldMasterId id="2147483729" r:id="rId22"/>
    <p:sldMasterId id="2147483796" r:id="rId23"/>
    <p:sldMasterId id="2147483846" r:id="rId24"/>
    <p:sldMasterId id="2147483727" r:id="rId25"/>
    <p:sldMasterId id="2147483725" r:id="rId26"/>
    <p:sldMasterId id="2147483798" r:id="rId27"/>
  </p:sldMasterIdLst>
  <p:notesMasterIdLst>
    <p:notesMasterId r:id="rId68"/>
  </p:notesMasterIdLst>
  <p:handoutMasterIdLst>
    <p:handoutMasterId r:id="rId69"/>
  </p:handoutMasterIdLst>
  <p:sldIdLst>
    <p:sldId id="394" r:id="rId28"/>
    <p:sldId id="454" r:id="rId29"/>
    <p:sldId id="455" r:id="rId30"/>
    <p:sldId id="447" r:id="rId31"/>
    <p:sldId id="442" r:id="rId32"/>
    <p:sldId id="443" r:id="rId33"/>
    <p:sldId id="445" r:id="rId34"/>
    <p:sldId id="448" r:id="rId35"/>
    <p:sldId id="456" r:id="rId36"/>
    <p:sldId id="457" r:id="rId37"/>
    <p:sldId id="458" r:id="rId38"/>
    <p:sldId id="459" r:id="rId39"/>
    <p:sldId id="444" r:id="rId40"/>
    <p:sldId id="450" r:id="rId41"/>
    <p:sldId id="463" r:id="rId42"/>
    <p:sldId id="419" r:id="rId43"/>
    <p:sldId id="420" r:id="rId44"/>
    <p:sldId id="434" r:id="rId45"/>
    <p:sldId id="417" r:id="rId46"/>
    <p:sldId id="435" r:id="rId47"/>
    <p:sldId id="461" r:id="rId48"/>
    <p:sldId id="449" r:id="rId49"/>
    <p:sldId id="421" r:id="rId50"/>
    <p:sldId id="422" r:id="rId51"/>
    <p:sldId id="423" r:id="rId52"/>
    <p:sldId id="424" r:id="rId53"/>
    <p:sldId id="425" r:id="rId54"/>
    <p:sldId id="426" r:id="rId55"/>
    <p:sldId id="427" r:id="rId56"/>
    <p:sldId id="428" r:id="rId57"/>
    <p:sldId id="429" r:id="rId58"/>
    <p:sldId id="430" r:id="rId59"/>
    <p:sldId id="431" r:id="rId60"/>
    <p:sldId id="432" r:id="rId61"/>
    <p:sldId id="446" r:id="rId62"/>
    <p:sldId id="451" r:id="rId63"/>
    <p:sldId id="452" r:id="rId64"/>
    <p:sldId id="453" r:id="rId65"/>
    <p:sldId id="462" r:id="rId66"/>
    <p:sldId id="415" r:id="rId67"/>
  </p:sldIdLst>
  <p:sldSz cx="9144000" cy="5143500" type="screen16x9"/>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6F996B7-47AF-4247-8670-70E5F65A34DD}">
          <p14:sldIdLst>
            <p14:sldId id="394"/>
            <p14:sldId id="454"/>
            <p14:sldId id="455"/>
            <p14:sldId id="447"/>
            <p14:sldId id="442"/>
            <p14:sldId id="443"/>
            <p14:sldId id="445"/>
            <p14:sldId id="448"/>
            <p14:sldId id="456"/>
            <p14:sldId id="457"/>
            <p14:sldId id="458"/>
            <p14:sldId id="459"/>
            <p14:sldId id="444"/>
            <p14:sldId id="450"/>
            <p14:sldId id="463"/>
            <p14:sldId id="419"/>
            <p14:sldId id="420"/>
            <p14:sldId id="434"/>
            <p14:sldId id="417"/>
            <p14:sldId id="435"/>
            <p14:sldId id="461"/>
            <p14:sldId id="449"/>
            <p14:sldId id="421"/>
            <p14:sldId id="422"/>
            <p14:sldId id="423"/>
            <p14:sldId id="424"/>
            <p14:sldId id="425"/>
            <p14:sldId id="426"/>
            <p14:sldId id="427"/>
            <p14:sldId id="428"/>
            <p14:sldId id="429"/>
            <p14:sldId id="430"/>
            <p14:sldId id="431"/>
            <p14:sldId id="432"/>
            <p14:sldId id="446"/>
            <p14:sldId id="451"/>
            <p14:sldId id="452"/>
            <p14:sldId id="453"/>
            <p14:sldId id="462"/>
            <p14:sldId id="415"/>
          </p14:sldIdLst>
        </p14:section>
      </p14:sectionLst>
    </p:ext>
    <p:ext uri="{EFAFB233-063F-42B5-8137-9DF3F51BA10A}">
      <p15:sldGuideLst xmlns:p15="http://schemas.microsoft.com/office/powerpoint/2012/main">
        <p15:guide id="1" orient="horz" pos="1620">
          <p15:clr>
            <a:srgbClr val="A4A3A4"/>
          </p15:clr>
        </p15:guide>
        <p15:guide id="2" pos="2879">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B5C"/>
    <a:srgbClr val="000000"/>
    <a:srgbClr val="E7EFF1"/>
    <a:srgbClr val="BAC5B9"/>
    <a:srgbClr val="A9ACA0"/>
    <a:srgbClr val="2DCCD3"/>
    <a:srgbClr val="0097A9"/>
    <a:srgbClr val="FF8200"/>
    <a:srgbClr val="84754E"/>
    <a:srgbClr val="DAA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69" autoAdjust="0"/>
    <p:restoredTop sz="94935" autoAdjust="0"/>
  </p:normalViewPr>
  <p:slideViewPr>
    <p:cSldViewPr snapToGrid="0">
      <p:cViewPr varScale="1">
        <p:scale>
          <a:sx n="152" d="100"/>
          <a:sy n="152" d="100"/>
        </p:scale>
        <p:origin x="450" y="132"/>
      </p:cViewPr>
      <p:guideLst>
        <p:guide orient="horz" pos="1620"/>
        <p:guide pos="2879"/>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816" y="108"/>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15.xml"/><Relationship Id="rId47" Type="http://schemas.openxmlformats.org/officeDocument/2006/relationships/slide" Target="slides/slide20.xml"/><Relationship Id="rId63" Type="http://schemas.openxmlformats.org/officeDocument/2006/relationships/slide" Target="slides/slide36.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2.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5.xml"/><Relationship Id="rId37" Type="http://schemas.openxmlformats.org/officeDocument/2006/relationships/slide" Target="slides/slide10.xml"/><Relationship Id="rId40" Type="http://schemas.openxmlformats.org/officeDocument/2006/relationships/slide" Target="slides/slide13.xml"/><Relationship Id="rId45" Type="http://schemas.openxmlformats.org/officeDocument/2006/relationships/slide" Target="slides/slide18.xml"/><Relationship Id="rId53" Type="http://schemas.openxmlformats.org/officeDocument/2006/relationships/slide" Target="slides/slide26.xml"/><Relationship Id="rId58" Type="http://schemas.openxmlformats.org/officeDocument/2006/relationships/slide" Target="slides/slide31.xml"/><Relationship Id="rId66" Type="http://schemas.openxmlformats.org/officeDocument/2006/relationships/slide" Target="slides/slide39.xml"/><Relationship Id="rId74" Type="http://schemas.openxmlformats.org/officeDocument/2006/relationships/customXml" Target="../customXml/item1.xml"/><Relationship Id="rId5" Type="http://schemas.openxmlformats.org/officeDocument/2006/relationships/slideMaster" Target="slideMasters/slideMaster5.xml"/><Relationship Id="rId61" Type="http://schemas.openxmlformats.org/officeDocument/2006/relationships/slide" Target="slides/slide34.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 Target="slides/slide3.xml"/><Relationship Id="rId35" Type="http://schemas.openxmlformats.org/officeDocument/2006/relationships/slide" Target="slides/slide8.xml"/><Relationship Id="rId43" Type="http://schemas.openxmlformats.org/officeDocument/2006/relationships/slide" Target="slides/slide16.xml"/><Relationship Id="rId48" Type="http://schemas.openxmlformats.org/officeDocument/2006/relationships/slide" Target="slides/slide21.xml"/><Relationship Id="rId56" Type="http://schemas.openxmlformats.org/officeDocument/2006/relationships/slide" Target="slides/slide29.xml"/><Relationship Id="rId64" Type="http://schemas.openxmlformats.org/officeDocument/2006/relationships/slide" Target="slides/slide37.xml"/><Relationship Id="rId69" Type="http://schemas.openxmlformats.org/officeDocument/2006/relationships/handoutMaster" Target="handoutMasters/handoutMaster1.xml"/><Relationship Id="rId8" Type="http://schemas.openxmlformats.org/officeDocument/2006/relationships/slideMaster" Target="slideMasters/slideMaster8.xml"/><Relationship Id="rId51" Type="http://schemas.openxmlformats.org/officeDocument/2006/relationships/slide" Target="slides/slide24.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6.xml"/><Relationship Id="rId38" Type="http://schemas.openxmlformats.org/officeDocument/2006/relationships/slide" Target="slides/slide11.xml"/><Relationship Id="rId46" Type="http://schemas.openxmlformats.org/officeDocument/2006/relationships/slide" Target="slides/slide19.xml"/><Relationship Id="rId59" Type="http://schemas.openxmlformats.org/officeDocument/2006/relationships/slide" Target="slides/slide32.xml"/><Relationship Id="rId67" Type="http://schemas.openxmlformats.org/officeDocument/2006/relationships/slide" Target="slides/slide40.xml"/><Relationship Id="rId20" Type="http://schemas.openxmlformats.org/officeDocument/2006/relationships/slideMaster" Target="slideMasters/slideMaster20.xml"/><Relationship Id="rId41" Type="http://schemas.openxmlformats.org/officeDocument/2006/relationships/slide" Target="slides/slide14.xml"/><Relationship Id="rId54" Type="http://schemas.openxmlformats.org/officeDocument/2006/relationships/slide" Target="slides/slide27.xml"/><Relationship Id="rId62" Type="http://schemas.openxmlformats.org/officeDocument/2006/relationships/slide" Target="slides/slide35.xml"/><Relationship Id="rId70" Type="http://schemas.openxmlformats.org/officeDocument/2006/relationships/presProps" Target="presProps.xml"/><Relationship Id="rId75"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1.xml"/><Relationship Id="rId36" Type="http://schemas.openxmlformats.org/officeDocument/2006/relationships/slide" Target="slides/slide9.xml"/><Relationship Id="rId49" Type="http://schemas.openxmlformats.org/officeDocument/2006/relationships/slide" Target="slides/slide22.xml"/><Relationship Id="rId57" Type="http://schemas.openxmlformats.org/officeDocument/2006/relationships/slide" Target="slides/slide30.xml"/><Relationship Id="rId10" Type="http://schemas.openxmlformats.org/officeDocument/2006/relationships/slideMaster" Target="slideMasters/slideMaster10.xml"/><Relationship Id="rId31" Type="http://schemas.openxmlformats.org/officeDocument/2006/relationships/slide" Target="slides/slide4.xml"/><Relationship Id="rId44" Type="http://schemas.openxmlformats.org/officeDocument/2006/relationships/slide" Target="slides/slide17.xml"/><Relationship Id="rId52" Type="http://schemas.openxmlformats.org/officeDocument/2006/relationships/slide" Target="slides/slide25.xml"/><Relationship Id="rId60" Type="http://schemas.openxmlformats.org/officeDocument/2006/relationships/slide" Target="slides/slide33.xml"/><Relationship Id="rId65" Type="http://schemas.openxmlformats.org/officeDocument/2006/relationships/slide" Target="slides/slide38.xml"/><Relationship Id="rId73"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2.xml"/><Relationship Id="rId34" Type="http://schemas.openxmlformats.org/officeDocument/2006/relationships/slide" Target="slides/slide7.xml"/><Relationship Id="rId50" Type="http://schemas.openxmlformats.org/officeDocument/2006/relationships/slide" Target="slides/slide23.xml"/><Relationship Id="rId55" Type="http://schemas.openxmlformats.org/officeDocument/2006/relationships/slide" Target="slides/slide28.xml"/><Relationship Id="rId76" Type="http://schemas.openxmlformats.org/officeDocument/2006/relationships/customXml" Target="../customXml/item3.xml"/><Relationship Id="rId7" Type="http://schemas.openxmlformats.org/officeDocument/2006/relationships/slideMaster" Target="slideMasters/slideMaster7.xml"/><Relationship Id="rId71"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wb\shared\Corp\Risk%20Management%20-%20AIRB\Models\SBE1\SAS%20Codes\LRPD%20Calibration%20Calculator%20-%20SBE1%20PD%20-%2004MAR2020.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cwb\shared\Corp\Risk%20Management%20-%20AIRB\Team\Chingis%20Maksimov\Projects\EFG\Analysis\EFG%20Analysis.xlsx" TargetMode="External"/><Relationship Id="rId2" Type="http://schemas.microsoft.com/office/2011/relationships/chartColorStyle" Target="colors22.xml"/><Relationship Id="rId1" Type="http://schemas.microsoft.com/office/2011/relationships/chartStyle" Target="style2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Province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Composition'!$F$3:$F$11</c:f>
              <c:strCache>
                <c:ptCount val="9"/>
                <c:pt idx="0">
                  <c:v>SK</c:v>
                </c:pt>
                <c:pt idx="1">
                  <c:v>ON</c:v>
                </c:pt>
                <c:pt idx="2">
                  <c:v>AB</c:v>
                </c:pt>
                <c:pt idx="3">
                  <c:v>BC</c:v>
                </c:pt>
                <c:pt idx="4">
                  <c:v>MB</c:v>
                </c:pt>
                <c:pt idx="5">
                  <c:v>QC</c:v>
                </c:pt>
                <c:pt idx="6">
                  <c:v>NB</c:v>
                </c:pt>
                <c:pt idx="7">
                  <c:v>NS</c:v>
                </c:pt>
                <c:pt idx="8">
                  <c:v>Other</c:v>
                </c:pt>
              </c:strCache>
            </c:strRef>
          </c:cat>
          <c:val>
            <c:numRef>
              <c:f>'SBE1 Composition'!$H$3:$H$11</c:f>
              <c:numCache>
                <c:formatCode>0.00%</c:formatCode>
                <c:ptCount val="9"/>
                <c:pt idx="0">
                  <c:v>0.22285164366479798</c:v>
                </c:pt>
                <c:pt idx="1">
                  <c:v>0.19489914810193748</c:v>
                </c:pt>
                <c:pt idx="2">
                  <c:v>0.19421465678143382</c:v>
                </c:pt>
                <c:pt idx="3">
                  <c:v>0.1317299750913806</c:v>
                </c:pt>
                <c:pt idx="4">
                  <c:v>0.10505405354850572</c:v>
                </c:pt>
                <c:pt idx="5">
                  <c:v>7.1621370189108788E-2</c:v>
                </c:pt>
                <c:pt idx="6">
                  <c:v>3.5187331848020163E-2</c:v>
                </c:pt>
                <c:pt idx="7">
                  <c:v>2.5859302305599706E-2</c:v>
                </c:pt>
                <c:pt idx="8">
                  <c:v>1.8582518469215669E-2</c:v>
                </c:pt>
              </c:numCache>
            </c:numRef>
          </c:val>
          <c:extLst>
            <c:ext xmlns:c16="http://schemas.microsoft.com/office/drawing/2014/chart" uri="{C3380CC4-5D6E-409C-BE32-E72D297353CC}">
              <c16:uniqueId val="{00000000-A505-44CB-A9EE-8E4A1208D2E7}"/>
            </c:ext>
          </c:extLst>
        </c:ser>
        <c:dLbls>
          <c:dLblPos val="outEnd"/>
          <c:showLegendKey val="0"/>
          <c:showVal val="1"/>
          <c:showCatName val="0"/>
          <c:showSerName val="0"/>
          <c:showPercent val="0"/>
          <c:showBubbleSize val="0"/>
        </c:dLbls>
        <c:gapWidth val="182"/>
        <c:axId val="1025070496"/>
        <c:axId val="1025075744"/>
      </c:barChart>
      <c:catAx>
        <c:axId val="102507049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5075744"/>
        <c:crosses val="autoZero"/>
        <c:auto val="1"/>
        <c:lblAlgn val="ctr"/>
        <c:lblOffset val="100"/>
        <c:noMultiLvlLbl val="0"/>
      </c:catAx>
      <c:valAx>
        <c:axId val="1025075744"/>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10250704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Distribution of </a:t>
            </a:r>
            <a:r>
              <a:rPr lang="en-US" dirty="0" smtClean="0"/>
              <a:t>Clients</a:t>
            </a:r>
            <a:r>
              <a:rPr lang="en-US" baseline="0" dirty="0" smtClean="0"/>
              <a:t> by Outstanding Balance</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Composition'!$A$22:$A$31</c:f>
              <c:strCache>
                <c:ptCount val="10"/>
                <c:pt idx="0">
                  <c:v>&lt;= $10K</c:v>
                </c:pt>
                <c:pt idx="1">
                  <c:v>$10K to $25K</c:v>
                </c:pt>
                <c:pt idx="2">
                  <c:v>$25K to $50K</c:v>
                </c:pt>
                <c:pt idx="3">
                  <c:v>$50K to $75K</c:v>
                </c:pt>
                <c:pt idx="4">
                  <c:v>$75K to $100K</c:v>
                </c:pt>
                <c:pt idx="5">
                  <c:v>$100K to $150K</c:v>
                </c:pt>
                <c:pt idx="6">
                  <c:v>$150K to $200K</c:v>
                </c:pt>
                <c:pt idx="7">
                  <c:v>$200K to $300K</c:v>
                </c:pt>
                <c:pt idx="8">
                  <c:v>$300K to $400K</c:v>
                </c:pt>
                <c:pt idx="9">
                  <c:v>$400K to $500K</c:v>
                </c:pt>
              </c:strCache>
            </c:strRef>
          </c:cat>
          <c:val>
            <c:numRef>
              <c:f>'SBE1 Composition'!$D$22:$D$31</c:f>
              <c:numCache>
                <c:formatCode>0.00%</c:formatCode>
                <c:ptCount val="10"/>
                <c:pt idx="0">
                  <c:v>0.41182083520431073</c:v>
                </c:pt>
                <c:pt idx="1">
                  <c:v>0.23933542882801975</c:v>
                </c:pt>
                <c:pt idx="2">
                  <c:v>0.15446789402784014</c:v>
                </c:pt>
                <c:pt idx="3">
                  <c:v>7.2406825325550067E-2</c:v>
                </c:pt>
                <c:pt idx="4">
                  <c:v>4.254602604400539E-2</c:v>
                </c:pt>
                <c:pt idx="5">
                  <c:v>4.2995060619667715E-2</c:v>
                </c:pt>
                <c:pt idx="6">
                  <c:v>2.2620116748989672E-2</c:v>
                </c:pt>
                <c:pt idx="7">
                  <c:v>1.1562640323304894E-2</c:v>
                </c:pt>
                <c:pt idx="8">
                  <c:v>1.7400089806915132E-3</c:v>
                </c:pt>
                <c:pt idx="9">
                  <c:v>5.0516389762011679E-4</c:v>
                </c:pt>
              </c:numCache>
            </c:numRef>
          </c:val>
          <c:extLst>
            <c:ext xmlns:c16="http://schemas.microsoft.com/office/drawing/2014/chart" uri="{C3380CC4-5D6E-409C-BE32-E72D297353CC}">
              <c16:uniqueId val="{00000000-951C-436D-87C7-A189A9A8C9B2}"/>
            </c:ext>
          </c:extLst>
        </c:ser>
        <c:dLbls>
          <c:dLblPos val="outEnd"/>
          <c:showLegendKey val="0"/>
          <c:showVal val="1"/>
          <c:showCatName val="0"/>
          <c:showSerName val="0"/>
          <c:showPercent val="0"/>
          <c:showBubbleSize val="0"/>
        </c:dLbls>
        <c:gapWidth val="182"/>
        <c:axId val="871264648"/>
        <c:axId val="871267600"/>
      </c:barChart>
      <c:catAx>
        <c:axId val="871264648"/>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1267600"/>
        <c:crosses val="autoZero"/>
        <c:auto val="1"/>
        <c:lblAlgn val="ctr"/>
        <c:lblOffset val="100"/>
        <c:noMultiLvlLbl val="0"/>
      </c:catAx>
      <c:valAx>
        <c:axId val="871267600"/>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8712646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Industry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Composition'!$F$36:$F$46</c:f>
              <c:strCache>
                <c:ptCount val="11"/>
                <c:pt idx="0">
                  <c:v>11</c:v>
                </c:pt>
                <c:pt idx="1">
                  <c:v>48</c:v>
                </c:pt>
                <c:pt idx="2">
                  <c:v>23</c:v>
                </c:pt>
                <c:pt idx="3">
                  <c:v>56</c:v>
                </c:pt>
                <c:pt idx="4">
                  <c:v>N/A</c:v>
                </c:pt>
                <c:pt idx="5">
                  <c:v>62</c:v>
                </c:pt>
                <c:pt idx="6">
                  <c:v>81</c:v>
                </c:pt>
                <c:pt idx="7">
                  <c:v>54</c:v>
                </c:pt>
                <c:pt idx="8">
                  <c:v>33</c:v>
                </c:pt>
                <c:pt idx="9">
                  <c:v>32</c:v>
                </c:pt>
                <c:pt idx="10">
                  <c:v>Other</c:v>
                </c:pt>
              </c:strCache>
            </c:strRef>
          </c:cat>
          <c:val>
            <c:numRef>
              <c:f>'SBE1 Composition'!$G$36:$G$46</c:f>
              <c:numCache>
                <c:formatCode>0.00%</c:formatCode>
                <c:ptCount val="11"/>
                <c:pt idx="0">
                  <c:v>0.43096623581015164</c:v>
                </c:pt>
                <c:pt idx="1">
                  <c:v>0.28502251026971359</c:v>
                </c:pt>
                <c:pt idx="2">
                  <c:v>7.0994312966263226E-2</c:v>
                </c:pt>
                <c:pt idx="3">
                  <c:v>4.0811029567760296E-2</c:v>
                </c:pt>
                <c:pt idx="4">
                  <c:v>3.9314330547449372E-2</c:v>
                </c:pt>
                <c:pt idx="5">
                  <c:v>3.7499392145104123E-2</c:v>
                </c:pt>
                <c:pt idx="6">
                  <c:v>2.1431498388716767E-2</c:v>
                </c:pt>
                <c:pt idx="7">
                  <c:v>1.8416653606044615E-2</c:v>
                </c:pt>
                <c:pt idx="8">
                  <c:v>1.0652242975654338E-2</c:v>
                </c:pt>
                <c:pt idx="9">
                  <c:v>1.0065943504820546E-2</c:v>
                </c:pt>
                <c:pt idx="10">
                  <c:v>3.4825850218321373E-2</c:v>
                </c:pt>
              </c:numCache>
            </c:numRef>
          </c:val>
          <c:extLst>
            <c:ext xmlns:c16="http://schemas.microsoft.com/office/drawing/2014/chart" uri="{C3380CC4-5D6E-409C-BE32-E72D297353CC}">
              <c16:uniqueId val="{00000000-779B-4231-997E-5398D36B6419}"/>
            </c:ext>
          </c:extLst>
        </c:ser>
        <c:dLbls>
          <c:dLblPos val="outEnd"/>
          <c:showLegendKey val="0"/>
          <c:showVal val="1"/>
          <c:showCatName val="0"/>
          <c:showSerName val="0"/>
          <c:showPercent val="0"/>
          <c:showBubbleSize val="0"/>
        </c:dLbls>
        <c:gapWidth val="182"/>
        <c:axId val="505628448"/>
        <c:axId val="505634024"/>
      </c:barChart>
      <c:catAx>
        <c:axId val="505628448"/>
        <c:scaling>
          <c:orientation val="maxMin"/>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NAICS2 Code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5634024"/>
        <c:crosses val="autoZero"/>
        <c:auto val="1"/>
        <c:lblAlgn val="ctr"/>
        <c:lblOffset val="100"/>
        <c:noMultiLvlLbl val="0"/>
      </c:catAx>
      <c:valAx>
        <c:axId val="505634024"/>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5056284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Collateral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Composition'!$F$63:$F$74</c:f>
              <c:strCache>
                <c:ptCount val="12"/>
                <c:pt idx="0">
                  <c:v>Agricultural Buildings &amp; Equipment</c:v>
                </c:pt>
                <c:pt idx="1">
                  <c:v>Vehicles</c:v>
                </c:pt>
                <c:pt idx="2">
                  <c:v>Trailers</c:v>
                </c:pt>
                <c:pt idx="3">
                  <c:v>Construction Equipment</c:v>
                </c:pt>
                <c:pt idx="4">
                  <c:v>Industrial Equipment</c:v>
                </c:pt>
                <c:pt idx="5">
                  <c:v>Medical Equipment</c:v>
                </c:pt>
                <c:pt idx="6">
                  <c:v>Real Estate Collateral</c:v>
                </c:pt>
                <c:pt idx="7">
                  <c:v>Automotive Equipment</c:v>
                </c:pt>
                <c:pt idx="8">
                  <c:v>Business Operation Equipment</c:v>
                </c:pt>
                <c:pt idx="9">
                  <c:v>Misc. Equipment</c:v>
                </c:pt>
                <c:pt idx="10">
                  <c:v>Fax Photocopiers</c:v>
                </c:pt>
                <c:pt idx="11">
                  <c:v>Other</c:v>
                </c:pt>
              </c:strCache>
            </c:strRef>
          </c:cat>
          <c:val>
            <c:numRef>
              <c:f>'SBE1 Composition'!$G$63:$G$74</c:f>
              <c:numCache>
                <c:formatCode>0.00%</c:formatCode>
                <c:ptCount val="12"/>
                <c:pt idx="0">
                  <c:v>0.36783658437677758</c:v>
                </c:pt>
                <c:pt idx="1">
                  <c:v>0.30744230573031428</c:v>
                </c:pt>
                <c:pt idx="2">
                  <c:v>9.9444688277850093E-2</c:v>
                </c:pt>
                <c:pt idx="3">
                  <c:v>7.4033870361441267E-2</c:v>
                </c:pt>
                <c:pt idx="4">
                  <c:v>5.5323993881110874E-2</c:v>
                </c:pt>
                <c:pt idx="5">
                  <c:v>4.3035546792615544E-2</c:v>
                </c:pt>
                <c:pt idx="6">
                  <c:v>9.4850068324440172E-3</c:v>
                </c:pt>
                <c:pt idx="7">
                  <c:v>8.1475251005122002E-3</c:v>
                </c:pt>
                <c:pt idx="8">
                  <c:v>6.8661350446270683E-3</c:v>
                </c:pt>
                <c:pt idx="9">
                  <c:v>5.8640214217189875E-3</c:v>
                </c:pt>
                <c:pt idx="10">
                  <c:v>5.5997943319443287E-3</c:v>
                </c:pt>
                <c:pt idx="11">
                  <c:v>1.6920527848643695E-2</c:v>
                </c:pt>
              </c:numCache>
            </c:numRef>
          </c:val>
          <c:extLst>
            <c:ext xmlns:c16="http://schemas.microsoft.com/office/drawing/2014/chart" uri="{C3380CC4-5D6E-409C-BE32-E72D297353CC}">
              <c16:uniqueId val="{00000000-72A8-4E38-B958-13BE10501922}"/>
            </c:ext>
          </c:extLst>
        </c:ser>
        <c:dLbls>
          <c:dLblPos val="outEnd"/>
          <c:showLegendKey val="0"/>
          <c:showVal val="1"/>
          <c:showCatName val="0"/>
          <c:showSerName val="0"/>
          <c:showPercent val="0"/>
          <c:showBubbleSize val="0"/>
        </c:dLbls>
        <c:gapWidth val="182"/>
        <c:axId val="556168976"/>
        <c:axId val="556169960"/>
      </c:barChart>
      <c:catAx>
        <c:axId val="55616897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6169960"/>
        <c:crosses val="autoZero"/>
        <c:auto val="1"/>
        <c:lblAlgn val="ctr"/>
        <c:lblOffset val="100"/>
        <c:noMultiLvlLbl val="0"/>
      </c:catAx>
      <c:valAx>
        <c:axId val="556169960"/>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5561689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Facility Type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Composition'!$A$94:$A$99</c:f>
              <c:strCache>
                <c:ptCount val="6"/>
                <c:pt idx="0">
                  <c:v>NL Lease</c:v>
                </c:pt>
                <c:pt idx="1">
                  <c:v>Bank Lease</c:v>
                </c:pt>
                <c:pt idx="2">
                  <c:v>Term Loan</c:v>
                </c:pt>
                <c:pt idx="3">
                  <c:v>Mortgage</c:v>
                </c:pt>
                <c:pt idx="4">
                  <c:v>Line of Credit</c:v>
                </c:pt>
                <c:pt idx="5">
                  <c:v>Business Credit Card</c:v>
                </c:pt>
              </c:strCache>
            </c:strRef>
          </c:cat>
          <c:val>
            <c:numRef>
              <c:f>'SBE1 Composition'!$D$94:$D$99</c:f>
              <c:numCache>
                <c:formatCode>0.00%</c:formatCode>
                <c:ptCount val="6"/>
                <c:pt idx="0">
                  <c:v>0.82115051039754228</c:v>
                </c:pt>
                <c:pt idx="1">
                  <c:v>0.13340327939935512</c:v>
                </c:pt>
                <c:pt idx="2">
                  <c:v>3.4842756233686795E-2</c:v>
                </c:pt>
                <c:pt idx="3">
                  <c:v>8.8413727103796511E-3</c:v>
                </c:pt>
                <c:pt idx="4">
                  <c:v>1.2800973399607948E-3</c:v>
                </c:pt>
                <c:pt idx="5">
                  <c:v>4.8198391907527374E-4</c:v>
                </c:pt>
              </c:numCache>
            </c:numRef>
          </c:val>
          <c:extLst>
            <c:ext xmlns:c16="http://schemas.microsoft.com/office/drawing/2014/chart" uri="{C3380CC4-5D6E-409C-BE32-E72D297353CC}">
              <c16:uniqueId val="{00000000-7A58-43CC-AB89-0E70680B8E24}"/>
            </c:ext>
          </c:extLst>
        </c:ser>
        <c:dLbls>
          <c:dLblPos val="outEnd"/>
          <c:showLegendKey val="0"/>
          <c:showVal val="1"/>
          <c:showCatName val="0"/>
          <c:showSerName val="0"/>
          <c:showPercent val="0"/>
          <c:showBubbleSize val="0"/>
        </c:dLbls>
        <c:gapWidth val="182"/>
        <c:axId val="1025060000"/>
        <c:axId val="1025056064"/>
      </c:barChart>
      <c:catAx>
        <c:axId val="1025060000"/>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5056064"/>
        <c:crosses val="autoZero"/>
        <c:auto val="1"/>
        <c:lblAlgn val="ctr"/>
        <c:lblOffset val="100"/>
        <c:noMultiLvlLbl val="0"/>
      </c:catAx>
      <c:valAx>
        <c:axId val="1025056064"/>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10250600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Outstanding Balance by Maturity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Composition'!$A$105:$A$110</c:f>
              <c:strCache>
                <c:ptCount val="6"/>
                <c:pt idx="0">
                  <c:v> &lt;= 1 yr</c:v>
                </c:pt>
                <c:pt idx="1">
                  <c:v>1 yr to 2 yr</c:v>
                </c:pt>
                <c:pt idx="2">
                  <c:v>2 yr to 3 yr</c:v>
                </c:pt>
                <c:pt idx="3">
                  <c:v>3 yr to 4 yr</c:v>
                </c:pt>
                <c:pt idx="4">
                  <c:v>4 yr to 5 yr</c:v>
                </c:pt>
                <c:pt idx="5">
                  <c:v>&gt; 5 yr</c:v>
                </c:pt>
              </c:strCache>
            </c:strRef>
          </c:cat>
          <c:val>
            <c:numRef>
              <c:f>'SBE1 Composition'!$D$105:$D$110</c:f>
              <c:numCache>
                <c:formatCode>0.00%</c:formatCode>
                <c:ptCount val="6"/>
                <c:pt idx="0">
                  <c:v>3.3671324976369946E-2</c:v>
                </c:pt>
                <c:pt idx="1">
                  <c:v>0.11350147559361119</c:v>
                </c:pt>
                <c:pt idx="2">
                  <c:v>0.19511651874074745</c:v>
                </c:pt>
                <c:pt idx="3">
                  <c:v>0.23142039702551043</c:v>
                </c:pt>
                <c:pt idx="4">
                  <c:v>0.25200122022850852</c:v>
                </c:pt>
                <c:pt idx="5">
                  <c:v>0.17428906343525252</c:v>
                </c:pt>
              </c:numCache>
            </c:numRef>
          </c:val>
          <c:extLst>
            <c:ext xmlns:c16="http://schemas.microsoft.com/office/drawing/2014/chart" uri="{C3380CC4-5D6E-409C-BE32-E72D297353CC}">
              <c16:uniqueId val="{00000000-3C94-4EFD-B3DC-70219D4D2D29}"/>
            </c:ext>
          </c:extLst>
        </c:ser>
        <c:dLbls>
          <c:dLblPos val="outEnd"/>
          <c:showLegendKey val="0"/>
          <c:showVal val="1"/>
          <c:showCatName val="0"/>
          <c:showSerName val="0"/>
          <c:showPercent val="0"/>
          <c:showBubbleSize val="0"/>
        </c:dLbls>
        <c:gapWidth val="182"/>
        <c:axId val="505564160"/>
        <c:axId val="505564488"/>
      </c:barChart>
      <c:catAx>
        <c:axId val="505564160"/>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5564488"/>
        <c:crosses val="autoZero"/>
        <c:auto val="1"/>
        <c:lblAlgn val="ctr"/>
        <c:lblOffset val="100"/>
        <c:noMultiLvlLbl val="0"/>
      </c:catAx>
      <c:valAx>
        <c:axId val="505564488"/>
        <c:scaling>
          <c:orientation val="minMax"/>
        </c:scaling>
        <c:delete val="1"/>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5055641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2"/>
                </a:solidFill>
                <a:latin typeface="+mn-lt"/>
                <a:ea typeface="+mn-ea"/>
                <a:cs typeface="+mn-cs"/>
              </a:defRPr>
            </a:pPr>
            <a:r>
              <a:rPr lang="en-CA">
                <a:solidFill>
                  <a:schemeClr val="tx2"/>
                </a:solidFill>
              </a:rPr>
              <a:t>Time Series of SBE1 Historical Default Rates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2"/>
              </a:solidFill>
              <a:latin typeface="+mn-lt"/>
              <a:ea typeface="+mn-ea"/>
              <a:cs typeface="+mn-cs"/>
            </a:defRPr>
          </a:pPr>
          <a:endParaRPr lang="en-US"/>
        </a:p>
      </c:txPr>
    </c:title>
    <c:autoTitleDeleted val="0"/>
    <c:plotArea>
      <c:layout/>
      <c:lineChart>
        <c:grouping val="standard"/>
        <c:varyColors val="0"/>
        <c:ser>
          <c:idx val="0"/>
          <c:order val="0"/>
          <c:tx>
            <c:v>SBE1 Model Default Rates</c:v>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LRPD!$C$3:$C$17</c:f>
              <c:numCache>
                <c:formatCode>General</c:formatCode>
                <c:ptCount val="15"/>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numCache>
            </c:numRef>
          </c:cat>
          <c:val>
            <c:numRef>
              <c:f>LRPD!$F$3:$F$17</c:f>
              <c:numCache>
                <c:formatCode>General</c:formatCode>
                <c:ptCount val="15"/>
                <c:pt idx="7" formatCode="0.00%">
                  <c:v>2.8099347505788255E-2</c:v>
                </c:pt>
                <c:pt idx="8" formatCode="0.00%">
                  <c:v>2.1010666953992025E-2</c:v>
                </c:pt>
                <c:pt idx="9" formatCode="0.00%">
                  <c:v>2.4289741921492084E-2</c:v>
                </c:pt>
                <c:pt idx="10" formatCode="0.00%">
                  <c:v>2.0984747671204833E-2</c:v>
                </c:pt>
                <c:pt idx="11" formatCode="0.00%">
                  <c:v>2.1904121433374963E-2</c:v>
                </c:pt>
                <c:pt idx="12" formatCode="0.00%">
                  <c:v>2.6119402985074626E-2</c:v>
                </c:pt>
              </c:numCache>
            </c:numRef>
          </c:val>
          <c:smooth val="0"/>
          <c:extLst>
            <c:ext xmlns:c16="http://schemas.microsoft.com/office/drawing/2014/chart" uri="{C3380CC4-5D6E-409C-BE32-E72D297353CC}">
              <c16:uniqueId val="{00000000-AE37-4D9E-8B63-15592ECF9688}"/>
            </c:ext>
          </c:extLst>
        </c:ser>
        <c:ser>
          <c:idx val="1"/>
          <c:order val="1"/>
          <c:tx>
            <c:v>Aggregated Bank &amp; NL Historical Default Rates</c:v>
          </c:tx>
          <c:spPr>
            <a:ln w="28575" cap="rnd">
              <a:solidFill>
                <a:schemeClr val="accent2"/>
              </a:solidFill>
              <a:prstDash val="solid"/>
              <a:round/>
            </a:ln>
            <a:effectLst/>
          </c:spPr>
          <c:marker>
            <c:symbol val="circle"/>
            <c:size val="5"/>
            <c:spPr>
              <a:solidFill>
                <a:schemeClr val="accent2"/>
              </a:solidFill>
              <a:ln w="9525">
                <a:solidFill>
                  <a:schemeClr val="accent2"/>
                </a:solidFill>
                <a:prstDash val="solid"/>
              </a:ln>
              <a:effectLst/>
            </c:spPr>
          </c:marker>
          <c:cat>
            <c:numRef>
              <c:f>LRPD!$C$3:$C$17</c:f>
              <c:numCache>
                <c:formatCode>General</c:formatCode>
                <c:ptCount val="15"/>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numCache>
            </c:numRef>
          </c:cat>
          <c:val>
            <c:numRef>
              <c:f>LRPD!$D$3:$D$17</c:f>
              <c:numCache>
                <c:formatCode>0.00%</c:formatCode>
                <c:ptCount val="15"/>
                <c:pt idx="0">
                  <c:v>3.8370720188902009E-2</c:v>
                </c:pt>
                <c:pt idx="1">
                  <c:v>2.5993206321075175E-2</c:v>
                </c:pt>
                <c:pt idx="2">
                  <c:v>2.5531526635340696E-2</c:v>
                </c:pt>
                <c:pt idx="3">
                  <c:v>2.6435407554814279E-2</c:v>
                </c:pt>
                <c:pt idx="4">
                  <c:v>3.197449376363351E-2</c:v>
                </c:pt>
                <c:pt idx="5">
                  <c:v>3.1419482271723351E-2</c:v>
                </c:pt>
                <c:pt idx="6">
                  <c:v>3.4936069296348411E-2</c:v>
                </c:pt>
                <c:pt idx="7">
                  <c:v>3.0437188710570006E-2</c:v>
                </c:pt>
                <c:pt idx="8">
                  <c:v>2.3856273316316512E-2</c:v>
                </c:pt>
                <c:pt idx="9">
                  <c:v>2.5890953396283885E-2</c:v>
                </c:pt>
                <c:pt idx="10">
                  <c:v>2.1936606107460378E-2</c:v>
                </c:pt>
                <c:pt idx="11">
                  <c:v>2.396296632477081E-2</c:v>
                </c:pt>
                <c:pt idx="12">
                  <c:v>2.6578358850851538E-2</c:v>
                </c:pt>
                <c:pt idx="13">
                  <c:v>2.5033377837116153E-2</c:v>
                </c:pt>
                <c:pt idx="14">
                  <c:v>2.1478760779303736E-2</c:v>
                </c:pt>
              </c:numCache>
            </c:numRef>
          </c:val>
          <c:smooth val="0"/>
          <c:extLst>
            <c:ext xmlns:c16="http://schemas.microsoft.com/office/drawing/2014/chart" uri="{C3380CC4-5D6E-409C-BE32-E72D297353CC}">
              <c16:uniqueId val="{00000001-AE37-4D9E-8B63-15592ECF9688}"/>
            </c:ext>
          </c:extLst>
        </c:ser>
        <c:dLbls>
          <c:showLegendKey val="0"/>
          <c:showVal val="0"/>
          <c:showCatName val="0"/>
          <c:showSerName val="0"/>
          <c:showPercent val="0"/>
          <c:showBubbleSize val="0"/>
        </c:dLbls>
        <c:marker val="1"/>
        <c:smooth val="0"/>
        <c:axId val="364912416"/>
        <c:axId val="243147160"/>
      </c:lineChart>
      <c:catAx>
        <c:axId val="36491241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2"/>
                    </a:solidFill>
                    <a:latin typeface="+mn-lt"/>
                    <a:ea typeface="+mn-ea"/>
                    <a:cs typeface="+mn-cs"/>
                  </a:defRPr>
                </a:pPr>
                <a:r>
                  <a:rPr lang="en-US">
                    <a:solidFill>
                      <a:schemeClr val="tx2"/>
                    </a:solidFill>
                  </a:rPr>
                  <a:t>Year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43147160"/>
        <c:crosses val="autoZero"/>
        <c:auto val="1"/>
        <c:lblAlgn val="ctr"/>
        <c:lblOffset val="100"/>
        <c:noMultiLvlLbl val="0"/>
      </c:catAx>
      <c:valAx>
        <c:axId val="2431471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2"/>
                    </a:solidFill>
                    <a:latin typeface="+mn-lt"/>
                    <a:ea typeface="+mn-ea"/>
                    <a:cs typeface="+mn-cs"/>
                  </a:defRPr>
                </a:pPr>
                <a:r>
                  <a:rPr lang="en-US">
                    <a:solidFill>
                      <a:schemeClr val="tx2"/>
                    </a:solidFill>
                  </a:rPr>
                  <a:t>Default</a:t>
                </a:r>
                <a:r>
                  <a:rPr lang="en-US" baseline="0">
                    <a:solidFill>
                      <a:schemeClr val="tx2"/>
                    </a:solidFill>
                  </a:rPr>
                  <a:t> Rate</a:t>
                </a:r>
                <a:endParaRPr lang="en-US">
                  <a:solidFill>
                    <a:schemeClr val="tx2"/>
                  </a:solidFill>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ln>
                  <a:noFill/>
                </a:ln>
                <a:solidFill>
                  <a:schemeClr val="tx1">
                    <a:lumMod val="65000"/>
                    <a:lumOff val="35000"/>
                  </a:schemeClr>
                </a:solidFill>
                <a:latin typeface="+mn-lt"/>
                <a:ea typeface="+mn-ea"/>
                <a:cs typeface="+mn-cs"/>
              </a:defRPr>
            </a:pPr>
            <a:endParaRPr lang="en-US"/>
          </a:p>
        </c:txPr>
        <c:crossAx val="3649124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Current Portfolio</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BRR Distribution'!$B$21:$B$28</c:f>
              <c:strCache>
                <c:ptCount val="8"/>
                <c:pt idx="0">
                  <c:v>6 (5L)</c:v>
                </c:pt>
                <c:pt idx="1">
                  <c:v>8 (6M)</c:v>
                </c:pt>
                <c:pt idx="2">
                  <c:v>9 (6L)</c:v>
                </c:pt>
                <c:pt idx="3">
                  <c:v>11 (7M)</c:v>
                </c:pt>
                <c:pt idx="4">
                  <c:v>14 (8M)</c:v>
                </c:pt>
                <c:pt idx="5">
                  <c:v>15 (8L) - Missing Risk Drivers</c:v>
                </c:pt>
                <c:pt idx="6">
                  <c:v>17 (9M)</c:v>
                </c:pt>
                <c:pt idx="7">
                  <c:v>19 (10H)</c:v>
                </c:pt>
              </c:strCache>
            </c:strRef>
          </c:cat>
          <c:val>
            <c:numRef>
              <c:f>'SBE1 BRR Distribution'!$J$21:$J$28</c:f>
              <c:numCache>
                <c:formatCode>0.00%</c:formatCode>
                <c:ptCount val="8"/>
                <c:pt idx="0">
                  <c:v>2.6241693884446447E-2</c:v>
                </c:pt>
                <c:pt idx="1">
                  <c:v>0.27108908660885234</c:v>
                </c:pt>
                <c:pt idx="2">
                  <c:v>0.31749070841310956</c:v>
                </c:pt>
                <c:pt idx="3">
                  <c:v>0.14016218042572362</c:v>
                </c:pt>
                <c:pt idx="4">
                  <c:v>0.13441829034801217</c:v>
                </c:pt>
                <c:pt idx="5">
                  <c:v>4.7302624169388442E-2</c:v>
                </c:pt>
                <c:pt idx="6">
                  <c:v>4.4712242369636224E-2</c:v>
                </c:pt>
                <c:pt idx="7">
                  <c:v>1.8583173780831175E-2</c:v>
                </c:pt>
              </c:numCache>
            </c:numRef>
          </c:val>
          <c:extLst>
            <c:ext xmlns:c16="http://schemas.microsoft.com/office/drawing/2014/chart" uri="{C3380CC4-5D6E-409C-BE32-E72D297353CC}">
              <c16:uniqueId val="{00000000-22AF-432C-97FA-66D65A3D872D}"/>
            </c:ext>
          </c:extLst>
        </c:ser>
        <c:ser>
          <c:idx val="1"/>
          <c:order val="1"/>
          <c:tx>
            <c:v>Historical Data (2011 - 2017)</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'SBE1 BRR Distribution'!$L$21:$L$28</c:f>
              <c:numCache>
                <c:formatCode>0.00%</c:formatCode>
                <c:ptCount val="8"/>
                <c:pt idx="0">
                  <c:v>3.4613836590492372E-2</c:v>
                </c:pt>
                <c:pt idx="1">
                  <c:v>0.22692783566626418</c:v>
                </c:pt>
                <c:pt idx="2">
                  <c:v>0.33746254639774609</c:v>
                </c:pt>
                <c:pt idx="3">
                  <c:v>0.18861708629608098</c:v>
                </c:pt>
                <c:pt idx="4">
                  <c:v>0.14310630114932249</c:v>
                </c:pt>
                <c:pt idx="5">
                  <c:v>0</c:v>
                </c:pt>
                <c:pt idx="6">
                  <c:v>5.4335673717633377E-2</c:v>
                </c:pt>
                <c:pt idx="7">
                  <c:v>1.4936720182460533E-2</c:v>
                </c:pt>
              </c:numCache>
            </c:numRef>
          </c:val>
          <c:extLst>
            <c:ext xmlns:c16="http://schemas.microsoft.com/office/drawing/2014/chart" uri="{C3380CC4-5D6E-409C-BE32-E72D297353CC}">
              <c16:uniqueId val="{00000001-22AF-432C-97FA-66D65A3D872D}"/>
            </c:ext>
          </c:extLst>
        </c:ser>
        <c:dLbls>
          <c:dLblPos val="outEnd"/>
          <c:showLegendKey val="0"/>
          <c:showVal val="1"/>
          <c:showCatName val="0"/>
          <c:showSerName val="0"/>
          <c:showPercent val="0"/>
          <c:showBubbleSize val="0"/>
        </c:dLbls>
        <c:gapWidth val="219"/>
        <c:overlap val="-27"/>
        <c:axId val="871278096"/>
        <c:axId val="871270224"/>
      </c:barChart>
      <c:catAx>
        <c:axId val="87127809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BRR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1270224"/>
        <c:crosses val="autoZero"/>
        <c:auto val="1"/>
        <c:lblAlgn val="ctr"/>
        <c:lblOffset val="100"/>
        <c:noMultiLvlLbl val="0"/>
      </c:catAx>
      <c:valAx>
        <c:axId val="8712702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127809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BRR Distribution'!$B$21:$B$28</c:f>
              <c:strCache>
                <c:ptCount val="8"/>
                <c:pt idx="0">
                  <c:v>6 (5L)</c:v>
                </c:pt>
                <c:pt idx="1">
                  <c:v>8 (6M)</c:v>
                </c:pt>
                <c:pt idx="2">
                  <c:v>9 (6L)</c:v>
                </c:pt>
                <c:pt idx="3">
                  <c:v>11 (7M)</c:v>
                </c:pt>
                <c:pt idx="4">
                  <c:v>14 (8M)</c:v>
                </c:pt>
                <c:pt idx="5">
                  <c:v>15 (8L) - Missing Risk Drivers</c:v>
                </c:pt>
                <c:pt idx="6">
                  <c:v>17 (9M)</c:v>
                </c:pt>
                <c:pt idx="7">
                  <c:v>19 (10H)</c:v>
                </c:pt>
              </c:strCache>
            </c:strRef>
          </c:cat>
          <c:val>
            <c:numRef>
              <c:f>'SBE1 BRR Distribution'!$D$21:$D$28</c:f>
              <c:numCache>
                <c:formatCode>0%</c:formatCode>
                <c:ptCount val="8"/>
                <c:pt idx="0">
                  <c:v>1.8518518518518517E-2</c:v>
                </c:pt>
                <c:pt idx="1">
                  <c:v>0.25925925925925924</c:v>
                </c:pt>
                <c:pt idx="2">
                  <c:v>0.24074074074074073</c:v>
                </c:pt>
                <c:pt idx="3">
                  <c:v>1.8518518518518517E-2</c:v>
                </c:pt>
                <c:pt idx="4">
                  <c:v>0</c:v>
                </c:pt>
                <c:pt idx="5">
                  <c:v>0.40740740740740738</c:v>
                </c:pt>
                <c:pt idx="6">
                  <c:v>5.5555555555555552E-2</c:v>
                </c:pt>
                <c:pt idx="7">
                  <c:v>0</c:v>
                </c:pt>
              </c:numCache>
            </c:numRef>
          </c:val>
          <c:extLst>
            <c:ext xmlns:c16="http://schemas.microsoft.com/office/drawing/2014/chart" uri="{C3380CC4-5D6E-409C-BE32-E72D297353CC}">
              <c16:uniqueId val="{00000000-374D-4036-8D96-0EAF8E8F3ADB}"/>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BRR Distribution'!$B$21:$B$28</c:f>
              <c:strCache>
                <c:ptCount val="8"/>
                <c:pt idx="0">
                  <c:v>6 (5L)</c:v>
                </c:pt>
                <c:pt idx="1">
                  <c:v>8 (6M)</c:v>
                </c:pt>
                <c:pt idx="2">
                  <c:v>9 (6L)</c:v>
                </c:pt>
                <c:pt idx="3">
                  <c:v>11 (7M)</c:v>
                </c:pt>
                <c:pt idx="4">
                  <c:v>14 (8M)</c:v>
                </c:pt>
                <c:pt idx="5">
                  <c:v>15 (8L) - Missing Risk Drivers</c:v>
                </c:pt>
                <c:pt idx="6">
                  <c:v>17 (9M)</c:v>
                </c:pt>
                <c:pt idx="7">
                  <c:v>19 (10H)</c:v>
                </c:pt>
              </c:strCache>
            </c:strRef>
          </c:cat>
          <c:val>
            <c:numRef>
              <c:f>'SBE1 BRR Distribution'!$F$21:$F$28</c:f>
              <c:numCache>
                <c:formatCode>0%</c:formatCode>
                <c:ptCount val="8"/>
                <c:pt idx="0">
                  <c:v>0</c:v>
                </c:pt>
                <c:pt idx="1">
                  <c:v>0.10341643582640812</c:v>
                </c:pt>
                <c:pt idx="2">
                  <c:v>0.37857802400738688</c:v>
                </c:pt>
                <c:pt idx="3">
                  <c:v>0.15143120960295475</c:v>
                </c:pt>
                <c:pt idx="4">
                  <c:v>0.17820867959372114</c:v>
                </c:pt>
                <c:pt idx="5">
                  <c:v>3.8781163434903045E-2</c:v>
                </c:pt>
                <c:pt idx="6">
                  <c:v>0.1329639889196676</c:v>
                </c:pt>
                <c:pt idx="7">
                  <c:v>1.662049861495845E-2</c:v>
                </c:pt>
              </c:numCache>
            </c:numRef>
          </c:val>
          <c:extLst>
            <c:ext xmlns:c16="http://schemas.microsoft.com/office/drawing/2014/chart" uri="{C3380CC4-5D6E-409C-BE32-E72D297353CC}">
              <c16:uniqueId val="{00000001-374D-4036-8D96-0EAF8E8F3ADB}"/>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BRR Distribution'!$B$21:$B$28</c:f>
              <c:strCache>
                <c:ptCount val="8"/>
                <c:pt idx="0">
                  <c:v>6 (5L)</c:v>
                </c:pt>
                <c:pt idx="1">
                  <c:v>8 (6M)</c:v>
                </c:pt>
                <c:pt idx="2">
                  <c:v>9 (6L)</c:v>
                </c:pt>
                <c:pt idx="3">
                  <c:v>11 (7M)</c:v>
                </c:pt>
                <c:pt idx="4">
                  <c:v>14 (8M)</c:v>
                </c:pt>
                <c:pt idx="5">
                  <c:v>15 (8L) - Missing Risk Drivers</c:v>
                </c:pt>
                <c:pt idx="6">
                  <c:v>17 (9M)</c:v>
                </c:pt>
                <c:pt idx="7">
                  <c:v>19 (10H)</c:v>
                </c:pt>
              </c:strCache>
            </c:strRef>
          </c:cat>
          <c:val>
            <c:numRef>
              <c:f>'SBE1 BRR Distribution'!$H$21:$H$28</c:f>
              <c:numCache>
                <c:formatCode>0%</c:formatCode>
                <c:ptCount val="8"/>
                <c:pt idx="0">
                  <c:v>2.7976656037542867E-2</c:v>
                </c:pt>
                <c:pt idx="1">
                  <c:v>0.28205282473978699</c:v>
                </c:pt>
                <c:pt idx="2">
                  <c:v>0.31375970158233563</c:v>
                </c:pt>
                <c:pt idx="3">
                  <c:v>0.13982311533602071</c:v>
                </c:pt>
                <c:pt idx="4">
                  <c:v>0.13200168461584741</c:v>
                </c:pt>
                <c:pt idx="5">
                  <c:v>4.6687924914265086E-2</c:v>
                </c:pt>
                <c:pt idx="6">
                  <c:v>3.8926659045785454E-2</c:v>
                </c:pt>
                <c:pt idx="7">
                  <c:v>1.8771433728415859E-2</c:v>
                </c:pt>
              </c:numCache>
            </c:numRef>
          </c:val>
          <c:extLst>
            <c:ext xmlns:c16="http://schemas.microsoft.com/office/drawing/2014/chart" uri="{C3380CC4-5D6E-409C-BE32-E72D297353CC}">
              <c16:uniqueId val="{00000002-374D-4036-8D96-0EAF8E8F3ADB}"/>
            </c:ext>
          </c:extLst>
        </c:ser>
        <c:dLbls>
          <c:dLblPos val="outEnd"/>
          <c:showLegendKey val="0"/>
          <c:showVal val="1"/>
          <c:showCatName val="0"/>
          <c:showSerName val="0"/>
          <c:showPercent val="0"/>
          <c:showBubbleSize val="0"/>
        </c:dLbls>
        <c:gapWidth val="219"/>
        <c:overlap val="-27"/>
        <c:axId val="871236768"/>
        <c:axId val="871227256"/>
      </c:barChart>
      <c:catAx>
        <c:axId val="8712367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BRR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1227256"/>
        <c:crosses val="autoZero"/>
        <c:auto val="1"/>
        <c:lblAlgn val="ctr"/>
        <c:lblOffset val="100"/>
        <c:noMultiLvlLbl val="0"/>
      </c:catAx>
      <c:valAx>
        <c:axId val="8712272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12367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BRR Distribution'!$B$5:$B$14</c:f>
              <c:strCache>
                <c:ptCount val="10"/>
                <c:pt idx="0">
                  <c:v>6 (5L)</c:v>
                </c:pt>
                <c:pt idx="1">
                  <c:v>8 (6M)</c:v>
                </c:pt>
                <c:pt idx="2">
                  <c:v>9 (6L)</c:v>
                </c:pt>
                <c:pt idx="3">
                  <c:v>11 (7M)</c:v>
                </c:pt>
                <c:pt idx="4">
                  <c:v>14 (8M)</c:v>
                </c:pt>
                <c:pt idx="5">
                  <c:v>15 (8L) - Missing Risk Drivers</c:v>
                </c:pt>
                <c:pt idx="6">
                  <c:v>16 (9H)</c:v>
                </c:pt>
                <c:pt idx="7">
                  <c:v>17 (9M)</c:v>
                </c:pt>
                <c:pt idx="8">
                  <c:v>19 (10H)</c:v>
                </c:pt>
                <c:pt idx="9">
                  <c:v>20 (10L)</c:v>
                </c:pt>
              </c:strCache>
            </c:strRef>
          </c:cat>
          <c:val>
            <c:numRef>
              <c:f>'SBE1 BRR Distribution'!$J$5:$J$14</c:f>
              <c:numCache>
                <c:formatCode>0.00%</c:formatCode>
                <c:ptCount val="10"/>
                <c:pt idx="0">
                  <c:v>2.6156264032330491E-2</c:v>
                </c:pt>
                <c:pt idx="1">
                  <c:v>0.27020655590480469</c:v>
                </c:pt>
                <c:pt idx="2">
                  <c:v>0.31645711719802427</c:v>
                </c:pt>
                <c:pt idx="3">
                  <c:v>0.13970588235294118</c:v>
                </c:pt>
                <c:pt idx="4">
                  <c:v>0.13398069151324651</c:v>
                </c:pt>
                <c:pt idx="5">
                  <c:v>4.7148630444544232E-2</c:v>
                </c:pt>
                <c:pt idx="6">
                  <c:v>4.4903457566232598E-4</c:v>
                </c:pt>
                <c:pt idx="7">
                  <c:v>4.4622810956443645E-2</c:v>
                </c:pt>
                <c:pt idx="8">
                  <c:v>1.8522676246070947E-2</c:v>
                </c:pt>
                <c:pt idx="9">
                  <c:v>2.7503367759317467E-3</c:v>
                </c:pt>
              </c:numCache>
            </c:numRef>
          </c:val>
          <c:extLst>
            <c:ext xmlns:c16="http://schemas.microsoft.com/office/drawing/2014/chart" uri="{C3380CC4-5D6E-409C-BE32-E72D297353CC}">
              <c16:uniqueId val="{00000000-2929-4652-B1DD-58741D09B66E}"/>
            </c:ext>
          </c:extLst>
        </c:ser>
        <c:dLbls>
          <c:dLblPos val="outEnd"/>
          <c:showLegendKey val="0"/>
          <c:showVal val="1"/>
          <c:showCatName val="0"/>
          <c:showSerName val="0"/>
          <c:showPercent val="0"/>
          <c:showBubbleSize val="0"/>
        </c:dLbls>
        <c:gapWidth val="219"/>
        <c:overlap val="-27"/>
        <c:axId val="115463239"/>
        <c:axId val="115461599"/>
      </c:barChart>
      <c:catAx>
        <c:axId val="11546323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BRR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461599"/>
        <c:crosses val="autoZero"/>
        <c:auto val="1"/>
        <c:lblAlgn val="ctr"/>
        <c:lblOffset val="100"/>
        <c:noMultiLvlLbl val="0"/>
      </c:catAx>
      <c:valAx>
        <c:axId val="11546159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46323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'SBE1 Risk Drivers'!$Y$3</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Drivers'!$B$22:$B$26</c:f>
              <c:strCache>
                <c:ptCount val="5"/>
                <c:pt idx="0">
                  <c:v>&lt; 600 or Missing</c:v>
                </c:pt>
                <c:pt idx="1">
                  <c:v>600 - 648</c:v>
                </c:pt>
                <c:pt idx="2">
                  <c:v>648 - 687</c:v>
                </c:pt>
                <c:pt idx="3">
                  <c:v>687 - 738</c:v>
                </c:pt>
                <c:pt idx="4">
                  <c:v>&gt;= 738</c:v>
                </c:pt>
              </c:strCache>
            </c:strRef>
          </c:cat>
          <c:val>
            <c:numRef>
              <c:f>'SBE1 Risk Drivers'!$G$22:$G$26</c:f>
              <c:numCache>
                <c:formatCode>0.00%</c:formatCode>
                <c:ptCount val="5"/>
                <c:pt idx="0">
                  <c:v>0.10603463561676223</c:v>
                </c:pt>
                <c:pt idx="1">
                  <c:v>9.1612979490513627E-2</c:v>
                </c:pt>
                <c:pt idx="2">
                  <c:v>0.12660322714108399</c:v>
                </c:pt>
                <c:pt idx="3">
                  <c:v>0.18937289437910043</c:v>
                </c:pt>
                <c:pt idx="4">
                  <c:v>0.48637626337253975</c:v>
                </c:pt>
              </c:numCache>
            </c:numRef>
          </c:val>
          <c:extLst>
            <c:ext xmlns:c16="http://schemas.microsoft.com/office/drawing/2014/chart" uri="{C3380CC4-5D6E-409C-BE32-E72D297353CC}">
              <c16:uniqueId val="{00000000-B0B3-4D52-ADC3-3D60EC2C1B8D}"/>
            </c:ext>
          </c:extLst>
        </c:ser>
        <c:ser>
          <c:idx val="1"/>
          <c:order val="1"/>
          <c:tx>
            <c:strRef>
              <c:f>'SBE1 Risk Drivers'!$Y$4</c:f>
              <c:strCache>
                <c:ptCount val="1"/>
                <c:pt idx="0">
                  <c:v>Historical Data (2011 - 2017)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'SBE1 Risk Drivers'!$I$22:$I$26</c:f>
              <c:numCache>
                <c:formatCode>0.00%</c:formatCode>
                <c:ptCount val="5"/>
                <c:pt idx="0">
                  <c:v>7.7307216433373585E-2</c:v>
                </c:pt>
                <c:pt idx="1">
                  <c:v>0.11904655426859263</c:v>
                </c:pt>
                <c:pt idx="2">
                  <c:v>0.15270634885142287</c:v>
                </c:pt>
                <c:pt idx="3">
                  <c:v>0.20327057525751679</c:v>
                </c:pt>
                <c:pt idx="4">
                  <c:v>0.44766930518909409</c:v>
                </c:pt>
              </c:numCache>
            </c:numRef>
          </c:val>
          <c:extLst>
            <c:ext xmlns:c16="http://schemas.microsoft.com/office/drawing/2014/chart" uri="{C3380CC4-5D6E-409C-BE32-E72D297353CC}">
              <c16:uniqueId val="{00000001-B0B3-4D52-ADC3-3D60EC2C1B8D}"/>
            </c:ext>
          </c:extLst>
        </c:ser>
        <c:dLbls>
          <c:dLblPos val="outEnd"/>
          <c:showLegendKey val="0"/>
          <c:showVal val="1"/>
          <c:showCatName val="0"/>
          <c:showSerName val="0"/>
          <c:showPercent val="0"/>
          <c:showBubbleSize val="0"/>
        </c:dLbls>
        <c:gapWidth val="219"/>
        <c:overlap val="-27"/>
        <c:axId val="543746688"/>
        <c:axId val="543742096"/>
      </c:barChart>
      <c:catAx>
        <c:axId val="54374668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Beacon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742096"/>
        <c:crosses val="autoZero"/>
        <c:auto val="1"/>
        <c:lblAlgn val="ctr"/>
        <c:lblOffset val="100"/>
        <c:noMultiLvlLbl val="0"/>
      </c:catAx>
      <c:valAx>
        <c:axId val="5437420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74668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Drivers'!$B$22:$B$26</c:f>
              <c:strCache>
                <c:ptCount val="5"/>
                <c:pt idx="0">
                  <c:v>&lt; 600 or Missing</c:v>
                </c:pt>
                <c:pt idx="1">
                  <c:v>600 - 648</c:v>
                </c:pt>
                <c:pt idx="2">
                  <c:v>648 - 687</c:v>
                </c:pt>
                <c:pt idx="3">
                  <c:v>687 - 738</c:v>
                </c:pt>
                <c:pt idx="4">
                  <c:v>&gt;= 738</c:v>
                </c:pt>
              </c:strCache>
            </c:strRef>
          </c:cat>
          <c:val>
            <c:numRef>
              <c:f>'SBE1 Risk Drivers'!$C$22:$C$26</c:f>
              <c:numCache>
                <c:formatCode>0.00%</c:formatCode>
                <c:ptCount val="5"/>
                <c:pt idx="0">
                  <c:v>9.3799999999999994E-2</c:v>
                </c:pt>
                <c:pt idx="1">
                  <c:v>0</c:v>
                </c:pt>
                <c:pt idx="2">
                  <c:v>6.25E-2</c:v>
                </c:pt>
                <c:pt idx="3">
                  <c:v>0.15629999999999999</c:v>
                </c:pt>
                <c:pt idx="4">
                  <c:v>0.6875</c:v>
                </c:pt>
              </c:numCache>
            </c:numRef>
          </c:val>
          <c:extLst>
            <c:ext xmlns:c16="http://schemas.microsoft.com/office/drawing/2014/chart" uri="{C3380CC4-5D6E-409C-BE32-E72D297353CC}">
              <c16:uniqueId val="{00000000-B827-4D3A-96F1-7CD91DB4AB86}"/>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Drivers'!$B$22:$B$26</c:f>
              <c:strCache>
                <c:ptCount val="5"/>
                <c:pt idx="0">
                  <c:v>&lt; 600 or Missing</c:v>
                </c:pt>
                <c:pt idx="1">
                  <c:v>600 - 648</c:v>
                </c:pt>
                <c:pt idx="2">
                  <c:v>648 - 687</c:v>
                </c:pt>
                <c:pt idx="3">
                  <c:v>687 - 738</c:v>
                </c:pt>
                <c:pt idx="4">
                  <c:v>&gt;= 738</c:v>
                </c:pt>
              </c:strCache>
            </c:strRef>
          </c:cat>
          <c:val>
            <c:numRef>
              <c:f>'SBE1 Risk Drivers'!$D$22:$D$26</c:f>
              <c:numCache>
                <c:formatCode>0.00%</c:formatCode>
                <c:ptCount val="5"/>
                <c:pt idx="0">
                  <c:v>0.1479</c:v>
                </c:pt>
                <c:pt idx="1">
                  <c:v>0.13350000000000001</c:v>
                </c:pt>
                <c:pt idx="2">
                  <c:v>0.12970000000000001</c:v>
                </c:pt>
                <c:pt idx="3">
                  <c:v>0.16039999999999999</c:v>
                </c:pt>
                <c:pt idx="4">
                  <c:v>0.4284</c:v>
                </c:pt>
              </c:numCache>
            </c:numRef>
          </c:val>
          <c:extLst>
            <c:ext xmlns:c16="http://schemas.microsoft.com/office/drawing/2014/chart" uri="{C3380CC4-5D6E-409C-BE32-E72D297353CC}">
              <c16:uniqueId val="{00000001-B827-4D3A-96F1-7CD91DB4AB86}"/>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Drivers'!$B$22:$B$26</c:f>
              <c:strCache>
                <c:ptCount val="5"/>
                <c:pt idx="0">
                  <c:v>&lt; 600 or Missing</c:v>
                </c:pt>
                <c:pt idx="1">
                  <c:v>600 - 648</c:v>
                </c:pt>
                <c:pt idx="2">
                  <c:v>648 - 687</c:v>
                </c:pt>
                <c:pt idx="3">
                  <c:v>687 - 738</c:v>
                </c:pt>
                <c:pt idx="4">
                  <c:v>&gt;= 738</c:v>
                </c:pt>
              </c:strCache>
            </c:strRef>
          </c:cat>
          <c:val>
            <c:numRef>
              <c:f>'SBE1 Risk Drivers'!$E$22:$E$26</c:f>
              <c:numCache>
                <c:formatCode>0.00%</c:formatCode>
                <c:ptCount val="5"/>
                <c:pt idx="0">
                  <c:v>0.1033</c:v>
                </c:pt>
                <c:pt idx="1">
                  <c:v>8.9099999999999999E-2</c:v>
                </c:pt>
                <c:pt idx="2">
                  <c:v>0.1265</c:v>
                </c:pt>
                <c:pt idx="3">
                  <c:v>0.19139999999999999</c:v>
                </c:pt>
                <c:pt idx="4">
                  <c:v>0.48980000000000001</c:v>
                </c:pt>
              </c:numCache>
            </c:numRef>
          </c:val>
          <c:extLst>
            <c:ext xmlns:c16="http://schemas.microsoft.com/office/drawing/2014/chart" uri="{C3380CC4-5D6E-409C-BE32-E72D297353CC}">
              <c16:uniqueId val="{00000002-B827-4D3A-96F1-7CD91DB4AB86}"/>
            </c:ext>
          </c:extLst>
        </c:ser>
        <c:dLbls>
          <c:dLblPos val="outEnd"/>
          <c:showLegendKey val="0"/>
          <c:showVal val="1"/>
          <c:showCatName val="0"/>
          <c:showSerName val="0"/>
          <c:showPercent val="0"/>
          <c:showBubbleSize val="0"/>
        </c:dLbls>
        <c:gapWidth val="219"/>
        <c:overlap val="-27"/>
        <c:axId val="540194544"/>
        <c:axId val="540201104"/>
      </c:barChart>
      <c:catAx>
        <c:axId val="54019454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Beacon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0201104"/>
        <c:crosses val="autoZero"/>
        <c:auto val="1"/>
        <c:lblAlgn val="ctr"/>
        <c:lblOffset val="100"/>
        <c:noMultiLvlLbl val="0"/>
      </c:catAx>
      <c:valAx>
        <c:axId val="5402011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01945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'SBE1 Risk Drivers'!$Y$3</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Drivers'!$B$40:$B$43</c:f>
              <c:strCache>
                <c:ptCount val="4"/>
                <c:pt idx="0">
                  <c:v>New Customer</c:v>
                </c:pt>
                <c:pt idx="1">
                  <c:v>0 - 30</c:v>
                </c:pt>
                <c:pt idx="2">
                  <c:v>30 - 61</c:v>
                </c:pt>
                <c:pt idx="3">
                  <c:v>&gt;= 61</c:v>
                </c:pt>
              </c:strCache>
            </c:strRef>
          </c:cat>
          <c:val>
            <c:numRef>
              <c:f>'SBE1 Risk Drivers'!$G$40:$G$43</c:f>
              <c:numCache>
                <c:formatCode>0.00%</c:formatCode>
                <c:ptCount val="4"/>
                <c:pt idx="0">
                  <c:v>9.1317453750221642E-2</c:v>
                </c:pt>
                <c:pt idx="1">
                  <c:v>0.84691766652875466</c:v>
                </c:pt>
                <c:pt idx="2">
                  <c:v>4.5983805189432E-2</c:v>
                </c:pt>
                <c:pt idx="3">
                  <c:v>1.57810745315917E-2</c:v>
                </c:pt>
              </c:numCache>
            </c:numRef>
          </c:val>
          <c:extLst>
            <c:ext xmlns:c16="http://schemas.microsoft.com/office/drawing/2014/chart" uri="{C3380CC4-5D6E-409C-BE32-E72D297353CC}">
              <c16:uniqueId val="{00000000-1CC5-4DA9-9EEE-149AA4E2F89A}"/>
            </c:ext>
          </c:extLst>
        </c:ser>
        <c:ser>
          <c:idx val="1"/>
          <c:order val="1"/>
          <c:tx>
            <c:strRef>
              <c:f>'SBE1 Risk Drivers'!$Y$4</c:f>
              <c:strCache>
                <c:ptCount val="1"/>
                <c:pt idx="0">
                  <c:v>Historical Data (2011 - 2017)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'SBE1 Risk Drivers'!$I$40:$I$43</c:f>
              <c:numCache>
                <c:formatCode>0.00%</c:formatCode>
                <c:ptCount val="4"/>
                <c:pt idx="0">
                  <c:v>0.12799069809042529</c:v>
                </c:pt>
                <c:pt idx="1">
                  <c:v>0.80993694378605607</c:v>
                </c:pt>
                <c:pt idx="2">
                  <c:v>5.0117019215002313E-2</c:v>
                </c:pt>
                <c:pt idx="3">
                  <c:v>1.1955338908516315E-2</c:v>
                </c:pt>
              </c:numCache>
            </c:numRef>
          </c:val>
          <c:extLst>
            <c:ext xmlns:c16="http://schemas.microsoft.com/office/drawing/2014/chart" uri="{C3380CC4-5D6E-409C-BE32-E72D297353CC}">
              <c16:uniqueId val="{00000001-1CC5-4DA9-9EEE-149AA4E2F89A}"/>
            </c:ext>
          </c:extLst>
        </c:ser>
        <c:dLbls>
          <c:dLblPos val="outEnd"/>
          <c:showLegendKey val="0"/>
          <c:showVal val="1"/>
          <c:showCatName val="0"/>
          <c:showSerName val="0"/>
          <c:showPercent val="0"/>
          <c:showBubbleSize val="0"/>
        </c:dLbls>
        <c:gapWidth val="219"/>
        <c:overlap val="-27"/>
        <c:axId val="381172840"/>
        <c:axId val="381179400"/>
      </c:barChart>
      <c:catAx>
        <c:axId val="38117284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Max Delinquent Days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1179400"/>
        <c:crosses val="autoZero"/>
        <c:auto val="1"/>
        <c:lblAlgn val="ctr"/>
        <c:lblOffset val="100"/>
        <c:noMultiLvlLbl val="0"/>
      </c:catAx>
      <c:valAx>
        <c:axId val="3811794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117284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Drivers'!$B$40:$B$43</c:f>
              <c:strCache>
                <c:ptCount val="4"/>
                <c:pt idx="0">
                  <c:v>New Customer</c:v>
                </c:pt>
                <c:pt idx="1">
                  <c:v>0 - 30</c:v>
                </c:pt>
                <c:pt idx="2">
                  <c:v>30 - 61</c:v>
                </c:pt>
                <c:pt idx="3">
                  <c:v>&gt;= 61</c:v>
                </c:pt>
              </c:strCache>
            </c:strRef>
          </c:cat>
          <c:val>
            <c:numRef>
              <c:f>'SBE1 Risk Drivers'!$C$40:$C$43</c:f>
              <c:numCache>
                <c:formatCode>0.00%</c:formatCode>
                <c:ptCount val="4"/>
                <c:pt idx="0">
                  <c:v>6.25E-2</c:v>
                </c:pt>
                <c:pt idx="1">
                  <c:v>0.90629999999999999</c:v>
                </c:pt>
                <c:pt idx="2">
                  <c:v>3.1300000000000001E-2</c:v>
                </c:pt>
                <c:pt idx="3">
                  <c:v>0</c:v>
                </c:pt>
              </c:numCache>
            </c:numRef>
          </c:val>
          <c:extLst>
            <c:ext xmlns:c16="http://schemas.microsoft.com/office/drawing/2014/chart" uri="{C3380CC4-5D6E-409C-BE32-E72D297353CC}">
              <c16:uniqueId val="{00000000-3E60-417E-9A26-B4AB785FCC44}"/>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Drivers'!$B$40:$B$43</c:f>
              <c:strCache>
                <c:ptCount val="4"/>
                <c:pt idx="0">
                  <c:v>New Customer</c:v>
                </c:pt>
                <c:pt idx="1">
                  <c:v>0 - 30</c:v>
                </c:pt>
                <c:pt idx="2">
                  <c:v>30 - 61</c:v>
                </c:pt>
                <c:pt idx="3">
                  <c:v>&gt;= 61</c:v>
                </c:pt>
              </c:strCache>
            </c:strRef>
          </c:cat>
          <c:val>
            <c:numRef>
              <c:f>'SBE1 Risk Drivers'!$D$40:$D$43</c:f>
              <c:numCache>
                <c:formatCode>0.00%</c:formatCode>
                <c:ptCount val="4"/>
                <c:pt idx="0">
                  <c:v>0.14599999999999999</c:v>
                </c:pt>
                <c:pt idx="1">
                  <c:v>0.80789999999999995</c:v>
                </c:pt>
                <c:pt idx="2">
                  <c:v>4.4200000000000003E-2</c:v>
                </c:pt>
                <c:pt idx="3">
                  <c:v>1.9E-3</c:v>
                </c:pt>
              </c:numCache>
            </c:numRef>
          </c:val>
          <c:extLst>
            <c:ext xmlns:c16="http://schemas.microsoft.com/office/drawing/2014/chart" uri="{C3380CC4-5D6E-409C-BE32-E72D297353CC}">
              <c16:uniqueId val="{00000001-3E60-417E-9A26-B4AB785FCC44}"/>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Drivers'!$B$40:$B$43</c:f>
              <c:strCache>
                <c:ptCount val="4"/>
                <c:pt idx="0">
                  <c:v>New Customer</c:v>
                </c:pt>
                <c:pt idx="1">
                  <c:v>0 - 30</c:v>
                </c:pt>
                <c:pt idx="2">
                  <c:v>30 - 61</c:v>
                </c:pt>
                <c:pt idx="3">
                  <c:v>&gt;= 61</c:v>
                </c:pt>
              </c:strCache>
            </c:strRef>
          </c:cat>
          <c:val>
            <c:numRef>
              <c:f>'SBE1 Risk Drivers'!$E$40:$E$43</c:f>
              <c:numCache>
                <c:formatCode>0.00%</c:formatCode>
                <c:ptCount val="4"/>
                <c:pt idx="0">
                  <c:v>8.77E-2</c:v>
                </c:pt>
                <c:pt idx="1">
                  <c:v>0.84940000000000004</c:v>
                </c:pt>
                <c:pt idx="2">
                  <c:v>4.6100000000000002E-2</c:v>
                </c:pt>
                <c:pt idx="3">
                  <c:v>1.67E-2</c:v>
                </c:pt>
              </c:numCache>
            </c:numRef>
          </c:val>
          <c:extLst>
            <c:ext xmlns:c16="http://schemas.microsoft.com/office/drawing/2014/chart" uri="{C3380CC4-5D6E-409C-BE32-E72D297353CC}">
              <c16:uniqueId val="{00000002-3E60-417E-9A26-B4AB785FCC44}"/>
            </c:ext>
          </c:extLst>
        </c:ser>
        <c:dLbls>
          <c:dLblPos val="outEnd"/>
          <c:showLegendKey val="0"/>
          <c:showVal val="1"/>
          <c:showCatName val="0"/>
          <c:showSerName val="0"/>
          <c:showPercent val="0"/>
          <c:showBubbleSize val="0"/>
        </c:dLbls>
        <c:gapWidth val="219"/>
        <c:overlap val="-27"/>
        <c:axId val="535018904"/>
        <c:axId val="535019888"/>
      </c:barChart>
      <c:catAx>
        <c:axId val="53501890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Max Delinquent Days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5019888"/>
        <c:crosses val="autoZero"/>
        <c:auto val="1"/>
        <c:lblAlgn val="ctr"/>
        <c:lblOffset val="100"/>
        <c:noMultiLvlLbl val="0"/>
      </c:catAx>
      <c:valAx>
        <c:axId val="5350198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50189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'SBE1 Risk Drivers'!$Y$3</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'SBE1 Risk Drivers'!$A$52:$A$54</c:f>
              <c:numCache>
                <c:formatCode>General</c:formatCode>
                <c:ptCount val="3"/>
                <c:pt idx="0">
                  <c:v>0</c:v>
                </c:pt>
                <c:pt idx="1">
                  <c:v>9</c:v>
                </c:pt>
                <c:pt idx="2">
                  <c:v>22</c:v>
                </c:pt>
              </c:numCache>
            </c:numRef>
          </c:cat>
          <c:val>
            <c:numRef>
              <c:f>'SBE1 Risk Drivers'!$G$52:$G$54</c:f>
              <c:numCache>
                <c:formatCode>0.00%</c:formatCode>
                <c:ptCount val="3"/>
                <c:pt idx="0">
                  <c:v>0.38376972634316447</c:v>
                </c:pt>
                <c:pt idx="1">
                  <c:v>0.55505644541639576</c:v>
                </c:pt>
                <c:pt idx="2">
                  <c:v>6.1173828240439744E-2</c:v>
                </c:pt>
              </c:numCache>
            </c:numRef>
          </c:val>
          <c:extLst>
            <c:ext xmlns:c16="http://schemas.microsoft.com/office/drawing/2014/chart" uri="{C3380CC4-5D6E-409C-BE32-E72D297353CC}">
              <c16:uniqueId val="{00000000-AA9D-4FFC-880F-1D6D517917CC}"/>
            </c:ext>
          </c:extLst>
        </c:ser>
        <c:ser>
          <c:idx val="1"/>
          <c:order val="1"/>
          <c:tx>
            <c:strRef>
              <c:f>'SBE1 Risk Drivers'!$Y$4</c:f>
              <c:strCache>
                <c:ptCount val="1"/>
                <c:pt idx="0">
                  <c:v>Historical Data (2011 - 2017)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'SBE1 Risk Drivers'!$I$52:$I$54</c:f>
              <c:numCache>
                <c:formatCode>0.00%</c:formatCode>
                <c:ptCount val="3"/>
                <c:pt idx="0">
                  <c:v>0.41077471192403442</c:v>
                </c:pt>
                <c:pt idx="1">
                  <c:v>0.50910066633871476</c:v>
                </c:pt>
                <c:pt idx="2">
                  <c:v>8.0124621737250865E-2</c:v>
                </c:pt>
              </c:numCache>
            </c:numRef>
          </c:val>
          <c:extLst>
            <c:ext xmlns:c16="http://schemas.microsoft.com/office/drawing/2014/chart" uri="{C3380CC4-5D6E-409C-BE32-E72D297353CC}">
              <c16:uniqueId val="{00000001-AA9D-4FFC-880F-1D6D517917CC}"/>
            </c:ext>
          </c:extLst>
        </c:ser>
        <c:dLbls>
          <c:dLblPos val="outEnd"/>
          <c:showLegendKey val="0"/>
          <c:showVal val="1"/>
          <c:showCatName val="0"/>
          <c:showSerName val="0"/>
          <c:showPercent val="0"/>
          <c:showBubbleSize val="0"/>
        </c:dLbls>
        <c:gapWidth val="219"/>
        <c:overlap val="-27"/>
        <c:axId val="543215920"/>
        <c:axId val="543213624"/>
      </c:barChart>
      <c:catAx>
        <c:axId val="54321592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NAICS2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213624"/>
        <c:crosses val="autoZero"/>
        <c:auto val="1"/>
        <c:lblAlgn val="ctr"/>
        <c:lblOffset val="100"/>
        <c:noMultiLvlLbl val="0"/>
      </c:catAx>
      <c:valAx>
        <c:axId val="5432136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321592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'SBE1 Risk Drivers'!$A$52:$A$54</c:f>
              <c:numCache>
                <c:formatCode>General</c:formatCode>
                <c:ptCount val="3"/>
                <c:pt idx="0">
                  <c:v>0</c:v>
                </c:pt>
                <c:pt idx="1">
                  <c:v>9</c:v>
                </c:pt>
                <c:pt idx="2">
                  <c:v>22</c:v>
                </c:pt>
              </c:numCache>
            </c:numRef>
          </c:cat>
          <c:val>
            <c:numRef>
              <c:f>'SBE1 Risk Drivers'!$C$52:$C$54</c:f>
              <c:numCache>
                <c:formatCode>0.00%</c:formatCode>
                <c:ptCount val="3"/>
                <c:pt idx="0">
                  <c:v>0.46879999999999999</c:v>
                </c:pt>
                <c:pt idx="1">
                  <c:v>0.4375</c:v>
                </c:pt>
                <c:pt idx="2">
                  <c:v>9.3799999999999994E-2</c:v>
                </c:pt>
              </c:numCache>
            </c:numRef>
          </c:val>
          <c:extLst>
            <c:ext xmlns:c16="http://schemas.microsoft.com/office/drawing/2014/chart" uri="{C3380CC4-5D6E-409C-BE32-E72D297353CC}">
              <c16:uniqueId val="{00000000-2122-4607-91BD-BF45430EE501}"/>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'SBE1 Risk Drivers'!$A$52:$A$54</c:f>
              <c:numCache>
                <c:formatCode>General</c:formatCode>
                <c:ptCount val="3"/>
                <c:pt idx="0">
                  <c:v>0</c:v>
                </c:pt>
                <c:pt idx="1">
                  <c:v>9</c:v>
                </c:pt>
                <c:pt idx="2">
                  <c:v>22</c:v>
                </c:pt>
              </c:numCache>
            </c:numRef>
          </c:cat>
          <c:val>
            <c:numRef>
              <c:f>'SBE1 Risk Drivers'!$D$52:$D$54</c:f>
              <c:numCache>
                <c:formatCode>0.00%</c:formatCode>
                <c:ptCount val="3"/>
                <c:pt idx="0">
                  <c:v>0.97209999999999996</c:v>
                </c:pt>
                <c:pt idx="1">
                  <c:v>2.7900000000000001E-2</c:v>
                </c:pt>
                <c:pt idx="2">
                  <c:v>0</c:v>
                </c:pt>
              </c:numCache>
            </c:numRef>
          </c:val>
          <c:extLst>
            <c:ext xmlns:c16="http://schemas.microsoft.com/office/drawing/2014/chart" uri="{C3380CC4-5D6E-409C-BE32-E72D297353CC}">
              <c16:uniqueId val="{00000001-2122-4607-91BD-BF45430EE501}"/>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'SBE1 Risk Drivers'!$A$52:$A$54</c:f>
              <c:numCache>
                <c:formatCode>General</c:formatCode>
                <c:ptCount val="3"/>
                <c:pt idx="0">
                  <c:v>0</c:v>
                </c:pt>
                <c:pt idx="1">
                  <c:v>9</c:v>
                </c:pt>
                <c:pt idx="2">
                  <c:v>22</c:v>
                </c:pt>
              </c:numCache>
            </c:numRef>
          </c:cat>
          <c:val>
            <c:numRef>
              <c:f>'SBE1 Risk Drivers'!$E$52:$E$54</c:f>
              <c:numCache>
                <c:formatCode>0.00%</c:formatCode>
                <c:ptCount val="3"/>
                <c:pt idx="0">
                  <c:v>0.34499999999999997</c:v>
                </c:pt>
                <c:pt idx="1">
                  <c:v>0.58989999999999998</c:v>
                </c:pt>
                <c:pt idx="2">
                  <c:v>6.5100000000000005E-2</c:v>
                </c:pt>
              </c:numCache>
            </c:numRef>
          </c:val>
          <c:extLst>
            <c:ext xmlns:c16="http://schemas.microsoft.com/office/drawing/2014/chart" uri="{C3380CC4-5D6E-409C-BE32-E72D297353CC}">
              <c16:uniqueId val="{00000002-2122-4607-91BD-BF45430EE501}"/>
            </c:ext>
          </c:extLst>
        </c:ser>
        <c:dLbls>
          <c:dLblPos val="outEnd"/>
          <c:showLegendKey val="0"/>
          <c:showVal val="1"/>
          <c:showCatName val="0"/>
          <c:showSerName val="0"/>
          <c:showPercent val="0"/>
          <c:showBubbleSize val="0"/>
        </c:dLbls>
        <c:gapWidth val="219"/>
        <c:overlap val="-27"/>
        <c:axId val="473701072"/>
        <c:axId val="473703040"/>
      </c:barChart>
      <c:catAx>
        <c:axId val="47370107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NAICS2 Score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73703040"/>
        <c:crosses val="autoZero"/>
        <c:auto val="1"/>
        <c:lblAlgn val="ctr"/>
        <c:lblOffset val="100"/>
        <c:noMultiLvlLbl val="0"/>
      </c:catAx>
      <c:valAx>
        <c:axId val="4737030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737010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'SBE1 Risk Drivers'!$Y$3</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Drivers'!$B$14:$B$16</c:f>
              <c:strCache>
                <c:ptCount val="3"/>
                <c:pt idx="0">
                  <c:v>&lt; 2 or Missing</c:v>
                </c:pt>
                <c:pt idx="1">
                  <c:v>2 - 6</c:v>
                </c:pt>
                <c:pt idx="2">
                  <c:v>&gt;= 6</c:v>
                </c:pt>
              </c:strCache>
            </c:strRef>
          </c:cat>
          <c:val>
            <c:numRef>
              <c:f>'SBE1 Risk Drivers'!$G$14:$G$16</c:f>
              <c:numCache>
                <c:formatCode>0.00%</c:formatCode>
                <c:ptCount val="3"/>
                <c:pt idx="0">
                  <c:v>0.72722974171050303</c:v>
                </c:pt>
                <c:pt idx="1">
                  <c:v>0.24611383651516047</c:v>
                </c:pt>
                <c:pt idx="2">
                  <c:v>2.6656421774336546E-2</c:v>
                </c:pt>
              </c:numCache>
            </c:numRef>
          </c:val>
          <c:extLst>
            <c:ext xmlns:c16="http://schemas.microsoft.com/office/drawing/2014/chart" uri="{C3380CC4-5D6E-409C-BE32-E72D297353CC}">
              <c16:uniqueId val="{00000000-061D-42F3-8B19-1A99D1376AB9}"/>
            </c:ext>
          </c:extLst>
        </c:ser>
        <c:ser>
          <c:idx val="1"/>
          <c:order val="1"/>
          <c:tx>
            <c:strRef>
              <c:f>'SBE1 Risk Drivers'!$Y$4</c:f>
              <c:strCache>
                <c:ptCount val="1"/>
                <c:pt idx="0">
                  <c:v>Historical Data (2011 - 2017)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'SBE1 Risk Drivers'!$I$14:$I$16</c:f>
              <c:numCache>
                <c:formatCode>0.00%</c:formatCode>
                <c:ptCount val="3"/>
                <c:pt idx="0">
                  <c:v>0.66563809012715591</c:v>
                </c:pt>
                <c:pt idx="1">
                  <c:v>0.29828719645811902</c:v>
                </c:pt>
                <c:pt idx="2">
                  <c:v>3.607471341472504E-2</c:v>
                </c:pt>
              </c:numCache>
            </c:numRef>
          </c:val>
          <c:extLst>
            <c:ext xmlns:c16="http://schemas.microsoft.com/office/drawing/2014/chart" uri="{C3380CC4-5D6E-409C-BE32-E72D297353CC}">
              <c16:uniqueId val="{00000001-061D-42F3-8B19-1A99D1376AB9}"/>
            </c:ext>
          </c:extLst>
        </c:ser>
        <c:dLbls>
          <c:dLblPos val="outEnd"/>
          <c:showLegendKey val="0"/>
          <c:showVal val="1"/>
          <c:showCatName val="0"/>
          <c:showSerName val="0"/>
          <c:showPercent val="0"/>
          <c:showBubbleSize val="0"/>
        </c:dLbls>
        <c:gapWidth val="219"/>
        <c:overlap val="-27"/>
        <c:axId val="541331808"/>
        <c:axId val="541328200"/>
      </c:barChart>
      <c:catAx>
        <c:axId val="5413318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Inquiries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328200"/>
        <c:crosses val="autoZero"/>
        <c:auto val="1"/>
        <c:lblAlgn val="ctr"/>
        <c:lblOffset val="100"/>
        <c:noMultiLvlLbl val="0"/>
      </c:catAx>
      <c:valAx>
        <c:axId val="5413282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33180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Drivers'!$B$14:$B$16</c:f>
              <c:strCache>
                <c:ptCount val="3"/>
                <c:pt idx="0">
                  <c:v>&lt; 2 or Missing</c:v>
                </c:pt>
                <c:pt idx="1">
                  <c:v>2 - 6</c:v>
                </c:pt>
                <c:pt idx="2">
                  <c:v>&gt;= 6</c:v>
                </c:pt>
              </c:strCache>
            </c:strRef>
          </c:cat>
          <c:val>
            <c:numRef>
              <c:f>'SBE1 Risk Drivers'!$C$14:$C$16</c:f>
              <c:numCache>
                <c:formatCode>0.00%</c:formatCode>
                <c:ptCount val="3"/>
                <c:pt idx="0">
                  <c:v>0.78129999999999999</c:v>
                </c:pt>
                <c:pt idx="1">
                  <c:v>0.1875</c:v>
                </c:pt>
                <c:pt idx="2">
                  <c:v>3.1300000000000001E-2</c:v>
                </c:pt>
              </c:numCache>
            </c:numRef>
          </c:val>
          <c:extLst>
            <c:ext xmlns:c16="http://schemas.microsoft.com/office/drawing/2014/chart" uri="{C3380CC4-5D6E-409C-BE32-E72D297353CC}">
              <c16:uniqueId val="{00000000-2110-44DD-B7F9-3EED3E3A4036}"/>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Drivers'!$B$14:$B$16</c:f>
              <c:strCache>
                <c:ptCount val="3"/>
                <c:pt idx="0">
                  <c:v>&lt; 2 or Missing</c:v>
                </c:pt>
                <c:pt idx="1">
                  <c:v>2 - 6</c:v>
                </c:pt>
                <c:pt idx="2">
                  <c:v>&gt;= 6</c:v>
                </c:pt>
              </c:strCache>
            </c:strRef>
          </c:cat>
          <c:val>
            <c:numRef>
              <c:f>'SBE1 Risk Drivers'!$D$14:$D$16</c:f>
              <c:numCache>
                <c:formatCode>0.00%</c:formatCode>
                <c:ptCount val="3"/>
                <c:pt idx="0">
                  <c:v>0.67720000000000002</c:v>
                </c:pt>
                <c:pt idx="1">
                  <c:v>0.26900000000000002</c:v>
                </c:pt>
                <c:pt idx="2">
                  <c:v>5.3800000000000001E-2</c:v>
                </c:pt>
              </c:numCache>
            </c:numRef>
          </c:val>
          <c:extLst>
            <c:ext xmlns:c16="http://schemas.microsoft.com/office/drawing/2014/chart" uri="{C3380CC4-5D6E-409C-BE32-E72D297353CC}">
              <c16:uniqueId val="{00000001-2110-44DD-B7F9-3EED3E3A4036}"/>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Drivers'!$B$14:$B$16</c:f>
              <c:strCache>
                <c:ptCount val="3"/>
                <c:pt idx="0">
                  <c:v>&lt; 2 or Missing</c:v>
                </c:pt>
                <c:pt idx="1">
                  <c:v>2 - 6</c:v>
                </c:pt>
                <c:pt idx="2">
                  <c:v>&gt;= 6</c:v>
                </c:pt>
              </c:strCache>
            </c:strRef>
          </c:cat>
          <c:val>
            <c:numRef>
              <c:f>'SBE1 Risk Drivers'!$E$14:$E$16</c:f>
              <c:numCache>
                <c:formatCode>0.00%</c:formatCode>
                <c:ptCount val="3"/>
                <c:pt idx="0">
                  <c:v>0.73040000000000005</c:v>
                </c:pt>
                <c:pt idx="1">
                  <c:v>0.2447</c:v>
                </c:pt>
                <c:pt idx="2">
                  <c:v>2.4899999999999999E-2</c:v>
                </c:pt>
              </c:numCache>
            </c:numRef>
          </c:val>
          <c:extLst>
            <c:ext xmlns:c16="http://schemas.microsoft.com/office/drawing/2014/chart" uri="{C3380CC4-5D6E-409C-BE32-E72D297353CC}">
              <c16:uniqueId val="{00000002-2110-44DD-B7F9-3EED3E3A4036}"/>
            </c:ext>
          </c:extLst>
        </c:ser>
        <c:dLbls>
          <c:dLblPos val="outEnd"/>
          <c:showLegendKey val="0"/>
          <c:showVal val="1"/>
          <c:showCatName val="0"/>
          <c:showSerName val="0"/>
          <c:showPercent val="0"/>
          <c:showBubbleSize val="0"/>
        </c:dLbls>
        <c:gapWidth val="219"/>
        <c:overlap val="-27"/>
        <c:axId val="535043504"/>
        <c:axId val="535049736"/>
      </c:barChart>
      <c:catAx>
        <c:axId val="53504350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Inquiries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5049736"/>
        <c:crosses val="autoZero"/>
        <c:auto val="1"/>
        <c:lblAlgn val="ctr"/>
        <c:lblOffset val="100"/>
        <c:noMultiLvlLbl val="0"/>
      </c:catAx>
      <c:valAx>
        <c:axId val="5350497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50435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'SBE1 Risk Drivers'!$Y$3</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Drivers'!$B$5:$B$8</c:f>
              <c:strCache>
                <c:ptCount val="4"/>
                <c:pt idx="0">
                  <c:v> &lt; 95 or Missing</c:v>
                </c:pt>
                <c:pt idx="1">
                  <c:v>95 - 158</c:v>
                </c:pt>
                <c:pt idx="2">
                  <c:v>158 - 225</c:v>
                </c:pt>
                <c:pt idx="3">
                  <c:v>&gt;= 225</c:v>
                </c:pt>
              </c:strCache>
            </c:strRef>
          </c:cat>
          <c:val>
            <c:numRef>
              <c:f>'SBE1 Risk Drivers'!$G$5:$G$8</c:f>
              <c:numCache>
                <c:formatCode>0.00%</c:formatCode>
                <c:ptCount val="4"/>
                <c:pt idx="0">
                  <c:v>0.12589396536438324</c:v>
                </c:pt>
                <c:pt idx="1">
                  <c:v>0.24038063715349606</c:v>
                </c:pt>
                <c:pt idx="2">
                  <c:v>0.24729593947632839</c:v>
                </c:pt>
                <c:pt idx="3">
                  <c:v>0.38642945800579231</c:v>
                </c:pt>
              </c:numCache>
            </c:numRef>
          </c:val>
          <c:extLst>
            <c:ext xmlns:c16="http://schemas.microsoft.com/office/drawing/2014/chart" uri="{C3380CC4-5D6E-409C-BE32-E72D297353CC}">
              <c16:uniqueId val="{00000000-592E-44AF-82D9-9175894DA5F3}"/>
            </c:ext>
          </c:extLst>
        </c:ser>
        <c:ser>
          <c:idx val="1"/>
          <c:order val="1"/>
          <c:tx>
            <c:strRef>
              <c:f>'SBE1 Risk Drivers'!$Y$4</c:f>
              <c:strCache>
                <c:ptCount val="1"/>
                <c:pt idx="0">
                  <c:v>Historical Data (2011 - 2017)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'SBE1 Risk Drivers'!$I$5:$I$8</c:f>
              <c:numCache>
                <c:formatCode>0.00%</c:formatCode>
                <c:ptCount val="4"/>
                <c:pt idx="0">
                  <c:v>0.11379932322645081</c:v>
                </c:pt>
                <c:pt idx="1">
                  <c:v>0.28506477050817641</c:v>
                </c:pt>
                <c:pt idx="2">
                  <c:v>0.2513751621126068</c:v>
                </c:pt>
                <c:pt idx="3">
                  <c:v>0.34976074415276598</c:v>
                </c:pt>
              </c:numCache>
            </c:numRef>
          </c:val>
          <c:extLst>
            <c:ext xmlns:c16="http://schemas.microsoft.com/office/drawing/2014/chart" uri="{C3380CC4-5D6E-409C-BE32-E72D297353CC}">
              <c16:uniqueId val="{00000001-592E-44AF-82D9-9175894DA5F3}"/>
            </c:ext>
          </c:extLst>
        </c:ser>
        <c:dLbls>
          <c:dLblPos val="outEnd"/>
          <c:showLegendKey val="0"/>
          <c:showVal val="1"/>
          <c:showCatName val="0"/>
          <c:showSerName val="0"/>
          <c:showPercent val="0"/>
          <c:showBubbleSize val="0"/>
        </c:dLbls>
        <c:gapWidth val="219"/>
        <c:overlap val="-27"/>
        <c:axId val="603206888"/>
        <c:axId val="603211808"/>
      </c:barChart>
      <c:catAx>
        <c:axId val="60320688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Age of Oldest Trade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3211808"/>
        <c:crosses val="autoZero"/>
        <c:auto val="1"/>
        <c:lblAlgn val="ctr"/>
        <c:lblOffset val="100"/>
        <c:noMultiLvlLbl val="0"/>
      </c:catAx>
      <c:valAx>
        <c:axId val="6032118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320688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Drivers'!$B$5:$B$8</c:f>
              <c:strCache>
                <c:ptCount val="4"/>
                <c:pt idx="0">
                  <c:v> &lt; 95 or Missing</c:v>
                </c:pt>
                <c:pt idx="1">
                  <c:v>95 - 158</c:v>
                </c:pt>
                <c:pt idx="2">
                  <c:v>158 - 225</c:v>
                </c:pt>
                <c:pt idx="3">
                  <c:v>&gt;= 225</c:v>
                </c:pt>
              </c:strCache>
            </c:strRef>
          </c:cat>
          <c:val>
            <c:numRef>
              <c:f>'SBE1 Risk Drivers'!$C$5:$C$8</c:f>
              <c:numCache>
                <c:formatCode>0.00%</c:formatCode>
                <c:ptCount val="4"/>
                <c:pt idx="0">
                  <c:v>6.25E-2</c:v>
                </c:pt>
                <c:pt idx="1">
                  <c:v>0.125</c:v>
                </c:pt>
                <c:pt idx="2">
                  <c:v>0.21879999999999999</c:v>
                </c:pt>
                <c:pt idx="3">
                  <c:v>0.59379999999999999</c:v>
                </c:pt>
              </c:numCache>
            </c:numRef>
          </c:val>
          <c:extLst>
            <c:ext xmlns:c16="http://schemas.microsoft.com/office/drawing/2014/chart" uri="{C3380CC4-5D6E-409C-BE32-E72D297353CC}">
              <c16:uniqueId val="{00000000-3EDA-4681-A62A-F7EA5EF067B1}"/>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Drivers'!$B$5:$B$8</c:f>
              <c:strCache>
                <c:ptCount val="4"/>
                <c:pt idx="0">
                  <c:v> &lt; 95 or Missing</c:v>
                </c:pt>
                <c:pt idx="1">
                  <c:v>95 - 158</c:v>
                </c:pt>
                <c:pt idx="2">
                  <c:v>158 - 225</c:v>
                </c:pt>
                <c:pt idx="3">
                  <c:v>&gt;= 225</c:v>
                </c:pt>
              </c:strCache>
            </c:strRef>
          </c:cat>
          <c:val>
            <c:numRef>
              <c:f>'SBE1 Risk Drivers'!$D$5:$D$8</c:f>
              <c:numCache>
                <c:formatCode>0.00%</c:formatCode>
                <c:ptCount val="4"/>
                <c:pt idx="0">
                  <c:v>0.21709999999999999</c:v>
                </c:pt>
                <c:pt idx="1">
                  <c:v>0.32279999999999998</c:v>
                </c:pt>
                <c:pt idx="2">
                  <c:v>0.2382</c:v>
                </c:pt>
                <c:pt idx="3">
                  <c:v>0.22189999999999999</c:v>
                </c:pt>
              </c:numCache>
            </c:numRef>
          </c:val>
          <c:extLst>
            <c:ext xmlns:c16="http://schemas.microsoft.com/office/drawing/2014/chart" uri="{C3380CC4-5D6E-409C-BE32-E72D297353CC}">
              <c16:uniqueId val="{00000001-3EDA-4681-A62A-F7EA5EF067B1}"/>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Drivers'!$B$5:$B$8</c:f>
              <c:strCache>
                <c:ptCount val="4"/>
                <c:pt idx="0">
                  <c:v> &lt; 95 or Missing</c:v>
                </c:pt>
                <c:pt idx="1">
                  <c:v>95 - 158</c:v>
                </c:pt>
                <c:pt idx="2">
                  <c:v>158 - 225</c:v>
                </c:pt>
                <c:pt idx="3">
                  <c:v>&gt;= 225</c:v>
                </c:pt>
              </c:strCache>
            </c:strRef>
          </c:cat>
          <c:val>
            <c:numRef>
              <c:f>'SBE1 Risk Drivers'!$E$5:$E$8</c:f>
              <c:numCache>
                <c:formatCode>0.00%</c:formatCode>
                <c:ptCount val="4"/>
                <c:pt idx="0">
                  <c:v>0.12</c:v>
                </c:pt>
                <c:pt idx="1">
                  <c:v>0.23519999999999999</c:v>
                </c:pt>
                <c:pt idx="2">
                  <c:v>0.248</c:v>
                </c:pt>
                <c:pt idx="3">
                  <c:v>0.39679999999999999</c:v>
                </c:pt>
              </c:numCache>
            </c:numRef>
          </c:val>
          <c:extLst>
            <c:ext xmlns:c16="http://schemas.microsoft.com/office/drawing/2014/chart" uri="{C3380CC4-5D6E-409C-BE32-E72D297353CC}">
              <c16:uniqueId val="{00000002-3EDA-4681-A62A-F7EA5EF067B1}"/>
            </c:ext>
          </c:extLst>
        </c:ser>
        <c:dLbls>
          <c:dLblPos val="outEnd"/>
          <c:showLegendKey val="0"/>
          <c:showVal val="1"/>
          <c:showCatName val="0"/>
          <c:showSerName val="0"/>
          <c:showPercent val="0"/>
          <c:showBubbleSize val="0"/>
        </c:dLbls>
        <c:gapWidth val="219"/>
        <c:overlap val="-27"/>
        <c:axId val="540222096"/>
        <c:axId val="540220456"/>
      </c:barChart>
      <c:catAx>
        <c:axId val="54022209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Age of Oldest Trade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0220456"/>
        <c:crosses val="autoZero"/>
        <c:auto val="1"/>
        <c:lblAlgn val="ctr"/>
        <c:lblOffset val="100"/>
        <c:noMultiLvlLbl val="0"/>
      </c:catAx>
      <c:valAx>
        <c:axId val="5402204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02220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'SBE1 Risk Drivers'!$Y$3</c:f>
              <c:strCache>
                <c:ptCount val="1"/>
                <c:pt idx="0">
                  <c:v>Current Portfolio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Drivers'!$B$32:$B$34</c:f>
              <c:strCache>
                <c:ptCount val="3"/>
                <c:pt idx="0">
                  <c:v>&lt; 39 or Missing</c:v>
                </c:pt>
                <c:pt idx="1">
                  <c:v>39 - 545</c:v>
                </c:pt>
                <c:pt idx="2">
                  <c:v>&gt;= 545</c:v>
                </c:pt>
              </c:strCache>
            </c:strRef>
          </c:cat>
          <c:val>
            <c:numRef>
              <c:f>'SBE1 Risk Drivers'!$G$32:$G$34</c:f>
              <c:numCache>
                <c:formatCode>0.00%</c:formatCode>
                <c:ptCount val="3"/>
                <c:pt idx="0">
                  <c:v>0.92824635025710744</c:v>
                </c:pt>
                <c:pt idx="1">
                  <c:v>3.2389621136000947E-2</c:v>
                </c:pt>
                <c:pt idx="2">
                  <c:v>3.9364028606891657E-2</c:v>
                </c:pt>
              </c:numCache>
            </c:numRef>
          </c:val>
          <c:extLst>
            <c:ext xmlns:c16="http://schemas.microsoft.com/office/drawing/2014/chart" uri="{C3380CC4-5D6E-409C-BE32-E72D297353CC}">
              <c16:uniqueId val="{00000000-6A18-41FA-B459-6CF4070EC5A7}"/>
            </c:ext>
          </c:extLst>
        </c:ser>
        <c:ser>
          <c:idx val="1"/>
          <c:order val="1"/>
          <c:tx>
            <c:strRef>
              <c:f>'SBE1 Risk Drivers'!$Y$4</c:f>
              <c:strCache>
                <c:ptCount val="1"/>
                <c:pt idx="0">
                  <c:v>Historical Data (2011 - 2017)</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'SBE1 Risk Drivers'!$I$32:$I$34</c:f>
              <c:numCache>
                <c:formatCode>0.00%</c:formatCode>
                <c:ptCount val="3"/>
                <c:pt idx="0">
                  <c:v>0.91623809310853721</c:v>
                </c:pt>
                <c:pt idx="1">
                  <c:v>4.8536887139811878E-2</c:v>
                </c:pt>
                <c:pt idx="2">
                  <c:v>3.5225019751650939E-2</c:v>
                </c:pt>
              </c:numCache>
            </c:numRef>
          </c:val>
          <c:extLst>
            <c:ext xmlns:c16="http://schemas.microsoft.com/office/drawing/2014/chart" uri="{C3380CC4-5D6E-409C-BE32-E72D297353CC}">
              <c16:uniqueId val="{00000001-6A18-41FA-B459-6CF4070EC5A7}"/>
            </c:ext>
          </c:extLst>
        </c:ser>
        <c:dLbls>
          <c:dLblPos val="outEnd"/>
          <c:showLegendKey val="0"/>
          <c:showVal val="1"/>
          <c:showCatName val="0"/>
          <c:showSerName val="0"/>
          <c:showPercent val="0"/>
          <c:showBubbleSize val="0"/>
        </c:dLbls>
        <c:gapWidth val="219"/>
        <c:overlap val="-27"/>
        <c:axId val="544666232"/>
        <c:axId val="544666560"/>
      </c:barChart>
      <c:catAx>
        <c:axId val="5446662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Current Delinquent Amount</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4666560"/>
        <c:crosses val="autoZero"/>
        <c:auto val="1"/>
        <c:lblAlgn val="ctr"/>
        <c:lblOffset val="100"/>
        <c:noMultiLvlLbl val="0"/>
      </c:catAx>
      <c:valAx>
        <c:axId val="5446665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466623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Non-EFG/Non-NL</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Drivers'!$B$32:$B$34</c:f>
              <c:strCache>
                <c:ptCount val="3"/>
                <c:pt idx="0">
                  <c:v>&lt; 39 or Missing</c:v>
                </c:pt>
                <c:pt idx="1">
                  <c:v>39 - 545</c:v>
                </c:pt>
                <c:pt idx="2">
                  <c:v>&gt;= 545</c:v>
                </c:pt>
              </c:strCache>
            </c:strRef>
          </c:cat>
          <c:val>
            <c:numRef>
              <c:f>'SBE1 Risk Drivers'!$C$32:$C$34</c:f>
              <c:numCache>
                <c:formatCode>0.00%</c:formatCode>
                <c:ptCount val="3"/>
                <c:pt idx="0">
                  <c:v>0.96879999999999999</c:v>
                </c:pt>
                <c:pt idx="1">
                  <c:v>0</c:v>
                </c:pt>
                <c:pt idx="2">
                  <c:v>3.1300000000000001E-2</c:v>
                </c:pt>
              </c:numCache>
            </c:numRef>
          </c:val>
          <c:extLst>
            <c:ext xmlns:c16="http://schemas.microsoft.com/office/drawing/2014/chart" uri="{C3380CC4-5D6E-409C-BE32-E72D297353CC}">
              <c16:uniqueId val="{00000000-6AB1-46E3-B265-70433336D1CB}"/>
            </c:ext>
          </c:extLst>
        </c:ser>
        <c:ser>
          <c:idx val="1"/>
          <c:order val="1"/>
          <c:tx>
            <c:v>EFG</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Drivers'!$B$32:$B$34</c:f>
              <c:strCache>
                <c:ptCount val="3"/>
                <c:pt idx="0">
                  <c:v>&lt; 39 or Missing</c:v>
                </c:pt>
                <c:pt idx="1">
                  <c:v>39 - 545</c:v>
                </c:pt>
                <c:pt idx="2">
                  <c:v>&gt;= 545</c:v>
                </c:pt>
              </c:strCache>
            </c:strRef>
          </c:cat>
          <c:val>
            <c:numRef>
              <c:f>'SBE1 Risk Drivers'!$D$32:$D$34</c:f>
              <c:numCache>
                <c:formatCode>0.00%</c:formatCode>
                <c:ptCount val="3"/>
                <c:pt idx="0">
                  <c:v>0.88759999999999994</c:v>
                </c:pt>
                <c:pt idx="1">
                  <c:v>4.1300000000000003E-2</c:v>
                </c:pt>
                <c:pt idx="2">
                  <c:v>7.1099999999999997E-2</c:v>
                </c:pt>
              </c:numCache>
            </c:numRef>
          </c:val>
          <c:extLst>
            <c:ext xmlns:c16="http://schemas.microsoft.com/office/drawing/2014/chart" uri="{C3380CC4-5D6E-409C-BE32-E72D297353CC}">
              <c16:uniqueId val="{00000001-6AB1-46E3-B265-70433336D1CB}"/>
            </c:ext>
          </c:extLst>
        </c:ser>
        <c:ser>
          <c:idx val="2"/>
          <c:order val="2"/>
          <c:tx>
            <c:v>NL</c:v>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'SBE1 Risk Drivers'!$B$32:$B$34</c:f>
              <c:strCache>
                <c:ptCount val="3"/>
                <c:pt idx="0">
                  <c:v>&lt; 39 or Missing</c:v>
                </c:pt>
                <c:pt idx="1">
                  <c:v>39 - 545</c:v>
                </c:pt>
                <c:pt idx="2">
                  <c:v>&gt;= 545</c:v>
                </c:pt>
              </c:strCache>
            </c:strRef>
          </c:cat>
          <c:val>
            <c:numRef>
              <c:f>'SBE1 Risk Drivers'!$E$32:$E$34</c:f>
              <c:numCache>
                <c:formatCode>0.00%</c:formatCode>
                <c:ptCount val="3"/>
                <c:pt idx="0">
                  <c:v>0.93079999999999996</c:v>
                </c:pt>
                <c:pt idx="1">
                  <c:v>3.1899999999999998E-2</c:v>
                </c:pt>
                <c:pt idx="2">
                  <c:v>3.73E-2</c:v>
                </c:pt>
              </c:numCache>
            </c:numRef>
          </c:val>
          <c:extLst>
            <c:ext xmlns:c16="http://schemas.microsoft.com/office/drawing/2014/chart" uri="{C3380CC4-5D6E-409C-BE32-E72D297353CC}">
              <c16:uniqueId val="{00000002-6AB1-46E3-B265-70433336D1CB}"/>
            </c:ext>
          </c:extLst>
        </c:ser>
        <c:dLbls>
          <c:dLblPos val="outEnd"/>
          <c:showLegendKey val="0"/>
          <c:showVal val="1"/>
          <c:showCatName val="0"/>
          <c:showSerName val="0"/>
          <c:showPercent val="0"/>
          <c:showBubbleSize val="0"/>
        </c:dLbls>
        <c:gapWidth val="219"/>
        <c:overlap val="-27"/>
        <c:axId val="326404704"/>
        <c:axId val="326396832"/>
      </c:barChart>
      <c:catAx>
        <c:axId val="32640470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Current Delinquent Amount</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6396832"/>
        <c:crosses val="autoZero"/>
        <c:auto val="1"/>
        <c:lblAlgn val="ctr"/>
        <c:lblOffset val="100"/>
        <c:noMultiLvlLbl val="0"/>
      </c:catAx>
      <c:valAx>
        <c:axId val="3263968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Percent of Obligors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64047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2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7F320C92-5B60-47CE-AF8E-33393E468A4F}" type="datetimeFigureOut">
              <a:rPr lang="en-CA" smtClean="0"/>
              <a:t>01/25/2021</a:t>
            </a:fld>
            <a:endParaRPr lang="en-CA"/>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D932885D-FA4E-45F3-9C34-9BE667995CEE}" type="slidenum">
              <a:rPr lang="en-CA" smtClean="0"/>
              <a:t>‹#›</a:t>
            </a:fld>
            <a:endParaRPr lang="en-CA"/>
          </a:p>
        </p:txBody>
      </p:sp>
    </p:spTree>
    <p:extLst>
      <p:ext uri="{BB962C8B-B14F-4D97-AF65-F5344CB8AC3E}">
        <p14:creationId xmlns:p14="http://schemas.microsoft.com/office/powerpoint/2010/main" val="5429650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4143375" y="0"/>
            <a:ext cx="3170238" cy="479425"/>
          </a:xfrm>
          <a:prstGeom prst="rect">
            <a:avLst/>
          </a:prstGeom>
        </p:spPr>
        <p:txBody>
          <a:bodyPr vert="horz" lIns="91440" tIns="45720" rIns="91440" bIns="45720" rtlCol="0"/>
          <a:lstStyle>
            <a:lvl1pPr algn="r">
              <a:defRPr sz="1200"/>
            </a:lvl1pPr>
          </a:lstStyle>
          <a:p>
            <a:fld id="{B0CF9F78-B7FC-4D34-B5E9-CFFF0660210F}" type="datetimeFigureOut">
              <a:rPr lang="en-CA" smtClean="0"/>
              <a:t>01/25/2021</a:t>
            </a:fld>
            <a:endParaRPr lang="en-CA"/>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1440" tIns="45720" rIns="91440" bIns="45720" rtlCol="0" anchor="b"/>
          <a:lstStyle>
            <a:lvl1pPr algn="r">
              <a:defRPr sz="1200"/>
            </a:lvl1pPr>
          </a:lstStyle>
          <a:p>
            <a:fld id="{761EB8C7-5EFC-4FA9-BA9E-FFC3022A4650}" type="slidenum">
              <a:rPr lang="en-CA" smtClean="0"/>
              <a:t>‹#›</a:t>
            </a:fld>
            <a:endParaRPr lang="en-CA"/>
          </a:p>
        </p:txBody>
      </p:sp>
    </p:spTree>
    <p:extLst>
      <p:ext uri="{BB962C8B-B14F-4D97-AF65-F5344CB8AC3E}">
        <p14:creationId xmlns:p14="http://schemas.microsoft.com/office/powerpoint/2010/main" val="114102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761EB8C7-5EFC-4FA9-BA9E-FFC3022A4650}" type="slidenum">
              <a:rPr lang="en-CA" smtClean="0"/>
              <a:t>1</a:t>
            </a:fld>
            <a:endParaRPr lang="en-CA" dirty="0"/>
          </a:p>
        </p:txBody>
      </p:sp>
    </p:spTree>
    <p:extLst>
      <p:ext uri="{BB962C8B-B14F-4D97-AF65-F5344CB8AC3E}">
        <p14:creationId xmlns:p14="http://schemas.microsoft.com/office/powerpoint/2010/main" val="4068460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761EB8C7-5EFC-4FA9-BA9E-FFC3022A4650}" type="slidenum">
              <a:rPr lang="en-CA" smtClean="0"/>
              <a:t>15</a:t>
            </a:fld>
            <a:endParaRPr lang="en-CA" dirty="0"/>
          </a:p>
        </p:txBody>
      </p:sp>
    </p:spTree>
    <p:extLst>
      <p:ext uri="{BB962C8B-B14F-4D97-AF65-F5344CB8AC3E}">
        <p14:creationId xmlns:p14="http://schemas.microsoft.com/office/powerpoint/2010/main" val="7187386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2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77826" y="2851689"/>
            <a:ext cx="6362700" cy="398089"/>
          </a:xfrm>
          <a:prstGeom prst="rect">
            <a:avLst/>
          </a:prstGeom>
        </p:spPr>
        <p:txBody>
          <a:bodyPr lIns="0" tIns="0" rIns="0" bIns="0"/>
          <a:lstStyle>
            <a:lvl1pPr marL="0" marR="0" indent="0" algn="l" defTabSz="914400" rtl="0" eaLnBrk="1" fontAlgn="auto" latinLnBrk="0" hangingPunct="1">
              <a:lnSpc>
                <a:spcPts val="2000"/>
              </a:lnSpc>
              <a:spcBef>
                <a:spcPts val="0"/>
              </a:spcBef>
              <a:spcAft>
                <a:spcPts val="0"/>
              </a:spcAft>
              <a:buClrTx/>
              <a:buSzTx/>
              <a:buFont typeface="Arial" panose="020B0604020202020204" pitchFamily="34" charset="0"/>
              <a:buNone/>
              <a:tabLst/>
              <a:defRPr sz="1400" baseline="0">
                <a:solidFill>
                  <a:schemeClr val="bg1"/>
                </a:solidFill>
                <a:latin typeface="+mn-lt"/>
                <a:cs typeface="Arial" panose="020B0604020202020204" pitchFamily="34" charset="0"/>
              </a:defRPr>
            </a:lvl1pPr>
          </a:lstStyle>
          <a:p>
            <a:r>
              <a:rPr lang="en-CA" dirty="0" smtClean="0"/>
              <a:t>Additional text…</a:t>
            </a:r>
            <a:endParaRPr lang="en-CA" dirty="0"/>
          </a:p>
        </p:txBody>
      </p:sp>
      <p:sp>
        <p:nvSpPr>
          <p:cNvPr id="8" name="Text Placeholder 9"/>
          <p:cNvSpPr>
            <a:spLocks noGrp="1"/>
          </p:cNvSpPr>
          <p:nvPr>
            <p:ph type="body" sz="quarter" idx="12" hasCustomPrompt="1"/>
          </p:nvPr>
        </p:nvSpPr>
        <p:spPr>
          <a:xfrm>
            <a:off x="377826" y="2239233"/>
            <a:ext cx="8331201" cy="457199"/>
          </a:xfrm>
          <a:prstGeom prst="rect">
            <a:avLst/>
          </a:prstGeom>
        </p:spPr>
        <p:txBody>
          <a:bodyPr lIns="0" tIns="0" rIns="0" bIns="0"/>
          <a:lstStyle>
            <a:lvl1pPr marL="0" marR="0" indent="0" algn="l" defTabSz="914400" rtl="0" eaLnBrk="1" fontAlgn="auto" latinLnBrk="0" hangingPunct="1">
              <a:lnSpc>
                <a:spcPts val="4000"/>
              </a:lnSpc>
              <a:spcBef>
                <a:spcPts val="0"/>
              </a:spcBef>
              <a:spcAft>
                <a:spcPts val="0"/>
              </a:spcAft>
              <a:buClrTx/>
              <a:buSzTx/>
              <a:buFont typeface="Arial" panose="020B0604020202020204" pitchFamily="34" charset="0"/>
              <a:buNone/>
              <a:tabLst/>
              <a:defRPr sz="3200" spc="-100" baseline="0">
                <a:solidFill>
                  <a:schemeClr val="bg1"/>
                </a:solidFill>
                <a:latin typeface="+mn-lt"/>
                <a:cs typeface="Arial" panose="020B0604020202020204" pitchFamily="34" charset="0"/>
              </a:defRPr>
            </a:lvl1pPr>
          </a:lstStyle>
          <a:p>
            <a:pPr marL="0" marR="0" lvl="0" indent="0" algn="l" defTabSz="914400" rtl="0" eaLnBrk="1" fontAlgn="auto" latinLnBrk="0" hangingPunct="1">
              <a:lnSpc>
                <a:spcPts val="4000"/>
              </a:lnSpc>
              <a:spcBef>
                <a:spcPts val="0"/>
              </a:spcBef>
              <a:spcAft>
                <a:spcPts val="0"/>
              </a:spcAft>
              <a:buClrTx/>
              <a:buSzTx/>
              <a:buFont typeface="Arial" panose="020B0604020202020204" pitchFamily="34" charset="0"/>
              <a:buNone/>
              <a:tabLst/>
              <a:defRPr/>
            </a:pPr>
            <a:r>
              <a:rPr lang="en-CA" dirty="0" smtClean="0"/>
              <a:t>Subtitle</a:t>
            </a:r>
            <a:endParaRPr lang="en-CA" dirty="0"/>
          </a:p>
        </p:txBody>
      </p:sp>
      <p:sp>
        <p:nvSpPr>
          <p:cNvPr id="9" name="Text Placeholder 4"/>
          <p:cNvSpPr>
            <a:spLocks noGrp="1"/>
          </p:cNvSpPr>
          <p:nvPr>
            <p:ph type="body" sz="quarter" idx="14" hasCustomPrompt="1"/>
          </p:nvPr>
        </p:nvSpPr>
        <p:spPr>
          <a:xfrm>
            <a:off x="377826" y="1492530"/>
            <a:ext cx="8350249" cy="528638"/>
          </a:xfrm>
          <a:prstGeom prst="rect">
            <a:avLst/>
          </a:prstGeom>
        </p:spPr>
        <p:txBody>
          <a:bodyPr lIns="0" tIns="0" rIns="0" bIns="0"/>
          <a:lstStyle>
            <a:lvl1pPr marL="0" indent="0">
              <a:lnSpc>
                <a:spcPts val="5800"/>
              </a:lnSpc>
              <a:spcBef>
                <a:spcPts val="0"/>
              </a:spcBef>
              <a:buNone/>
              <a:defRPr sz="4800" spc="-100" baseline="0">
                <a:solidFill>
                  <a:schemeClr val="bg1"/>
                </a:solidFill>
                <a:latin typeface="+mn-lt"/>
                <a:cs typeface="Arial" panose="020B0604020202020204" pitchFamily="34" charset="0"/>
              </a:defRPr>
            </a:lvl1pPr>
          </a:lstStyle>
          <a:p>
            <a:pPr lvl="0"/>
            <a:r>
              <a:rPr lang="en-US" dirty="0" smtClean="0"/>
              <a:t>Title</a:t>
            </a:r>
            <a:endParaRPr lang="en-CA" dirty="0"/>
          </a:p>
        </p:txBody>
      </p:sp>
    </p:spTree>
    <p:extLst>
      <p:ext uri="{BB962C8B-B14F-4D97-AF65-F5344CB8AC3E}">
        <p14:creationId xmlns:p14="http://schemas.microsoft.com/office/powerpoint/2010/main" val="551424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8" name="Straight Connector 7"/>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11" name="Rectangle 10"/>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3543919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8"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2" name="Straight Connector 11"/>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2"/>
                </a:solidFill>
                <a:latin typeface="+mn-lt"/>
              </a:rPr>
              <a:pPr/>
              <a:t>‹#›</a:t>
            </a:fld>
            <a:endParaRPr lang="en-CA" sz="900" dirty="0">
              <a:solidFill>
                <a:schemeClr val="bg2"/>
              </a:solidFill>
              <a:latin typeface="+mn-lt"/>
            </a:endParaRPr>
          </a:p>
        </p:txBody>
      </p:sp>
      <p:sp>
        <p:nvSpPr>
          <p:cNvPr id="11" name="TextBox 10"/>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55288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354960972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5"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6" name="Straight Connector 15"/>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8" name="TextBox 17"/>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65988588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66955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11919402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383015750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256648210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49995237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194867626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414932219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8049324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55167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6"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3"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4"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5"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70531984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57881683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462974846"/>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3303480610"/>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65227931"/>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420550849"/>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402450659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652108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51638706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885126746"/>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4144683753"/>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2812960170"/>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2673295411"/>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3988545723"/>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3054247339"/>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284807"/>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894991171"/>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240499159"/>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800380593"/>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4284798816"/>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574599695"/>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863961546"/>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6"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7" name="Straight Connector 16"/>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9" name="TextBox 18"/>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394877654"/>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529132"/>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3874632909"/>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2046336842"/>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659578247"/>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3986752294"/>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5"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3374922914"/>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417830" y="4796316"/>
            <a:ext cx="818679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3"/>
          <p:cNvSpPr>
            <a:spLocks noGrp="1"/>
          </p:cNvSpPr>
          <p:nvPr>
            <p:ph type="body" sz="quarter" idx="10" hasCustomPrompt="1"/>
          </p:nvPr>
        </p:nvSpPr>
        <p:spPr>
          <a:xfrm>
            <a:off x="417830" y="2134394"/>
            <a:ext cx="7340600" cy="530225"/>
          </a:xfrm>
          <a:prstGeom prst="rect">
            <a:avLst/>
          </a:prstGeom>
        </p:spPr>
        <p:txBody>
          <a:bodyPr lIns="0" rIns="0"/>
          <a:lstStyle>
            <a:lvl1pPr marL="0" indent="0">
              <a:buNone/>
              <a:defRPr sz="3600">
                <a:solidFill>
                  <a:schemeClr val="bg1"/>
                </a:solidFill>
                <a:latin typeface="+mn-lt"/>
                <a:cs typeface="Arial" panose="020B0604020202020204" pitchFamily="34" charset="0"/>
              </a:defRPr>
            </a:lvl1pPr>
            <a:lvl2pPr marL="457200" indent="0">
              <a:buNone/>
              <a:defRPr sz="3600">
                <a:solidFill>
                  <a:schemeClr val="bg1"/>
                </a:solidFill>
                <a:latin typeface="Arial" panose="020B0604020202020204" pitchFamily="34" charset="0"/>
                <a:cs typeface="Arial" panose="020B0604020202020204" pitchFamily="34" charset="0"/>
              </a:defRPr>
            </a:lvl2pPr>
            <a:lvl3pPr marL="914400" indent="0">
              <a:buNone/>
              <a:defRPr sz="3600">
                <a:solidFill>
                  <a:schemeClr val="bg1"/>
                </a:solidFill>
                <a:latin typeface="Arial" panose="020B0604020202020204" pitchFamily="34" charset="0"/>
                <a:cs typeface="Arial" panose="020B0604020202020204" pitchFamily="34" charset="0"/>
              </a:defRPr>
            </a:lvl3pPr>
            <a:lvl4pPr marL="1371600" indent="0">
              <a:buNone/>
              <a:defRPr sz="3600">
                <a:solidFill>
                  <a:schemeClr val="bg1"/>
                </a:solidFill>
                <a:latin typeface="Arial" panose="020B0604020202020204" pitchFamily="34" charset="0"/>
                <a:cs typeface="Arial" panose="020B0604020202020204" pitchFamily="34" charset="0"/>
              </a:defRPr>
            </a:lvl4pPr>
            <a:lvl5pPr marL="1828800" indent="0">
              <a:buNone/>
              <a:defRPr sz="3600">
                <a:solidFill>
                  <a:schemeClr val="bg1"/>
                </a:solidFill>
                <a:latin typeface="Arial" panose="020B0604020202020204" pitchFamily="34" charset="0"/>
                <a:cs typeface="Arial" panose="020B0604020202020204" pitchFamily="34" charset="0"/>
              </a:defRPr>
            </a:lvl5pPr>
          </a:lstStyle>
          <a:p>
            <a:pPr lvl="0"/>
            <a:r>
              <a:rPr lang="en-US" dirty="0" smtClean="0"/>
              <a:t>Section Title</a:t>
            </a:r>
            <a:endParaRPr lang="en-CA" dirty="0"/>
          </a:p>
        </p:txBody>
      </p:sp>
      <p:sp>
        <p:nvSpPr>
          <p:cNvPr id="9" name="Rectangle 8"/>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6" name="TextBox 5"/>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1302556131"/>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ts val="0"/>
              </a:spcBef>
              <a:buNone/>
              <a:defRPr sz="3200" b="0" spc="-100" baseline="0">
                <a:solidFill>
                  <a:schemeClr val="bg1"/>
                </a:solidFill>
                <a:latin typeface="+mn-lt"/>
                <a:cs typeface="Arial" panose="020B0604020202020204" pitchFamily="34" charset="0"/>
              </a:defRPr>
            </a:lvl1pPr>
          </a:lstStyle>
          <a:p>
            <a:pPr lvl="0"/>
            <a:r>
              <a:rPr lang="en-CA" dirty="0" smtClean="0"/>
              <a:t>Title</a:t>
            </a:r>
            <a:endParaRPr lang="en-CA" dirty="0"/>
          </a:p>
        </p:txBody>
      </p:sp>
      <p:sp>
        <p:nvSpPr>
          <p:cNvPr id="15"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ts val="0"/>
              </a:spcBef>
              <a:buNone/>
              <a:defRPr sz="2000" b="0" spc="0" baseline="0">
                <a:solidFill>
                  <a:schemeClr val="bg1"/>
                </a:solidFill>
                <a:latin typeface="+mn-lt"/>
                <a:cs typeface="Arial" panose="020B0604020202020204" pitchFamily="34" charset="0"/>
              </a:defRPr>
            </a:lvl1pPr>
          </a:lstStyle>
          <a:p>
            <a:pPr lvl="0"/>
            <a:r>
              <a:rPr lang="en-CA" dirty="0" smtClean="0"/>
              <a:t>Subtitle</a:t>
            </a:r>
            <a:endParaRPr lang="en-CA" dirty="0"/>
          </a:p>
        </p:txBody>
      </p:sp>
      <p:cxnSp>
        <p:nvCxnSpPr>
          <p:cNvPr id="16" name="Straight Connector 15"/>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pPr/>
              <a:t>‹#›</a:t>
            </a:fld>
            <a:endParaRPr lang="en-CA" sz="900" dirty="0">
              <a:solidFill>
                <a:srgbClr val="BAC5B9"/>
              </a:solidFill>
              <a:latin typeface="+mn-lt"/>
            </a:endParaRPr>
          </a:p>
        </p:txBody>
      </p:sp>
      <p:sp>
        <p:nvSpPr>
          <p:cNvPr id="18" name="TextBox 17"/>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rgbClr val="BAC5B9"/>
                </a:solidFill>
                <a:latin typeface="+mn-lt"/>
                <a:cs typeface="Arial" panose="020B0604020202020204" pitchFamily="34" charset="0"/>
              </a:rPr>
              <a:t>CWB Canadian Western Bank</a:t>
            </a:r>
            <a:endParaRPr lang="en-CA" sz="1000" b="1" i="0" dirty="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903863610"/>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0814675"/>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p:txBody>
      </p:sp>
    </p:spTree>
    <p:extLst>
      <p:ext uri="{BB962C8B-B14F-4D97-AF65-F5344CB8AC3E}">
        <p14:creationId xmlns:p14="http://schemas.microsoft.com/office/powerpoint/2010/main" val="1562267021"/>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endParaRPr lang="en-CA" dirty="0" smtClean="0"/>
          </a:p>
          <a:p>
            <a:pPr lvl="0"/>
            <a:r>
              <a:rPr lang="en-CA" dirty="0" smtClean="0"/>
              <a:t>Bullet</a:t>
            </a:r>
          </a:p>
          <a:p>
            <a:pPr lvl="0"/>
            <a:r>
              <a:rPr lang="en-CA" dirty="0" smtClean="0"/>
              <a:t>Bullet</a:t>
            </a:r>
          </a:p>
          <a:p>
            <a:pPr lvl="0"/>
            <a:r>
              <a:rPr lang="en-CA" dirty="0" smtClean="0"/>
              <a:t>Bullet</a:t>
            </a:r>
          </a:p>
          <a:p>
            <a:pPr lvl="0"/>
            <a:r>
              <a:rPr lang="en-CA" dirty="0" smtClean="0"/>
              <a:t>Bullet</a:t>
            </a:r>
          </a:p>
          <a:p>
            <a:pPr lvl="1"/>
            <a:r>
              <a:rPr lang="en-US" dirty="0" smtClean="0"/>
              <a:t>Second Level</a:t>
            </a:r>
          </a:p>
          <a:p>
            <a:pPr lvl="2"/>
            <a:r>
              <a:rPr lang="en-US" dirty="0" smtClean="0"/>
              <a:t>Third level</a:t>
            </a:r>
            <a:endParaRPr lang="en-CA" dirty="0" smtClean="0"/>
          </a:p>
          <a:p>
            <a:pPr lvl="0"/>
            <a:r>
              <a:rPr lang="en-CA" dirty="0" smtClean="0"/>
              <a:t>Bullet</a:t>
            </a:r>
          </a:p>
          <a:p>
            <a:pPr lvl="0"/>
            <a:r>
              <a:rPr lang="en-CA" dirty="0" smtClean="0"/>
              <a:t>Bullet</a:t>
            </a:r>
          </a:p>
          <a:p>
            <a:pPr lvl="0"/>
            <a:r>
              <a:rPr lang="en-CA" dirty="0" smtClean="0"/>
              <a:t>Bullet</a:t>
            </a:r>
          </a:p>
          <a:p>
            <a:pPr lvl="0"/>
            <a:endParaRPr lang="en-CA" dirty="0" smtClean="0"/>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Tree>
    <p:extLst>
      <p:ext uri="{BB962C8B-B14F-4D97-AF65-F5344CB8AC3E}">
        <p14:creationId xmlns:p14="http://schemas.microsoft.com/office/powerpoint/2010/main" val="1438177066"/>
      </p:ext>
    </p:extLst>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 </a:t>
            </a:r>
            <a:r>
              <a:rPr lang="en-US" dirty="0" err="1" smtClean="0"/>
              <a:t>magnihilibus</a:t>
            </a:r>
            <a:r>
              <a:rPr lang="en-US" dirty="0" smtClean="0"/>
              <a:t> </a:t>
            </a:r>
            <a:r>
              <a:rPr lang="en-US" dirty="0" err="1" smtClean="0"/>
              <a:t>cusiccs</a:t>
            </a:r>
            <a:r>
              <a:rPr lang="en-US" dirty="0" smtClean="0"/>
              <a:t> </a:t>
            </a:r>
            <a:r>
              <a:rPr lang="en-US" dirty="0" err="1" smtClean="0"/>
              <a:t>eatumse</a:t>
            </a:r>
            <a:r>
              <a:rPr lang="en-US" dirty="0" smtClean="0"/>
              <a:t> </a:t>
            </a:r>
            <a:r>
              <a:rPr lang="en-US" dirty="0" err="1" smtClean="0"/>
              <a:t>luptaquie</a:t>
            </a:r>
            <a:r>
              <a:rPr lang="en-US" dirty="0" smtClean="0"/>
              <a:t> </a:t>
            </a:r>
            <a:r>
              <a:rPr lang="en-US" dirty="0" err="1" smtClean="0"/>
              <a:t>dolum</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r>
              <a:rPr lang="en-US" dirty="0" smtClean="0"/>
              <a:t> </a:t>
            </a:r>
            <a:r>
              <a:rPr lang="en-US" dirty="0" err="1" smtClean="0"/>
              <a:t>ntotas</a:t>
            </a:r>
            <a:r>
              <a:rPr lang="en-US" dirty="0" smtClean="0"/>
              <a:t> se </a:t>
            </a:r>
            <a:r>
              <a:rPr lang="en-US" dirty="0" err="1" smtClean="0"/>
              <a:t>volum</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a:t>
            </a:r>
          </a:p>
        </p:txBody>
      </p:sp>
    </p:spTree>
    <p:extLst>
      <p:ext uri="{BB962C8B-B14F-4D97-AF65-F5344CB8AC3E}">
        <p14:creationId xmlns:p14="http://schemas.microsoft.com/office/powerpoint/2010/main" val="3161849436"/>
      </p:ext>
    </p:extLst>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ts val="0"/>
              </a:spcBef>
              <a:buNone/>
              <a:defRPr sz="3200" spc="-100" baseline="0">
                <a:solidFill>
                  <a:srgbClr val="0097A9"/>
                </a:solidFill>
                <a:latin typeface="+mn-lt"/>
                <a:cs typeface="Arial" panose="020B0604020202020204" pitchFamily="34" charset="0"/>
              </a:defRPr>
            </a:lvl1pPr>
          </a:lstStyle>
          <a:p>
            <a:pPr lvl="0"/>
            <a:r>
              <a:rPr lang="en-CA" dirty="0" smtClean="0"/>
              <a:t>Title</a:t>
            </a:r>
            <a:endParaRPr lang="en-CA" dirty="0"/>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ts val="0"/>
              </a:spcBef>
              <a:buNone/>
              <a:defRPr sz="1800" b="0" spc="0" baseline="0">
                <a:solidFill>
                  <a:srgbClr val="DAAA00"/>
                </a:solidFill>
                <a:latin typeface="+mn-lt"/>
                <a:cs typeface="Arial" panose="020B0604020202020204" pitchFamily="34" charset="0"/>
              </a:defRPr>
            </a:lvl1pPr>
          </a:lstStyle>
          <a:p>
            <a:pPr lvl="0"/>
            <a:r>
              <a:rPr lang="en-CA" dirty="0" smtClean="0"/>
              <a:t>Subtitle</a:t>
            </a:r>
            <a:endParaRPr lang="en-CA" dirty="0"/>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smtClean="0"/>
              <a:t>Click to add text. Body placeholder text goes here.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 </a:t>
            </a:r>
            <a:r>
              <a:rPr lang="en-US" dirty="0" err="1" smtClean="0"/>
              <a:t>cid</a:t>
            </a:r>
            <a:r>
              <a:rPr lang="en-US" dirty="0" smtClean="0"/>
              <a:t> et </a:t>
            </a:r>
            <a:r>
              <a:rPr lang="en-US" dirty="0" err="1" smtClean="0"/>
              <a:t>poreupudam</a:t>
            </a:r>
            <a:r>
              <a:rPr lang="en-US" dirty="0" smtClean="0"/>
              <a:t> </a:t>
            </a:r>
            <a:r>
              <a:rPr lang="en-US" dirty="0" err="1" smtClean="0"/>
              <a:t>unti</a:t>
            </a:r>
            <a:r>
              <a:rPr lang="en-US" dirty="0" smtClean="0"/>
              <a:t>, </a:t>
            </a:r>
            <a:r>
              <a:rPr lang="en-US" dirty="0" err="1" smtClean="0"/>
              <a:t>uptodemsd</a:t>
            </a:r>
            <a:r>
              <a:rPr lang="en-US" dirty="0" smtClean="0"/>
              <a:t> </a:t>
            </a:r>
            <a:r>
              <a:rPr lang="en-US" dirty="0" err="1" smtClean="0"/>
              <a:t>blacsccsuam</a:t>
            </a:r>
            <a:r>
              <a:rPr lang="en-US" dirty="0" smtClean="0"/>
              <a:t> </a:t>
            </a:r>
            <a:r>
              <a:rPr lang="en-US" dirty="0" err="1" smtClean="0"/>
              <a:t>reprio</a:t>
            </a:r>
            <a:r>
              <a:rPr lang="en-US" dirty="0" smtClean="0"/>
              <a:t> </a:t>
            </a:r>
            <a:r>
              <a:rPr lang="en-US" dirty="0" err="1" smtClean="0"/>
              <a:t>endes</a:t>
            </a:r>
            <a:r>
              <a:rPr lang="en-US" dirty="0" smtClean="0"/>
              <a:t> </a:t>
            </a:r>
            <a:r>
              <a:rPr lang="en-US" dirty="0" err="1" smtClean="0"/>
              <a:t>autem</a:t>
            </a:r>
            <a:r>
              <a:rPr lang="en-US" dirty="0" smtClean="0"/>
              <a:t> </a:t>
            </a:r>
            <a:r>
              <a:rPr lang="en-US" dirty="0" err="1" smtClean="0"/>
              <a:t>quie</a:t>
            </a:r>
            <a:r>
              <a:rPr lang="en-US" dirty="0" smtClean="0"/>
              <a:t> </a:t>
            </a:r>
            <a:r>
              <a:rPr lang="en-US" dirty="0" err="1" smtClean="0"/>
              <a:t>prem</a:t>
            </a:r>
            <a:r>
              <a:rPr lang="en-US" dirty="0" smtClean="0"/>
              <a:t> </a:t>
            </a:r>
            <a:r>
              <a:rPr lang="en-US" dirty="0" err="1" smtClean="0"/>
              <a:t>aditas</a:t>
            </a:r>
            <a:r>
              <a:rPr lang="en-US" dirty="0" smtClean="0"/>
              <a:t> discus.</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est</a:t>
            </a:r>
            <a:r>
              <a:rPr lang="en-US" dirty="0" smtClean="0"/>
              <a:t> </a:t>
            </a:r>
            <a:r>
              <a:rPr lang="en-US" dirty="0" err="1" smtClean="0"/>
              <a:t>aut</a:t>
            </a:r>
            <a:r>
              <a:rPr lang="en-US" dirty="0" smtClean="0"/>
              <a:t> </a:t>
            </a:r>
            <a:r>
              <a:rPr lang="en-US" dirty="0" err="1" smtClean="0"/>
              <a:t>veliatuint</a:t>
            </a:r>
            <a:r>
              <a:rPr lang="en-US" dirty="0" smtClean="0"/>
              <a:t> </a:t>
            </a:r>
            <a:r>
              <a:rPr lang="en-US" dirty="0" err="1" smtClean="0"/>
              <a:t>fuga</a:t>
            </a:r>
            <a:r>
              <a:rPr lang="en-US" dirty="0" smtClean="0"/>
              <a:t>. </a:t>
            </a:r>
            <a:r>
              <a:rPr lang="en-US" dirty="0" err="1" smtClean="0"/>
              <a:t>Sunt</a:t>
            </a:r>
            <a:r>
              <a:rPr lang="en-US" dirty="0" smtClean="0"/>
              <a:t> </a:t>
            </a:r>
            <a:r>
              <a:rPr lang="en-US" dirty="0" err="1" smtClean="0"/>
              <a:t>volupta</a:t>
            </a:r>
            <a:r>
              <a:rPr lang="en-US" dirty="0" smtClean="0"/>
              <a:t> </a:t>
            </a:r>
            <a:r>
              <a:rPr lang="en-US" dirty="0" err="1" smtClean="0"/>
              <a:t>tiuntem</a:t>
            </a:r>
            <a:r>
              <a:rPr lang="en-US" dirty="0" smtClean="0"/>
              <a:t> </a:t>
            </a:r>
            <a:r>
              <a:rPr lang="en-US" dirty="0" err="1" smtClean="0"/>
              <a:t>inulparum</a:t>
            </a:r>
            <a:r>
              <a:rPr lang="en-US" dirty="0" smtClean="0"/>
              <a:t> et </a:t>
            </a:r>
            <a:r>
              <a:rPr lang="en-US" dirty="0" err="1" smtClean="0"/>
              <a:t>fugioto</a:t>
            </a:r>
            <a:r>
              <a:rPr lang="en-US" dirty="0" smtClean="0"/>
              <a:t> </a:t>
            </a:r>
            <a:r>
              <a:rPr lang="en-US" dirty="0" err="1" smtClean="0"/>
              <a:t>cusa</a:t>
            </a:r>
            <a:r>
              <a:rPr lang="en-US" dirty="0" smtClean="0"/>
              <a:t> net </a:t>
            </a:r>
            <a:r>
              <a:rPr lang="en-US" dirty="0" err="1" smtClean="0"/>
              <a:t>aut</a:t>
            </a:r>
            <a:r>
              <a:rPr lang="en-US" dirty="0" smtClean="0"/>
              <a:t> colossus.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Aperchil</a:t>
            </a:r>
            <a:r>
              <a:rPr lang="en-US" dirty="0" smtClean="0"/>
              <a:t> </a:t>
            </a:r>
            <a:r>
              <a:rPr lang="en-US" dirty="0" err="1" smtClean="0"/>
              <a:t>inus</a:t>
            </a:r>
            <a:r>
              <a:rPr lang="en-US" dirty="0" smtClean="0"/>
              <a:t>, </a:t>
            </a:r>
            <a:r>
              <a:rPr lang="en-US" dirty="0" err="1" smtClean="0"/>
              <a:t>ullabo</a:t>
            </a:r>
            <a:r>
              <a:rPr lang="en-US" dirty="0" smtClean="0"/>
              <a:t>. </a:t>
            </a:r>
            <a:r>
              <a:rPr lang="en-US" dirty="0" err="1" smtClean="0"/>
              <a:t>Otat</a:t>
            </a:r>
            <a:r>
              <a:rPr lang="en-US" dirty="0" smtClean="0"/>
              <a: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Bissecto</a:t>
            </a:r>
            <a:r>
              <a:rPr lang="en-US" dirty="0" smtClean="0"/>
              <a:t> </a:t>
            </a:r>
            <a:r>
              <a:rPr lang="en-US" dirty="0" err="1" smtClean="0"/>
              <a:t>occust</a:t>
            </a:r>
            <a:r>
              <a:rPr lang="en-US" dirty="0" smtClean="0"/>
              <a:t>, to </a:t>
            </a:r>
            <a:r>
              <a:rPr lang="en-US" dirty="0" err="1" smtClean="0"/>
              <a:t>dolupta</a:t>
            </a:r>
            <a:r>
              <a:rPr lang="en-US" dirty="0" smtClean="0"/>
              <a:t> turbos </a:t>
            </a:r>
            <a:r>
              <a:rPr lang="en-US" dirty="0" err="1" smtClean="0"/>
              <a:t>consequidi</a:t>
            </a:r>
            <a:r>
              <a:rPr lang="en-US" dirty="0" smtClean="0"/>
              <a:t> </a:t>
            </a:r>
            <a:r>
              <a:rPr lang="en-US" dirty="0" err="1" smtClean="0"/>
              <a:t>aut</a:t>
            </a:r>
            <a:r>
              <a:rPr lang="en-US" dirty="0" smtClean="0"/>
              <a:t> </a:t>
            </a:r>
            <a:r>
              <a:rPr lang="en-US" dirty="0" err="1" smtClean="0"/>
              <a:t>eos</a:t>
            </a:r>
            <a:r>
              <a:rPr lang="en-US" dirty="0" smtClean="0"/>
              <a:t> </a:t>
            </a:r>
            <a:r>
              <a:rPr lang="en-US" dirty="0" err="1" smtClean="0"/>
              <a:t>aut</a:t>
            </a:r>
            <a:r>
              <a:rPr lang="en-US" dirty="0" smtClean="0"/>
              <a:t> </a:t>
            </a:r>
            <a:r>
              <a:rPr lang="en-US" dirty="0" err="1" smtClean="0"/>
              <a:t>dolesequam</a:t>
            </a:r>
            <a:r>
              <a:rPr lang="en-US" dirty="0" smtClean="0"/>
              <a:t> </a:t>
            </a:r>
            <a:r>
              <a:rPr lang="en-US" dirty="0" err="1" smtClean="0"/>
              <a:t>commole</a:t>
            </a:r>
            <a:endParaRPr lang="en-US" dirty="0" smtClean="0"/>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dirty="0" err="1" smtClean="0"/>
              <a:t>Evelegndigim</a:t>
            </a:r>
            <a:r>
              <a:rPr lang="en-US" dirty="0" smtClean="0"/>
              <a:t> qui </a:t>
            </a:r>
            <a:r>
              <a:rPr lang="en-US" dirty="0" err="1" smtClean="0"/>
              <a:t>ommodiao</a:t>
            </a:r>
            <a:r>
              <a:rPr lang="en-US" dirty="0" smtClean="0"/>
              <a:t> </a:t>
            </a:r>
            <a:r>
              <a:rPr lang="en-US" dirty="0" err="1" smtClean="0"/>
              <a:t>exceaswum</a:t>
            </a:r>
            <a:r>
              <a:rPr lang="en-US" dirty="0" smtClean="0"/>
              <a:t> </a:t>
            </a:r>
            <a:r>
              <a:rPr lang="en-US" dirty="0" err="1" smtClean="0"/>
              <a:t>enus</a:t>
            </a:r>
            <a:r>
              <a:rPr lang="en-US" dirty="0" smtClean="0"/>
              <a:t> as </a:t>
            </a:r>
            <a:r>
              <a:rPr lang="en-US" dirty="0" err="1" smtClean="0"/>
              <a:t>deerro</a:t>
            </a:r>
            <a:r>
              <a:rPr lang="en-US" dirty="0" smtClean="0"/>
              <a:t> </a:t>
            </a:r>
            <a:r>
              <a:rPr lang="en-US" dirty="0" err="1" smtClean="0"/>
              <a:t>consedi</a:t>
            </a:r>
            <a:r>
              <a:rPr lang="en-US" dirty="0" smtClean="0"/>
              <a:t> </a:t>
            </a:r>
            <a:r>
              <a:rPr lang="en-US" dirty="0" err="1" smtClean="0"/>
              <a:t>rerum</a:t>
            </a:r>
            <a:r>
              <a:rPr lang="en-US" dirty="0" smtClean="0"/>
              <a:t> et </a:t>
            </a:r>
            <a:r>
              <a:rPr lang="en-US" dirty="0" err="1" smtClean="0"/>
              <a:t>il</a:t>
            </a:r>
            <a:r>
              <a:rPr lang="en-US" dirty="0" smtClean="0"/>
              <a:t> </a:t>
            </a:r>
            <a:r>
              <a:rPr lang="en-US" dirty="0" err="1" smtClean="0"/>
              <a:t>est</a:t>
            </a:r>
            <a:r>
              <a:rPr lang="en-US" dirty="0" smtClean="0"/>
              <a:t> qui </a:t>
            </a:r>
            <a:r>
              <a:rPr lang="en-US" dirty="0" err="1" smtClean="0"/>
              <a:t>cus</a:t>
            </a:r>
            <a:r>
              <a:rPr lang="en-US" dirty="0" smtClean="0"/>
              <a:t> </a:t>
            </a:r>
            <a:r>
              <a:rPr lang="en-US" dirty="0" err="1" smtClean="0"/>
              <a:t>aut</a:t>
            </a:r>
            <a:r>
              <a:rPr lang="en-US" dirty="0" smtClean="0"/>
              <a:t> et </a:t>
            </a:r>
            <a:r>
              <a:rPr lang="en-US" dirty="0" err="1" smtClean="0"/>
              <a:t>secsaill</a:t>
            </a:r>
            <a:r>
              <a:rPr lang="en-US" dirty="0" smtClean="0"/>
              <a:t> to.</a:t>
            </a:r>
          </a:p>
        </p:txBody>
      </p:sp>
    </p:spTree>
    <p:extLst>
      <p:ext uri="{BB962C8B-B14F-4D97-AF65-F5344CB8AC3E}">
        <p14:creationId xmlns:p14="http://schemas.microsoft.com/office/powerpoint/2010/main" val="1433022769"/>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dirty="0" smtClean="0"/>
              <a:t>Photo Caption goes here</a:t>
            </a:r>
          </a:p>
        </p:txBody>
      </p:sp>
    </p:spTree>
    <p:extLst>
      <p:ext uri="{BB962C8B-B14F-4D97-AF65-F5344CB8AC3E}">
        <p14:creationId xmlns:p14="http://schemas.microsoft.com/office/powerpoint/2010/main" val="1699153721"/>
      </p:ext>
    </p:extLst>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450088395"/>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4055599425"/>
      </p:ext>
    </p:extLst>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455608701"/>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3143298180"/>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961612208"/>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3910" y="2372379"/>
            <a:ext cx="7886700" cy="616710"/>
          </a:xfrm>
          <a:prstGeom prst="rect">
            <a:avLst/>
          </a:prstGeom>
        </p:spPr>
        <p:txBody>
          <a:bodyPr/>
          <a:lstStyle>
            <a:lvl1pPr>
              <a:defRPr sz="3600" b="1" baseline="0">
                <a:solidFill>
                  <a:schemeClr val="bg1"/>
                </a:solidFill>
                <a:latin typeface="+mn-lt"/>
              </a:defRPr>
            </a:lvl1pPr>
          </a:lstStyle>
          <a:p>
            <a:r>
              <a:rPr lang="en-US" dirty="0" smtClean="0"/>
              <a:t>“Insert Inspirational Quote here”</a:t>
            </a:r>
            <a:endParaRPr lang="en-CA" dirty="0"/>
          </a:p>
        </p:txBody>
      </p:sp>
    </p:spTree>
    <p:extLst>
      <p:ext uri="{BB962C8B-B14F-4D97-AF65-F5344CB8AC3E}">
        <p14:creationId xmlns:p14="http://schemas.microsoft.com/office/powerpoint/2010/main" val="25825337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slideLayout" Target="../slideLayouts/slideLayout8.xml"/><Relationship Id="rId7" Type="http://schemas.openxmlformats.org/officeDocument/2006/relationships/theme" Target="../theme/theme6.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theme" Target="../theme/theme7.xml"/><Relationship Id="rId1" Type="http://schemas.openxmlformats.org/officeDocument/2006/relationships/slideLayout" Target="../slideLayouts/slideLayout12.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3.xml"/></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slideLayout" Target="../slideLayouts/slideLayout16.xml"/><Relationship Id="rId7" Type="http://schemas.openxmlformats.org/officeDocument/2006/relationships/theme" Target="../theme/theme9.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slideLayout" Target="../slideLayouts/slideLayout24.xml"/><Relationship Id="rId7" Type="http://schemas.openxmlformats.org/officeDocument/2006/relationships/theme" Target="../theme/theme1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theme" Target="../theme/theme13.xml"/><Relationship Id="rId1" Type="http://schemas.openxmlformats.org/officeDocument/2006/relationships/slideLayout" Target="../slideLayouts/slideLayout28.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9.xml"/></Relationships>
</file>

<file path=ppt/slideMasters/_rels/slideMaster15.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slideLayout" Target="../slideLayouts/slideLayout32.xml"/><Relationship Id="rId7" Type="http://schemas.openxmlformats.org/officeDocument/2006/relationships/theme" Target="../theme/theme15.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theme" Target="../theme/theme16.xml"/><Relationship Id="rId1" Type="http://schemas.openxmlformats.org/officeDocument/2006/relationships/slideLayout" Target="../slideLayouts/slideLayout3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37.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slideLayout" Target="../slideLayouts/slideLayout40.xml"/><Relationship Id="rId7" Type="http://schemas.openxmlformats.org/officeDocument/2006/relationships/theme" Target="../theme/theme18.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theme" Target="../theme/theme19.xml"/><Relationship Id="rId1" Type="http://schemas.openxmlformats.org/officeDocument/2006/relationships/slideLayout" Target="../slideLayouts/slideLayout44.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45.xml"/></Relationships>
</file>

<file path=ppt/slideMasters/_rels/slideMaster21.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slideLayout" Target="../slideLayouts/slideLayout48.xml"/><Relationship Id="rId7" Type="http://schemas.openxmlformats.org/officeDocument/2006/relationships/theme" Target="../theme/theme21.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theme" Target="../theme/theme22.xml"/><Relationship Id="rId1" Type="http://schemas.openxmlformats.org/officeDocument/2006/relationships/slideLayout" Target="../slideLayouts/slideLayout52.xml"/></Relationships>
</file>

<file path=ppt/slideMasters/_rels/slideMaster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theme" Target="../theme/theme23.xml"/><Relationship Id="rId1" Type="http://schemas.openxmlformats.org/officeDocument/2006/relationships/slideLayout" Target="../slideLayouts/slideLayout53.xml"/></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theme" Target="../theme/theme24.xml"/><Relationship Id="rId1" Type="http://schemas.openxmlformats.org/officeDocument/2006/relationships/slideLayout" Target="../slideLayouts/slideLayout54.xml"/></Relationships>
</file>

<file path=ppt/slideMasters/_rels/slideMaster2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theme" Target="../theme/theme25.xml"/><Relationship Id="rId1" Type="http://schemas.openxmlformats.org/officeDocument/2006/relationships/slideLayout" Target="../slideLayouts/slideLayout55.xml"/></Relationships>
</file>

<file path=ppt/slideMasters/_rels/slideMaster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theme" Target="../theme/theme26.xml"/><Relationship Id="rId1" Type="http://schemas.openxmlformats.org/officeDocument/2006/relationships/slideLayout" Target="../slideLayouts/slideLayout56.xml"/></Relationships>
</file>

<file path=ppt/slideMasters/_rels/slideMaster2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theme" Target="../theme/theme27.xml"/><Relationship Id="rId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5142574"/>
      </p:ext>
    </p:extLst>
  </p:cSld>
  <p:clrMap bg1="lt1" tx1="dk1" bg2="lt2" tx2="dk2" accent1="accent1" accent2="accent2" accent3="accent3" accent4="accent4" accent5="accent5" accent6="accent6" hlink="hlink" folHlink="folHlink"/>
  <p:sldLayoutIdLst>
    <p:sldLayoutId id="214748384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546065"/>
      </p:ext>
    </p:extLst>
  </p:cSld>
  <p:clrMap bg1="lt1" tx1="dk1" bg2="lt2" tx2="dk2" accent1="accent1" accent2="accent2" accent3="accent3" accent4="accent4" accent5="accent5" accent6="accent6" hlink="hlink" folHlink="folHlink"/>
  <p:sldLayoutIdLst>
    <p:sldLayoutId id="214748370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DA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573354188"/>
      </p:ext>
    </p:extLst>
  </p:cSld>
  <p:clrMap bg1="lt1" tx1="dk1" bg2="lt2" tx2="dk2" accent1="accent1" accent2="accent2" accent3="accent3" accent4="accent4" accent5="accent5" accent6="accent6" hlink="hlink" folHlink="folHlink"/>
  <p:sldLayoutIdLst>
    <p:sldLayoutId id="214748371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0278093"/>
      </p:ext>
    </p:extLst>
  </p:cSld>
  <p:clrMap bg1="lt1" tx1="dk1" bg2="lt2" tx2="dk2" accent1="accent1" accent2="accent2" accent3="accent3" accent4="accent4" accent5="accent5" accent6="accent6" hlink="hlink" folHlink="folHlink"/>
  <p:sldLayoutIdLst>
    <p:sldLayoutId id="214748370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0097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332467499"/>
      </p:ext>
    </p:extLst>
  </p:cSld>
  <p:clrMap bg1="lt1" tx1="dk1" bg2="lt2" tx2="dk2" accent1="accent1" accent2="accent2" accent3="accent3" accent4="accent4" accent5="accent5" accent6="accent6" hlink="hlink" folHlink="folHlink"/>
  <p:sldLayoutIdLst>
    <p:sldLayoutId id="2147483712"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672272116"/>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8744423"/>
      </p:ext>
    </p:extLst>
  </p:cSld>
  <p:clrMap bg1="lt1" tx1="dk1" bg2="lt2" tx2="dk2" accent1="accent1" accent2="accent2" accent3="accent3" accent4="accent4" accent5="accent5" accent6="accent6" hlink="hlink" folHlink="folHlink"/>
  <p:sldLayoutIdLst>
    <p:sldLayoutId id="2147483759"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003B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153101462"/>
      </p:ext>
    </p:extLst>
  </p:cSld>
  <p:clrMap bg1="lt1" tx1="dk1" bg2="lt2" tx2="dk2" accent1="accent1" accent2="accent2" accent3="accent3" accent4="accent4" accent5="accent5" accent6="accent6" hlink="hlink" folHlink="folHlink"/>
  <p:sldLayoutIdLst>
    <p:sldLayoutId id="214748371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744586973"/>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460356"/>
      </p:ext>
    </p:extLst>
  </p:cSld>
  <p:clrMap bg1="lt1" tx1="dk1" bg2="lt2" tx2="dk2" accent1="accent1" accent2="accent2" accent3="accent3" accent4="accent4" accent5="accent5" accent6="accent6" hlink="hlink" folHlink="folHlink"/>
  <p:sldLayoutIdLst>
    <p:sldLayoutId id="214748378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2DC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897024473"/>
      </p:ext>
    </p:extLst>
  </p:cSld>
  <p:clrMap bg1="lt1" tx1="dk1" bg2="lt2" tx2="dk2" accent1="accent1" accent2="accent2" accent3="accent3" accent4="accent4" accent5="accent5" accent6="accent6" hlink="hlink" folHlink="folHlink"/>
  <p:sldLayoutIdLst>
    <p:sldLayoutId id="2147483708"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6312"/>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b="1" i="0" baseline="0" dirty="0" smtClean="0">
                <a:solidFill>
                  <a:schemeClr val="bg1"/>
                </a:solidFill>
                <a:latin typeface="+mn-lt"/>
                <a:cs typeface="Arial" panose="020B0604020202020204" pitchFamily="34" charset="0"/>
              </a:rPr>
              <a:t>CWB Canadian Western Bank</a:t>
            </a:r>
            <a:endParaRPr lang="en-CA" sz="1000" b="1" i="0" dirty="0" smtClean="0">
              <a:solidFill>
                <a:schemeClr val="bg1"/>
              </a:solidFill>
              <a:latin typeface="+mn-lt"/>
              <a:cs typeface="Arial" panose="020B0604020202020204" pitchFamily="34" charset="0"/>
            </a:endParaRPr>
          </a:p>
          <a:p>
            <a:pPr algn="l"/>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559599566"/>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707009"/>
      </p:ext>
    </p:extLst>
  </p:cSld>
  <p:clrMap bg1="lt1" tx1="dk1" bg2="lt2" tx2="dk2" accent1="accent1" accent2="accent2" accent3="accent3" accent4="accent4" accent5="accent5" accent6="accent6" hlink="hlink" folHlink="folHlink"/>
  <p:sldLayoutIdLst>
    <p:sldLayoutId id="214748378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8475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532821706"/>
      </p:ext>
    </p:extLst>
  </p:cSld>
  <p:clrMap bg1="lt1" tx1="dk1" bg2="lt2" tx2="dk2" accent1="accent1" accent2="accent2" accent3="accent3" accent4="accent4" accent5="accent5" accent6="accent6" hlink="hlink" folHlink="folHlink"/>
  <p:sldLayoutIdLst>
    <p:sldLayoutId id="214748371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2058317394"/>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2063736"/>
      </p:ext>
    </p:extLst>
  </p:cSld>
  <p:clrMap bg1="lt1" tx1="dk1" bg2="lt2" tx2="dk2" accent1="accent1" accent2="accent2" accent3="accent3" accent4="accent4" accent5="accent5" accent6="accent6" hlink="hlink" folHlink="folHlink"/>
  <p:sldLayoutIdLst>
    <p:sldLayoutId id="214748376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F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887820131"/>
      </p:ext>
    </p:extLst>
  </p:cSld>
  <p:clrMap bg1="lt1" tx1="dk1" bg2="lt2" tx2="dk2" accent1="accent1" accent2="accent2" accent3="accent3" accent4="accent4" accent5="accent5" accent6="accent6" hlink="hlink" folHlink="folHlink"/>
  <p:sldLayoutIdLst>
    <p:sldLayoutId id="2147483718"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pPr/>
              <a:t>‹#›</a:t>
            </a:fld>
            <a:endParaRPr lang="en-CA" sz="900" dirty="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4036069523"/>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993187"/>
      </p:ext>
    </p:extLst>
  </p:cSld>
  <p:clrMap bg1="lt1" tx1="dk1" bg2="lt2" tx2="dk2" accent1="accent1" accent2="accent2" accent3="accent3" accent4="accent4" accent5="accent5" accent6="accent6" hlink="hlink" folHlink="folHlink"/>
  <p:sldLayoutIdLst>
    <p:sldLayoutId id="2147483774"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BAC5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935047417"/>
      </p:ext>
    </p:extLst>
  </p:cSld>
  <p:clrMap bg1="lt1" tx1="dk1" bg2="lt2" tx2="dk2" accent1="accent1" accent2="accent2" accent3="accent3" accent4="accent4" accent5="accent5" accent6="accent6" hlink="hlink" folHlink="folHlink"/>
  <p:sldLayoutIdLst>
    <p:sldLayoutId id="214748372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tx1"/>
                </a:solidFill>
                <a:latin typeface="+mn-lt"/>
              </a:rPr>
              <a:pPr/>
              <a:t>‹#›</a:t>
            </a:fld>
            <a:endParaRPr lang="en-CA" sz="900" dirty="0">
              <a:solidFill>
                <a:schemeClr val="tx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dirty="0" smtClean="0">
                <a:solidFill>
                  <a:schemeClr val="bg1"/>
                </a:solidFill>
                <a:latin typeface="+mn-lt"/>
                <a:cs typeface="Arial" panose="020B0604020202020204" pitchFamily="34" charset="0"/>
              </a:rPr>
              <a:t>CWB Canadian Western Bank</a:t>
            </a:r>
            <a:endParaRPr lang="en-CA" sz="1000" b="1" i="0" dirty="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687765783"/>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0771605"/>
      </p:ext>
    </p:extLst>
  </p:cSld>
  <p:clrMap bg1="lt1" tx1="dk1" bg2="lt2" tx2="dk2" accent1="accent1" accent2="accent2" accent3="accent3" accent4="accent4" accent5="accent5" accent6="accent6" hlink="hlink" folHlink="folHlink"/>
  <p:sldLayoutIdLst>
    <p:sldLayoutId id="2147483730"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3352500"/>
      </p:ext>
    </p:extLst>
  </p:cSld>
  <p:clrMap bg1="lt1" tx1="dk1" bg2="lt2" tx2="dk2" accent1="accent1" accent2="accent2" accent3="accent3" accent4="accent4" accent5="accent5" accent6="accent6" hlink="hlink" folHlink="folHlink"/>
  <p:sldLayoutIdLst>
    <p:sldLayoutId id="2147483797"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9643481"/>
      </p:ext>
    </p:extLst>
  </p:cSld>
  <p:clrMap bg1="lt1" tx1="dk1" bg2="lt2" tx2="dk2" accent1="accent1" accent2="accent2" accent3="accent3" accent4="accent4" accent5="accent5" accent6="accent6" hlink="hlink" folHlink="folHlink"/>
  <p:sldLayoutIdLst>
    <p:sldLayoutId id="2147483847"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5127727"/>
      </p:ext>
    </p:extLst>
  </p:cSld>
  <p:clrMap bg1="lt1" tx1="dk1" bg2="lt2" tx2="dk2" accent1="accent1" accent2="accent2" accent3="accent3" accent4="accent4" accent5="accent5" accent6="accent6" hlink="hlink" folHlink="folHlink"/>
  <p:sldLayoutIdLst>
    <p:sldLayoutId id="214748372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766615"/>
      </p:ext>
    </p:extLst>
  </p:cSld>
  <p:clrMap bg1="lt1" tx1="dk1" bg2="lt2" tx2="dk2" accent1="accent1" accent2="accent2" accent3="accent3" accent4="accent4" accent5="accent5" accent6="accent6" hlink="hlink" folHlink="folHlink"/>
  <p:sldLayoutIdLst>
    <p:sldLayoutId id="2147483726"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060870"/>
      </p:ext>
    </p:extLst>
  </p:cSld>
  <p:clrMap bg1="lt1" tx1="dk1" bg2="lt2" tx2="dk2" accent1="accent1" accent2="accent2" accent3="accent3" accent4="accent4" accent5="accent5" accent6="accent6" hlink="hlink" folHlink="folHlink"/>
  <p:sldLayoutIdLst>
    <p:sldLayoutId id="2147483799"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sz="2400" dirty="0"/>
              <a:t>Model Development &amp;</a:t>
            </a:r>
            <a:r>
              <a:rPr lang="en-US" sz="2400" dirty="0" smtClean="0"/>
              <a:t> </a:t>
            </a:r>
            <a:r>
              <a:rPr lang="en-US" sz="2400" dirty="0"/>
              <a:t>Quantitative Risk Analytics</a:t>
            </a:r>
          </a:p>
          <a:p>
            <a:endParaRPr lang="en-CA" dirty="0"/>
          </a:p>
        </p:txBody>
      </p:sp>
      <p:sp>
        <p:nvSpPr>
          <p:cNvPr id="4" name="Text Placeholder 3"/>
          <p:cNvSpPr>
            <a:spLocks noGrp="1"/>
          </p:cNvSpPr>
          <p:nvPr>
            <p:ph type="body" sz="quarter" idx="14"/>
          </p:nvPr>
        </p:nvSpPr>
        <p:spPr>
          <a:xfrm>
            <a:off x="377826" y="1492530"/>
            <a:ext cx="8350249" cy="528638"/>
          </a:xfrm>
        </p:spPr>
        <p:txBody>
          <a:bodyPr/>
          <a:lstStyle/>
          <a:p>
            <a:r>
              <a:rPr lang="en-US" dirty="0" smtClean="0"/>
              <a:t>Scorecard Analysis: SBE1</a:t>
            </a:r>
            <a:endParaRPr lang="en-CA" dirty="0"/>
          </a:p>
        </p:txBody>
      </p:sp>
      <p:sp>
        <p:nvSpPr>
          <p:cNvPr id="6" name="Text Placeholder 5"/>
          <p:cNvSpPr>
            <a:spLocks noGrp="1"/>
          </p:cNvSpPr>
          <p:nvPr>
            <p:ph type="body" sz="quarter" idx="13"/>
          </p:nvPr>
        </p:nvSpPr>
        <p:spPr/>
        <p:txBody>
          <a:bodyPr/>
          <a:lstStyle/>
          <a:p>
            <a:r>
              <a:rPr lang="en-US" sz="1600" dirty="0"/>
              <a:t>June </a:t>
            </a:r>
            <a:r>
              <a:rPr lang="en-US" sz="1600" dirty="0" smtClean="0"/>
              <a:t>2020</a:t>
            </a:r>
            <a:endParaRPr lang="en-US" sz="1600" dirty="0"/>
          </a:p>
        </p:txBody>
      </p:sp>
    </p:spTree>
    <p:extLst>
      <p:ext uri="{BB962C8B-B14F-4D97-AF65-F5344CB8AC3E}">
        <p14:creationId xmlns:p14="http://schemas.microsoft.com/office/powerpoint/2010/main" val="19314115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800" dirty="0" smtClean="0"/>
              <a:t>Agenda</a:t>
            </a:r>
            <a:endParaRPr lang="en-CA" sz="2800" dirty="0"/>
          </a:p>
        </p:txBody>
      </p:sp>
      <p:sp>
        <p:nvSpPr>
          <p:cNvPr id="4" name="Text Placeholder 3"/>
          <p:cNvSpPr>
            <a:spLocks noGrp="1"/>
          </p:cNvSpPr>
          <p:nvPr>
            <p:ph type="body" sz="quarter" idx="15"/>
          </p:nvPr>
        </p:nvSpPr>
        <p:spPr>
          <a:xfrm>
            <a:off x="406203" y="1331912"/>
            <a:ext cx="8280400" cy="2950839"/>
          </a:xfrm>
        </p:spPr>
        <p:txBody>
          <a:bodyPr/>
          <a:lstStyle/>
          <a:p>
            <a:pPr marL="342900" indent="-342900" algn="just">
              <a:buFont typeface="+mj-lt"/>
              <a:buAutoNum type="arabicParenR"/>
            </a:pPr>
            <a:r>
              <a:rPr lang="en-US" dirty="0" smtClean="0">
                <a:solidFill>
                  <a:srgbClr val="003B5C"/>
                </a:solidFill>
              </a:rPr>
              <a:t>Portfolio Description and Portfolio Composition</a:t>
            </a:r>
          </a:p>
          <a:p>
            <a:pPr marL="342900" indent="-342900" algn="just">
              <a:buFont typeface="+mj-lt"/>
              <a:buAutoNum type="arabicParenR"/>
            </a:pPr>
            <a:r>
              <a:rPr lang="en-US" dirty="0" smtClean="0">
                <a:solidFill>
                  <a:srgbClr val="003B5C"/>
                </a:solidFill>
              </a:rPr>
              <a:t>How historical data are utilized in developing a scorecard?</a:t>
            </a:r>
          </a:p>
          <a:p>
            <a:pPr marL="342900" indent="-342900" algn="just">
              <a:buFont typeface="+mj-lt"/>
              <a:buAutoNum type="arabicParenR"/>
            </a:pPr>
            <a:r>
              <a:rPr lang="en-US" dirty="0" smtClean="0">
                <a:solidFill>
                  <a:srgbClr val="003B5C"/>
                </a:solidFill>
              </a:rPr>
              <a:t>What are the scorecard measures of performance?</a:t>
            </a:r>
          </a:p>
          <a:p>
            <a:pPr marL="342900" indent="-342900" algn="just">
              <a:buFont typeface="+mj-lt"/>
              <a:buAutoNum type="arabicParenR"/>
            </a:pPr>
            <a:r>
              <a:rPr lang="en-US" dirty="0" smtClean="0">
                <a:solidFill>
                  <a:srgbClr val="003B5C"/>
                </a:solidFill>
              </a:rPr>
              <a:t>Scorecard Inputs and their Weightings</a:t>
            </a:r>
          </a:p>
          <a:p>
            <a:pPr marL="342900" indent="-342900" algn="just">
              <a:buFont typeface="+mj-lt"/>
              <a:buAutoNum type="arabicParenR"/>
            </a:pPr>
            <a:r>
              <a:rPr lang="en-US" dirty="0" smtClean="0">
                <a:solidFill>
                  <a:srgbClr val="003B5C"/>
                </a:solidFill>
              </a:rPr>
              <a:t>What are the main factors in calculating BRRs?</a:t>
            </a:r>
            <a:endParaRPr lang="en-US" dirty="0">
              <a:solidFill>
                <a:srgbClr val="003B5C"/>
              </a:solidFill>
            </a:endParaRPr>
          </a:p>
          <a:p>
            <a:pPr marL="342900" indent="-342900" algn="just">
              <a:buFont typeface="+mj-lt"/>
              <a:buAutoNum type="arabicParenR"/>
            </a:pPr>
            <a:r>
              <a:rPr lang="en-US" dirty="0" smtClean="0">
                <a:solidFill>
                  <a:srgbClr val="003B5C"/>
                </a:solidFill>
              </a:rPr>
              <a:t>Distribution of BRRs for the current portfolio and the historical data</a:t>
            </a:r>
          </a:p>
          <a:p>
            <a:pPr marL="342900" indent="-342900" algn="just">
              <a:buFont typeface="+mj-lt"/>
              <a:buAutoNum type="arabicParenR"/>
            </a:pPr>
            <a:r>
              <a:rPr lang="en-US" dirty="0" smtClean="0">
                <a:solidFill>
                  <a:srgbClr val="003B5C"/>
                </a:solidFill>
              </a:rPr>
              <a:t>Distribution of risk drivers for </a:t>
            </a:r>
            <a:r>
              <a:rPr lang="en-US" dirty="0">
                <a:solidFill>
                  <a:srgbClr val="003B5C"/>
                </a:solidFill>
              </a:rPr>
              <a:t>the current portfolio and the historical </a:t>
            </a:r>
            <a:r>
              <a:rPr lang="en-US" dirty="0" smtClean="0">
                <a:solidFill>
                  <a:srgbClr val="003B5C"/>
                </a:solidFill>
              </a:rPr>
              <a:t>data</a:t>
            </a:r>
          </a:p>
          <a:p>
            <a:pPr marL="342900" indent="-342900" algn="just">
              <a:buFont typeface="+mj-lt"/>
              <a:buAutoNum type="arabicParenR"/>
            </a:pPr>
            <a:r>
              <a:rPr lang="en-US" dirty="0" smtClean="0">
                <a:solidFill>
                  <a:srgbClr val="003B5C"/>
                </a:solidFill>
              </a:rPr>
              <a:t>Distribution of the Watch List and Overrides</a:t>
            </a:r>
          </a:p>
          <a:p>
            <a:pPr marL="342900" indent="-342900" algn="just">
              <a:buFont typeface="+mj-lt"/>
              <a:buAutoNum type="arabicParenR"/>
            </a:pPr>
            <a:r>
              <a:rPr lang="en-US" dirty="0" smtClean="0">
                <a:solidFill>
                  <a:srgbClr val="003B5C"/>
                </a:solidFill>
              </a:rPr>
              <a:t>Scorecard </a:t>
            </a:r>
            <a:r>
              <a:rPr lang="en-US" dirty="0" err="1">
                <a:solidFill>
                  <a:srgbClr val="003B5C"/>
                </a:solidFill>
              </a:rPr>
              <a:t>b</a:t>
            </a:r>
            <a:r>
              <a:rPr lang="en-US" dirty="0" err="1" smtClean="0">
                <a:solidFill>
                  <a:srgbClr val="003B5C"/>
                </a:solidFill>
              </a:rPr>
              <a:t>acktesting</a:t>
            </a:r>
            <a:r>
              <a:rPr lang="en-US" dirty="0" smtClean="0">
                <a:solidFill>
                  <a:srgbClr val="003B5C"/>
                </a:solidFill>
              </a:rPr>
              <a:t> results</a:t>
            </a:r>
          </a:p>
          <a:p>
            <a:pPr marL="342900" indent="-342900" algn="just">
              <a:buFont typeface="+mj-lt"/>
              <a:buAutoNum type="arabicParenR"/>
            </a:pPr>
            <a:r>
              <a:rPr lang="en-US" dirty="0" smtClean="0">
                <a:solidFill>
                  <a:srgbClr val="003B5C"/>
                </a:solidFill>
              </a:rPr>
              <a:t>BRRs for a list of real life examples</a:t>
            </a:r>
            <a:endParaRPr lang="en-US" dirty="0"/>
          </a:p>
          <a:p>
            <a:pPr algn="just"/>
            <a:endParaRPr lang="en-US" dirty="0" smtClean="0"/>
          </a:p>
          <a:p>
            <a:pPr marL="342900" indent="-342900" algn="just">
              <a:buAutoNum type="arabicParenR"/>
            </a:pPr>
            <a:endParaRPr lang="en-CA" dirty="0"/>
          </a:p>
        </p:txBody>
      </p:sp>
    </p:spTree>
    <p:extLst>
      <p:ext uri="{BB962C8B-B14F-4D97-AF65-F5344CB8AC3E}">
        <p14:creationId xmlns:p14="http://schemas.microsoft.com/office/powerpoint/2010/main" val="22199427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582506"/>
            <a:ext cx="8280401" cy="397483"/>
          </a:xfrm>
        </p:spPr>
        <p:txBody>
          <a:bodyPr/>
          <a:lstStyle/>
          <a:p>
            <a:r>
              <a:rPr lang="en-US" sz="3000" dirty="0" smtClean="0"/>
              <a:t>Portfolio Description</a:t>
            </a:r>
            <a:endParaRPr lang="en-CA" sz="3000" dirty="0"/>
          </a:p>
        </p:txBody>
      </p:sp>
      <p:sp>
        <p:nvSpPr>
          <p:cNvPr id="4" name="Text Placeholder 3"/>
          <p:cNvSpPr>
            <a:spLocks noGrp="1"/>
          </p:cNvSpPr>
          <p:nvPr>
            <p:ph type="body" sz="quarter" idx="15"/>
          </p:nvPr>
        </p:nvSpPr>
        <p:spPr>
          <a:xfrm>
            <a:off x="406203" y="1192212"/>
            <a:ext cx="3573130" cy="3536421"/>
          </a:xfrm>
        </p:spPr>
        <p:txBody>
          <a:bodyPr numCol="1"/>
          <a:lstStyle/>
          <a:p>
            <a:pPr algn="just"/>
            <a:r>
              <a:rPr lang="en-US" b="1" dirty="0">
                <a:solidFill>
                  <a:srgbClr val="003B5C"/>
                </a:solidFill>
              </a:rPr>
              <a:t>Small Business Entities (SBE):</a:t>
            </a:r>
          </a:p>
          <a:p>
            <a:pPr algn="just"/>
            <a:r>
              <a:rPr lang="en-US" sz="1400" dirty="0">
                <a:solidFill>
                  <a:srgbClr val="003B5C"/>
                </a:solidFill>
              </a:rPr>
              <a:t>Borrowers without a Bank, Government or Commercial Real Estate NAICS, </a:t>
            </a:r>
            <a:r>
              <a:rPr lang="en-US" sz="1400" dirty="0" smtClean="0">
                <a:solidFill>
                  <a:srgbClr val="003B5C"/>
                </a:solidFill>
              </a:rPr>
              <a:t>and:</a:t>
            </a:r>
          </a:p>
          <a:p>
            <a:pPr algn="just"/>
            <a:endParaRPr lang="en-US" sz="1400" dirty="0" smtClean="0">
              <a:solidFill>
                <a:srgbClr val="003B5C"/>
              </a:solidFill>
            </a:endParaRPr>
          </a:p>
          <a:p>
            <a:pPr algn="just"/>
            <a:r>
              <a:rPr lang="en-US" sz="1400" b="1" dirty="0" smtClean="0">
                <a:solidFill>
                  <a:srgbClr val="003B5C"/>
                </a:solidFill>
              </a:rPr>
              <a:t>SBE1: </a:t>
            </a:r>
            <a:r>
              <a:rPr lang="en-US" sz="1400" dirty="0" smtClean="0">
                <a:solidFill>
                  <a:srgbClr val="003B5C"/>
                </a:solidFill>
              </a:rPr>
              <a:t>Individual and Unincorporated exposures with an aggregated loan exposure ≤ CAD $500,000;</a:t>
            </a:r>
          </a:p>
          <a:p>
            <a:pPr algn="just"/>
            <a:endParaRPr lang="en-US" sz="1400" dirty="0" smtClean="0">
              <a:solidFill>
                <a:srgbClr val="003B5C"/>
              </a:solidFill>
            </a:endParaRPr>
          </a:p>
          <a:p>
            <a:pPr algn="just"/>
            <a:r>
              <a:rPr lang="en-US" sz="1400" b="1" dirty="0" smtClean="0">
                <a:solidFill>
                  <a:srgbClr val="003B5C"/>
                </a:solidFill>
              </a:rPr>
              <a:t>SBE2</a:t>
            </a:r>
            <a:r>
              <a:rPr lang="en-US" sz="1400" b="1" dirty="0">
                <a:solidFill>
                  <a:srgbClr val="003B5C"/>
                </a:solidFill>
              </a:rPr>
              <a:t>*: </a:t>
            </a:r>
            <a:r>
              <a:rPr lang="en-US" sz="1400" dirty="0">
                <a:solidFill>
                  <a:srgbClr val="003B5C"/>
                </a:solidFill>
              </a:rPr>
              <a:t>Incorporated borrowers with an aggregated loan exposure ≤ CAD $500,000</a:t>
            </a:r>
            <a:r>
              <a:rPr lang="en-US" sz="1400" dirty="0" smtClean="0">
                <a:solidFill>
                  <a:srgbClr val="003B5C"/>
                </a:solidFill>
              </a:rPr>
              <a:t>.</a:t>
            </a:r>
            <a:endParaRPr lang="en-US" sz="1400" dirty="0">
              <a:solidFill>
                <a:srgbClr val="003B5C"/>
              </a:solidFill>
            </a:endParaRPr>
          </a:p>
          <a:p>
            <a:pPr algn="just"/>
            <a:endParaRPr lang="en-US" sz="1400" dirty="0">
              <a:solidFill>
                <a:srgbClr val="003B5C"/>
              </a:solidFill>
            </a:endParaRPr>
          </a:p>
          <a:p>
            <a:pPr algn="just"/>
            <a:r>
              <a:rPr lang="en-US" sz="1400" dirty="0">
                <a:solidFill>
                  <a:srgbClr val="003B5C"/>
                </a:solidFill>
              </a:rPr>
              <a:t>*</a:t>
            </a:r>
            <a:r>
              <a:rPr lang="en-US" sz="1200" dirty="0">
                <a:solidFill>
                  <a:srgbClr val="003B5C"/>
                </a:solidFill>
              </a:rPr>
              <a:t>We have two models for the SBE2 portfolio, one </a:t>
            </a:r>
            <a:r>
              <a:rPr lang="en-US" sz="1200" dirty="0" smtClean="0">
                <a:solidFill>
                  <a:srgbClr val="003B5C"/>
                </a:solidFill>
              </a:rPr>
              <a:t>uses </a:t>
            </a:r>
            <a:r>
              <a:rPr lang="en-US" sz="1200" dirty="0" err="1">
                <a:solidFill>
                  <a:srgbClr val="003B5C"/>
                </a:solidFill>
              </a:rPr>
              <a:t>PayNet</a:t>
            </a:r>
            <a:r>
              <a:rPr lang="en-US" sz="1200" dirty="0">
                <a:solidFill>
                  <a:srgbClr val="003B5C"/>
                </a:solidFill>
              </a:rPr>
              <a:t> inputs and another one </a:t>
            </a:r>
            <a:r>
              <a:rPr lang="en-US" sz="1200" dirty="0" smtClean="0">
                <a:solidFill>
                  <a:srgbClr val="003B5C"/>
                </a:solidFill>
              </a:rPr>
              <a:t>Equifax </a:t>
            </a:r>
            <a:r>
              <a:rPr lang="en-US" sz="1200" dirty="0">
                <a:solidFill>
                  <a:srgbClr val="003B5C"/>
                </a:solidFill>
              </a:rPr>
              <a:t>inputs. Having a </a:t>
            </a:r>
            <a:r>
              <a:rPr lang="en-US" sz="1200" dirty="0" err="1">
                <a:solidFill>
                  <a:srgbClr val="003B5C"/>
                </a:solidFill>
              </a:rPr>
              <a:t>PayNet</a:t>
            </a:r>
            <a:r>
              <a:rPr lang="en-US" sz="1200" dirty="0">
                <a:solidFill>
                  <a:srgbClr val="003B5C"/>
                </a:solidFill>
              </a:rPr>
              <a:t> model facilitates scoring Non-Notification deals.</a:t>
            </a:r>
          </a:p>
          <a:p>
            <a:pPr algn="just"/>
            <a:endParaRPr lang="en-US" sz="1400" dirty="0"/>
          </a:p>
          <a:p>
            <a:pPr algn="just"/>
            <a:endParaRPr lang="en-US" sz="1400" dirty="0"/>
          </a:p>
          <a:p>
            <a:pPr algn="just"/>
            <a:endParaRPr lang="en-US" sz="1400" dirty="0" smtClean="0"/>
          </a:p>
          <a:p>
            <a:pPr marL="342900" indent="-342900" algn="just">
              <a:buAutoNum type="arabicParenR"/>
            </a:pPr>
            <a:endParaRPr lang="en-CA" sz="1400" dirty="0"/>
          </a:p>
        </p:txBody>
      </p:sp>
      <p:pic>
        <p:nvPicPr>
          <p:cNvPr id="3" name="Picture 2"/>
          <p:cNvPicPr>
            <a:picLocks noChangeAspect="1"/>
          </p:cNvPicPr>
          <p:nvPr/>
        </p:nvPicPr>
        <p:blipFill>
          <a:blip r:embed="rId2"/>
          <a:stretch>
            <a:fillRect/>
          </a:stretch>
        </p:blipFill>
        <p:spPr>
          <a:xfrm>
            <a:off x="4070107" y="1331912"/>
            <a:ext cx="4743693" cy="3257022"/>
          </a:xfrm>
          <a:prstGeom prst="rect">
            <a:avLst/>
          </a:prstGeom>
        </p:spPr>
      </p:pic>
    </p:spTree>
    <p:extLst>
      <p:ext uri="{BB962C8B-B14F-4D97-AF65-F5344CB8AC3E}">
        <p14:creationId xmlns:p14="http://schemas.microsoft.com/office/powerpoint/2010/main" val="28691975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smtClean="0"/>
              <a:t>Outstanding Balance by Province</a:t>
            </a:r>
          </a:p>
          <a:p>
            <a:r>
              <a:rPr lang="en-US" dirty="0" smtClean="0"/>
              <a:t>Distribution of Clients by Outstanding Balance</a:t>
            </a:r>
          </a:p>
          <a:p>
            <a:r>
              <a:rPr lang="en-US" dirty="0" smtClean="0"/>
              <a:t>Outstanding Balance by Industry</a:t>
            </a:r>
          </a:p>
          <a:p>
            <a:r>
              <a:rPr lang="en-US" dirty="0" smtClean="0"/>
              <a:t>Outstanding Balance by Collateral Type</a:t>
            </a:r>
          </a:p>
          <a:p>
            <a:r>
              <a:rPr lang="en-US" dirty="0" smtClean="0"/>
              <a:t>Outstanding Balance by Facility Type</a:t>
            </a:r>
          </a:p>
          <a:p>
            <a:r>
              <a:rPr lang="en-US" dirty="0" smtClean="0"/>
              <a:t>Outstanding Balance by Time to Maturity</a:t>
            </a:r>
          </a:p>
        </p:txBody>
      </p:sp>
      <p:sp>
        <p:nvSpPr>
          <p:cNvPr id="3" name="Text Placeholder 2"/>
          <p:cNvSpPr>
            <a:spLocks noGrp="1"/>
          </p:cNvSpPr>
          <p:nvPr>
            <p:ph type="body" sz="quarter" idx="12"/>
          </p:nvPr>
        </p:nvSpPr>
        <p:spPr/>
        <p:txBody>
          <a:bodyPr/>
          <a:lstStyle/>
          <a:p>
            <a:r>
              <a:rPr lang="en-US" dirty="0" smtClean="0"/>
              <a:t>SBE1 Portfolio Composition</a:t>
            </a:r>
            <a:endParaRPr lang="en-CA" dirty="0"/>
          </a:p>
        </p:txBody>
      </p:sp>
      <p:sp>
        <p:nvSpPr>
          <p:cNvPr id="4" name="Text Placeholder 3"/>
          <p:cNvSpPr>
            <a:spLocks noGrp="1"/>
          </p:cNvSpPr>
          <p:nvPr>
            <p:ph type="body" sz="quarter" idx="14"/>
          </p:nvPr>
        </p:nvSpPr>
        <p:spPr/>
        <p:txBody>
          <a:bodyPr/>
          <a:lstStyle/>
          <a:p>
            <a:endParaRPr lang="en-CA" dirty="0"/>
          </a:p>
        </p:txBody>
      </p:sp>
    </p:spTree>
    <p:extLst>
      <p:ext uri="{BB962C8B-B14F-4D97-AF65-F5344CB8AC3E}">
        <p14:creationId xmlns:p14="http://schemas.microsoft.com/office/powerpoint/2010/main" val="2782019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492834"/>
            <a:ext cx="8280401" cy="397483"/>
          </a:xfrm>
        </p:spPr>
        <p:txBody>
          <a:bodyPr/>
          <a:lstStyle/>
          <a:p>
            <a:r>
              <a:rPr lang="en-US" sz="2800" dirty="0"/>
              <a:t>SBE1 Portfolio Composition</a:t>
            </a:r>
            <a:endParaRPr lang="en-CA" sz="2800" dirty="0"/>
          </a:p>
        </p:txBody>
      </p:sp>
      <p:sp>
        <p:nvSpPr>
          <p:cNvPr id="3" name="TextBox 2"/>
          <p:cNvSpPr txBox="1"/>
          <p:nvPr/>
        </p:nvSpPr>
        <p:spPr>
          <a:xfrm>
            <a:off x="337751" y="926173"/>
            <a:ext cx="8452022" cy="584775"/>
          </a:xfrm>
          <a:prstGeom prst="rect">
            <a:avLst/>
          </a:prstGeom>
          <a:noFill/>
        </p:spPr>
        <p:txBody>
          <a:bodyPr wrap="square" rtlCol="0">
            <a:spAutoFit/>
          </a:bodyPr>
          <a:lstStyle/>
          <a:p>
            <a:pPr algn="just"/>
            <a:r>
              <a:rPr lang="en-US" sz="1600" dirty="0" smtClean="0"/>
              <a:t>As at 31 October 2019, SBE1 portfolio consists of 17,816 borrowers (23,068 loans) with an outstanding loan amount of $570,558,455 (1.97% of CWB Group outstanding loan amount).</a:t>
            </a:r>
            <a:endParaRPr lang="en-CA" sz="1600" dirty="0"/>
          </a:p>
        </p:txBody>
      </p:sp>
      <p:graphicFrame>
        <p:nvGraphicFramePr>
          <p:cNvPr id="6" name="Chart 5"/>
          <p:cNvGraphicFramePr>
            <a:graphicFrameLocks/>
          </p:cNvGraphicFramePr>
          <p:nvPr>
            <p:extLst>
              <p:ext uri="{D42A27DB-BD31-4B8C-83A1-F6EECF244321}">
                <p14:modId xmlns:p14="http://schemas.microsoft.com/office/powerpoint/2010/main" val="917499025"/>
              </p:ext>
            </p:extLst>
          </p:nvPr>
        </p:nvGraphicFramePr>
        <p:xfrm>
          <a:off x="149773" y="1510948"/>
          <a:ext cx="4320000" cy="324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p:cNvGraphicFramePr>
          <p:nvPr>
            <p:extLst>
              <p:ext uri="{D42A27DB-BD31-4B8C-83A1-F6EECF244321}">
                <p14:modId xmlns:p14="http://schemas.microsoft.com/office/powerpoint/2010/main" val="3223325655"/>
              </p:ext>
            </p:extLst>
          </p:nvPr>
        </p:nvGraphicFramePr>
        <p:xfrm>
          <a:off x="4824000" y="1510948"/>
          <a:ext cx="4320000" cy="324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78767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492834"/>
            <a:ext cx="8280401" cy="397483"/>
          </a:xfrm>
        </p:spPr>
        <p:txBody>
          <a:bodyPr/>
          <a:lstStyle/>
          <a:p>
            <a:r>
              <a:rPr lang="en-US" sz="2800" dirty="0"/>
              <a:t>SBE1 Portfolio Composition</a:t>
            </a:r>
            <a:endParaRPr lang="en-CA" sz="2800" dirty="0"/>
          </a:p>
        </p:txBody>
      </p:sp>
      <p:graphicFrame>
        <p:nvGraphicFramePr>
          <p:cNvPr id="5" name="Chart 4"/>
          <p:cNvGraphicFramePr>
            <a:graphicFrameLocks/>
          </p:cNvGraphicFramePr>
          <p:nvPr>
            <p:extLst>
              <p:ext uri="{D42A27DB-BD31-4B8C-83A1-F6EECF244321}">
                <p14:modId xmlns:p14="http://schemas.microsoft.com/office/powerpoint/2010/main" val="4175118604"/>
              </p:ext>
            </p:extLst>
          </p:nvPr>
        </p:nvGraphicFramePr>
        <p:xfrm>
          <a:off x="0" y="1307354"/>
          <a:ext cx="4320000" cy="324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p:cNvGraphicFramePr>
          <p:nvPr>
            <p:extLst>
              <p:ext uri="{D42A27DB-BD31-4B8C-83A1-F6EECF244321}">
                <p14:modId xmlns:p14="http://schemas.microsoft.com/office/powerpoint/2010/main" val="1187896442"/>
              </p:ext>
            </p:extLst>
          </p:nvPr>
        </p:nvGraphicFramePr>
        <p:xfrm>
          <a:off x="4212546" y="1256905"/>
          <a:ext cx="4931454" cy="324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57678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492834"/>
            <a:ext cx="8280401" cy="397483"/>
          </a:xfrm>
        </p:spPr>
        <p:txBody>
          <a:bodyPr/>
          <a:lstStyle/>
          <a:p>
            <a:r>
              <a:rPr lang="en-US" sz="2800" dirty="0"/>
              <a:t>SBE1 Portfolio Composition</a:t>
            </a:r>
            <a:endParaRPr lang="en-CA" sz="2800" dirty="0"/>
          </a:p>
        </p:txBody>
      </p:sp>
      <p:graphicFrame>
        <p:nvGraphicFramePr>
          <p:cNvPr id="6" name="Chart 5"/>
          <p:cNvGraphicFramePr>
            <a:graphicFrameLocks/>
          </p:cNvGraphicFramePr>
          <p:nvPr>
            <p:extLst>
              <p:ext uri="{D42A27DB-BD31-4B8C-83A1-F6EECF244321}">
                <p14:modId xmlns:p14="http://schemas.microsoft.com/office/powerpoint/2010/main" val="3733900319"/>
              </p:ext>
            </p:extLst>
          </p:nvPr>
        </p:nvGraphicFramePr>
        <p:xfrm>
          <a:off x="0" y="1143394"/>
          <a:ext cx="4320000" cy="324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p:cNvGraphicFramePr>
          <p:nvPr>
            <p:extLst>
              <p:ext uri="{D42A27DB-BD31-4B8C-83A1-F6EECF244321}">
                <p14:modId xmlns:p14="http://schemas.microsoft.com/office/powerpoint/2010/main" val="30362225"/>
              </p:ext>
            </p:extLst>
          </p:nvPr>
        </p:nvGraphicFramePr>
        <p:xfrm>
          <a:off x="4824000" y="1143394"/>
          <a:ext cx="4320000" cy="324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05703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smtClean="0"/>
              <a:t>Step One – Scorecard Development</a:t>
            </a:r>
          </a:p>
          <a:p>
            <a:r>
              <a:rPr lang="en-US" dirty="0" smtClean="0"/>
              <a:t>Step Two -  Long-run Probability of Default Calibration </a:t>
            </a:r>
          </a:p>
          <a:p>
            <a:r>
              <a:rPr lang="en-US" dirty="0" smtClean="0"/>
              <a:t>Model Performance Measures</a:t>
            </a:r>
          </a:p>
          <a:p>
            <a:r>
              <a:rPr lang="en-US" dirty="0"/>
              <a:t>SBE1 Historical Default </a:t>
            </a:r>
            <a:r>
              <a:rPr lang="en-US" dirty="0" smtClean="0"/>
              <a:t>Rate</a:t>
            </a:r>
            <a:r>
              <a:rPr lang="en-CA" dirty="0"/>
              <a:t>s</a:t>
            </a:r>
            <a:endParaRPr lang="en-US" dirty="0"/>
          </a:p>
        </p:txBody>
      </p:sp>
      <p:sp>
        <p:nvSpPr>
          <p:cNvPr id="3" name="Text Placeholder 2"/>
          <p:cNvSpPr>
            <a:spLocks noGrp="1"/>
          </p:cNvSpPr>
          <p:nvPr>
            <p:ph type="body" sz="quarter" idx="12"/>
          </p:nvPr>
        </p:nvSpPr>
        <p:spPr/>
        <p:txBody>
          <a:bodyPr/>
          <a:lstStyle/>
          <a:p>
            <a:r>
              <a:rPr lang="en-US" dirty="0" smtClean="0"/>
              <a:t>Modelling Approach</a:t>
            </a:r>
            <a:endParaRPr lang="en-CA" dirty="0"/>
          </a:p>
        </p:txBody>
      </p:sp>
      <p:sp>
        <p:nvSpPr>
          <p:cNvPr id="4" name="Text Placeholder 3"/>
          <p:cNvSpPr>
            <a:spLocks noGrp="1"/>
          </p:cNvSpPr>
          <p:nvPr>
            <p:ph type="body" sz="quarter" idx="14"/>
          </p:nvPr>
        </p:nvSpPr>
        <p:spPr/>
        <p:txBody>
          <a:bodyPr/>
          <a:lstStyle/>
          <a:p>
            <a:endParaRPr lang="en-CA"/>
          </a:p>
        </p:txBody>
      </p:sp>
    </p:spTree>
    <p:extLst>
      <p:ext uri="{BB962C8B-B14F-4D97-AF65-F5344CB8AC3E}">
        <p14:creationId xmlns:p14="http://schemas.microsoft.com/office/powerpoint/2010/main" val="1625404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528046"/>
            <a:ext cx="8280401" cy="397483"/>
          </a:xfrm>
        </p:spPr>
        <p:txBody>
          <a:bodyPr/>
          <a:lstStyle/>
          <a:p>
            <a:r>
              <a:rPr lang="en-US" sz="3000" dirty="0" smtClean="0"/>
              <a:t>Modelling Approach</a:t>
            </a:r>
            <a:endParaRPr lang="en-CA" sz="3000" dirty="0"/>
          </a:p>
        </p:txBody>
      </p:sp>
      <p:sp>
        <p:nvSpPr>
          <p:cNvPr id="4" name="Text Placeholder 3"/>
          <p:cNvSpPr>
            <a:spLocks noGrp="1"/>
          </p:cNvSpPr>
          <p:nvPr>
            <p:ph type="body" sz="quarter" idx="15"/>
          </p:nvPr>
        </p:nvSpPr>
        <p:spPr>
          <a:xfrm>
            <a:off x="406203" y="994161"/>
            <a:ext cx="8280400" cy="3643742"/>
          </a:xfrm>
        </p:spPr>
        <p:txBody>
          <a:bodyPr/>
          <a:lstStyle/>
          <a:p>
            <a:pPr algn="just"/>
            <a:r>
              <a:rPr lang="en-US" sz="1500" dirty="0" smtClean="0">
                <a:solidFill>
                  <a:schemeClr val="tx2"/>
                </a:solidFill>
              </a:rPr>
              <a:t>We follow </a:t>
            </a:r>
            <a:r>
              <a:rPr lang="en-US" sz="1500" dirty="0">
                <a:solidFill>
                  <a:schemeClr val="tx2"/>
                </a:solidFill>
              </a:rPr>
              <a:t>a two-step process to develop a PD </a:t>
            </a:r>
            <a:r>
              <a:rPr lang="en-US" sz="1500" dirty="0" smtClean="0">
                <a:solidFill>
                  <a:schemeClr val="tx2"/>
                </a:solidFill>
              </a:rPr>
              <a:t>(and </a:t>
            </a:r>
            <a:r>
              <a:rPr lang="en-US" sz="1500" dirty="0">
                <a:solidFill>
                  <a:schemeClr val="tx2"/>
                </a:solidFill>
              </a:rPr>
              <a:t>LGD) model. In the first step, historical data are utilized to build a rank-ordering tool (i.e., scorecard). Then, in the second step, models are calibrated to ensure that portfolio-level model PD (LGD, respectively) results match the historical average of realized default rates (loss rates, respectively). </a:t>
            </a:r>
          </a:p>
          <a:p>
            <a:pPr algn="just"/>
            <a:endParaRPr lang="en-US" sz="1500" dirty="0">
              <a:solidFill>
                <a:schemeClr val="tx2"/>
              </a:solidFill>
            </a:endParaRPr>
          </a:p>
          <a:p>
            <a:pPr algn="just"/>
            <a:r>
              <a:rPr lang="en-US" sz="1500" b="1" dirty="0">
                <a:solidFill>
                  <a:schemeClr val="tx2"/>
                </a:solidFill>
              </a:rPr>
              <a:t>1</a:t>
            </a:r>
            <a:r>
              <a:rPr lang="en-US" sz="1500" b="1" dirty="0" smtClean="0">
                <a:solidFill>
                  <a:schemeClr val="tx2"/>
                </a:solidFill>
              </a:rPr>
              <a:t>) STEP ONE – </a:t>
            </a:r>
            <a:r>
              <a:rPr lang="en-US" sz="1500" b="1" dirty="0">
                <a:solidFill>
                  <a:schemeClr val="tx2"/>
                </a:solidFill>
              </a:rPr>
              <a:t>Rank Ordering</a:t>
            </a:r>
          </a:p>
          <a:p>
            <a:pPr algn="just"/>
            <a:r>
              <a:rPr lang="en-US" sz="1500" dirty="0" smtClean="0">
                <a:solidFill>
                  <a:schemeClr val="tx2"/>
                </a:solidFill>
              </a:rPr>
              <a:t>5-7 </a:t>
            </a:r>
            <a:r>
              <a:rPr lang="en-US" sz="1500" dirty="0">
                <a:solidFill>
                  <a:schemeClr val="tx2"/>
                </a:solidFill>
              </a:rPr>
              <a:t>years of </a:t>
            </a:r>
            <a:r>
              <a:rPr lang="en-US" sz="1500" dirty="0" smtClean="0">
                <a:solidFill>
                  <a:schemeClr val="tx2"/>
                </a:solidFill>
              </a:rPr>
              <a:t>historical data </a:t>
            </a:r>
            <a:r>
              <a:rPr lang="en-US" sz="1500" dirty="0">
                <a:solidFill>
                  <a:schemeClr val="tx2"/>
                </a:solidFill>
              </a:rPr>
              <a:t>and the underlying risk drivers (e.g. Beacon score, delinquency, NAICS, etc.) </a:t>
            </a:r>
            <a:r>
              <a:rPr lang="en-US" sz="1500" dirty="0" smtClean="0">
                <a:solidFill>
                  <a:schemeClr val="tx2"/>
                </a:solidFill>
              </a:rPr>
              <a:t>are utilized to </a:t>
            </a:r>
            <a:r>
              <a:rPr lang="en-US" sz="1500" dirty="0">
                <a:solidFill>
                  <a:schemeClr val="tx2"/>
                </a:solidFill>
              </a:rPr>
              <a:t>rank-order the borrowers. We start with a list of 15-25 potential risk drivers suggested by the business experts and the modelling team. Historical data determines which risk drivers have the highest predictive power in predicting default and how the scores are assigned. For example, suppose historical data show that 20% of borrowers with a beacon score below 650 have defaulted, but default rate for borrowers with a beacon score above 750 is only 2%. Then </a:t>
            </a:r>
            <a:r>
              <a:rPr lang="en-US" sz="1500" dirty="0" smtClean="0">
                <a:solidFill>
                  <a:schemeClr val="tx2"/>
                </a:solidFill>
              </a:rPr>
              <a:t>model </a:t>
            </a:r>
            <a:r>
              <a:rPr lang="en-US" sz="1500" dirty="0">
                <a:solidFill>
                  <a:schemeClr val="tx2"/>
                </a:solidFill>
              </a:rPr>
              <a:t>assigns a higher score for borrowers with a beacon score above 750 (compared with </a:t>
            </a:r>
            <a:r>
              <a:rPr lang="en-US" sz="1500" dirty="0" smtClean="0">
                <a:solidFill>
                  <a:schemeClr val="tx2"/>
                </a:solidFill>
              </a:rPr>
              <a:t>those with </a:t>
            </a:r>
            <a:r>
              <a:rPr lang="en-US" sz="1500" dirty="0">
                <a:solidFill>
                  <a:schemeClr val="tx2"/>
                </a:solidFill>
              </a:rPr>
              <a:t>beacon score below 650</a:t>
            </a:r>
            <a:r>
              <a:rPr lang="en-US" sz="1500" dirty="0" smtClean="0">
                <a:solidFill>
                  <a:schemeClr val="tx2"/>
                </a:solidFill>
              </a:rPr>
              <a:t>). At </a:t>
            </a:r>
            <a:r>
              <a:rPr lang="en-US" sz="1500" dirty="0">
                <a:solidFill>
                  <a:schemeClr val="tx2"/>
                </a:solidFill>
              </a:rPr>
              <a:t>the end of this step, a score is assigned to each borrower. The lower the risk is, the higher the assigned score will be. T</a:t>
            </a:r>
            <a:r>
              <a:rPr lang="en-US" sz="1500" dirty="0" smtClean="0">
                <a:solidFill>
                  <a:schemeClr val="tx2"/>
                </a:solidFill>
              </a:rPr>
              <a:t>here </a:t>
            </a:r>
            <a:r>
              <a:rPr lang="en-US" sz="1500" dirty="0">
                <a:solidFill>
                  <a:schemeClr val="tx2"/>
                </a:solidFill>
              </a:rPr>
              <a:t>is no </a:t>
            </a:r>
            <a:r>
              <a:rPr lang="en-US" sz="1500" dirty="0" smtClean="0">
                <a:solidFill>
                  <a:schemeClr val="tx2"/>
                </a:solidFill>
              </a:rPr>
              <a:t>PD</a:t>
            </a:r>
            <a:r>
              <a:rPr lang="en-US" sz="1500" dirty="0">
                <a:solidFill>
                  <a:schemeClr val="tx2"/>
                </a:solidFill>
              </a:rPr>
              <a:t> </a:t>
            </a:r>
            <a:r>
              <a:rPr lang="en-US" sz="1500" dirty="0" smtClean="0">
                <a:solidFill>
                  <a:schemeClr val="tx2"/>
                </a:solidFill>
              </a:rPr>
              <a:t>yet.</a:t>
            </a:r>
            <a:endParaRPr lang="en-US" sz="1500" dirty="0">
              <a:solidFill>
                <a:schemeClr val="tx2"/>
              </a:solidFill>
            </a:endParaRPr>
          </a:p>
          <a:p>
            <a:pPr algn="just"/>
            <a:endParaRPr lang="en-US" sz="1400" dirty="0" smtClean="0">
              <a:solidFill>
                <a:schemeClr val="tx2"/>
              </a:solidFill>
            </a:endParaRPr>
          </a:p>
          <a:p>
            <a:pPr marL="342900" indent="-342900" algn="just">
              <a:buAutoNum type="arabicParenR"/>
            </a:pPr>
            <a:endParaRPr lang="en-CA" sz="1400" dirty="0">
              <a:solidFill>
                <a:schemeClr val="tx2"/>
              </a:solidFill>
            </a:endParaRPr>
          </a:p>
        </p:txBody>
      </p:sp>
    </p:spTree>
    <p:extLst>
      <p:ext uri="{BB962C8B-B14F-4D97-AF65-F5344CB8AC3E}">
        <p14:creationId xmlns:p14="http://schemas.microsoft.com/office/powerpoint/2010/main" val="31483678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519808"/>
            <a:ext cx="8280401" cy="397483"/>
          </a:xfrm>
        </p:spPr>
        <p:txBody>
          <a:bodyPr/>
          <a:lstStyle/>
          <a:p>
            <a:r>
              <a:rPr lang="en-US" sz="3000" dirty="0" smtClean="0"/>
              <a:t>Modelling Approach</a:t>
            </a:r>
            <a:endParaRPr lang="en-CA" sz="3000" dirty="0"/>
          </a:p>
        </p:txBody>
      </p:sp>
      <p:sp>
        <p:nvSpPr>
          <p:cNvPr id="4" name="Text Placeholder 3"/>
          <p:cNvSpPr>
            <a:spLocks noGrp="1"/>
          </p:cNvSpPr>
          <p:nvPr>
            <p:ph type="body" sz="quarter" idx="15"/>
          </p:nvPr>
        </p:nvSpPr>
        <p:spPr>
          <a:xfrm>
            <a:off x="406202" y="1060063"/>
            <a:ext cx="8280400" cy="3321367"/>
          </a:xfrm>
        </p:spPr>
        <p:txBody>
          <a:bodyPr/>
          <a:lstStyle/>
          <a:p>
            <a:pPr algn="just"/>
            <a:r>
              <a:rPr lang="en-US" sz="1500" b="1" dirty="0" smtClean="0">
                <a:solidFill>
                  <a:schemeClr val="tx2"/>
                </a:solidFill>
              </a:rPr>
              <a:t>2) STEP TWO – </a:t>
            </a:r>
            <a:r>
              <a:rPr lang="en-US" sz="1500" b="1" dirty="0">
                <a:solidFill>
                  <a:schemeClr val="tx2"/>
                </a:solidFill>
              </a:rPr>
              <a:t>PD Calibration</a:t>
            </a:r>
          </a:p>
          <a:p>
            <a:pPr algn="just"/>
            <a:r>
              <a:rPr lang="en-US" sz="1500" dirty="0">
                <a:solidFill>
                  <a:schemeClr val="tx2"/>
                </a:solidFill>
              </a:rPr>
              <a:t>In the previous step, we only rank-ordered the borrowers based on their risk profile. Now, we need to assign PDs which </a:t>
            </a:r>
            <a:r>
              <a:rPr lang="en-US" sz="1500" dirty="0" smtClean="0">
                <a:solidFill>
                  <a:schemeClr val="tx2"/>
                </a:solidFill>
              </a:rPr>
              <a:t>need to align </a:t>
            </a:r>
            <a:r>
              <a:rPr lang="en-US" sz="1500" dirty="0">
                <a:solidFill>
                  <a:schemeClr val="tx2"/>
                </a:solidFill>
              </a:rPr>
              <a:t>with our historical realized default rates. First, we need to </a:t>
            </a:r>
            <a:r>
              <a:rPr lang="en-US" sz="1500" dirty="0" smtClean="0">
                <a:solidFill>
                  <a:schemeClr val="tx2"/>
                </a:solidFill>
              </a:rPr>
              <a:t>determine the </a:t>
            </a:r>
            <a:r>
              <a:rPr lang="en-US" sz="1500" dirty="0">
                <a:solidFill>
                  <a:schemeClr val="tx2"/>
                </a:solidFill>
              </a:rPr>
              <a:t>number of risk ratings. Suppose the rank-ordering tool (i.e., </a:t>
            </a:r>
            <a:r>
              <a:rPr lang="en-US" sz="1500" dirty="0" smtClean="0">
                <a:solidFill>
                  <a:schemeClr val="tx2"/>
                </a:solidFill>
              </a:rPr>
              <a:t>the scorecard</a:t>
            </a:r>
            <a:r>
              <a:rPr lang="en-US" sz="1500" dirty="0">
                <a:solidFill>
                  <a:schemeClr val="tx2"/>
                </a:solidFill>
              </a:rPr>
              <a:t>) developed in Step 1 </a:t>
            </a:r>
            <a:r>
              <a:rPr lang="en-US" sz="1500" dirty="0" smtClean="0">
                <a:solidFill>
                  <a:schemeClr val="tx2"/>
                </a:solidFill>
              </a:rPr>
              <a:t>generates </a:t>
            </a:r>
            <a:r>
              <a:rPr lang="en-US" sz="1500" dirty="0">
                <a:solidFill>
                  <a:schemeClr val="tx2"/>
                </a:solidFill>
              </a:rPr>
              <a:t>scores ranging from 500 to 800. The range of scores doesn’t really matter, it could be 100 to 400. Only order is important. As a standard practice, we start with 7-8 risk rating, RR1 is defined as scores between 500 to 600, RR2 is defined as scores between </a:t>
            </a:r>
            <a:r>
              <a:rPr lang="en-US" sz="1500" dirty="0" smtClean="0">
                <a:solidFill>
                  <a:schemeClr val="tx2"/>
                </a:solidFill>
              </a:rPr>
              <a:t>600 </a:t>
            </a:r>
            <a:r>
              <a:rPr lang="en-US" sz="1500" dirty="0">
                <a:solidFill>
                  <a:schemeClr val="tx2"/>
                </a:solidFill>
              </a:rPr>
              <a:t>to 700, and so on. </a:t>
            </a:r>
            <a:r>
              <a:rPr lang="en-US" sz="1500" dirty="0" smtClean="0">
                <a:solidFill>
                  <a:schemeClr val="tx2"/>
                </a:solidFill>
              </a:rPr>
              <a:t>For low default rate portfolios such as IPRE, we usually have 3-4 quantitative risk ratings and supplemented by a wider rang of qualitative risk ratings.</a:t>
            </a:r>
            <a:endParaRPr lang="en-CA" sz="1500" dirty="0">
              <a:solidFill>
                <a:schemeClr val="tx2"/>
              </a:solidFill>
            </a:endParaRPr>
          </a:p>
        </p:txBody>
      </p:sp>
    </p:spTree>
    <p:extLst>
      <p:ext uri="{BB962C8B-B14F-4D97-AF65-F5344CB8AC3E}">
        <p14:creationId xmlns:p14="http://schemas.microsoft.com/office/powerpoint/2010/main" val="10854393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519808"/>
            <a:ext cx="8280401" cy="397483"/>
          </a:xfrm>
        </p:spPr>
        <p:txBody>
          <a:bodyPr/>
          <a:lstStyle/>
          <a:p>
            <a:r>
              <a:rPr lang="en-US" sz="3000" dirty="0" smtClean="0"/>
              <a:t>Modelling Approach</a:t>
            </a:r>
            <a:endParaRPr lang="en-CA" sz="3000" dirty="0"/>
          </a:p>
        </p:txBody>
      </p:sp>
      <p:sp>
        <p:nvSpPr>
          <p:cNvPr id="4" name="Text Placeholder 3"/>
          <p:cNvSpPr>
            <a:spLocks noGrp="1"/>
          </p:cNvSpPr>
          <p:nvPr>
            <p:ph type="body" sz="quarter" idx="15"/>
          </p:nvPr>
        </p:nvSpPr>
        <p:spPr>
          <a:xfrm>
            <a:off x="406203" y="961371"/>
            <a:ext cx="8280400" cy="3758910"/>
          </a:xfrm>
        </p:spPr>
        <p:txBody>
          <a:bodyPr/>
          <a:lstStyle/>
          <a:p>
            <a:pPr algn="just"/>
            <a:r>
              <a:rPr lang="en-US" sz="1500" b="1" dirty="0" smtClean="0">
                <a:solidFill>
                  <a:schemeClr val="tx2"/>
                </a:solidFill>
              </a:rPr>
              <a:t>2) STEP TWO – </a:t>
            </a:r>
            <a:r>
              <a:rPr lang="en-US" sz="1500" b="1" dirty="0">
                <a:solidFill>
                  <a:schemeClr val="tx2"/>
                </a:solidFill>
              </a:rPr>
              <a:t>PD </a:t>
            </a:r>
            <a:r>
              <a:rPr lang="en-US" sz="1500" b="1" dirty="0" smtClean="0">
                <a:solidFill>
                  <a:schemeClr val="tx2"/>
                </a:solidFill>
              </a:rPr>
              <a:t>Calibration – Continued</a:t>
            </a:r>
            <a:endParaRPr lang="en-US" sz="1500" b="1" dirty="0">
              <a:solidFill>
                <a:schemeClr val="tx2"/>
              </a:solidFill>
            </a:endParaRPr>
          </a:p>
          <a:p>
            <a:pPr algn="just"/>
            <a:r>
              <a:rPr lang="en-US" sz="1500" dirty="0" smtClean="0">
                <a:solidFill>
                  <a:schemeClr val="tx2"/>
                </a:solidFill>
              </a:rPr>
              <a:t>We </a:t>
            </a:r>
            <a:r>
              <a:rPr lang="en-US" sz="1500" dirty="0">
                <a:solidFill>
                  <a:schemeClr val="tx2"/>
                </a:solidFill>
              </a:rPr>
              <a:t>have the following criteria </a:t>
            </a:r>
            <a:r>
              <a:rPr lang="en-US" sz="1500" dirty="0" smtClean="0">
                <a:solidFill>
                  <a:schemeClr val="tx2"/>
                </a:solidFill>
              </a:rPr>
              <a:t>in </a:t>
            </a:r>
            <a:r>
              <a:rPr lang="en-US" sz="1500" dirty="0">
                <a:solidFill>
                  <a:schemeClr val="tx2"/>
                </a:solidFill>
              </a:rPr>
              <a:t>defining the risk ratings.</a:t>
            </a:r>
          </a:p>
          <a:p>
            <a:pPr algn="just"/>
            <a:r>
              <a:rPr lang="en-US" sz="1500" b="1" dirty="0">
                <a:solidFill>
                  <a:schemeClr val="tx2"/>
                </a:solidFill>
              </a:rPr>
              <a:t>2.1) </a:t>
            </a:r>
            <a:r>
              <a:rPr lang="en-US" sz="1500" dirty="0">
                <a:solidFill>
                  <a:schemeClr val="tx2"/>
                </a:solidFill>
              </a:rPr>
              <a:t>Distribution of the resulting risk rating </a:t>
            </a:r>
            <a:r>
              <a:rPr lang="en-US" sz="1500" dirty="0" smtClean="0">
                <a:solidFill>
                  <a:schemeClr val="tx2"/>
                </a:solidFill>
              </a:rPr>
              <a:t>should roughly resemble </a:t>
            </a:r>
            <a:r>
              <a:rPr lang="en-US" sz="1500" dirty="0">
                <a:solidFill>
                  <a:schemeClr val="tx2"/>
                </a:solidFill>
              </a:rPr>
              <a:t>a </a:t>
            </a:r>
            <a:r>
              <a:rPr lang="en-US" sz="1500" dirty="0" smtClean="0">
                <a:solidFill>
                  <a:schemeClr val="tx2"/>
                </a:solidFill>
              </a:rPr>
              <a:t>bell-shaped </a:t>
            </a:r>
            <a:r>
              <a:rPr lang="en-US" sz="1500" dirty="0">
                <a:solidFill>
                  <a:schemeClr val="tx2"/>
                </a:solidFill>
              </a:rPr>
              <a:t>normal distribution. Not too many borrowers in extremely low </a:t>
            </a:r>
            <a:r>
              <a:rPr lang="en-US" sz="1500" dirty="0" smtClean="0">
                <a:solidFill>
                  <a:schemeClr val="tx2"/>
                </a:solidFill>
              </a:rPr>
              <a:t>or extremely high </a:t>
            </a:r>
            <a:r>
              <a:rPr lang="en-US" sz="1500" dirty="0">
                <a:solidFill>
                  <a:schemeClr val="tx2"/>
                </a:solidFill>
              </a:rPr>
              <a:t>risk.  </a:t>
            </a:r>
          </a:p>
          <a:p>
            <a:pPr algn="just"/>
            <a:r>
              <a:rPr lang="en-US" sz="1500" b="1" dirty="0">
                <a:solidFill>
                  <a:schemeClr val="tx2"/>
                </a:solidFill>
              </a:rPr>
              <a:t>2.2) </a:t>
            </a:r>
            <a:r>
              <a:rPr lang="en-US" sz="1500" dirty="0">
                <a:solidFill>
                  <a:schemeClr val="tx2"/>
                </a:solidFill>
              </a:rPr>
              <a:t>There are enough defaulted and performing borrowers in each risk rating. If we have too many risk ratings (e.g., 15-20 RRs), then in some risk </a:t>
            </a:r>
            <a:r>
              <a:rPr lang="en-US" sz="1500" dirty="0" smtClean="0">
                <a:solidFill>
                  <a:schemeClr val="tx2"/>
                </a:solidFill>
              </a:rPr>
              <a:t>ratings, </a:t>
            </a:r>
            <a:r>
              <a:rPr lang="en-US" sz="1500" dirty="0">
                <a:solidFill>
                  <a:schemeClr val="tx2"/>
                </a:solidFill>
              </a:rPr>
              <a:t>there will be just a few borrowers, and some of them </a:t>
            </a:r>
            <a:r>
              <a:rPr lang="en-US" sz="1500" dirty="0" smtClean="0">
                <a:solidFill>
                  <a:schemeClr val="tx2"/>
                </a:solidFill>
              </a:rPr>
              <a:t>will contain </a:t>
            </a:r>
            <a:r>
              <a:rPr lang="en-US" sz="1500" dirty="0">
                <a:solidFill>
                  <a:schemeClr val="tx2"/>
                </a:solidFill>
              </a:rPr>
              <a:t>no </a:t>
            </a:r>
            <a:r>
              <a:rPr lang="en-US" sz="1500" dirty="0" smtClean="0">
                <a:solidFill>
                  <a:schemeClr val="tx2"/>
                </a:solidFill>
              </a:rPr>
              <a:t>defaulted borrowers. </a:t>
            </a:r>
            <a:r>
              <a:rPr lang="en-US" sz="1500" dirty="0">
                <a:solidFill>
                  <a:schemeClr val="tx2"/>
                </a:solidFill>
              </a:rPr>
              <a:t>Creating risk ratings with a zero default rate is NOT intuitive, probability of default is never zero. </a:t>
            </a:r>
            <a:endParaRPr lang="en-US" sz="1500" dirty="0" smtClean="0">
              <a:solidFill>
                <a:schemeClr val="tx2"/>
              </a:solidFill>
            </a:endParaRPr>
          </a:p>
          <a:p>
            <a:pPr algn="just"/>
            <a:endParaRPr lang="en-US" sz="1500" dirty="0">
              <a:solidFill>
                <a:schemeClr val="tx2"/>
              </a:solidFill>
            </a:endParaRPr>
          </a:p>
          <a:p>
            <a:pPr algn="just"/>
            <a:r>
              <a:rPr lang="en-US" sz="1500" dirty="0">
                <a:solidFill>
                  <a:schemeClr val="tx2"/>
                </a:solidFill>
              </a:rPr>
              <a:t>PD is then calibrated for each risk rating individually to ensure that default rate observed for each risk rating aligns with the historical Long-Run PD* (LRPD) for the underlying portfolio. Finally, each calibrated PD will be mapped to CWB Master Scale to determine BRR as per CWB rating system.</a:t>
            </a:r>
          </a:p>
          <a:p>
            <a:pPr algn="just"/>
            <a:endParaRPr lang="en-US" sz="1500" dirty="0" smtClean="0">
              <a:solidFill>
                <a:schemeClr val="tx2"/>
              </a:solidFill>
            </a:endParaRPr>
          </a:p>
          <a:p>
            <a:pPr algn="just"/>
            <a:r>
              <a:rPr lang="en-US" sz="1200" dirty="0" smtClean="0">
                <a:solidFill>
                  <a:schemeClr val="tx2"/>
                </a:solidFill>
              </a:rPr>
              <a:t>*In a nutshell, historical LRPD is the historical average default rate adjusted for the historical default rates volatility. The more volatile the historical default rates are, the higher the historical LRPD is. </a:t>
            </a:r>
          </a:p>
          <a:p>
            <a:pPr algn="just"/>
            <a:endParaRPr lang="en-US" sz="1500" dirty="0" smtClean="0"/>
          </a:p>
          <a:p>
            <a:pPr marL="342900" indent="-342900" algn="just">
              <a:buAutoNum type="arabicParenR"/>
            </a:pPr>
            <a:endParaRPr lang="en-CA" sz="1500" dirty="0"/>
          </a:p>
        </p:txBody>
      </p:sp>
    </p:spTree>
    <p:extLst>
      <p:ext uri="{BB962C8B-B14F-4D97-AF65-F5344CB8AC3E}">
        <p14:creationId xmlns:p14="http://schemas.microsoft.com/office/powerpoint/2010/main" val="1309163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333196"/>
            <a:ext cx="8280401" cy="397483"/>
          </a:xfrm>
        </p:spPr>
        <p:txBody>
          <a:bodyPr/>
          <a:lstStyle/>
          <a:p>
            <a:r>
              <a:rPr lang="en-US" sz="3000" dirty="0" smtClean="0"/>
              <a:t>Measures of Model Performance</a:t>
            </a:r>
            <a:endParaRPr lang="en-CA" sz="3000" dirty="0"/>
          </a:p>
        </p:txBody>
      </p:sp>
      <p:sp>
        <p:nvSpPr>
          <p:cNvPr id="4" name="Text Placeholder 3"/>
          <p:cNvSpPr>
            <a:spLocks noGrp="1"/>
          </p:cNvSpPr>
          <p:nvPr>
            <p:ph type="body" sz="quarter" idx="15"/>
          </p:nvPr>
        </p:nvSpPr>
        <p:spPr>
          <a:xfrm>
            <a:off x="406203" y="833316"/>
            <a:ext cx="8280400" cy="3897305"/>
          </a:xfrm>
        </p:spPr>
        <p:txBody>
          <a:bodyPr/>
          <a:lstStyle/>
          <a:p>
            <a:pPr algn="just"/>
            <a:r>
              <a:rPr lang="en-US" sz="1400" dirty="0" smtClean="0">
                <a:solidFill>
                  <a:schemeClr val="tx2"/>
                </a:solidFill>
              </a:rPr>
              <a:t>Model performance is measured during:</a:t>
            </a:r>
          </a:p>
          <a:p>
            <a:pPr marL="342900" indent="-342900" algn="just">
              <a:buFont typeface="Arial" panose="020B0604020202020204" pitchFamily="34" charset="0"/>
              <a:buChar char="•"/>
            </a:pPr>
            <a:r>
              <a:rPr lang="en-US" sz="1400" dirty="0" smtClean="0">
                <a:solidFill>
                  <a:schemeClr val="tx2"/>
                </a:solidFill>
              </a:rPr>
              <a:t>Development – Performed by the </a:t>
            </a:r>
            <a:r>
              <a:rPr lang="en-US" sz="1400" b="1" dirty="0" smtClean="0">
                <a:solidFill>
                  <a:schemeClr val="tx2"/>
                </a:solidFill>
              </a:rPr>
              <a:t>Model Development team</a:t>
            </a:r>
          </a:p>
          <a:p>
            <a:pPr marL="342900" indent="-342900" algn="just">
              <a:buFont typeface="Arial" panose="020B0604020202020204" pitchFamily="34" charset="0"/>
              <a:buChar char="•"/>
            </a:pPr>
            <a:r>
              <a:rPr lang="en-US" sz="1400" dirty="0">
                <a:solidFill>
                  <a:schemeClr val="tx2"/>
                </a:solidFill>
              </a:rPr>
              <a:t>Validation – Performed by the </a:t>
            </a:r>
            <a:r>
              <a:rPr lang="en-US" sz="1400" b="1" dirty="0">
                <a:solidFill>
                  <a:schemeClr val="tx2"/>
                </a:solidFill>
              </a:rPr>
              <a:t>Model </a:t>
            </a:r>
            <a:r>
              <a:rPr lang="en-US" sz="1400" b="1" dirty="0" smtClean="0">
                <a:solidFill>
                  <a:schemeClr val="tx2"/>
                </a:solidFill>
              </a:rPr>
              <a:t>Vetting team</a:t>
            </a:r>
          </a:p>
          <a:p>
            <a:pPr marL="342900" indent="-342900" algn="just">
              <a:buFont typeface="Arial" panose="020B0604020202020204" pitchFamily="34" charset="0"/>
              <a:buChar char="•"/>
            </a:pPr>
            <a:r>
              <a:rPr lang="en-US" sz="1400" dirty="0" err="1" smtClean="0">
                <a:solidFill>
                  <a:schemeClr val="tx2"/>
                </a:solidFill>
              </a:rPr>
              <a:t>Backtesting</a:t>
            </a:r>
            <a:r>
              <a:rPr lang="en-US" sz="1400" dirty="0">
                <a:solidFill>
                  <a:schemeClr val="tx2"/>
                </a:solidFill>
              </a:rPr>
              <a:t> – Performed by the </a:t>
            </a:r>
            <a:r>
              <a:rPr lang="en-US" sz="1400" b="1" dirty="0">
                <a:solidFill>
                  <a:schemeClr val="tx2"/>
                </a:solidFill>
              </a:rPr>
              <a:t>Model Vetting </a:t>
            </a:r>
            <a:r>
              <a:rPr lang="en-US" sz="1400" b="1" dirty="0" smtClean="0">
                <a:solidFill>
                  <a:schemeClr val="tx2"/>
                </a:solidFill>
              </a:rPr>
              <a:t>team</a:t>
            </a:r>
          </a:p>
          <a:p>
            <a:pPr marL="342900" indent="-342900" algn="just">
              <a:buFont typeface="Arial" panose="020B0604020202020204" pitchFamily="34" charset="0"/>
              <a:buChar char="•"/>
            </a:pPr>
            <a:r>
              <a:rPr lang="en-US" sz="1400" dirty="0" smtClean="0">
                <a:solidFill>
                  <a:schemeClr val="tx2"/>
                </a:solidFill>
              </a:rPr>
              <a:t>Quarterly/Annual Model Performance </a:t>
            </a:r>
            <a:r>
              <a:rPr lang="en-US" sz="1400" dirty="0">
                <a:solidFill>
                  <a:schemeClr val="tx2"/>
                </a:solidFill>
              </a:rPr>
              <a:t>Monitoring – Performed by the </a:t>
            </a:r>
            <a:r>
              <a:rPr lang="en-US" sz="1400" b="1" dirty="0" smtClean="0">
                <a:solidFill>
                  <a:schemeClr val="tx2"/>
                </a:solidFill>
              </a:rPr>
              <a:t>Risk IT, Model Vetting, and Model Development teams together</a:t>
            </a:r>
            <a:endParaRPr lang="en-US" sz="1400" b="1" dirty="0">
              <a:solidFill>
                <a:schemeClr val="tx2"/>
              </a:solidFill>
            </a:endParaRPr>
          </a:p>
          <a:p>
            <a:pPr algn="just"/>
            <a:endParaRPr lang="en-US" sz="1400" dirty="0" smtClean="0">
              <a:solidFill>
                <a:schemeClr val="tx2"/>
              </a:solidFill>
            </a:endParaRPr>
          </a:p>
          <a:p>
            <a:pPr algn="just"/>
            <a:r>
              <a:rPr lang="en-US" sz="1400" dirty="0" smtClean="0">
                <a:solidFill>
                  <a:schemeClr val="tx2"/>
                </a:solidFill>
              </a:rPr>
              <a:t>Utilizing historical data, each team independently examines the model outputs to ensure the developed models provide a reliable </a:t>
            </a:r>
            <a:r>
              <a:rPr lang="en-US" sz="1400" u="sng" dirty="0" smtClean="0">
                <a:solidFill>
                  <a:schemeClr val="tx2"/>
                </a:solidFill>
              </a:rPr>
              <a:t>Rank-Ordering tool</a:t>
            </a:r>
            <a:r>
              <a:rPr lang="en-US" sz="1400" dirty="0" smtClean="0">
                <a:solidFill>
                  <a:schemeClr val="tx2"/>
                </a:solidFill>
              </a:rPr>
              <a:t> AND </a:t>
            </a:r>
            <a:r>
              <a:rPr lang="en-US" sz="1400" u="sng" dirty="0" smtClean="0">
                <a:solidFill>
                  <a:schemeClr val="tx2"/>
                </a:solidFill>
              </a:rPr>
              <a:t>Model PDs</a:t>
            </a:r>
            <a:r>
              <a:rPr lang="en-US" sz="1400" dirty="0" smtClean="0">
                <a:solidFill>
                  <a:schemeClr val="tx2"/>
                </a:solidFill>
              </a:rPr>
              <a:t> align with the realized default rates.</a:t>
            </a:r>
          </a:p>
          <a:p>
            <a:pPr algn="just"/>
            <a:endParaRPr lang="en-US" sz="1400" dirty="0" smtClean="0">
              <a:solidFill>
                <a:schemeClr val="tx2"/>
              </a:solidFill>
            </a:endParaRPr>
          </a:p>
          <a:p>
            <a:pPr algn="just"/>
            <a:r>
              <a:rPr lang="en-US" sz="1400" b="1" dirty="0" smtClean="0">
                <a:solidFill>
                  <a:schemeClr val="tx2"/>
                </a:solidFill>
              </a:rPr>
              <a:t>1)  Rank-Ordering Performance Measures:</a:t>
            </a:r>
          </a:p>
          <a:p>
            <a:pPr marL="285750" indent="-285750" algn="just">
              <a:buFont typeface="Wingdings" panose="05000000000000000000" pitchFamily="2" charset="2"/>
              <a:buChar char="Ø"/>
            </a:pPr>
            <a:r>
              <a:rPr lang="en-US" sz="1400" dirty="0">
                <a:solidFill>
                  <a:schemeClr val="tx2"/>
                </a:solidFill>
              </a:rPr>
              <a:t>O</a:t>
            </a:r>
            <a:r>
              <a:rPr lang="en-US" sz="1400" dirty="0" smtClean="0">
                <a:solidFill>
                  <a:schemeClr val="tx2"/>
                </a:solidFill>
              </a:rPr>
              <a:t>n average, model should predict the level of risk with a 70% to 85% precision. </a:t>
            </a:r>
          </a:p>
          <a:p>
            <a:pPr marL="285750" indent="-285750" algn="just">
              <a:buFont typeface="Wingdings" panose="05000000000000000000" pitchFamily="2" charset="2"/>
              <a:buChar char="Ø"/>
            </a:pPr>
            <a:r>
              <a:rPr lang="en-US" sz="1400" dirty="0" smtClean="0">
                <a:solidFill>
                  <a:schemeClr val="tx2"/>
                </a:solidFill>
              </a:rPr>
              <a:t>Distribution of the risk drivers should remain relatively stable for the model to be still relevant.</a:t>
            </a:r>
          </a:p>
          <a:p>
            <a:pPr algn="just"/>
            <a:r>
              <a:rPr lang="en-US" sz="1400" b="1" dirty="0" smtClean="0">
                <a:solidFill>
                  <a:schemeClr val="tx2"/>
                </a:solidFill>
              </a:rPr>
              <a:t>2)  Model PDs Performance Measure:</a:t>
            </a:r>
          </a:p>
          <a:p>
            <a:pPr algn="just"/>
            <a:r>
              <a:rPr lang="en-US" sz="1400" dirty="0" smtClean="0">
                <a:solidFill>
                  <a:schemeClr val="tx2"/>
                </a:solidFill>
              </a:rPr>
              <a:t>At the risk rating level, model PDs should provide an acceptable approximation of the realized default rates</a:t>
            </a:r>
            <a:endParaRPr lang="en-US" sz="1400" dirty="0">
              <a:solidFill>
                <a:schemeClr val="tx2"/>
              </a:solidFill>
            </a:endParaRPr>
          </a:p>
        </p:txBody>
      </p:sp>
    </p:spTree>
    <p:extLst>
      <p:ext uri="{BB962C8B-B14F-4D97-AF65-F5344CB8AC3E}">
        <p14:creationId xmlns:p14="http://schemas.microsoft.com/office/powerpoint/2010/main" val="32429694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2" y="339502"/>
            <a:ext cx="8280401" cy="397483"/>
          </a:xfrm>
        </p:spPr>
        <p:txBody>
          <a:bodyPr/>
          <a:lstStyle/>
          <a:p>
            <a:r>
              <a:rPr lang="en-US" sz="2800" dirty="0"/>
              <a:t>SBE1 Historical Default Rates</a:t>
            </a:r>
            <a:endParaRPr lang="en-CA" sz="2800" dirty="0"/>
          </a:p>
        </p:txBody>
      </p:sp>
      <p:graphicFrame>
        <p:nvGraphicFramePr>
          <p:cNvPr id="6" name="Table 5"/>
          <p:cNvGraphicFramePr>
            <a:graphicFrameLocks noGrp="1"/>
          </p:cNvGraphicFramePr>
          <p:nvPr>
            <p:extLst/>
          </p:nvPr>
        </p:nvGraphicFramePr>
        <p:xfrm>
          <a:off x="354567" y="1347614"/>
          <a:ext cx="2561249" cy="3424310"/>
        </p:xfrm>
        <a:graphic>
          <a:graphicData uri="http://schemas.openxmlformats.org/drawingml/2006/table">
            <a:tbl>
              <a:tblPr firstRow="1" bandRow="1">
                <a:tableStyleId>{68D230F3-CF80-4859-8CE7-A43EE81993B5}</a:tableStyleId>
              </a:tblPr>
              <a:tblGrid>
                <a:gridCol w="1132455">
                  <a:extLst>
                    <a:ext uri="{9D8B030D-6E8A-4147-A177-3AD203B41FA5}">
                      <a16:colId xmlns:a16="http://schemas.microsoft.com/office/drawing/2014/main" val="20000"/>
                    </a:ext>
                  </a:extLst>
                </a:gridCol>
                <a:gridCol w="1428794">
                  <a:extLst>
                    <a:ext uri="{9D8B030D-6E8A-4147-A177-3AD203B41FA5}">
                      <a16:colId xmlns:a16="http://schemas.microsoft.com/office/drawing/2014/main" val="20001"/>
                    </a:ext>
                  </a:extLst>
                </a:gridCol>
              </a:tblGrid>
              <a:tr h="182936">
                <a:tc>
                  <a:txBody>
                    <a:bodyPr/>
                    <a:lstStyle/>
                    <a:p>
                      <a:pPr marL="0" marR="0" algn="ctr">
                        <a:lnSpc>
                          <a:spcPct val="115000"/>
                        </a:lnSpc>
                        <a:spcBef>
                          <a:spcPts val="0"/>
                        </a:spcBef>
                        <a:spcAft>
                          <a:spcPts val="0"/>
                        </a:spcAft>
                      </a:pPr>
                      <a:r>
                        <a:rPr lang="en-CA" sz="1000" dirty="0">
                          <a:solidFill>
                            <a:schemeClr val="bg1"/>
                          </a:solidFill>
                          <a:effectLst/>
                          <a:latin typeface="+mn-lt"/>
                        </a:rPr>
                        <a:t>Year</a:t>
                      </a:r>
                      <a:endParaRPr lang="en-CA" sz="1000" dirty="0">
                        <a:solidFill>
                          <a:schemeClr val="bg1"/>
                        </a:solidFill>
                        <a:effectLst/>
                        <a:latin typeface="+mn-lt"/>
                        <a:ea typeface="Times New Roman"/>
                        <a:cs typeface="Times New Roman"/>
                      </a:endParaRPr>
                    </a:p>
                  </a:txBody>
                  <a:tcPr marL="34892" marR="34892" marT="13085" marB="13085" anchor="ctr">
                    <a:lnL>
                      <a:noFill/>
                    </a:lnL>
                    <a:lnR>
                      <a:noFill/>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gn="ctr">
                        <a:lnSpc>
                          <a:spcPct val="115000"/>
                        </a:lnSpc>
                        <a:spcBef>
                          <a:spcPts val="0"/>
                        </a:spcBef>
                        <a:spcAft>
                          <a:spcPts val="0"/>
                        </a:spcAft>
                      </a:pPr>
                      <a:r>
                        <a:rPr lang="en-CA" sz="1000" dirty="0">
                          <a:solidFill>
                            <a:schemeClr val="bg1"/>
                          </a:solidFill>
                          <a:effectLst/>
                          <a:latin typeface="+mn-lt"/>
                        </a:rPr>
                        <a:t>Default Rate</a:t>
                      </a:r>
                      <a:endParaRPr lang="en-CA" sz="1000" dirty="0">
                        <a:solidFill>
                          <a:schemeClr val="bg1"/>
                        </a:solidFill>
                        <a:effectLst/>
                        <a:latin typeface="+mn-lt"/>
                        <a:ea typeface="Times New Roman"/>
                        <a:cs typeface="Times New Roman"/>
                      </a:endParaRPr>
                    </a:p>
                  </a:txBody>
                  <a:tcPr marL="34892" marR="34892" marT="13085" marB="13085" anchor="ctr">
                    <a:lnL>
                      <a:noFill/>
                    </a:lnL>
                    <a:lnR>
                      <a:noFill/>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2004</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3.84%</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1"/>
                  </a:ext>
                </a:extLst>
              </a:tr>
              <a:tr h="182936">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000" dirty="0">
                          <a:solidFill>
                            <a:schemeClr val="tx1">
                              <a:lumMod val="75000"/>
                            </a:schemeClr>
                          </a:solidFill>
                          <a:effectLst/>
                          <a:latin typeface="+mn-lt"/>
                          <a:ea typeface="Times New Roman"/>
                          <a:cs typeface="Times New Roman"/>
                        </a:rPr>
                        <a:t>2005</a:t>
                      </a: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2.60%</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82936">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000" dirty="0">
                          <a:solidFill>
                            <a:schemeClr val="tx1">
                              <a:lumMod val="75000"/>
                            </a:schemeClr>
                          </a:solidFill>
                          <a:effectLst/>
                          <a:latin typeface="+mn-lt"/>
                          <a:ea typeface="Times New Roman"/>
                          <a:cs typeface="Times New Roman"/>
                        </a:rPr>
                        <a:t>2006</a:t>
                      </a: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000" dirty="0" smtClean="0">
                          <a:solidFill>
                            <a:schemeClr val="tx1">
                              <a:lumMod val="75000"/>
                            </a:schemeClr>
                          </a:solidFill>
                          <a:effectLst/>
                          <a:latin typeface="+mn-lt"/>
                          <a:ea typeface="Times New Roman"/>
                          <a:cs typeface="Times New Roman"/>
                        </a:rPr>
                        <a:t>2.55%</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587503263"/>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2007</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2.64%</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173861177"/>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2008</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3.20%</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086964477"/>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2009</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3.14%</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174118731"/>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2010</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3.49%</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459586693"/>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2011</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3.04%</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612637173"/>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2012</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2.39%</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36567262"/>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2013</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2.59%</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47041000"/>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2014</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2.19%</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3"/>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2015</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2.40%</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800992801"/>
                  </a:ext>
                </a:extLst>
              </a:tr>
              <a:tr h="182936">
                <a:tc>
                  <a:txBody>
                    <a:bodyPr/>
                    <a:lstStyle/>
                    <a:p>
                      <a:pPr marL="0" marR="0" algn="ctr">
                        <a:lnSpc>
                          <a:spcPct val="115000"/>
                        </a:lnSpc>
                        <a:spcBef>
                          <a:spcPts val="0"/>
                        </a:spcBef>
                        <a:spcAft>
                          <a:spcPts val="0"/>
                        </a:spcAft>
                      </a:pPr>
                      <a:r>
                        <a:rPr lang="en-US" sz="1000" dirty="0">
                          <a:solidFill>
                            <a:schemeClr val="tx1">
                              <a:lumMod val="75000"/>
                            </a:schemeClr>
                          </a:solidFill>
                          <a:effectLst/>
                          <a:latin typeface="+mn-lt"/>
                          <a:ea typeface="Times New Roman"/>
                          <a:cs typeface="Times New Roman"/>
                        </a:rPr>
                        <a:t>2016</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2.66%</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884325100"/>
                  </a:ext>
                </a:extLst>
              </a:tr>
              <a:tr h="182936">
                <a:tc>
                  <a:txBody>
                    <a:bodyPr/>
                    <a:lstStyle/>
                    <a:p>
                      <a:pPr marL="0" marR="0" algn="ctr">
                        <a:lnSpc>
                          <a:spcPct val="115000"/>
                        </a:lnSpc>
                        <a:spcBef>
                          <a:spcPts val="0"/>
                        </a:spcBef>
                        <a:spcAft>
                          <a:spcPts val="0"/>
                        </a:spcAft>
                      </a:pPr>
                      <a:r>
                        <a:rPr lang="en-CA" sz="1000" dirty="0" smtClean="0">
                          <a:solidFill>
                            <a:schemeClr val="tx1">
                              <a:lumMod val="75000"/>
                            </a:schemeClr>
                          </a:solidFill>
                          <a:effectLst/>
                          <a:latin typeface="+mn-lt"/>
                          <a:ea typeface="Times New Roman"/>
                          <a:cs typeface="Times New Roman"/>
                        </a:rPr>
                        <a:t>2017</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000" dirty="0" smtClean="0">
                          <a:solidFill>
                            <a:schemeClr val="tx1">
                              <a:lumMod val="75000"/>
                            </a:schemeClr>
                          </a:solidFill>
                          <a:effectLst/>
                          <a:latin typeface="+mn-lt"/>
                          <a:ea typeface="Times New Roman"/>
                          <a:cs typeface="Times New Roman"/>
                        </a:rPr>
                        <a:t>2.50%</a:t>
                      </a:r>
                      <a:endParaRPr lang="en-CA" sz="1000" dirty="0" smtClean="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941028411"/>
                  </a:ext>
                </a:extLst>
              </a:tr>
              <a:tr h="182936">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2018</a:t>
                      </a:r>
                      <a:endParaRPr lang="en-CA" sz="1000" dirty="0">
                        <a:solidFill>
                          <a:schemeClr val="tx1">
                            <a:lumMod val="75000"/>
                          </a:schemeClr>
                        </a:solidFill>
                        <a:effectLst/>
                        <a:latin typeface="+mn-lt"/>
                        <a:ea typeface="Times New Roman"/>
                        <a:cs typeface="Times New Roman"/>
                      </a:endParaRPr>
                    </a:p>
                  </a:txBody>
                  <a:tcPr marL="34892" marR="34892" marT="13085" marB="13085" anchor="ct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marL="0" marR="0" algn="ctr">
                        <a:lnSpc>
                          <a:spcPct val="115000"/>
                        </a:lnSpc>
                        <a:spcBef>
                          <a:spcPts val="0"/>
                        </a:spcBef>
                        <a:spcAft>
                          <a:spcPts val="0"/>
                        </a:spcAft>
                      </a:pPr>
                      <a:r>
                        <a:rPr lang="en-US" sz="1000" dirty="0" smtClean="0">
                          <a:solidFill>
                            <a:schemeClr val="tx1">
                              <a:lumMod val="75000"/>
                            </a:schemeClr>
                          </a:solidFill>
                          <a:effectLst/>
                          <a:latin typeface="+mn-lt"/>
                          <a:ea typeface="Times New Roman"/>
                          <a:cs typeface="Times New Roman"/>
                        </a:rPr>
                        <a:t>2.15%</a:t>
                      </a:r>
                      <a:endParaRPr lang="en-CA" sz="1000" dirty="0">
                        <a:solidFill>
                          <a:schemeClr val="tx1">
                            <a:lumMod val="75000"/>
                          </a:schemeClr>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178635104"/>
                  </a:ext>
                </a:extLst>
              </a:tr>
              <a:tr h="182936">
                <a:tc>
                  <a:txBody>
                    <a:bodyPr/>
                    <a:lstStyle/>
                    <a:p>
                      <a:pPr marL="0" marR="0" algn="ctr">
                        <a:lnSpc>
                          <a:spcPct val="115000"/>
                        </a:lnSpc>
                        <a:spcBef>
                          <a:spcPts val="0"/>
                        </a:spcBef>
                        <a:spcAft>
                          <a:spcPts val="0"/>
                        </a:spcAft>
                      </a:pPr>
                      <a:r>
                        <a:rPr lang="en-CA" sz="1000" b="1" dirty="0">
                          <a:solidFill>
                            <a:schemeClr val="bg1"/>
                          </a:solidFill>
                          <a:effectLst/>
                          <a:latin typeface="+mn-lt"/>
                          <a:ea typeface="Times New Roman"/>
                          <a:cs typeface="Times New Roman"/>
                        </a:rPr>
                        <a:t>Average</a:t>
                      </a:r>
                    </a:p>
                  </a:txBody>
                  <a:tcPr marL="34892" marR="34892" marT="13085" marB="13085" anchor="ctr">
                    <a:lnL>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algn="ctr">
                        <a:lnSpc>
                          <a:spcPct val="115000"/>
                        </a:lnSpc>
                        <a:spcBef>
                          <a:spcPts val="0"/>
                        </a:spcBef>
                        <a:spcAft>
                          <a:spcPts val="0"/>
                        </a:spcAft>
                      </a:pPr>
                      <a:r>
                        <a:rPr lang="en-CA" sz="1000" b="1" dirty="0" smtClean="0">
                          <a:solidFill>
                            <a:schemeClr val="bg1"/>
                          </a:solidFill>
                          <a:effectLst/>
                          <a:latin typeface="+mn-lt"/>
                          <a:ea typeface="Times New Roman"/>
                          <a:cs typeface="Times New Roman"/>
                        </a:rPr>
                        <a:t>2.76%</a:t>
                      </a:r>
                      <a:endParaRPr lang="en-CA" sz="1000" b="1" dirty="0">
                        <a:solidFill>
                          <a:schemeClr val="bg1"/>
                        </a:solidFill>
                        <a:effectLst/>
                        <a:latin typeface="+mn-lt"/>
                        <a:ea typeface="Times New Roman"/>
                        <a:cs typeface="Times New Roman"/>
                      </a:endParaRPr>
                    </a:p>
                  </a:txBody>
                  <a:tcPr marL="34892" marR="34892" marT="13085" marB="13085"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4"/>
                  </a:ext>
                </a:extLst>
              </a:tr>
            </a:tbl>
          </a:graphicData>
        </a:graphic>
      </p:graphicFrame>
      <p:sp>
        <p:nvSpPr>
          <p:cNvPr id="4" name="Text Placeholder 3"/>
          <p:cNvSpPr>
            <a:spLocks noGrp="1"/>
          </p:cNvSpPr>
          <p:nvPr>
            <p:ph type="body" sz="quarter" idx="15"/>
          </p:nvPr>
        </p:nvSpPr>
        <p:spPr>
          <a:xfrm>
            <a:off x="354567" y="771550"/>
            <a:ext cx="8350252" cy="575603"/>
          </a:xfrm>
        </p:spPr>
        <p:txBody>
          <a:bodyPr/>
          <a:lstStyle/>
          <a:p>
            <a:r>
              <a:rPr lang="en-US" dirty="0">
                <a:solidFill>
                  <a:srgbClr val="003B5C"/>
                </a:solidFill>
              </a:rPr>
              <a:t>Model predicted PDs are calibrated using historical default rates. PD calibration ensures that, at the risk rating level, average model PD aligns with the average historical default rate for the risk ratings.</a:t>
            </a:r>
            <a:endParaRPr lang="en-CA" dirty="0">
              <a:solidFill>
                <a:srgbClr val="003B5C"/>
              </a:solidFill>
            </a:endParaRPr>
          </a:p>
        </p:txBody>
      </p:sp>
      <p:graphicFrame>
        <p:nvGraphicFramePr>
          <p:cNvPr id="8" name="Chart 7"/>
          <p:cNvGraphicFramePr>
            <a:graphicFrameLocks/>
          </p:cNvGraphicFramePr>
          <p:nvPr>
            <p:extLst/>
          </p:nvPr>
        </p:nvGraphicFramePr>
        <p:xfrm>
          <a:off x="2987824" y="1347153"/>
          <a:ext cx="5975326" cy="331282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52074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smtClean="0"/>
              <a:t>SBE1 Scorecard</a:t>
            </a:r>
          </a:p>
          <a:p>
            <a:r>
              <a:rPr lang="en-US" dirty="0" smtClean="0"/>
              <a:t>Portfolio Distribution by BRR</a:t>
            </a:r>
          </a:p>
          <a:p>
            <a:r>
              <a:rPr lang="en-US" dirty="0" smtClean="0"/>
              <a:t>Analysis of Overrides</a:t>
            </a:r>
          </a:p>
          <a:p>
            <a:r>
              <a:rPr lang="en-US" dirty="0" smtClean="0"/>
              <a:t>Backtesting Results</a:t>
            </a:r>
            <a:endParaRPr lang="en-CA" dirty="0"/>
          </a:p>
        </p:txBody>
      </p:sp>
      <p:sp>
        <p:nvSpPr>
          <p:cNvPr id="3" name="Text Placeholder 2"/>
          <p:cNvSpPr>
            <a:spLocks noGrp="1"/>
          </p:cNvSpPr>
          <p:nvPr>
            <p:ph type="body" sz="quarter" idx="12"/>
          </p:nvPr>
        </p:nvSpPr>
        <p:spPr/>
        <p:txBody>
          <a:bodyPr/>
          <a:lstStyle/>
          <a:p>
            <a:r>
              <a:rPr lang="en-US" dirty="0" smtClean="0"/>
              <a:t>SBE1 Scorecard</a:t>
            </a:r>
            <a:endParaRPr lang="en-CA" dirty="0"/>
          </a:p>
        </p:txBody>
      </p:sp>
      <p:sp>
        <p:nvSpPr>
          <p:cNvPr id="4" name="Text Placeholder 3"/>
          <p:cNvSpPr>
            <a:spLocks noGrp="1"/>
          </p:cNvSpPr>
          <p:nvPr>
            <p:ph type="body" sz="quarter" idx="14"/>
          </p:nvPr>
        </p:nvSpPr>
        <p:spPr/>
        <p:txBody>
          <a:bodyPr/>
          <a:lstStyle/>
          <a:p>
            <a:endParaRPr lang="en-CA"/>
          </a:p>
        </p:txBody>
      </p:sp>
    </p:spTree>
    <p:extLst>
      <p:ext uri="{BB962C8B-B14F-4D97-AF65-F5344CB8AC3E}">
        <p14:creationId xmlns:p14="http://schemas.microsoft.com/office/powerpoint/2010/main" val="214955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406203" y="867196"/>
            <a:ext cx="8411975" cy="3728070"/>
          </a:xfrm>
        </p:spPr>
        <p:txBody>
          <a:bodyPr/>
          <a:lstStyle/>
          <a:p>
            <a:pPr marL="0" indent="0">
              <a:buNone/>
            </a:pPr>
            <a:endParaRPr lang="en-CA" dirty="0"/>
          </a:p>
        </p:txBody>
      </p:sp>
      <p:sp>
        <p:nvSpPr>
          <p:cNvPr id="3" name="Text Placeholder 2"/>
          <p:cNvSpPr>
            <a:spLocks noGrp="1"/>
          </p:cNvSpPr>
          <p:nvPr>
            <p:ph type="body" sz="quarter" idx="12"/>
          </p:nvPr>
        </p:nvSpPr>
        <p:spPr>
          <a:xfrm>
            <a:off x="406202" y="396143"/>
            <a:ext cx="8411976" cy="397483"/>
          </a:xfrm>
        </p:spPr>
        <p:txBody>
          <a:bodyPr/>
          <a:lstStyle/>
          <a:p>
            <a:r>
              <a:rPr lang="en-US" dirty="0" smtClean="0"/>
              <a:t>SBE1 Scorecard</a:t>
            </a:r>
            <a:endParaRPr lang="en-CA" dirty="0"/>
          </a:p>
        </p:txBody>
      </p:sp>
      <p:graphicFrame>
        <p:nvGraphicFramePr>
          <p:cNvPr id="7" name="Table 6"/>
          <p:cNvGraphicFramePr>
            <a:graphicFrameLocks noGrp="1"/>
          </p:cNvGraphicFramePr>
          <p:nvPr>
            <p:extLst>
              <p:ext uri="{D42A27DB-BD31-4B8C-83A1-F6EECF244321}">
                <p14:modId xmlns:p14="http://schemas.microsoft.com/office/powerpoint/2010/main" val="3255588582"/>
              </p:ext>
            </p:extLst>
          </p:nvPr>
        </p:nvGraphicFramePr>
        <p:xfrm>
          <a:off x="406202" y="874185"/>
          <a:ext cx="5416528" cy="3804249"/>
        </p:xfrm>
        <a:graphic>
          <a:graphicData uri="http://schemas.openxmlformats.org/drawingml/2006/table">
            <a:tbl>
              <a:tblPr firstRow="1" bandRow="1">
                <a:tableStyleId>{B301B821-A1FF-4177-AEE7-76D212191A09}</a:tableStyleId>
              </a:tblPr>
              <a:tblGrid>
                <a:gridCol w="1365842">
                  <a:extLst>
                    <a:ext uri="{9D8B030D-6E8A-4147-A177-3AD203B41FA5}">
                      <a16:colId xmlns:a16="http://schemas.microsoft.com/office/drawing/2014/main" val="3995098276"/>
                    </a:ext>
                  </a:extLst>
                </a:gridCol>
                <a:gridCol w="1387366">
                  <a:extLst>
                    <a:ext uri="{9D8B030D-6E8A-4147-A177-3AD203B41FA5}">
                      <a16:colId xmlns:a16="http://schemas.microsoft.com/office/drawing/2014/main" val="2769312489"/>
                    </a:ext>
                  </a:extLst>
                </a:gridCol>
                <a:gridCol w="826113">
                  <a:extLst>
                    <a:ext uri="{9D8B030D-6E8A-4147-A177-3AD203B41FA5}">
                      <a16:colId xmlns:a16="http://schemas.microsoft.com/office/drawing/2014/main" val="3139557994"/>
                    </a:ext>
                  </a:extLst>
                </a:gridCol>
                <a:gridCol w="573865">
                  <a:extLst>
                    <a:ext uri="{9D8B030D-6E8A-4147-A177-3AD203B41FA5}">
                      <a16:colId xmlns:a16="http://schemas.microsoft.com/office/drawing/2014/main" val="1432699115"/>
                    </a:ext>
                  </a:extLst>
                </a:gridCol>
                <a:gridCol w="562681">
                  <a:extLst>
                    <a:ext uri="{9D8B030D-6E8A-4147-A177-3AD203B41FA5}">
                      <a16:colId xmlns:a16="http://schemas.microsoft.com/office/drawing/2014/main" val="4204757425"/>
                    </a:ext>
                  </a:extLst>
                </a:gridCol>
                <a:gridCol w="312545">
                  <a:extLst>
                    <a:ext uri="{9D8B030D-6E8A-4147-A177-3AD203B41FA5}">
                      <a16:colId xmlns:a16="http://schemas.microsoft.com/office/drawing/2014/main" val="524812060"/>
                    </a:ext>
                  </a:extLst>
                </a:gridCol>
                <a:gridCol w="388116">
                  <a:extLst>
                    <a:ext uri="{9D8B030D-6E8A-4147-A177-3AD203B41FA5}">
                      <a16:colId xmlns:a16="http://schemas.microsoft.com/office/drawing/2014/main" val="918595662"/>
                    </a:ext>
                  </a:extLst>
                </a:gridCol>
              </a:tblGrid>
              <a:tr h="333152">
                <a:tc>
                  <a:txBody>
                    <a:bodyPr/>
                    <a:lstStyle/>
                    <a:p>
                      <a:pPr algn="ctr" fontAlgn="ctr"/>
                      <a:r>
                        <a:rPr lang="en-CA" sz="900" u="none" strike="noStrike" dirty="0">
                          <a:effectLst/>
                        </a:rPr>
                        <a:t>Variable</a:t>
                      </a:r>
                      <a:endParaRPr lang="en-CA" sz="900" b="1" i="0" u="none" strike="noStrike" dirty="0">
                        <a:solidFill>
                          <a:srgbClr val="FFFFFF"/>
                        </a:solidFill>
                        <a:effectLst/>
                        <a:latin typeface="Calibri" panose="020F0502020204030204" pitchFamily="34" charset="0"/>
                      </a:endParaRPr>
                    </a:p>
                  </a:txBody>
                  <a:tcPr marL="6740" marR="6740" marT="6740" marB="0" anchor="ctr"/>
                </a:tc>
                <a:tc>
                  <a:txBody>
                    <a:bodyPr/>
                    <a:lstStyle/>
                    <a:p>
                      <a:pPr algn="ctr" fontAlgn="ctr"/>
                      <a:r>
                        <a:rPr lang="en-CA" sz="900" u="none" strike="noStrike" dirty="0">
                          <a:effectLst/>
                        </a:rPr>
                        <a:t>Min Value (&gt;=)</a:t>
                      </a:r>
                      <a:endParaRPr lang="en-CA" sz="900" b="1" i="0" u="none" strike="noStrike" dirty="0">
                        <a:solidFill>
                          <a:srgbClr val="FFFFFF"/>
                        </a:solidFill>
                        <a:effectLst/>
                        <a:latin typeface="Calibri" panose="020F0502020204030204" pitchFamily="34" charset="0"/>
                      </a:endParaRPr>
                    </a:p>
                  </a:txBody>
                  <a:tcPr marL="6740" marR="6740" marT="6740" marB="0" anchor="ctr"/>
                </a:tc>
                <a:tc>
                  <a:txBody>
                    <a:bodyPr/>
                    <a:lstStyle/>
                    <a:p>
                      <a:pPr algn="ctr" fontAlgn="ctr"/>
                      <a:r>
                        <a:rPr lang="en-CA" sz="900" u="none" strike="noStrike" dirty="0">
                          <a:effectLst/>
                        </a:rPr>
                        <a:t>Max Value (&lt;)</a:t>
                      </a:r>
                      <a:endParaRPr lang="en-CA" sz="900" b="1" i="0" u="none" strike="noStrike" dirty="0">
                        <a:solidFill>
                          <a:srgbClr val="FFFFFF"/>
                        </a:solidFill>
                        <a:effectLst/>
                        <a:latin typeface="Calibri" panose="020F0502020204030204" pitchFamily="34" charset="0"/>
                      </a:endParaRPr>
                    </a:p>
                  </a:txBody>
                  <a:tcPr marL="6740" marR="6740" marT="6740" marB="0" anchor="ctr"/>
                </a:tc>
                <a:tc>
                  <a:txBody>
                    <a:bodyPr/>
                    <a:lstStyle/>
                    <a:p>
                      <a:pPr algn="ctr" rtl="0" fontAlgn="ctr"/>
                      <a:r>
                        <a:rPr lang="en-CA" sz="900" u="none" strike="noStrike" smtClean="0">
                          <a:effectLst/>
                        </a:rPr>
                        <a:t>Default Rate</a:t>
                      </a:r>
                      <a:endParaRPr lang="en-CA" sz="900" b="1" i="0" u="none" strike="noStrike" dirty="0">
                        <a:solidFill>
                          <a:srgbClr val="FFFFFF"/>
                        </a:solidFill>
                        <a:effectLst/>
                        <a:latin typeface="Calibri" panose="020F0502020204030204" pitchFamily="34" charset="0"/>
                      </a:endParaRPr>
                    </a:p>
                  </a:txBody>
                  <a:tcPr marL="4840" marR="4840" marT="4840" marB="0" anchor="ctr"/>
                </a:tc>
                <a:tc>
                  <a:txBody>
                    <a:bodyPr/>
                    <a:lstStyle/>
                    <a:p>
                      <a:pPr algn="ctr" rtl="0" fontAlgn="ctr"/>
                      <a:r>
                        <a:rPr lang="en-CA" sz="900" u="none" strike="noStrike" dirty="0">
                          <a:effectLst/>
                        </a:rPr>
                        <a:t>Percentage of Population</a:t>
                      </a:r>
                      <a:endParaRPr lang="en-CA" sz="900" b="1" i="0" u="none" strike="noStrike" dirty="0">
                        <a:solidFill>
                          <a:srgbClr val="FFFFFF"/>
                        </a:solidFill>
                        <a:effectLst/>
                        <a:latin typeface="Calibri" panose="020F0502020204030204" pitchFamily="34" charset="0"/>
                      </a:endParaRPr>
                    </a:p>
                  </a:txBody>
                  <a:tcPr marL="4840" marR="4840" marT="4840" marB="0" anchor="ctr"/>
                </a:tc>
                <a:tc>
                  <a:txBody>
                    <a:bodyPr/>
                    <a:lstStyle/>
                    <a:p>
                      <a:pPr algn="ctr" fontAlgn="ctr"/>
                      <a:r>
                        <a:rPr lang="en-CA" sz="900" u="none" strike="noStrike" dirty="0">
                          <a:effectLst/>
                        </a:rPr>
                        <a:t>Points</a:t>
                      </a:r>
                      <a:endParaRPr lang="en-CA" sz="900" b="1" i="0" u="none" strike="noStrike" dirty="0">
                        <a:solidFill>
                          <a:srgbClr val="FFFFFF"/>
                        </a:solidFill>
                        <a:effectLst/>
                        <a:latin typeface="Calibri" panose="020F0502020204030204" pitchFamily="34" charset="0"/>
                      </a:endParaRPr>
                    </a:p>
                  </a:txBody>
                  <a:tcPr marL="6740" marR="6740" marT="6740" marB="0" anchor="ctr"/>
                </a:tc>
                <a:tc>
                  <a:txBody>
                    <a:bodyPr/>
                    <a:lstStyle/>
                    <a:p>
                      <a:pPr algn="ctr" fontAlgn="ctr"/>
                      <a:r>
                        <a:rPr lang="en-CA" sz="900" u="none" strike="noStrike" dirty="0">
                          <a:effectLst/>
                        </a:rPr>
                        <a:t>Weight</a:t>
                      </a:r>
                      <a:endParaRPr lang="en-CA" sz="900" b="1" i="0" u="none" strike="noStrike" dirty="0">
                        <a:solidFill>
                          <a:srgbClr val="FFFFFF"/>
                        </a:solidFill>
                        <a:effectLst/>
                        <a:latin typeface="Calibri" panose="020F0502020204030204" pitchFamily="34" charset="0"/>
                      </a:endParaRPr>
                    </a:p>
                  </a:txBody>
                  <a:tcPr marL="6740" marR="6740" marT="6740" marB="0" anchor="ctr"/>
                </a:tc>
                <a:extLst>
                  <a:ext uri="{0D108BD9-81ED-4DB2-BD59-A6C34878D82A}">
                    <a16:rowId xmlns:a16="http://schemas.microsoft.com/office/drawing/2014/main" val="3316628953"/>
                  </a:ext>
                </a:extLst>
              </a:tr>
              <a:tr h="147573">
                <a:tc rowSpan="5">
                  <a:txBody>
                    <a:bodyPr/>
                    <a:lstStyle/>
                    <a:p>
                      <a:pPr algn="ctr" fontAlgn="ctr"/>
                      <a:r>
                        <a:rPr lang="en-CA" sz="900" u="none" strike="noStrike" dirty="0">
                          <a:solidFill>
                            <a:srgbClr val="003B5C"/>
                          </a:solidFill>
                          <a:effectLst/>
                        </a:rPr>
                        <a:t>Beacon Score</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ctr"/>
                      <a:r>
                        <a:rPr lang="en-CA" sz="900" u="none" strike="noStrike" dirty="0">
                          <a:solidFill>
                            <a:srgbClr val="003B5C"/>
                          </a:solidFill>
                          <a:effectLst/>
                        </a:rPr>
                        <a:t>Missing</a:t>
                      </a:r>
                      <a:endParaRPr lang="en-CA" sz="900" b="0" i="0" u="none" strike="noStrike" dirty="0">
                        <a:solidFill>
                          <a:srgbClr val="003B5C"/>
                        </a:solidFill>
                        <a:effectLst/>
                        <a:latin typeface="Calibri" panose="020F0502020204030204" pitchFamily="34" charset="0"/>
                      </a:endParaRPr>
                    </a:p>
                  </a:txBody>
                  <a:tcPr marL="6740" marR="6740" marT="6740" marB="0" anchor="ctr"/>
                </a:tc>
                <a:tc>
                  <a:txBody>
                    <a:bodyPr/>
                    <a:lstStyle/>
                    <a:p>
                      <a:pPr algn="ctr" fontAlgn="ctr"/>
                      <a:r>
                        <a:rPr lang="en-CA" sz="900" u="none" strike="noStrike" dirty="0">
                          <a:solidFill>
                            <a:srgbClr val="003B5C"/>
                          </a:solidFill>
                          <a:effectLst/>
                        </a:rPr>
                        <a:t>600</a:t>
                      </a:r>
                      <a:endParaRPr lang="en-CA" sz="900" b="0" i="0" u="none" strike="noStrike" dirty="0">
                        <a:solidFill>
                          <a:srgbClr val="003B5C"/>
                        </a:solidFill>
                        <a:effectLst/>
                        <a:latin typeface="Calibri" panose="020F0502020204030204" pitchFamily="34" charset="0"/>
                      </a:endParaRPr>
                    </a:p>
                  </a:txBody>
                  <a:tcPr marL="6740" marR="6740" marT="6740" marB="0" anchor="ctr"/>
                </a:tc>
                <a:tc>
                  <a:txBody>
                    <a:bodyPr/>
                    <a:lstStyle/>
                    <a:p>
                      <a:pPr algn="ctr" fontAlgn="b"/>
                      <a:r>
                        <a:rPr lang="en-CA" sz="900" b="0" i="0" u="none" strike="noStrike" dirty="0" smtClean="0">
                          <a:solidFill>
                            <a:srgbClr val="003B5C"/>
                          </a:solidFill>
                          <a:effectLst/>
                          <a:latin typeface="+mn-lt"/>
                        </a:rPr>
                        <a:t>11.21%</a:t>
                      </a:r>
                      <a:endParaRPr lang="en-CA" sz="900" b="0" i="0" u="none" strike="noStrike" dirty="0">
                        <a:solidFill>
                          <a:srgbClr val="003B5C"/>
                        </a:solidFill>
                        <a:effectLst/>
                        <a:latin typeface="+mn-lt"/>
                      </a:endParaRPr>
                    </a:p>
                  </a:txBody>
                  <a:tcPr marL="9525" marR="9525" marT="9525" marB="0" anchor="ctr"/>
                </a:tc>
                <a:tc>
                  <a:txBody>
                    <a:bodyPr/>
                    <a:lstStyle/>
                    <a:p>
                      <a:pPr algn="ctr" fontAlgn="b"/>
                      <a:r>
                        <a:rPr lang="en-CA" sz="900" b="0" i="0" u="none" strike="noStrike" dirty="0" smtClean="0">
                          <a:solidFill>
                            <a:srgbClr val="003B5C"/>
                          </a:solidFill>
                          <a:effectLst/>
                          <a:latin typeface="+mn-lt"/>
                        </a:rPr>
                        <a:t>7.81%</a:t>
                      </a:r>
                      <a:endParaRPr lang="en-CA" sz="900" b="0" i="0" u="none" strike="noStrike" dirty="0">
                        <a:solidFill>
                          <a:srgbClr val="003B5C"/>
                        </a:solidFill>
                        <a:effectLst/>
                        <a:latin typeface="+mn-lt"/>
                      </a:endParaRPr>
                    </a:p>
                  </a:txBody>
                  <a:tcPr marL="9525" marR="9525" marT="9525" marB="0" anchor="ctr"/>
                </a:tc>
                <a:tc>
                  <a:txBody>
                    <a:bodyPr/>
                    <a:lstStyle/>
                    <a:p>
                      <a:pPr algn="ctr" fontAlgn="ctr"/>
                      <a:r>
                        <a:rPr lang="en-CA" sz="900" u="none" strike="noStrike" dirty="0">
                          <a:solidFill>
                            <a:srgbClr val="003B5C"/>
                          </a:solidFill>
                          <a:effectLst/>
                        </a:rPr>
                        <a:t>0</a:t>
                      </a:r>
                      <a:endParaRPr lang="en-CA" sz="900" b="0" i="0" u="none" strike="noStrike" dirty="0">
                        <a:solidFill>
                          <a:srgbClr val="003B5C"/>
                        </a:solidFill>
                        <a:effectLst/>
                        <a:latin typeface="Calibri" panose="020F0502020204030204" pitchFamily="34" charset="0"/>
                      </a:endParaRPr>
                    </a:p>
                  </a:txBody>
                  <a:tcPr marL="6740" marR="6740" marT="6740" marB="0" anchor="ctr"/>
                </a:tc>
                <a:tc rowSpan="5">
                  <a:txBody>
                    <a:bodyPr/>
                    <a:lstStyle/>
                    <a:p>
                      <a:pPr algn="ctr" fontAlgn="ctr"/>
                      <a:r>
                        <a:rPr lang="en-CA" sz="900" u="none" strike="noStrike" dirty="0">
                          <a:solidFill>
                            <a:srgbClr val="003B5C"/>
                          </a:solidFill>
                          <a:effectLst/>
                        </a:rPr>
                        <a:t>30.50%</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extLst>
                  <a:ext uri="{0D108BD9-81ED-4DB2-BD59-A6C34878D82A}">
                    <a16:rowId xmlns:a16="http://schemas.microsoft.com/office/drawing/2014/main" val="2406182498"/>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600</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ctr"/>
                      <a:r>
                        <a:rPr lang="en-CA" sz="900" u="none" strike="noStrike" dirty="0">
                          <a:solidFill>
                            <a:srgbClr val="003B5C"/>
                          </a:solidFill>
                          <a:effectLst/>
                        </a:rPr>
                        <a:t>648</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b"/>
                      <a:r>
                        <a:rPr lang="en-CA" sz="900" b="0" i="0" u="none" strike="noStrike" dirty="0" smtClean="0">
                          <a:solidFill>
                            <a:srgbClr val="003B5C"/>
                          </a:solidFill>
                          <a:effectLst/>
                          <a:latin typeface="+mn-lt"/>
                        </a:rPr>
                        <a:t>5.13%</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b"/>
                      <a:r>
                        <a:rPr lang="en-CA" sz="900" b="0" i="0" u="none" strike="noStrike" dirty="0" smtClean="0">
                          <a:solidFill>
                            <a:srgbClr val="003B5C"/>
                          </a:solidFill>
                          <a:effectLst/>
                          <a:latin typeface="+mn-lt"/>
                        </a:rPr>
                        <a:t>11.9%</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ctr"/>
                      <a:r>
                        <a:rPr lang="en-CA" sz="900" u="none" strike="noStrike" dirty="0">
                          <a:solidFill>
                            <a:srgbClr val="003B5C"/>
                          </a:solidFill>
                          <a:effectLst/>
                        </a:rPr>
                        <a:t>17</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vMerge="1">
                  <a:txBody>
                    <a:bodyPr/>
                    <a:lstStyle/>
                    <a:p>
                      <a:endParaRPr lang="en-CA"/>
                    </a:p>
                  </a:txBody>
                  <a:tcPr/>
                </a:tc>
                <a:extLst>
                  <a:ext uri="{0D108BD9-81ED-4DB2-BD59-A6C34878D82A}">
                    <a16:rowId xmlns:a16="http://schemas.microsoft.com/office/drawing/2014/main" val="1881379570"/>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648</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ctr"/>
                      <a:r>
                        <a:rPr lang="en-CA" sz="900" u="none" strike="noStrike" dirty="0">
                          <a:solidFill>
                            <a:srgbClr val="003B5C"/>
                          </a:solidFill>
                          <a:effectLst/>
                        </a:rPr>
                        <a:t>687</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b"/>
                      <a:r>
                        <a:rPr lang="en-CA" sz="900" b="0" i="0" u="none" strike="noStrike" dirty="0" smtClean="0">
                          <a:solidFill>
                            <a:srgbClr val="003B5C"/>
                          </a:solidFill>
                          <a:effectLst/>
                          <a:latin typeface="+mn-lt"/>
                        </a:rPr>
                        <a:t>2.25%</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b"/>
                      <a:r>
                        <a:rPr lang="en-CA" sz="900" b="0" i="0" u="none" strike="noStrike" dirty="0" smtClean="0">
                          <a:solidFill>
                            <a:srgbClr val="003B5C"/>
                          </a:solidFill>
                          <a:effectLst/>
                          <a:latin typeface="+mn-lt"/>
                        </a:rPr>
                        <a:t>15.24%</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ctr"/>
                      <a:r>
                        <a:rPr lang="en-CA" sz="900" u="none" strike="noStrike" dirty="0">
                          <a:solidFill>
                            <a:srgbClr val="003B5C"/>
                          </a:solidFill>
                          <a:effectLst/>
                        </a:rPr>
                        <a:t>34</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vMerge="1">
                  <a:txBody>
                    <a:bodyPr/>
                    <a:lstStyle/>
                    <a:p>
                      <a:endParaRPr lang="en-CA"/>
                    </a:p>
                  </a:txBody>
                  <a:tcPr/>
                </a:tc>
                <a:extLst>
                  <a:ext uri="{0D108BD9-81ED-4DB2-BD59-A6C34878D82A}">
                    <a16:rowId xmlns:a16="http://schemas.microsoft.com/office/drawing/2014/main" val="294022703"/>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687</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ctr"/>
                      <a:r>
                        <a:rPr lang="en-CA" sz="900" u="none" strike="noStrike" dirty="0">
                          <a:solidFill>
                            <a:srgbClr val="003B5C"/>
                          </a:solidFill>
                          <a:effectLst/>
                        </a:rPr>
                        <a:t>738</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b"/>
                      <a:r>
                        <a:rPr lang="en-CA" sz="900" b="0" i="0" u="none" strike="noStrike" dirty="0" smtClean="0">
                          <a:solidFill>
                            <a:srgbClr val="003B5C"/>
                          </a:solidFill>
                          <a:effectLst/>
                          <a:latin typeface="+mn-lt"/>
                        </a:rPr>
                        <a:t>1.41%</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b"/>
                      <a:r>
                        <a:rPr lang="en-CA" sz="900" b="0" i="0" u="none" strike="noStrike" dirty="0" smtClean="0">
                          <a:solidFill>
                            <a:srgbClr val="003B5C"/>
                          </a:solidFill>
                          <a:effectLst/>
                          <a:latin typeface="+mn-lt"/>
                        </a:rPr>
                        <a:t>20.18%</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ctr"/>
                      <a:r>
                        <a:rPr lang="en-CA" sz="900" u="none" strike="noStrike" dirty="0">
                          <a:solidFill>
                            <a:srgbClr val="003B5C"/>
                          </a:solidFill>
                          <a:effectLst/>
                        </a:rPr>
                        <a:t>44</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vMerge="1">
                  <a:txBody>
                    <a:bodyPr/>
                    <a:lstStyle/>
                    <a:p>
                      <a:endParaRPr lang="en-CA"/>
                    </a:p>
                  </a:txBody>
                  <a:tcPr/>
                </a:tc>
                <a:extLst>
                  <a:ext uri="{0D108BD9-81ED-4DB2-BD59-A6C34878D82A}">
                    <a16:rowId xmlns:a16="http://schemas.microsoft.com/office/drawing/2014/main" val="2740930288"/>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738</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ctr"/>
                      <a:r>
                        <a:rPr lang="en-CA" sz="900" u="none" strike="noStrike" dirty="0">
                          <a:solidFill>
                            <a:srgbClr val="003B5C"/>
                          </a:solidFill>
                          <a:effectLst/>
                        </a:rPr>
                        <a:t> </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b"/>
                      <a:r>
                        <a:rPr lang="en-CA" sz="900" b="0" i="0" u="none" strike="noStrike" dirty="0" smtClean="0">
                          <a:solidFill>
                            <a:srgbClr val="003B5C"/>
                          </a:solidFill>
                          <a:effectLst/>
                          <a:latin typeface="+mn-lt"/>
                        </a:rPr>
                        <a:t>0.59%</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b"/>
                      <a:r>
                        <a:rPr lang="en-CA" sz="900" b="0" i="0" u="none" strike="noStrike" dirty="0" smtClean="0">
                          <a:solidFill>
                            <a:srgbClr val="003B5C"/>
                          </a:solidFill>
                          <a:effectLst/>
                          <a:latin typeface="+mn-lt"/>
                        </a:rPr>
                        <a:t>44.87%</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ctr"/>
                      <a:r>
                        <a:rPr lang="en-CA" sz="900" u="none" strike="noStrike" dirty="0">
                          <a:solidFill>
                            <a:srgbClr val="003B5C"/>
                          </a:solidFill>
                          <a:effectLst/>
                        </a:rPr>
                        <a:t>62</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vMerge="1">
                  <a:txBody>
                    <a:bodyPr/>
                    <a:lstStyle/>
                    <a:p>
                      <a:endParaRPr lang="en-CA"/>
                    </a:p>
                  </a:txBody>
                  <a:tcPr/>
                </a:tc>
                <a:extLst>
                  <a:ext uri="{0D108BD9-81ED-4DB2-BD59-A6C34878D82A}">
                    <a16:rowId xmlns:a16="http://schemas.microsoft.com/office/drawing/2014/main" val="3363719587"/>
                  </a:ext>
                </a:extLst>
              </a:tr>
              <a:tr h="147573">
                <a:tc rowSpan="4">
                  <a:txBody>
                    <a:bodyPr/>
                    <a:lstStyle/>
                    <a:p>
                      <a:pPr algn="ctr" fontAlgn="ctr"/>
                      <a:r>
                        <a:rPr lang="en-US" sz="900" u="none" strike="noStrike" dirty="0">
                          <a:solidFill>
                            <a:srgbClr val="003B5C"/>
                          </a:solidFill>
                          <a:effectLst/>
                        </a:rPr>
                        <a:t>Max Delinquent Days in Last 12 Months</a:t>
                      </a:r>
                      <a:endParaRPr lang="en-US"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ctr"/>
                      <a:r>
                        <a:rPr lang="en-CA" sz="900" u="none" strike="noStrike" dirty="0">
                          <a:solidFill>
                            <a:srgbClr val="003B5C"/>
                          </a:solidFill>
                          <a:effectLst/>
                        </a:rPr>
                        <a:t>New Customer</a:t>
                      </a:r>
                      <a:endParaRPr lang="en-CA" sz="900" b="0" i="0" u="none" strike="noStrike" dirty="0">
                        <a:solidFill>
                          <a:srgbClr val="003B5C"/>
                        </a:solidFill>
                        <a:effectLst/>
                        <a:latin typeface="Calibri" panose="020F0502020204030204" pitchFamily="34" charset="0"/>
                      </a:endParaRPr>
                    </a:p>
                  </a:txBody>
                  <a:tcPr marL="6740" marR="6740" marT="6740" marB="0" anchor="ctr"/>
                </a:tc>
                <a:tc>
                  <a:txBody>
                    <a:bodyPr/>
                    <a:lstStyle/>
                    <a:p>
                      <a:pPr algn="ctr" fontAlgn="ctr"/>
                      <a:r>
                        <a:rPr lang="en-CA" sz="900" u="none" strike="noStrike" dirty="0">
                          <a:solidFill>
                            <a:srgbClr val="003B5C"/>
                          </a:solidFill>
                          <a:effectLst/>
                        </a:rPr>
                        <a:t> </a:t>
                      </a:r>
                      <a:endParaRPr lang="en-CA" sz="900" b="0" i="0" u="none" strike="noStrike" dirty="0">
                        <a:solidFill>
                          <a:srgbClr val="003B5C"/>
                        </a:solidFill>
                        <a:effectLst/>
                        <a:latin typeface="Calibri" panose="020F0502020204030204" pitchFamily="34" charset="0"/>
                      </a:endParaRPr>
                    </a:p>
                  </a:txBody>
                  <a:tcPr marL="6740" marR="6740" marT="6740" marB="0" anchor="ctr"/>
                </a:tc>
                <a:tc>
                  <a:txBody>
                    <a:bodyPr/>
                    <a:lstStyle/>
                    <a:p>
                      <a:pPr algn="ctr" fontAlgn="b"/>
                      <a:r>
                        <a:rPr lang="en-CA" sz="900" b="0" i="0" u="none" strike="noStrike" dirty="0" smtClean="0">
                          <a:solidFill>
                            <a:srgbClr val="003B5C"/>
                          </a:solidFill>
                          <a:effectLst/>
                          <a:latin typeface="+mn-lt"/>
                        </a:rPr>
                        <a:t>2.86%</a:t>
                      </a:r>
                      <a:endParaRPr lang="en-CA" sz="900" b="0" i="0" u="none" strike="noStrike" dirty="0">
                        <a:solidFill>
                          <a:srgbClr val="003B5C"/>
                        </a:solidFill>
                        <a:effectLst/>
                        <a:latin typeface="+mn-lt"/>
                      </a:endParaRPr>
                    </a:p>
                  </a:txBody>
                  <a:tcPr marL="9525" marR="9525" marT="9525" marB="0" anchor="ctr"/>
                </a:tc>
                <a:tc>
                  <a:txBody>
                    <a:bodyPr/>
                    <a:lstStyle/>
                    <a:p>
                      <a:pPr algn="ctr" fontAlgn="b"/>
                      <a:r>
                        <a:rPr lang="en-CA" sz="900" b="0" i="0" u="none" strike="noStrike" dirty="0" smtClean="0">
                          <a:solidFill>
                            <a:srgbClr val="003B5C"/>
                          </a:solidFill>
                          <a:effectLst/>
                          <a:latin typeface="+mn-lt"/>
                        </a:rPr>
                        <a:t>12.8%</a:t>
                      </a:r>
                      <a:endParaRPr lang="en-CA" sz="900" b="0" i="0" u="none" strike="noStrike" dirty="0">
                        <a:solidFill>
                          <a:srgbClr val="003B5C"/>
                        </a:solidFill>
                        <a:effectLst/>
                        <a:latin typeface="+mn-lt"/>
                      </a:endParaRPr>
                    </a:p>
                  </a:txBody>
                  <a:tcPr marL="9525" marR="9525" marT="9525" marB="0" anchor="ctr"/>
                </a:tc>
                <a:tc>
                  <a:txBody>
                    <a:bodyPr/>
                    <a:lstStyle/>
                    <a:p>
                      <a:pPr algn="ctr" fontAlgn="ctr"/>
                      <a:r>
                        <a:rPr lang="en-CA" sz="900" u="none" strike="noStrike" dirty="0">
                          <a:solidFill>
                            <a:srgbClr val="003B5C"/>
                          </a:solidFill>
                          <a:effectLst/>
                        </a:rPr>
                        <a:t>53</a:t>
                      </a:r>
                      <a:endParaRPr lang="en-CA" sz="900" b="0" i="0" u="none" strike="noStrike" dirty="0">
                        <a:solidFill>
                          <a:srgbClr val="003B5C"/>
                        </a:solidFill>
                        <a:effectLst/>
                        <a:latin typeface="Calibri" panose="020F0502020204030204" pitchFamily="34" charset="0"/>
                      </a:endParaRPr>
                    </a:p>
                  </a:txBody>
                  <a:tcPr marL="6740" marR="6740" marT="6740" marB="0" anchor="ctr"/>
                </a:tc>
                <a:tc rowSpan="4">
                  <a:txBody>
                    <a:bodyPr/>
                    <a:lstStyle/>
                    <a:p>
                      <a:pPr algn="ctr" fontAlgn="ctr"/>
                      <a:r>
                        <a:rPr lang="en-CA" sz="900" u="none" strike="noStrike" dirty="0">
                          <a:solidFill>
                            <a:srgbClr val="003B5C"/>
                          </a:solidFill>
                          <a:effectLst/>
                        </a:rPr>
                        <a:t>34.00%</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extLst>
                  <a:ext uri="{0D108BD9-81ED-4DB2-BD59-A6C34878D82A}">
                    <a16:rowId xmlns:a16="http://schemas.microsoft.com/office/drawing/2014/main" val="234045549"/>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0</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ctr"/>
                      <a:r>
                        <a:rPr lang="en-CA" sz="900" u="none" strike="noStrike" dirty="0">
                          <a:solidFill>
                            <a:srgbClr val="003B5C"/>
                          </a:solidFill>
                          <a:effectLst/>
                        </a:rPr>
                        <a:t>30</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b"/>
                      <a:r>
                        <a:rPr lang="en-CA" sz="900" b="0" i="0" u="none" strike="noStrike" dirty="0" smtClean="0">
                          <a:solidFill>
                            <a:srgbClr val="003B5C"/>
                          </a:solidFill>
                          <a:effectLst/>
                          <a:latin typeface="+mn-lt"/>
                        </a:rPr>
                        <a:t>1.47%</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b"/>
                      <a:r>
                        <a:rPr lang="en-CA" sz="900" b="0" i="0" u="none" strike="noStrike" dirty="0" smtClean="0">
                          <a:solidFill>
                            <a:srgbClr val="003B5C"/>
                          </a:solidFill>
                          <a:effectLst/>
                          <a:latin typeface="+mn-lt"/>
                        </a:rPr>
                        <a:t>80.96%</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ctr"/>
                      <a:r>
                        <a:rPr lang="en-CA" sz="900" u="none" strike="noStrike" dirty="0">
                          <a:solidFill>
                            <a:srgbClr val="003B5C"/>
                          </a:solidFill>
                          <a:effectLst/>
                        </a:rPr>
                        <a:t>69</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vMerge="1">
                  <a:txBody>
                    <a:bodyPr/>
                    <a:lstStyle/>
                    <a:p>
                      <a:endParaRPr lang="en-CA"/>
                    </a:p>
                  </a:txBody>
                  <a:tcPr/>
                </a:tc>
                <a:extLst>
                  <a:ext uri="{0D108BD9-81ED-4DB2-BD59-A6C34878D82A}">
                    <a16:rowId xmlns:a16="http://schemas.microsoft.com/office/drawing/2014/main" val="1711988302"/>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30</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ctr"/>
                      <a:r>
                        <a:rPr lang="en-CA" sz="900" u="none" strike="noStrike" dirty="0">
                          <a:solidFill>
                            <a:srgbClr val="003B5C"/>
                          </a:solidFill>
                          <a:effectLst/>
                        </a:rPr>
                        <a:t>61</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b"/>
                      <a:r>
                        <a:rPr lang="en-CA" sz="900" b="0" i="0" u="none" strike="noStrike" dirty="0" smtClean="0">
                          <a:solidFill>
                            <a:srgbClr val="003B5C"/>
                          </a:solidFill>
                          <a:effectLst/>
                          <a:latin typeface="+mn-lt"/>
                        </a:rPr>
                        <a:t>11.25%</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b"/>
                      <a:r>
                        <a:rPr lang="en-CA" sz="900" b="0" i="0" u="none" strike="noStrike" dirty="0" smtClean="0">
                          <a:solidFill>
                            <a:srgbClr val="003B5C"/>
                          </a:solidFill>
                          <a:effectLst/>
                          <a:latin typeface="+mn-lt"/>
                        </a:rPr>
                        <a:t>5.09%</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ctr"/>
                      <a:r>
                        <a:rPr lang="en-CA" sz="900" u="none" strike="noStrike" dirty="0">
                          <a:solidFill>
                            <a:srgbClr val="003B5C"/>
                          </a:solidFill>
                          <a:effectLst/>
                        </a:rPr>
                        <a:t>19</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vMerge="1">
                  <a:txBody>
                    <a:bodyPr/>
                    <a:lstStyle/>
                    <a:p>
                      <a:endParaRPr lang="en-CA"/>
                    </a:p>
                  </a:txBody>
                  <a:tcPr/>
                </a:tc>
                <a:extLst>
                  <a:ext uri="{0D108BD9-81ED-4DB2-BD59-A6C34878D82A}">
                    <a16:rowId xmlns:a16="http://schemas.microsoft.com/office/drawing/2014/main" val="3798724767"/>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61</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ctr"/>
                      <a:r>
                        <a:rPr lang="en-CA" sz="900" u="none" strike="noStrike" dirty="0">
                          <a:solidFill>
                            <a:srgbClr val="003B5C"/>
                          </a:solidFill>
                          <a:effectLst/>
                        </a:rPr>
                        <a:t> </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b"/>
                      <a:r>
                        <a:rPr lang="en-CA" sz="900" b="0" i="0" u="none" strike="noStrike" dirty="0" smtClean="0">
                          <a:solidFill>
                            <a:srgbClr val="003B5C"/>
                          </a:solidFill>
                          <a:effectLst/>
                          <a:latin typeface="+mn-lt"/>
                        </a:rPr>
                        <a:t>21.89%</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b"/>
                      <a:r>
                        <a:rPr lang="en-CA" sz="900" b="0" i="0" u="none" strike="noStrike" dirty="0" smtClean="0">
                          <a:solidFill>
                            <a:srgbClr val="003B5C"/>
                          </a:solidFill>
                          <a:effectLst/>
                          <a:latin typeface="+mn-lt"/>
                        </a:rPr>
                        <a:t>1.15%</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ctr"/>
                      <a:r>
                        <a:rPr lang="en-CA" sz="900" u="none" strike="noStrike" dirty="0">
                          <a:solidFill>
                            <a:srgbClr val="003B5C"/>
                          </a:solidFill>
                          <a:effectLst/>
                        </a:rPr>
                        <a:t>0</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vMerge="1">
                  <a:txBody>
                    <a:bodyPr/>
                    <a:lstStyle/>
                    <a:p>
                      <a:endParaRPr lang="en-CA"/>
                    </a:p>
                  </a:txBody>
                  <a:tcPr/>
                </a:tc>
                <a:extLst>
                  <a:ext uri="{0D108BD9-81ED-4DB2-BD59-A6C34878D82A}">
                    <a16:rowId xmlns:a16="http://schemas.microsoft.com/office/drawing/2014/main" val="1900427662"/>
                  </a:ext>
                </a:extLst>
              </a:tr>
              <a:tr h="288896">
                <a:tc rowSpan="3">
                  <a:txBody>
                    <a:bodyPr/>
                    <a:lstStyle/>
                    <a:p>
                      <a:pPr algn="ctr" fontAlgn="ctr"/>
                      <a:r>
                        <a:rPr lang="en-CA" sz="900" u="none" strike="noStrike" dirty="0">
                          <a:solidFill>
                            <a:srgbClr val="003B5C"/>
                          </a:solidFill>
                          <a:effectLst/>
                        </a:rPr>
                        <a:t>NAICS2</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gridSpan="2">
                  <a:txBody>
                    <a:bodyPr/>
                    <a:lstStyle/>
                    <a:p>
                      <a:pPr algn="l" fontAlgn="ctr"/>
                      <a:r>
                        <a:rPr lang="en-CA" sz="900" u="none" strike="noStrike" dirty="0">
                          <a:solidFill>
                            <a:srgbClr val="003B5C"/>
                          </a:solidFill>
                          <a:effectLst/>
                        </a:rPr>
                        <a:t>21, 23, 32, 41, 44, 45, 48, 49, 51, 56, </a:t>
                      </a:r>
                      <a:r>
                        <a:rPr lang="en-CA" sz="900" u="none" strike="noStrike" dirty="0" smtClean="0">
                          <a:solidFill>
                            <a:srgbClr val="003B5C"/>
                          </a:solidFill>
                          <a:effectLst/>
                        </a:rPr>
                        <a:t>Missing</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hMerge="1">
                  <a:txBody>
                    <a:bodyPr/>
                    <a:lstStyle/>
                    <a:p>
                      <a:endParaRPr lang="en-CA"/>
                    </a:p>
                  </a:txBody>
                  <a:tcPr/>
                </a:tc>
                <a:tc>
                  <a:txBody>
                    <a:bodyPr/>
                    <a:lstStyle/>
                    <a:p>
                      <a:pPr algn="ctr" fontAlgn="b"/>
                      <a:r>
                        <a:rPr lang="en-CA" sz="900" b="0" i="0" u="none" strike="noStrike" dirty="0" smtClean="0">
                          <a:solidFill>
                            <a:srgbClr val="003B5C"/>
                          </a:solidFill>
                          <a:effectLst/>
                          <a:latin typeface="+mn-lt"/>
                        </a:rPr>
                        <a:t>3.29%</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b"/>
                      <a:r>
                        <a:rPr lang="en-CA" sz="900" b="0" i="0" u="none" strike="noStrike" dirty="0" smtClean="0">
                          <a:solidFill>
                            <a:srgbClr val="003B5C"/>
                          </a:solidFill>
                          <a:effectLst/>
                          <a:latin typeface="+mn-lt"/>
                        </a:rPr>
                        <a:t>41.25%</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ctr"/>
                      <a:r>
                        <a:rPr lang="en-CA" sz="900" u="none" strike="noStrike" dirty="0">
                          <a:solidFill>
                            <a:srgbClr val="003B5C"/>
                          </a:solidFill>
                          <a:effectLst/>
                        </a:rPr>
                        <a:t>0</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rowSpan="3">
                  <a:txBody>
                    <a:bodyPr/>
                    <a:lstStyle/>
                    <a:p>
                      <a:pPr algn="ctr" fontAlgn="ctr"/>
                      <a:r>
                        <a:rPr lang="en-CA" sz="900" u="none" strike="noStrike" dirty="0">
                          <a:solidFill>
                            <a:srgbClr val="003B5C"/>
                          </a:solidFill>
                          <a:effectLst/>
                        </a:rPr>
                        <a:t>10.80%</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extLst>
                  <a:ext uri="{0D108BD9-81ED-4DB2-BD59-A6C34878D82A}">
                    <a16:rowId xmlns:a16="http://schemas.microsoft.com/office/drawing/2014/main" val="1961085835"/>
                  </a:ext>
                </a:extLst>
              </a:tr>
              <a:tr h="147573">
                <a:tc vMerge="1">
                  <a:txBody>
                    <a:bodyPr/>
                    <a:lstStyle/>
                    <a:p>
                      <a:endParaRPr lang="en-CA"/>
                    </a:p>
                  </a:txBody>
                  <a:tcPr/>
                </a:tc>
                <a:tc gridSpan="2">
                  <a:txBody>
                    <a:bodyPr/>
                    <a:lstStyle/>
                    <a:p>
                      <a:pPr algn="l" fontAlgn="ctr"/>
                      <a:r>
                        <a:rPr lang="en-CA" sz="900" u="none" strike="noStrike" dirty="0" smtClean="0">
                          <a:solidFill>
                            <a:srgbClr val="003B5C"/>
                          </a:solidFill>
                          <a:effectLst/>
                        </a:rPr>
                        <a:t>11, 31, 33, 53, 54, 61, 71, 72, 81 </a:t>
                      </a:r>
                      <a:endParaRPr lang="en-CA" sz="900" b="0" i="0" u="none" strike="noStrike" dirty="0" smtClean="0">
                        <a:solidFill>
                          <a:srgbClr val="003B5C"/>
                        </a:solidFill>
                        <a:effectLst/>
                        <a:latin typeface="Calibri" panose="020F0502020204030204" pitchFamily="34" charset="0"/>
                      </a:endParaRPr>
                    </a:p>
                  </a:txBody>
                  <a:tcPr marL="6740" marR="6740" marT="6740" marB="0" anchor="ctr">
                    <a:solidFill>
                      <a:srgbClr val="E7EFF1"/>
                    </a:solidFill>
                  </a:tcPr>
                </a:tc>
                <a:tc hMerge="1">
                  <a:txBody>
                    <a:bodyPr/>
                    <a:lstStyle/>
                    <a:p>
                      <a:endParaRPr lang="en-CA"/>
                    </a:p>
                  </a:txBody>
                  <a:tcPr/>
                </a:tc>
                <a:tc>
                  <a:txBody>
                    <a:bodyPr/>
                    <a:lstStyle/>
                    <a:p>
                      <a:pPr algn="ctr" fontAlgn="b"/>
                      <a:r>
                        <a:rPr lang="en-CA" sz="900" b="0" i="0" u="none" strike="noStrike" dirty="0" smtClean="0">
                          <a:solidFill>
                            <a:srgbClr val="003B5C"/>
                          </a:solidFill>
                          <a:effectLst/>
                          <a:latin typeface="+mn-lt"/>
                        </a:rPr>
                        <a:t>1.88%</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b"/>
                      <a:r>
                        <a:rPr lang="en-CA" sz="900" b="0" i="0" u="none" strike="noStrike" dirty="0" smtClean="0">
                          <a:solidFill>
                            <a:srgbClr val="003B5C"/>
                          </a:solidFill>
                          <a:effectLst/>
                          <a:latin typeface="+mn-lt"/>
                        </a:rPr>
                        <a:t>50.76%</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ctr"/>
                      <a:r>
                        <a:rPr lang="en-CA" sz="900" u="none" strike="noStrike" dirty="0">
                          <a:solidFill>
                            <a:srgbClr val="003B5C"/>
                          </a:solidFill>
                          <a:effectLst/>
                        </a:rPr>
                        <a:t>9</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vMerge="1">
                  <a:txBody>
                    <a:bodyPr/>
                    <a:lstStyle/>
                    <a:p>
                      <a:endParaRPr lang="en-CA"/>
                    </a:p>
                  </a:txBody>
                  <a:tcPr/>
                </a:tc>
                <a:extLst>
                  <a:ext uri="{0D108BD9-81ED-4DB2-BD59-A6C34878D82A}">
                    <a16:rowId xmlns:a16="http://schemas.microsoft.com/office/drawing/2014/main" val="4096960781"/>
                  </a:ext>
                </a:extLst>
              </a:tr>
              <a:tr h="147573">
                <a:tc vMerge="1">
                  <a:txBody>
                    <a:bodyPr/>
                    <a:lstStyle/>
                    <a:p>
                      <a:endParaRPr lang="en-CA"/>
                    </a:p>
                  </a:txBody>
                  <a:tcPr/>
                </a:tc>
                <a:tc gridSpan="2">
                  <a:txBody>
                    <a:bodyPr/>
                    <a:lstStyle/>
                    <a:p>
                      <a:pPr algn="l" fontAlgn="ctr"/>
                      <a:r>
                        <a:rPr lang="en-CA" sz="900" u="none" strike="noStrike" dirty="0">
                          <a:solidFill>
                            <a:srgbClr val="003B5C"/>
                          </a:solidFill>
                          <a:effectLst/>
                        </a:rPr>
                        <a:t>22, 52, 55, 62, 91 </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hMerge="1">
                  <a:txBody>
                    <a:bodyPr/>
                    <a:lstStyle/>
                    <a:p>
                      <a:endParaRPr lang="en-CA"/>
                    </a:p>
                  </a:txBody>
                  <a:tcPr/>
                </a:tc>
                <a:tc>
                  <a:txBody>
                    <a:bodyPr/>
                    <a:lstStyle/>
                    <a:p>
                      <a:pPr algn="ctr" fontAlgn="b"/>
                      <a:r>
                        <a:rPr lang="en-CA" sz="900" b="0" i="0" u="none" strike="noStrike" dirty="0" smtClean="0">
                          <a:solidFill>
                            <a:srgbClr val="003B5C"/>
                          </a:solidFill>
                          <a:effectLst/>
                          <a:latin typeface="+mn-lt"/>
                        </a:rPr>
                        <a:t>0.8%</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b"/>
                      <a:r>
                        <a:rPr lang="en-CA" sz="900" b="0" i="0" u="none" strike="noStrike" dirty="0" smtClean="0">
                          <a:solidFill>
                            <a:srgbClr val="003B5C"/>
                          </a:solidFill>
                          <a:effectLst/>
                          <a:latin typeface="+mn-lt"/>
                        </a:rPr>
                        <a:t>7.99%</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ctr"/>
                      <a:r>
                        <a:rPr lang="en-CA" sz="900" u="none" strike="noStrike" dirty="0">
                          <a:solidFill>
                            <a:srgbClr val="003B5C"/>
                          </a:solidFill>
                          <a:effectLst/>
                        </a:rPr>
                        <a:t>22</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vMerge="1">
                  <a:txBody>
                    <a:bodyPr/>
                    <a:lstStyle/>
                    <a:p>
                      <a:endParaRPr lang="en-CA"/>
                    </a:p>
                  </a:txBody>
                  <a:tcPr/>
                </a:tc>
                <a:extLst>
                  <a:ext uri="{0D108BD9-81ED-4DB2-BD59-A6C34878D82A}">
                    <a16:rowId xmlns:a16="http://schemas.microsoft.com/office/drawing/2014/main" val="612763340"/>
                  </a:ext>
                </a:extLst>
              </a:tr>
              <a:tr h="147573">
                <a:tc rowSpan="3">
                  <a:txBody>
                    <a:bodyPr/>
                    <a:lstStyle/>
                    <a:p>
                      <a:pPr algn="ctr" fontAlgn="ctr"/>
                      <a:r>
                        <a:rPr lang="en-US" sz="900" u="none" strike="noStrike" dirty="0">
                          <a:solidFill>
                            <a:srgbClr val="003B5C"/>
                          </a:solidFill>
                          <a:effectLst/>
                        </a:rPr>
                        <a:t>Number of Inquiries in Last 6 Months</a:t>
                      </a:r>
                      <a:endParaRPr lang="en-US"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ctr"/>
                      <a:r>
                        <a:rPr lang="en-CA" sz="900" u="none" strike="noStrike" dirty="0" smtClean="0">
                          <a:solidFill>
                            <a:srgbClr val="003B5C"/>
                          </a:solidFill>
                          <a:effectLst/>
                        </a:rPr>
                        <a:t>0</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ctr"/>
                      <a:r>
                        <a:rPr lang="en-CA" sz="900" u="none" strike="noStrike" dirty="0">
                          <a:solidFill>
                            <a:srgbClr val="003B5C"/>
                          </a:solidFill>
                          <a:effectLst/>
                        </a:rPr>
                        <a:t>2</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b"/>
                      <a:r>
                        <a:rPr lang="en-CA" sz="900" b="0" i="0" u="none" strike="noStrike" dirty="0" smtClean="0">
                          <a:solidFill>
                            <a:srgbClr val="003B5C"/>
                          </a:solidFill>
                          <a:effectLst/>
                          <a:latin typeface="+mn-lt"/>
                        </a:rPr>
                        <a:t>1.71%</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b"/>
                      <a:r>
                        <a:rPr lang="en-CA" sz="900" b="0" i="0" u="none" strike="noStrike" dirty="0" smtClean="0">
                          <a:solidFill>
                            <a:srgbClr val="003B5C"/>
                          </a:solidFill>
                          <a:effectLst/>
                          <a:latin typeface="+mn-lt"/>
                        </a:rPr>
                        <a:t>66.57%</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ctr"/>
                      <a:r>
                        <a:rPr lang="en-CA" sz="900" u="none" strike="noStrike" dirty="0">
                          <a:solidFill>
                            <a:srgbClr val="003B5C"/>
                          </a:solidFill>
                          <a:effectLst/>
                        </a:rPr>
                        <a:t>26</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rowSpan="3">
                  <a:txBody>
                    <a:bodyPr/>
                    <a:lstStyle/>
                    <a:p>
                      <a:pPr algn="ctr" fontAlgn="ctr"/>
                      <a:r>
                        <a:rPr lang="en-CA" sz="900" u="none" strike="noStrike" dirty="0">
                          <a:solidFill>
                            <a:srgbClr val="003B5C"/>
                          </a:solidFill>
                          <a:effectLst/>
                        </a:rPr>
                        <a:t>12.80%</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extLst>
                  <a:ext uri="{0D108BD9-81ED-4DB2-BD59-A6C34878D82A}">
                    <a16:rowId xmlns:a16="http://schemas.microsoft.com/office/drawing/2014/main" val="491985345"/>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2</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ctr"/>
                      <a:r>
                        <a:rPr lang="en-CA" sz="900" u="none" strike="noStrike" dirty="0">
                          <a:solidFill>
                            <a:srgbClr val="003B5C"/>
                          </a:solidFill>
                          <a:effectLst/>
                        </a:rPr>
                        <a:t>6</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b"/>
                      <a:r>
                        <a:rPr lang="en-CA" sz="900" b="0" i="0" u="none" strike="noStrike" dirty="0" smtClean="0">
                          <a:solidFill>
                            <a:srgbClr val="003B5C"/>
                          </a:solidFill>
                          <a:effectLst/>
                          <a:latin typeface="+mn-lt"/>
                        </a:rPr>
                        <a:t>3.07%</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b"/>
                      <a:r>
                        <a:rPr lang="en-CA" sz="900" b="0" i="0" u="none" strike="noStrike" dirty="0" smtClean="0">
                          <a:solidFill>
                            <a:srgbClr val="003B5C"/>
                          </a:solidFill>
                          <a:effectLst/>
                          <a:latin typeface="+mn-lt"/>
                        </a:rPr>
                        <a:t>29.79%</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ctr"/>
                      <a:r>
                        <a:rPr lang="en-CA" sz="900" u="none" strike="noStrike" dirty="0">
                          <a:solidFill>
                            <a:srgbClr val="003B5C"/>
                          </a:solidFill>
                          <a:effectLst/>
                        </a:rPr>
                        <a:t>17</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vMerge="1">
                  <a:txBody>
                    <a:bodyPr/>
                    <a:lstStyle/>
                    <a:p>
                      <a:endParaRPr lang="en-CA"/>
                    </a:p>
                  </a:txBody>
                  <a:tcPr/>
                </a:tc>
                <a:extLst>
                  <a:ext uri="{0D108BD9-81ED-4DB2-BD59-A6C34878D82A}">
                    <a16:rowId xmlns:a16="http://schemas.microsoft.com/office/drawing/2014/main" val="3018482967"/>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6</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ctr"/>
                      <a:r>
                        <a:rPr lang="en-CA" sz="900" u="none" strike="noStrike" dirty="0">
                          <a:solidFill>
                            <a:srgbClr val="003B5C"/>
                          </a:solidFill>
                          <a:effectLst/>
                        </a:rPr>
                        <a:t> </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b"/>
                      <a:r>
                        <a:rPr lang="en-CA" sz="900" b="0" i="0" u="none" strike="noStrike" dirty="0" smtClean="0">
                          <a:solidFill>
                            <a:srgbClr val="003B5C"/>
                          </a:solidFill>
                          <a:effectLst/>
                          <a:latin typeface="+mn-lt"/>
                        </a:rPr>
                        <a:t>8.9%</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b"/>
                      <a:r>
                        <a:rPr lang="en-CA" sz="900" b="0" i="0" u="none" strike="noStrike" dirty="0" smtClean="0">
                          <a:solidFill>
                            <a:srgbClr val="003B5C"/>
                          </a:solidFill>
                          <a:effectLst/>
                          <a:latin typeface="+mn-lt"/>
                        </a:rPr>
                        <a:t>3.64%</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ctr"/>
                      <a:r>
                        <a:rPr lang="en-CA" sz="900" u="none" strike="noStrike" dirty="0">
                          <a:solidFill>
                            <a:srgbClr val="003B5C"/>
                          </a:solidFill>
                          <a:effectLst/>
                        </a:rPr>
                        <a:t>0</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vMerge="1">
                  <a:txBody>
                    <a:bodyPr/>
                    <a:lstStyle/>
                    <a:p>
                      <a:endParaRPr lang="en-CA"/>
                    </a:p>
                  </a:txBody>
                  <a:tcPr/>
                </a:tc>
                <a:extLst>
                  <a:ext uri="{0D108BD9-81ED-4DB2-BD59-A6C34878D82A}">
                    <a16:rowId xmlns:a16="http://schemas.microsoft.com/office/drawing/2014/main" val="1988373671"/>
                  </a:ext>
                </a:extLst>
              </a:tr>
              <a:tr h="147573">
                <a:tc rowSpan="4">
                  <a:txBody>
                    <a:bodyPr/>
                    <a:lstStyle/>
                    <a:p>
                      <a:pPr algn="ctr" fontAlgn="ctr"/>
                      <a:r>
                        <a:rPr lang="en-CA" sz="900" u="none" strike="noStrike" dirty="0">
                          <a:solidFill>
                            <a:srgbClr val="003B5C"/>
                          </a:solidFill>
                          <a:effectLst/>
                        </a:rPr>
                        <a:t>Age of Oldest </a:t>
                      </a:r>
                      <a:r>
                        <a:rPr lang="en-CA" sz="900" u="none" strike="noStrike" dirty="0" smtClean="0">
                          <a:solidFill>
                            <a:srgbClr val="003B5C"/>
                          </a:solidFill>
                          <a:effectLst/>
                        </a:rPr>
                        <a:t>Trade (Months)</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ctr"/>
                      <a:r>
                        <a:rPr lang="en-CA" sz="900" u="none" strike="noStrike" dirty="0" smtClean="0">
                          <a:solidFill>
                            <a:srgbClr val="003B5C"/>
                          </a:solidFill>
                          <a:effectLst/>
                        </a:rPr>
                        <a:t>0</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ctr"/>
                      <a:r>
                        <a:rPr lang="en-CA" sz="900" u="none" strike="noStrike" dirty="0">
                          <a:solidFill>
                            <a:srgbClr val="003B5C"/>
                          </a:solidFill>
                          <a:effectLst/>
                        </a:rPr>
                        <a:t>95</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b"/>
                      <a:r>
                        <a:rPr lang="en-CA" sz="900" b="0" i="0" u="none" strike="noStrike" dirty="0" smtClean="0">
                          <a:solidFill>
                            <a:srgbClr val="003B5C"/>
                          </a:solidFill>
                          <a:effectLst/>
                          <a:latin typeface="+mn-lt"/>
                        </a:rPr>
                        <a:t>4.84%</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b"/>
                      <a:r>
                        <a:rPr lang="en-CA" sz="900" b="0" i="0" u="none" strike="noStrike" dirty="0" smtClean="0">
                          <a:solidFill>
                            <a:srgbClr val="003B5C"/>
                          </a:solidFill>
                          <a:effectLst/>
                          <a:latin typeface="+mn-lt"/>
                        </a:rPr>
                        <a:t>11.39%</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ctr"/>
                      <a:r>
                        <a:rPr lang="en-CA" sz="900" u="none" strike="noStrike" dirty="0">
                          <a:solidFill>
                            <a:srgbClr val="003B5C"/>
                          </a:solidFill>
                          <a:effectLst/>
                        </a:rPr>
                        <a:t>0</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rowSpan="4">
                  <a:txBody>
                    <a:bodyPr/>
                    <a:lstStyle/>
                    <a:p>
                      <a:pPr algn="ctr" fontAlgn="ctr"/>
                      <a:r>
                        <a:rPr lang="en-CA" sz="900" u="none" strike="noStrike" dirty="0">
                          <a:solidFill>
                            <a:srgbClr val="003B5C"/>
                          </a:solidFill>
                          <a:effectLst/>
                        </a:rPr>
                        <a:t>7.40%</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extLst>
                  <a:ext uri="{0D108BD9-81ED-4DB2-BD59-A6C34878D82A}">
                    <a16:rowId xmlns:a16="http://schemas.microsoft.com/office/drawing/2014/main" val="1934604986"/>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95</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ctr"/>
                      <a:r>
                        <a:rPr lang="en-CA" sz="900" u="none" strike="noStrike" dirty="0">
                          <a:solidFill>
                            <a:srgbClr val="003B5C"/>
                          </a:solidFill>
                          <a:effectLst/>
                        </a:rPr>
                        <a:t>158</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b"/>
                      <a:r>
                        <a:rPr lang="en-CA" sz="900" b="0" i="0" u="none" strike="noStrike" dirty="0" smtClean="0">
                          <a:solidFill>
                            <a:srgbClr val="003B5C"/>
                          </a:solidFill>
                          <a:effectLst/>
                          <a:latin typeface="+mn-lt"/>
                        </a:rPr>
                        <a:t>3.15%</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b"/>
                      <a:r>
                        <a:rPr lang="en-CA" sz="900" b="0" i="0" u="none" strike="noStrike" dirty="0" smtClean="0">
                          <a:solidFill>
                            <a:srgbClr val="003B5C"/>
                          </a:solidFill>
                          <a:effectLst/>
                          <a:latin typeface="+mn-lt"/>
                        </a:rPr>
                        <a:t>28.42%</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ctr"/>
                      <a:r>
                        <a:rPr lang="en-CA" sz="900" u="none" strike="noStrike" dirty="0">
                          <a:solidFill>
                            <a:srgbClr val="003B5C"/>
                          </a:solidFill>
                          <a:effectLst/>
                        </a:rPr>
                        <a:t>5</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vMerge="1">
                  <a:txBody>
                    <a:bodyPr/>
                    <a:lstStyle/>
                    <a:p>
                      <a:endParaRPr lang="en-CA"/>
                    </a:p>
                  </a:txBody>
                  <a:tcPr/>
                </a:tc>
                <a:extLst>
                  <a:ext uri="{0D108BD9-81ED-4DB2-BD59-A6C34878D82A}">
                    <a16:rowId xmlns:a16="http://schemas.microsoft.com/office/drawing/2014/main" val="4256615726"/>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158</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ctr"/>
                      <a:r>
                        <a:rPr lang="en-CA" sz="900" u="none" strike="noStrike" dirty="0">
                          <a:solidFill>
                            <a:srgbClr val="003B5C"/>
                          </a:solidFill>
                          <a:effectLst/>
                        </a:rPr>
                        <a:t>225</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b"/>
                      <a:r>
                        <a:rPr lang="en-CA" sz="900" b="0" i="0" u="none" strike="noStrike" dirty="0" smtClean="0">
                          <a:solidFill>
                            <a:srgbClr val="003B5C"/>
                          </a:solidFill>
                          <a:effectLst/>
                          <a:latin typeface="+mn-lt"/>
                        </a:rPr>
                        <a:t>1.94%</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b"/>
                      <a:r>
                        <a:rPr lang="en-CA" sz="900" b="0" i="0" u="none" strike="noStrike" dirty="0" smtClean="0">
                          <a:solidFill>
                            <a:srgbClr val="003B5C"/>
                          </a:solidFill>
                          <a:effectLst/>
                          <a:latin typeface="+mn-lt"/>
                        </a:rPr>
                        <a:t>25.36%</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ctr"/>
                      <a:r>
                        <a:rPr lang="en-CA" sz="900" u="none" strike="noStrike" dirty="0">
                          <a:solidFill>
                            <a:srgbClr val="003B5C"/>
                          </a:solidFill>
                          <a:effectLst/>
                        </a:rPr>
                        <a:t>10</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vMerge="1">
                  <a:txBody>
                    <a:bodyPr/>
                    <a:lstStyle/>
                    <a:p>
                      <a:endParaRPr lang="en-CA"/>
                    </a:p>
                  </a:txBody>
                  <a:tcPr/>
                </a:tc>
                <a:extLst>
                  <a:ext uri="{0D108BD9-81ED-4DB2-BD59-A6C34878D82A}">
                    <a16:rowId xmlns:a16="http://schemas.microsoft.com/office/drawing/2014/main" val="955863849"/>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225</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ctr"/>
                      <a:r>
                        <a:rPr lang="en-CA" sz="900" u="none" strike="noStrike" dirty="0">
                          <a:solidFill>
                            <a:srgbClr val="003B5C"/>
                          </a:solidFill>
                          <a:effectLst/>
                        </a:rPr>
                        <a:t> </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a:txBody>
                    <a:bodyPr/>
                    <a:lstStyle/>
                    <a:p>
                      <a:pPr algn="ctr" fontAlgn="b"/>
                      <a:r>
                        <a:rPr lang="en-CA" sz="900" b="0" i="0" u="none" strike="noStrike" dirty="0" smtClean="0">
                          <a:solidFill>
                            <a:srgbClr val="003B5C"/>
                          </a:solidFill>
                          <a:effectLst/>
                          <a:latin typeface="+mn-lt"/>
                        </a:rPr>
                        <a:t>1.27%</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b"/>
                      <a:r>
                        <a:rPr lang="en-CA" sz="900" b="0" i="0" u="none" strike="noStrike" dirty="0" smtClean="0">
                          <a:solidFill>
                            <a:srgbClr val="003B5C"/>
                          </a:solidFill>
                          <a:effectLst/>
                          <a:latin typeface="+mn-lt"/>
                        </a:rPr>
                        <a:t>34.83%</a:t>
                      </a:r>
                      <a:endParaRPr lang="en-CA" sz="900" b="0" i="0" u="none" strike="noStrike" dirty="0">
                        <a:solidFill>
                          <a:srgbClr val="003B5C"/>
                        </a:solidFill>
                        <a:effectLst/>
                        <a:latin typeface="+mn-lt"/>
                      </a:endParaRPr>
                    </a:p>
                  </a:txBody>
                  <a:tcPr marL="9525" marR="9525" marT="9525" marB="0" anchor="ctr">
                    <a:solidFill>
                      <a:srgbClr val="E7EFF1"/>
                    </a:solidFill>
                  </a:tcPr>
                </a:tc>
                <a:tc>
                  <a:txBody>
                    <a:bodyPr/>
                    <a:lstStyle/>
                    <a:p>
                      <a:pPr algn="ctr" fontAlgn="ctr"/>
                      <a:r>
                        <a:rPr lang="en-CA" sz="900" u="none" strike="noStrike" dirty="0">
                          <a:solidFill>
                            <a:srgbClr val="003B5C"/>
                          </a:solidFill>
                          <a:effectLst/>
                        </a:rPr>
                        <a:t>15</a:t>
                      </a:r>
                      <a:endParaRPr lang="en-CA" sz="900" b="0" i="0" u="none" strike="noStrike" dirty="0">
                        <a:solidFill>
                          <a:srgbClr val="003B5C"/>
                        </a:solidFill>
                        <a:effectLst/>
                        <a:latin typeface="Calibri" panose="020F0502020204030204" pitchFamily="34" charset="0"/>
                      </a:endParaRPr>
                    </a:p>
                  </a:txBody>
                  <a:tcPr marL="6740" marR="6740" marT="6740" marB="0" anchor="ctr">
                    <a:solidFill>
                      <a:srgbClr val="E7EFF1"/>
                    </a:solidFill>
                  </a:tcPr>
                </a:tc>
                <a:tc vMerge="1">
                  <a:txBody>
                    <a:bodyPr/>
                    <a:lstStyle/>
                    <a:p>
                      <a:endParaRPr lang="en-CA"/>
                    </a:p>
                  </a:txBody>
                  <a:tcPr/>
                </a:tc>
                <a:extLst>
                  <a:ext uri="{0D108BD9-81ED-4DB2-BD59-A6C34878D82A}">
                    <a16:rowId xmlns:a16="http://schemas.microsoft.com/office/drawing/2014/main" val="727114446"/>
                  </a:ext>
                </a:extLst>
              </a:tr>
              <a:tr h="147573">
                <a:tc rowSpan="3">
                  <a:txBody>
                    <a:bodyPr/>
                    <a:lstStyle/>
                    <a:p>
                      <a:pPr algn="ctr" fontAlgn="ctr"/>
                      <a:r>
                        <a:rPr lang="en-CA" sz="900" u="none" strike="noStrike" dirty="0">
                          <a:solidFill>
                            <a:srgbClr val="003B5C"/>
                          </a:solidFill>
                          <a:effectLst/>
                        </a:rPr>
                        <a:t>Current Delinquent Amount</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ctr"/>
                      <a:r>
                        <a:rPr lang="en-CA" sz="900" u="none" strike="noStrike" dirty="0" smtClean="0">
                          <a:solidFill>
                            <a:srgbClr val="003B5C"/>
                          </a:solidFill>
                          <a:effectLst/>
                        </a:rPr>
                        <a:t>0</a:t>
                      </a:r>
                      <a:endParaRPr lang="en-CA" sz="900" b="0" i="0" u="none" strike="noStrike" dirty="0">
                        <a:solidFill>
                          <a:srgbClr val="003B5C"/>
                        </a:solidFill>
                        <a:effectLst/>
                        <a:latin typeface="Calibri" panose="020F0502020204030204" pitchFamily="34" charset="0"/>
                      </a:endParaRPr>
                    </a:p>
                  </a:txBody>
                  <a:tcPr marL="6740" marR="6740" marT="6740" marB="0" anchor="ctr"/>
                </a:tc>
                <a:tc>
                  <a:txBody>
                    <a:bodyPr/>
                    <a:lstStyle/>
                    <a:p>
                      <a:pPr algn="ctr" fontAlgn="ctr"/>
                      <a:r>
                        <a:rPr lang="en-CA" sz="900" u="none" strike="noStrike" dirty="0">
                          <a:solidFill>
                            <a:srgbClr val="003B5C"/>
                          </a:solidFill>
                          <a:effectLst/>
                        </a:rPr>
                        <a:t>39</a:t>
                      </a:r>
                      <a:endParaRPr lang="en-CA" sz="900" b="0" i="0" u="none" strike="noStrike" dirty="0">
                        <a:solidFill>
                          <a:srgbClr val="003B5C"/>
                        </a:solidFill>
                        <a:effectLst/>
                        <a:latin typeface="Calibri" panose="020F0502020204030204" pitchFamily="34" charset="0"/>
                      </a:endParaRPr>
                    </a:p>
                  </a:txBody>
                  <a:tcPr marL="6740" marR="6740" marT="6740" marB="0" anchor="ctr"/>
                </a:tc>
                <a:tc>
                  <a:txBody>
                    <a:bodyPr/>
                    <a:lstStyle/>
                    <a:p>
                      <a:pPr algn="ctr" fontAlgn="b"/>
                      <a:r>
                        <a:rPr lang="en-CA" sz="900" b="0" i="0" u="none" strike="noStrike" dirty="0" smtClean="0">
                          <a:solidFill>
                            <a:srgbClr val="003B5C"/>
                          </a:solidFill>
                          <a:effectLst/>
                          <a:latin typeface="+mn-lt"/>
                        </a:rPr>
                        <a:t>1.83%</a:t>
                      </a:r>
                      <a:endParaRPr lang="en-CA" sz="900" b="0" i="0" u="none" strike="noStrike" dirty="0">
                        <a:solidFill>
                          <a:srgbClr val="003B5C"/>
                        </a:solidFill>
                        <a:effectLst/>
                        <a:latin typeface="+mn-lt"/>
                      </a:endParaRPr>
                    </a:p>
                  </a:txBody>
                  <a:tcPr marL="9525" marR="9525" marT="9525" marB="0" anchor="ctr"/>
                </a:tc>
                <a:tc>
                  <a:txBody>
                    <a:bodyPr/>
                    <a:lstStyle/>
                    <a:p>
                      <a:pPr algn="ctr" fontAlgn="b"/>
                      <a:r>
                        <a:rPr lang="en-CA" sz="900" b="0" i="0" u="none" strike="noStrike" dirty="0" smtClean="0">
                          <a:solidFill>
                            <a:srgbClr val="003B5C"/>
                          </a:solidFill>
                          <a:effectLst/>
                          <a:latin typeface="+mn-lt"/>
                        </a:rPr>
                        <a:t>91.46%</a:t>
                      </a:r>
                      <a:endParaRPr lang="en-CA" sz="900" b="0" i="0" u="none" strike="noStrike" dirty="0">
                        <a:solidFill>
                          <a:srgbClr val="003B5C"/>
                        </a:solidFill>
                        <a:effectLst/>
                        <a:latin typeface="+mn-lt"/>
                      </a:endParaRPr>
                    </a:p>
                  </a:txBody>
                  <a:tcPr marL="9525" marR="9525" marT="9525" marB="0" anchor="ctr"/>
                </a:tc>
                <a:tc>
                  <a:txBody>
                    <a:bodyPr/>
                    <a:lstStyle/>
                    <a:p>
                      <a:pPr algn="ctr" fontAlgn="ctr"/>
                      <a:r>
                        <a:rPr lang="en-CA" sz="900" u="none" strike="noStrike" dirty="0">
                          <a:solidFill>
                            <a:srgbClr val="003B5C"/>
                          </a:solidFill>
                          <a:effectLst/>
                        </a:rPr>
                        <a:t>9</a:t>
                      </a:r>
                      <a:endParaRPr lang="en-CA" sz="900" b="0" i="0" u="none" strike="noStrike" dirty="0">
                        <a:solidFill>
                          <a:srgbClr val="003B5C"/>
                        </a:solidFill>
                        <a:effectLst/>
                        <a:latin typeface="Calibri" panose="020F0502020204030204" pitchFamily="34" charset="0"/>
                      </a:endParaRPr>
                    </a:p>
                  </a:txBody>
                  <a:tcPr marL="6740" marR="6740" marT="6740" marB="0" anchor="ctr"/>
                </a:tc>
                <a:tc rowSpan="3">
                  <a:txBody>
                    <a:bodyPr/>
                    <a:lstStyle/>
                    <a:p>
                      <a:pPr algn="ctr" fontAlgn="ctr"/>
                      <a:r>
                        <a:rPr lang="en-CA" sz="900" u="none" strike="noStrike" dirty="0">
                          <a:solidFill>
                            <a:srgbClr val="003B5C"/>
                          </a:solidFill>
                          <a:effectLst/>
                        </a:rPr>
                        <a:t>4.40%</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extLst>
                  <a:ext uri="{0D108BD9-81ED-4DB2-BD59-A6C34878D82A}">
                    <a16:rowId xmlns:a16="http://schemas.microsoft.com/office/drawing/2014/main" val="4185679843"/>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39</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ctr"/>
                      <a:r>
                        <a:rPr lang="en-CA" sz="900" u="none" strike="noStrike" dirty="0">
                          <a:solidFill>
                            <a:srgbClr val="003B5C"/>
                          </a:solidFill>
                          <a:effectLst/>
                        </a:rPr>
                        <a:t>545</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b"/>
                      <a:r>
                        <a:rPr lang="en-CA" sz="900" b="0" i="0" u="none" strike="noStrike" dirty="0" smtClean="0">
                          <a:solidFill>
                            <a:srgbClr val="003B5C"/>
                          </a:solidFill>
                          <a:effectLst/>
                          <a:latin typeface="+mn-lt"/>
                        </a:rPr>
                        <a:t>5.85%</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b"/>
                      <a:r>
                        <a:rPr lang="en-CA" sz="900" b="0" i="0" u="none" strike="noStrike" dirty="0" smtClean="0">
                          <a:solidFill>
                            <a:srgbClr val="003B5C"/>
                          </a:solidFill>
                          <a:effectLst/>
                          <a:latin typeface="+mn-lt"/>
                        </a:rPr>
                        <a:t>4.95%</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ctr"/>
                      <a:r>
                        <a:rPr lang="en-CA" sz="900" u="none" strike="noStrike" dirty="0">
                          <a:solidFill>
                            <a:srgbClr val="003B5C"/>
                          </a:solidFill>
                          <a:effectLst/>
                        </a:rPr>
                        <a:t>4</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vMerge="1">
                  <a:txBody>
                    <a:bodyPr/>
                    <a:lstStyle/>
                    <a:p>
                      <a:endParaRPr lang="en-CA"/>
                    </a:p>
                  </a:txBody>
                  <a:tcPr/>
                </a:tc>
                <a:extLst>
                  <a:ext uri="{0D108BD9-81ED-4DB2-BD59-A6C34878D82A}">
                    <a16:rowId xmlns:a16="http://schemas.microsoft.com/office/drawing/2014/main" val="1446137183"/>
                  </a:ext>
                </a:extLst>
              </a:tr>
              <a:tr h="147573">
                <a:tc vMerge="1">
                  <a:txBody>
                    <a:bodyPr/>
                    <a:lstStyle/>
                    <a:p>
                      <a:endParaRPr lang="en-CA"/>
                    </a:p>
                  </a:txBody>
                  <a:tcPr/>
                </a:tc>
                <a:tc>
                  <a:txBody>
                    <a:bodyPr/>
                    <a:lstStyle/>
                    <a:p>
                      <a:pPr algn="ctr" fontAlgn="ctr"/>
                      <a:r>
                        <a:rPr lang="en-CA" sz="900" u="none" strike="noStrike" dirty="0">
                          <a:solidFill>
                            <a:srgbClr val="003B5C"/>
                          </a:solidFill>
                          <a:effectLst/>
                        </a:rPr>
                        <a:t>545</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ctr"/>
                      <a:r>
                        <a:rPr lang="en-CA" sz="900" u="none" strike="noStrike" dirty="0">
                          <a:solidFill>
                            <a:srgbClr val="003B5C"/>
                          </a:solidFill>
                          <a:effectLst/>
                        </a:rPr>
                        <a:t> </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a:txBody>
                    <a:bodyPr/>
                    <a:lstStyle/>
                    <a:p>
                      <a:pPr algn="ctr" fontAlgn="b"/>
                      <a:r>
                        <a:rPr lang="en-CA" sz="900" b="0" i="0" u="none" strike="noStrike" dirty="0" smtClean="0">
                          <a:solidFill>
                            <a:srgbClr val="003B5C"/>
                          </a:solidFill>
                          <a:effectLst/>
                          <a:latin typeface="+mn-lt"/>
                        </a:rPr>
                        <a:t>11.68%</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b"/>
                      <a:r>
                        <a:rPr lang="en-CA" sz="900" b="0" i="0" u="none" strike="noStrike" dirty="0" smtClean="0">
                          <a:solidFill>
                            <a:srgbClr val="003B5C"/>
                          </a:solidFill>
                          <a:effectLst/>
                          <a:latin typeface="+mn-lt"/>
                        </a:rPr>
                        <a:t>3.59%</a:t>
                      </a:r>
                      <a:endParaRPr lang="en-CA" sz="900" b="0" i="0" u="none" strike="noStrike" dirty="0">
                        <a:solidFill>
                          <a:srgbClr val="003B5C"/>
                        </a:solidFill>
                        <a:effectLst/>
                        <a:latin typeface="+mn-lt"/>
                      </a:endParaRPr>
                    </a:p>
                  </a:txBody>
                  <a:tcPr marL="9525" marR="9525" marT="9525" marB="0" anchor="ctr">
                    <a:noFill/>
                  </a:tcPr>
                </a:tc>
                <a:tc>
                  <a:txBody>
                    <a:bodyPr/>
                    <a:lstStyle/>
                    <a:p>
                      <a:pPr algn="ctr" fontAlgn="ctr"/>
                      <a:r>
                        <a:rPr lang="en-CA" sz="900" u="none" strike="noStrike" dirty="0">
                          <a:solidFill>
                            <a:srgbClr val="003B5C"/>
                          </a:solidFill>
                          <a:effectLst/>
                        </a:rPr>
                        <a:t>0</a:t>
                      </a:r>
                      <a:endParaRPr lang="en-CA" sz="900" b="0" i="0" u="none" strike="noStrike" dirty="0">
                        <a:solidFill>
                          <a:srgbClr val="003B5C"/>
                        </a:solidFill>
                        <a:effectLst/>
                        <a:latin typeface="Calibri" panose="020F0502020204030204" pitchFamily="34" charset="0"/>
                      </a:endParaRPr>
                    </a:p>
                  </a:txBody>
                  <a:tcPr marL="6740" marR="6740" marT="6740" marB="0" anchor="ctr">
                    <a:noFill/>
                  </a:tcPr>
                </a:tc>
                <a:tc vMerge="1">
                  <a:txBody>
                    <a:bodyPr/>
                    <a:lstStyle/>
                    <a:p>
                      <a:endParaRPr lang="en-CA"/>
                    </a:p>
                  </a:txBody>
                  <a:tcPr/>
                </a:tc>
                <a:extLst>
                  <a:ext uri="{0D108BD9-81ED-4DB2-BD59-A6C34878D82A}">
                    <a16:rowId xmlns:a16="http://schemas.microsoft.com/office/drawing/2014/main" val="4241167416"/>
                  </a:ext>
                </a:extLst>
              </a:tr>
            </a:tbl>
          </a:graphicData>
        </a:graphic>
      </p:graphicFrame>
      <p:graphicFrame>
        <p:nvGraphicFramePr>
          <p:cNvPr id="8" name="Table 7"/>
          <p:cNvGraphicFramePr>
            <a:graphicFrameLocks noGrp="1"/>
          </p:cNvGraphicFramePr>
          <p:nvPr>
            <p:extLst/>
          </p:nvPr>
        </p:nvGraphicFramePr>
        <p:xfrm>
          <a:off x="6015171" y="874974"/>
          <a:ext cx="2803007" cy="1910269"/>
        </p:xfrm>
        <a:graphic>
          <a:graphicData uri="http://schemas.openxmlformats.org/drawingml/2006/table">
            <a:tbl>
              <a:tblPr firstRow="1" bandRow="1">
                <a:tableStyleId>{B301B821-A1FF-4177-AEE7-76D212191A09}</a:tableStyleId>
              </a:tblPr>
              <a:tblGrid>
                <a:gridCol w="845423">
                  <a:extLst>
                    <a:ext uri="{9D8B030D-6E8A-4147-A177-3AD203B41FA5}">
                      <a16:colId xmlns:a16="http://schemas.microsoft.com/office/drawing/2014/main" val="3924052977"/>
                    </a:ext>
                  </a:extLst>
                </a:gridCol>
                <a:gridCol w="800214">
                  <a:extLst>
                    <a:ext uri="{9D8B030D-6E8A-4147-A177-3AD203B41FA5}">
                      <a16:colId xmlns:a16="http://schemas.microsoft.com/office/drawing/2014/main" val="2270207098"/>
                    </a:ext>
                  </a:extLst>
                </a:gridCol>
                <a:gridCol w="578685">
                  <a:extLst>
                    <a:ext uri="{9D8B030D-6E8A-4147-A177-3AD203B41FA5}">
                      <a16:colId xmlns:a16="http://schemas.microsoft.com/office/drawing/2014/main" val="1027000596"/>
                    </a:ext>
                  </a:extLst>
                </a:gridCol>
                <a:gridCol w="578685">
                  <a:extLst>
                    <a:ext uri="{9D8B030D-6E8A-4147-A177-3AD203B41FA5}">
                      <a16:colId xmlns:a16="http://schemas.microsoft.com/office/drawing/2014/main" val="2391320723"/>
                    </a:ext>
                  </a:extLst>
                </a:gridCol>
              </a:tblGrid>
              <a:tr h="318335">
                <a:tc gridSpan="4">
                  <a:txBody>
                    <a:bodyPr/>
                    <a:lstStyle/>
                    <a:p>
                      <a:pPr algn="ctr" fontAlgn="b"/>
                      <a:r>
                        <a:rPr lang="en-CA" sz="1000" u="none" strike="noStrike" dirty="0">
                          <a:effectLst/>
                          <a:latin typeface="+mn-lt"/>
                        </a:rPr>
                        <a:t>Mapping Scores to BBRs</a:t>
                      </a:r>
                      <a:endParaRPr lang="en-CA" sz="1000" b="1" i="0" u="none" strike="noStrike" dirty="0">
                        <a:solidFill>
                          <a:srgbClr val="000000"/>
                        </a:solidFill>
                        <a:effectLst/>
                        <a:latin typeface="+mn-lt"/>
                      </a:endParaRPr>
                    </a:p>
                  </a:txBody>
                  <a:tcPr marL="9525" marR="9525" marT="9525" marB="0" anchor="ct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800174923"/>
                  </a:ext>
                </a:extLst>
              </a:tr>
              <a:tr h="269150">
                <a:tc>
                  <a:txBody>
                    <a:bodyPr/>
                    <a:lstStyle/>
                    <a:p>
                      <a:pPr algn="ctr" rtl="0" fontAlgn="b"/>
                      <a:r>
                        <a:rPr lang="en-CA" sz="1000" b="1" u="none" strike="noStrike" dirty="0">
                          <a:solidFill>
                            <a:srgbClr val="003B5C"/>
                          </a:solidFill>
                          <a:effectLst/>
                          <a:latin typeface="+mn-lt"/>
                        </a:rPr>
                        <a:t>Min Score (&gt;=)</a:t>
                      </a:r>
                      <a:endParaRPr lang="en-CA" sz="1000" b="1" i="0" u="none" strike="noStrike" dirty="0">
                        <a:solidFill>
                          <a:srgbClr val="003B5C"/>
                        </a:solidFill>
                        <a:effectLst/>
                        <a:latin typeface="+mn-lt"/>
                      </a:endParaRPr>
                    </a:p>
                  </a:txBody>
                  <a:tcPr marL="9525" marR="9525" marT="9525" marB="0" anchor="ctr"/>
                </a:tc>
                <a:tc>
                  <a:txBody>
                    <a:bodyPr/>
                    <a:lstStyle/>
                    <a:p>
                      <a:pPr algn="ctr" rtl="0" fontAlgn="b"/>
                      <a:r>
                        <a:rPr lang="en-CA" sz="1000" b="1" u="none" strike="noStrike" dirty="0">
                          <a:solidFill>
                            <a:srgbClr val="003B5C"/>
                          </a:solidFill>
                          <a:effectLst/>
                          <a:latin typeface="+mn-lt"/>
                        </a:rPr>
                        <a:t>Max Score (&lt;)</a:t>
                      </a:r>
                      <a:endParaRPr lang="en-CA" sz="1000" b="1" i="0" u="none" strike="noStrike" dirty="0">
                        <a:solidFill>
                          <a:srgbClr val="003B5C"/>
                        </a:solidFill>
                        <a:effectLst/>
                        <a:latin typeface="+mn-lt"/>
                      </a:endParaRPr>
                    </a:p>
                  </a:txBody>
                  <a:tcPr marL="9525" marR="9525" marT="9525" marB="0" anchor="ctr"/>
                </a:tc>
                <a:tc>
                  <a:txBody>
                    <a:bodyPr/>
                    <a:lstStyle/>
                    <a:p>
                      <a:pPr algn="ctr" rtl="0" fontAlgn="b"/>
                      <a:r>
                        <a:rPr lang="en-CA" sz="1000" b="1" u="none" strike="noStrike" dirty="0">
                          <a:solidFill>
                            <a:srgbClr val="003B5C"/>
                          </a:solidFill>
                          <a:effectLst/>
                          <a:latin typeface="+mn-lt"/>
                        </a:rPr>
                        <a:t>BRR</a:t>
                      </a:r>
                      <a:endParaRPr lang="en-CA" sz="1000" b="1" i="0" u="none" strike="noStrike" dirty="0">
                        <a:solidFill>
                          <a:srgbClr val="003B5C"/>
                        </a:solidFill>
                        <a:effectLst/>
                        <a:latin typeface="+mn-lt"/>
                      </a:endParaRPr>
                    </a:p>
                  </a:txBody>
                  <a:tcPr marL="9525" marR="9525" marT="9525" marB="0" anchor="ctr"/>
                </a:tc>
                <a:tc>
                  <a:txBody>
                    <a:bodyPr/>
                    <a:lstStyle/>
                    <a:p>
                      <a:pPr algn="ctr" rtl="0" fontAlgn="b"/>
                      <a:r>
                        <a:rPr lang="en-CA" sz="1000" b="1" u="none" strike="noStrike" dirty="0">
                          <a:solidFill>
                            <a:srgbClr val="003B5C"/>
                          </a:solidFill>
                          <a:effectLst/>
                          <a:latin typeface="+mn-lt"/>
                        </a:rPr>
                        <a:t>PD</a:t>
                      </a:r>
                      <a:endParaRPr lang="en-CA" sz="1000" b="1" i="0" u="none" strike="noStrike" dirty="0">
                        <a:solidFill>
                          <a:srgbClr val="003B5C"/>
                        </a:solidFill>
                        <a:effectLst/>
                        <a:latin typeface="+mn-lt"/>
                      </a:endParaRPr>
                    </a:p>
                  </a:txBody>
                  <a:tcPr marL="9525" marR="9525" marT="9525" marB="0" anchor="ctr"/>
                </a:tc>
                <a:extLst>
                  <a:ext uri="{0D108BD9-81ED-4DB2-BD59-A6C34878D82A}">
                    <a16:rowId xmlns:a16="http://schemas.microsoft.com/office/drawing/2014/main" val="2300397857"/>
                  </a:ext>
                </a:extLst>
              </a:tr>
              <a:tr h="187629">
                <a:tc>
                  <a:txBody>
                    <a:bodyPr/>
                    <a:lstStyle/>
                    <a:p>
                      <a:pPr algn="ctr" rtl="0" fontAlgn="b"/>
                      <a:r>
                        <a:rPr lang="en-CA" sz="1000" u="none" strike="noStrike" dirty="0">
                          <a:solidFill>
                            <a:srgbClr val="003B5C"/>
                          </a:solidFill>
                          <a:effectLst/>
                          <a:latin typeface="+mn-lt"/>
                        </a:rPr>
                        <a:t>653</a:t>
                      </a:r>
                      <a:endParaRPr lang="en-CA" sz="1000" b="0" i="0" u="none" strike="noStrike" dirty="0">
                        <a:solidFill>
                          <a:srgbClr val="003B5C"/>
                        </a:solidFill>
                        <a:effectLst/>
                        <a:latin typeface="+mn-lt"/>
                      </a:endParaRPr>
                    </a:p>
                  </a:txBody>
                  <a:tcPr marL="9525" marR="9525" marT="9525" marB="0" anchor="ctr"/>
                </a:tc>
                <a:tc>
                  <a:txBody>
                    <a:bodyPr/>
                    <a:lstStyle/>
                    <a:p>
                      <a:pPr algn="ctr" rtl="0" fontAlgn="b"/>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6 (5L)</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0.28%</a:t>
                      </a:r>
                      <a:endParaRPr lang="en-CA" sz="1000" b="0" i="0" u="none" strike="noStrike" dirty="0">
                        <a:solidFill>
                          <a:srgbClr val="003B5C"/>
                        </a:solidFill>
                        <a:effectLst/>
                        <a:latin typeface="+mn-lt"/>
                      </a:endParaRPr>
                    </a:p>
                  </a:txBody>
                  <a:tcPr marL="9525" marR="9525" marT="9525" marB="0" anchor="ctr"/>
                </a:tc>
                <a:extLst>
                  <a:ext uri="{0D108BD9-81ED-4DB2-BD59-A6C34878D82A}">
                    <a16:rowId xmlns:a16="http://schemas.microsoft.com/office/drawing/2014/main" val="614925406"/>
                  </a:ext>
                </a:extLst>
              </a:tr>
              <a:tr h="187629">
                <a:tc>
                  <a:txBody>
                    <a:bodyPr/>
                    <a:lstStyle/>
                    <a:p>
                      <a:pPr algn="ctr" rtl="0" fontAlgn="b"/>
                      <a:r>
                        <a:rPr lang="en-CA" sz="1000" u="none" strike="noStrike" dirty="0">
                          <a:solidFill>
                            <a:srgbClr val="003B5C"/>
                          </a:solidFill>
                          <a:effectLst/>
                          <a:latin typeface="+mn-lt"/>
                        </a:rPr>
                        <a:t>641</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653</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8 (6M)</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0.65%</a:t>
                      </a:r>
                      <a:endParaRPr lang="en-CA" sz="1000" b="0" i="0" u="none" strike="noStrike" dirty="0">
                        <a:solidFill>
                          <a:srgbClr val="003B5C"/>
                        </a:solidFill>
                        <a:effectLst/>
                        <a:latin typeface="+mn-lt"/>
                      </a:endParaRPr>
                    </a:p>
                  </a:txBody>
                  <a:tcPr marL="9525" marR="9525" marT="9525" marB="0" anchor="ctr"/>
                </a:tc>
                <a:extLst>
                  <a:ext uri="{0D108BD9-81ED-4DB2-BD59-A6C34878D82A}">
                    <a16:rowId xmlns:a16="http://schemas.microsoft.com/office/drawing/2014/main" val="2541329313"/>
                  </a:ext>
                </a:extLst>
              </a:tr>
              <a:tr h="187629">
                <a:tc>
                  <a:txBody>
                    <a:bodyPr/>
                    <a:lstStyle/>
                    <a:p>
                      <a:pPr algn="ctr" rtl="0" fontAlgn="b"/>
                      <a:r>
                        <a:rPr lang="en-CA" sz="1000" u="none" strike="noStrike" dirty="0">
                          <a:solidFill>
                            <a:srgbClr val="003B5C"/>
                          </a:solidFill>
                          <a:effectLst/>
                          <a:latin typeface="+mn-lt"/>
                        </a:rPr>
                        <a:t>614</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641</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9 (6L)</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1.00%</a:t>
                      </a:r>
                      <a:endParaRPr lang="en-CA" sz="1000" b="0" i="0" u="none" strike="noStrike" dirty="0">
                        <a:solidFill>
                          <a:srgbClr val="003B5C"/>
                        </a:solidFill>
                        <a:effectLst/>
                        <a:latin typeface="+mn-lt"/>
                      </a:endParaRPr>
                    </a:p>
                  </a:txBody>
                  <a:tcPr marL="9525" marR="9525" marT="9525" marB="0" anchor="ctr"/>
                </a:tc>
                <a:extLst>
                  <a:ext uri="{0D108BD9-81ED-4DB2-BD59-A6C34878D82A}">
                    <a16:rowId xmlns:a16="http://schemas.microsoft.com/office/drawing/2014/main" val="558525660"/>
                  </a:ext>
                </a:extLst>
              </a:tr>
              <a:tr h="187629">
                <a:tc>
                  <a:txBody>
                    <a:bodyPr/>
                    <a:lstStyle/>
                    <a:p>
                      <a:pPr algn="ctr" rtl="0" fontAlgn="b"/>
                      <a:r>
                        <a:rPr lang="en-CA" sz="1000" u="none" strike="noStrike" dirty="0">
                          <a:solidFill>
                            <a:srgbClr val="003B5C"/>
                          </a:solidFill>
                          <a:effectLst/>
                          <a:latin typeface="+mn-lt"/>
                        </a:rPr>
                        <a:t>592</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614</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11 (7M)</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2.00%</a:t>
                      </a:r>
                      <a:endParaRPr lang="en-CA" sz="1000" b="0" i="0" u="none" strike="noStrike" dirty="0">
                        <a:solidFill>
                          <a:srgbClr val="003B5C"/>
                        </a:solidFill>
                        <a:effectLst/>
                        <a:latin typeface="+mn-lt"/>
                      </a:endParaRPr>
                    </a:p>
                  </a:txBody>
                  <a:tcPr marL="9525" marR="9525" marT="9525" marB="0" anchor="ctr"/>
                </a:tc>
                <a:extLst>
                  <a:ext uri="{0D108BD9-81ED-4DB2-BD59-A6C34878D82A}">
                    <a16:rowId xmlns:a16="http://schemas.microsoft.com/office/drawing/2014/main" val="342083897"/>
                  </a:ext>
                </a:extLst>
              </a:tr>
              <a:tr h="187629">
                <a:tc>
                  <a:txBody>
                    <a:bodyPr/>
                    <a:lstStyle/>
                    <a:p>
                      <a:pPr algn="ctr" rtl="0" fontAlgn="b"/>
                      <a:r>
                        <a:rPr lang="en-CA" sz="1000" u="none" strike="noStrike" dirty="0">
                          <a:solidFill>
                            <a:srgbClr val="003B5C"/>
                          </a:solidFill>
                          <a:effectLst/>
                          <a:latin typeface="+mn-lt"/>
                        </a:rPr>
                        <a:t>564</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592</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14 (8M)</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6.00%</a:t>
                      </a:r>
                      <a:endParaRPr lang="en-CA" sz="1000" b="0" i="0" u="none" strike="noStrike" dirty="0">
                        <a:solidFill>
                          <a:srgbClr val="003B5C"/>
                        </a:solidFill>
                        <a:effectLst/>
                        <a:latin typeface="+mn-lt"/>
                      </a:endParaRPr>
                    </a:p>
                  </a:txBody>
                  <a:tcPr marL="9525" marR="9525" marT="9525" marB="0" anchor="ctr"/>
                </a:tc>
                <a:extLst>
                  <a:ext uri="{0D108BD9-81ED-4DB2-BD59-A6C34878D82A}">
                    <a16:rowId xmlns:a16="http://schemas.microsoft.com/office/drawing/2014/main" val="2141670990"/>
                  </a:ext>
                </a:extLst>
              </a:tr>
              <a:tr h="187629">
                <a:tc>
                  <a:txBody>
                    <a:bodyPr/>
                    <a:lstStyle/>
                    <a:p>
                      <a:pPr algn="ctr" rtl="0" fontAlgn="b"/>
                      <a:r>
                        <a:rPr lang="en-CA" sz="1000" u="none" strike="noStrike" dirty="0">
                          <a:solidFill>
                            <a:srgbClr val="003B5C"/>
                          </a:solidFill>
                          <a:effectLst/>
                          <a:latin typeface="+mn-lt"/>
                        </a:rPr>
                        <a:t>525</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564</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17 (9M)</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15.00%</a:t>
                      </a:r>
                      <a:endParaRPr lang="en-CA" sz="1000" b="0" i="0" u="none" strike="noStrike" dirty="0">
                        <a:solidFill>
                          <a:srgbClr val="003B5C"/>
                        </a:solidFill>
                        <a:effectLst/>
                        <a:latin typeface="+mn-lt"/>
                      </a:endParaRPr>
                    </a:p>
                  </a:txBody>
                  <a:tcPr marL="9525" marR="9525" marT="9525" marB="0" anchor="ctr"/>
                </a:tc>
                <a:extLst>
                  <a:ext uri="{0D108BD9-81ED-4DB2-BD59-A6C34878D82A}">
                    <a16:rowId xmlns:a16="http://schemas.microsoft.com/office/drawing/2014/main" val="3672506768"/>
                  </a:ext>
                </a:extLst>
              </a:tr>
              <a:tr h="197010">
                <a:tc>
                  <a:txBody>
                    <a:bodyPr/>
                    <a:lstStyle/>
                    <a:p>
                      <a:pPr algn="ctr" rtl="0" fontAlgn="b"/>
                      <a:r>
                        <a:rPr lang="en-CA" sz="1000" u="none" strike="noStrike" dirty="0">
                          <a:solidFill>
                            <a:srgbClr val="003B5C"/>
                          </a:solidFill>
                          <a:effectLst/>
                          <a:latin typeface="+mn-lt"/>
                        </a:rPr>
                        <a:t>0</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525</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19 (10H)</a:t>
                      </a:r>
                      <a:endParaRPr lang="en-CA" sz="1000" b="0" i="0" u="none" strike="noStrike" dirty="0">
                        <a:solidFill>
                          <a:srgbClr val="003B5C"/>
                        </a:solidFill>
                        <a:effectLst/>
                        <a:latin typeface="+mn-lt"/>
                      </a:endParaRPr>
                    </a:p>
                  </a:txBody>
                  <a:tcPr marL="9525" marR="9525" marT="9525" marB="0" anchor="ctr"/>
                </a:tc>
                <a:tc>
                  <a:txBody>
                    <a:bodyPr/>
                    <a:lstStyle/>
                    <a:p>
                      <a:pPr algn="ctr" rtl="0" fontAlgn="b"/>
                      <a:r>
                        <a:rPr lang="en-CA" sz="1000" u="none" strike="noStrike" dirty="0">
                          <a:solidFill>
                            <a:srgbClr val="003B5C"/>
                          </a:solidFill>
                          <a:effectLst/>
                          <a:latin typeface="+mn-lt"/>
                        </a:rPr>
                        <a:t>30.00%</a:t>
                      </a:r>
                      <a:endParaRPr lang="en-CA" sz="1000" b="0" i="0" u="none" strike="noStrike" dirty="0">
                        <a:solidFill>
                          <a:srgbClr val="003B5C"/>
                        </a:solidFill>
                        <a:effectLst/>
                        <a:latin typeface="+mn-lt"/>
                      </a:endParaRPr>
                    </a:p>
                  </a:txBody>
                  <a:tcPr marL="9525" marR="9525" marT="9525" marB="0" anchor="ctr"/>
                </a:tc>
                <a:extLst>
                  <a:ext uri="{0D108BD9-81ED-4DB2-BD59-A6C34878D82A}">
                    <a16:rowId xmlns:a16="http://schemas.microsoft.com/office/drawing/2014/main" val="982866706"/>
                  </a:ext>
                </a:extLst>
              </a:tr>
            </a:tbl>
          </a:graphicData>
        </a:graphic>
      </p:graphicFrame>
      <p:graphicFrame>
        <p:nvGraphicFramePr>
          <p:cNvPr id="9" name="Table 8"/>
          <p:cNvGraphicFramePr>
            <a:graphicFrameLocks noGrp="1"/>
          </p:cNvGraphicFramePr>
          <p:nvPr>
            <p:extLst/>
          </p:nvPr>
        </p:nvGraphicFramePr>
        <p:xfrm>
          <a:off x="6329224" y="2989238"/>
          <a:ext cx="2174899" cy="1402032"/>
        </p:xfrm>
        <a:graphic>
          <a:graphicData uri="http://schemas.openxmlformats.org/drawingml/2006/table">
            <a:tbl>
              <a:tblPr firstRow="1" bandRow="1">
                <a:tableStyleId>{B301B821-A1FF-4177-AEE7-76D212191A09}</a:tableStyleId>
              </a:tblPr>
              <a:tblGrid>
                <a:gridCol w="1099847">
                  <a:extLst>
                    <a:ext uri="{9D8B030D-6E8A-4147-A177-3AD203B41FA5}">
                      <a16:colId xmlns:a16="http://schemas.microsoft.com/office/drawing/2014/main" val="2694224356"/>
                    </a:ext>
                  </a:extLst>
                </a:gridCol>
                <a:gridCol w="1075052">
                  <a:extLst>
                    <a:ext uri="{9D8B030D-6E8A-4147-A177-3AD203B41FA5}">
                      <a16:colId xmlns:a16="http://schemas.microsoft.com/office/drawing/2014/main" val="1582004372"/>
                    </a:ext>
                  </a:extLst>
                </a:gridCol>
              </a:tblGrid>
              <a:tr h="314823">
                <a:tc gridSpan="2">
                  <a:txBody>
                    <a:bodyPr/>
                    <a:lstStyle/>
                    <a:p>
                      <a:pPr algn="ctr" fontAlgn="b"/>
                      <a:r>
                        <a:rPr lang="en-CA" sz="1000" u="none" strike="noStrike" dirty="0" smtClean="0">
                          <a:effectLst/>
                        </a:rPr>
                        <a:t>Current Portfolio </a:t>
                      </a:r>
                      <a:r>
                        <a:rPr lang="en-CA" sz="1000" u="none" strike="noStrike" dirty="0">
                          <a:effectLst/>
                        </a:rPr>
                        <a:t>Composition</a:t>
                      </a:r>
                      <a:endParaRPr lang="en-CA" sz="10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CA"/>
                    </a:p>
                  </a:txBody>
                  <a:tcPr/>
                </a:tc>
                <a:extLst>
                  <a:ext uri="{0D108BD9-81ED-4DB2-BD59-A6C34878D82A}">
                    <a16:rowId xmlns:a16="http://schemas.microsoft.com/office/drawing/2014/main" val="2941283649"/>
                  </a:ext>
                </a:extLst>
              </a:tr>
              <a:tr h="298291">
                <a:tc>
                  <a:txBody>
                    <a:bodyPr/>
                    <a:lstStyle/>
                    <a:p>
                      <a:pPr algn="ctr" rtl="0" fontAlgn="ctr"/>
                      <a:r>
                        <a:rPr lang="en-CA" sz="1000" b="1" u="none" strike="noStrike" dirty="0">
                          <a:solidFill>
                            <a:srgbClr val="003B5C"/>
                          </a:solidFill>
                          <a:effectLst/>
                        </a:rPr>
                        <a:t>Segment</a:t>
                      </a:r>
                      <a:endParaRPr lang="en-CA" sz="1000" b="1" i="0" u="none" strike="noStrike" dirty="0">
                        <a:solidFill>
                          <a:srgbClr val="003B5C"/>
                        </a:solidFill>
                        <a:effectLst/>
                        <a:latin typeface="Calibri" panose="020F0502020204030204" pitchFamily="34" charset="0"/>
                      </a:endParaRPr>
                    </a:p>
                  </a:txBody>
                  <a:tcPr marL="9525" marR="9525" marT="9525" marB="0" anchor="ctr"/>
                </a:tc>
                <a:tc>
                  <a:txBody>
                    <a:bodyPr/>
                    <a:lstStyle/>
                    <a:p>
                      <a:pPr algn="ctr" rtl="0" fontAlgn="ctr"/>
                      <a:r>
                        <a:rPr lang="en-CA" sz="1000" b="1" u="none" strike="noStrike" dirty="0" smtClean="0">
                          <a:solidFill>
                            <a:srgbClr val="003B5C"/>
                          </a:solidFill>
                          <a:effectLst/>
                        </a:rPr>
                        <a:t>Percentage</a:t>
                      </a:r>
                      <a:endParaRPr lang="en-CA" sz="1000" b="1" i="0" u="none" strike="noStrike" dirty="0">
                        <a:solidFill>
                          <a:srgbClr val="003B5C"/>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88264266"/>
                  </a:ext>
                </a:extLst>
              </a:tr>
              <a:tr h="240133">
                <a:tc>
                  <a:txBody>
                    <a:bodyPr/>
                    <a:lstStyle/>
                    <a:p>
                      <a:pPr algn="ctr" rtl="0" fontAlgn="ctr"/>
                      <a:r>
                        <a:rPr lang="en-CA" sz="1000" u="none" strike="noStrike" dirty="0">
                          <a:solidFill>
                            <a:srgbClr val="003B5C"/>
                          </a:solidFill>
                          <a:effectLst/>
                        </a:rPr>
                        <a:t>EFG %</a:t>
                      </a:r>
                      <a:endParaRPr lang="en-CA" sz="1000" b="0" i="0" u="none" strike="noStrike" dirty="0">
                        <a:solidFill>
                          <a:srgbClr val="003B5C"/>
                        </a:solidFill>
                        <a:effectLst/>
                        <a:latin typeface="Calibri" panose="020F0502020204030204" pitchFamily="34" charset="0"/>
                      </a:endParaRPr>
                    </a:p>
                  </a:txBody>
                  <a:tcPr marL="9525" marR="9525" marT="9525" marB="0" anchor="ctr"/>
                </a:tc>
                <a:tc>
                  <a:txBody>
                    <a:bodyPr/>
                    <a:lstStyle/>
                    <a:p>
                      <a:pPr algn="ctr" rtl="0" fontAlgn="ctr"/>
                      <a:r>
                        <a:rPr lang="en-CA" sz="1000" u="none" strike="noStrike" dirty="0" smtClean="0">
                          <a:solidFill>
                            <a:srgbClr val="003B5C"/>
                          </a:solidFill>
                          <a:effectLst/>
                        </a:rPr>
                        <a:t>6.13%</a:t>
                      </a:r>
                      <a:endParaRPr lang="en-CA" sz="1000" b="0" i="0" u="none" strike="noStrike" dirty="0">
                        <a:solidFill>
                          <a:srgbClr val="003B5C"/>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39903802"/>
                  </a:ext>
                </a:extLst>
              </a:tr>
              <a:tr h="231227">
                <a:tc>
                  <a:txBody>
                    <a:bodyPr/>
                    <a:lstStyle/>
                    <a:p>
                      <a:pPr algn="ctr" rtl="0" fontAlgn="ctr"/>
                      <a:r>
                        <a:rPr lang="en-CA" sz="1000" u="none" strike="noStrike" dirty="0">
                          <a:solidFill>
                            <a:srgbClr val="003B5C"/>
                          </a:solidFill>
                          <a:effectLst/>
                        </a:rPr>
                        <a:t>NL %</a:t>
                      </a:r>
                      <a:endParaRPr lang="en-CA" sz="1000" b="0" i="0" u="none" strike="noStrike" dirty="0">
                        <a:solidFill>
                          <a:srgbClr val="003B5C"/>
                        </a:solidFill>
                        <a:effectLst/>
                        <a:latin typeface="Calibri" panose="020F0502020204030204" pitchFamily="34" charset="0"/>
                      </a:endParaRPr>
                    </a:p>
                  </a:txBody>
                  <a:tcPr marL="9525" marR="9525" marT="9525" marB="0" anchor="ctr"/>
                </a:tc>
                <a:tc>
                  <a:txBody>
                    <a:bodyPr/>
                    <a:lstStyle/>
                    <a:p>
                      <a:pPr algn="ctr" rtl="0" fontAlgn="ctr"/>
                      <a:r>
                        <a:rPr lang="en-CA" sz="1000" u="none" strike="noStrike" dirty="0" smtClean="0">
                          <a:solidFill>
                            <a:srgbClr val="003B5C"/>
                          </a:solidFill>
                          <a:effectLst/>
                        </a:rPr>
                        <a:t>93.57%</a:t>
                      </a:r>
                      <a:endParaRPr lang="en-CA" sz="1000" b="0" i="0" u="none" strike="noStrike" dirty="0">
                        <a:solidFill>
                          <a:srgbClr val="003B5C"/>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44141078"/>
                  </a:ext>
                </a:extLst>
              </a:tr>
              <a:tr h="317558">
                <a:tc>
                  <a:txBody>
                    <a:bodyPr/>
                    <a:lstStyle/>
                    <a:p>
                      <a:pPr algn="ctr" rtl="0" fontAlgn="ctr"/>
                      <a:r>
                        <a:rPr lang="en-CA" sz="1000" u="none" strike="noStrike" dirty="0">
                          <a:solidFill>
                            <a:srgbClr val="003B5C"/>
                          </a:solidFill>
                          <a:effectLst/>
                        </a:rPr>
                        <a:t>Non-EFG/Non-NL</a:t>
                      </a:r>
                      <a:endParaRPr lang="en-CA" sz="1000" b="0" i="0" u="none" strike="noStrike" dirty="0">
                        <a:solidFill>
                          <a:srgbClr val="003B5C"/>
                        </a:solidFill>
                        <a:effectLst/>
                        <a:latin typeface="Calibri" panose="020F0502020204030204" pitchFamily="34" charset="0"/>
                      </a:endParaRPr>
                    </a:p>
                  </a:txBody>
                  <a:tcPr marL="9525" marR="9525" marT="9525" marB="0" anchor="ctr"/>
                </a:tc>
                <a:tc>
                  <a:txBody>
                    <a:bodyPr/>
                    <a:lstStyle/>
                    <a:p>
                      <a:pPr algn="ctr" rtl="0" fontAlgn="ctr"/>
                      <a:r>
                        <a:rPr lang="en-CA" sz="1000" u="none" strike="noStrike" dirty="0" smtClean="0">
                          <a:solidFill>
                            <a:srgbClr val="003B5C"/>
                          </a:solidFill>
                          <a:effectLst/>
                        </a:rPr>
                        <a:t>0.30%</a:t>
                      </a:r>
                      <a:endParaRPr lang="en-CA" sz="1000" b="0" i="0" u="none" strike="noStrike" dirty="0">
                        <a:solidFill>
                          <a:srgbClr val="003B5C"/>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40257214"/>
                  </a:ext>
                </a:extLst>
              </a:tr>
            </a:tbl>
          </a:graphicData>
        </a:graphic>
      </p:graphicFrame>
    </p:spTree>
    <p:extLst>
      <p:ext uri="{BB962C8B-B14F-4D97-AF65-F5344CB8AC3E}">
        <p14:creationId xmlns:p14="http://schemas.microsoft.com/office/powerpoint/2010/main" val="2085115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400" dirty="0"/>
              <a:t>Distribution by BRRs: Current Portfolio vs. Historical Data</a:t>
            </a:r>
          </a:p>
          <a:p>
            <a:endParaRPr lang="en-CA" dirty="0"/>
          </a:p>
        </p:txBody>
      </p:sp>
      <p:sp>
        <p:nvSpPr>
          <p:cNvPr id="4" name="Text Placeholder 3"/>
          <p:cNvSpPr>
            <a:spLocks noGrp="1"/>
          </p:cNvSpPr>
          <p:nvPr>
            <p:ph type="body" sz="quarter" idx="15"/>
          </p:nvPr>
        </p:nvSpPr>
        <p:spPr>
          <a:xfrm>
            <a:off x="406400" y="1636713"/>
            <a:ext cx="8280400" cy="2243309"/>
          </a:xfrm>
        </p:spPr>
        <p:txBody>
          <a:bodyPr/>
          <a:lstStyle/>
          <a:p>
            <a:endParaRPr lang="en-US" sz="1100" b="1" dirty="0"/>
          </a:p>
          <a:p>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a:p>
          <a:p>
            <a:pPr marL="228600" indent="-228600">
              <a:buAutoNum type="arabicParenR"/>
            </a:pPr>
            <a:endParaRPr lang="en-US" sz="1100" b="1" dirty="0" smtClean="0"/>
          </a:p>
          <a:p>
            <a:pPr marL="228600" indent="-228600">
              <a:buAutoNum type="arabicParenR"/>
            </a:pPr>
            <a:endParaRPr lang="en-US" sz="1100" b="1" dirty="0" smtClean="0"/>
          </a:p>
          <a:p>
            <a:pPr marL="228600" indent="-228600">
              <a:buAutoNum type="arabicParenR"/>
            </a:pPr>
            <a:endParaRPr lang="en-US" sz="1000" b="1" dirty="0" smtClean="0"/>
          </a:p>
          <a:p>
            <a:pPr algn="just"/>
            <a:endParaRPr lang="en-US" sz="1000" b="1" dirty="0"/>
          </a:p>
          <a:p>
            <a:pPr marL="228600" indent="-228600" algn="just">
              <a:buFont typeface="+mj-lt"/>
              <a:buAutoNum type="arabicParenR"/>
            </a:pPr>
            <a:r>
              <a:rPr lang="en-US" sz="1000" b="1" dirty="0" smtClean="0"/>
              <a:t>Overall </a:t>
            </a:r>
            <a:r>
              <a:rPr lang="en-US" sz="1000" b="1" dirty="0"/>
              <a:t>Distribution of BRRs: </a:t>
            </a:r>
            <a:r>
              <a:rPr lang="en-US" sz="1000" dirty="0"/>
              <a:t>Currently, the portfolio is concentrated in BRR </a:t>
            </a:r>
            <a:r>
              <a:rPr lang="en-US" sz="1000" dirty="0" smtClean="0"/>
              <a:t>8 (6M), BRR 9 (6L), BRR 11 (7M) and BRR 14 (8M), i.e</a:t>
            </a:r>
            <a:r>
              <a:rPr lang="en-US" sz="1000" dirty="0"/>
              <a:t>. medium risk.</a:t>
            </a:r>
          </a:p>
          <a:p>
            <a:pPr marL="228600" indent="-228600">
              <a:buFont typeface="+mj-lt"/>
              <a:buAutoNum type="arabicParenR"/>
            </a:pPr>
            <a:r>
              <a:rPr lang="en-US" sz="1000" b="1" dirty="0" smtClean="0"/>
              <a:t>Watch </a:t>
            </a:r>
            <a:r>
              <a:rPr lang="en-US" sz="1000" b="1" dirty="0"/>
              <a:t>List: </a:t>
            </a:r>
            <a:r>
              <a:rPr lang="en-US" sz="1000" dirty="0" smtClean="0"/>
              <a:t>6.33% </a:t>
            </a:r>
            <a:r>
              <a:rPr lang="en-US" sz="1000" dirty="0"/>
              <a:t>of obligors in the current portfolio and 6.92% in the historical </a:t>
            </a:r>
            <a:r>
              <a:rPr lang="en-US" sz="1000" dirty="0" smtClean="0"/>
              <a:t>data </a:t>
            </a:r>
            <a:r>
              <a:rPr lang="en-US" sz="1000" dirty="0"/>
              <a:t>are in watch list ratings</a:t>
            </a:r>
            <a:r>
              <a:rPr lang="en-US" sz="1000" dirty="0" smtClean="0"/>
              <a:t>.</a:t>
            </a:r>
            <a:endParaRPr lang="en-US" sz="1000" dirty="0"/>
          </a:p>
          <a:p>
            <a:pPr marL="228600" indent="-228600">
              <a:buFont typeface="+mj-lt"/>
              <a:buAutoNum type="arabicParenR"/>
            </a:pPr>
            <a:r>
              <a:rPr lang="en-US" sz="1000" b="1" dirty="0"/>
              <a:t>Historical Data vs. Current Portfolio: </a:t>
            </a:r>
            <a:r>
              <a:rPr lang="en-US" sz="1000" dirty="0"/>
              <a:t>Overall distribution of BRRs for the current portfolio resembles that of historical </a:t>
            </a:r>
            <a:r>
              <a:rPr lang="en-US" sz="1000" dirty="0" smtClean="0"/>
              <a:t>data.</a:t>
            </a:r>
            <a:endParaRPr lang="en-US" sz="1200" dirty="0"/>
          </a:p>
          <a:p>
            <a:endParaRPr lang="en-CA" dirty="0"/>
          </a:p>
        </p:txBody>
      </p:sp>
      <p:graphicFrame>
        <p:nvGraphicFramePr>
          <p:cNvPr id="6" name="Chart 5"/>
          <p:cNvGraphicFramePr>
            <a:graphicFrameLocks/>
          </p:cNvGraphicFramePr>
          <p:nvPr>
            <p:extLst>
              <p:ext uri="{D42A27DB-BD31-4B8C-83A1-F6EECF244321}">
                <p14:modId xmlns:p14="http://schemas.microsoft.com/office/powerpoint/2010/main" val="457714395"/>
              </p:ext>
            </p:extLst>
          </p:nvPr>
        </p:nvGraphicFramePr>
        <p:xfrm>
          <a:off x="406202" y="1098522"/>
          <a:ext cx="8280401" cy="297528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236482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400" dirty="0"/>
              <a:t>Distribution by BRRs: EFG, NL, and Non-EFG/Non-NL</a:t>
            </a:r>
            <a:endParaRPr lang="en-CA" sz="2400" dirty="0"/>
          </a:p>
          <a:p>
            <a:endParaRPr lang="en-CA" dirty="0"/>
          </a:p>
        </p:txBody>
      </p:sp>
      <p:sp>
        <p:nvSpPr>
          <p:cNvPr id="4" name="Text Placeholder 3"/>
          <p:cNvSpPr>
            <a:spLocks noGrp="1"/>
          </p:cNvSpPr>
          <p:nvPr>
            <p:ph type="body" sz="quarter" idx="15"/>
          </p:nvPr>
        </p:nvSpPr>
        <p:spPr>
          <a:xfrm>
            <a:off x="406203" y="1098523"/>
            <a:ext cx="8280400" cy="3621758"/>
          </a:xfrm>
        </p:spPr>
        <p:txBody>
          <a:bodyPr/>
          <a:lstStyle/>
          <a:p>
            <a:endParaRPr lang="en-US" sz="1050" b="1" dirty="0"/>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endParaRPr lang="en-US" sz="1050" b="1" dirty="0" smtClean="0"/>
          </a:p>
          <a:p>
            <a:endParaRPr lang="en-US" sz="1050" b="1" dirty="0"/>
          </a:p>
          <a:p>
            <a:pPr marL="228600" indent="-228600">
              <a:buAutoNum type="arabicParenR"/>
            </a:pPr>
            <a:endParaRPr lang="en-US" sz="1050" b="1" dirty="0" smtClean="0"/>
          </a:p>
          <a:p>
            <a:pPr marL="228600" indent="-228600">
              <a:buAutoNum type="arabicParenR"/>
            </a:pPr>
            <a:endParaRPr lang="en-US" sz="1050" b="1" dirty="0"/>
          </a:p>
          <a:p>
            <a:pPr marL="228600" indent="-228600">
              <a:buAutoNum type="arabicParenR"/>
            </a:pPr>
            <a:endParaRPr lang="en-US" sz="1050" b="1" dirty="0" smtClean="0"/>
          </a:p>
          <a:p>
            <a:pPr marL="228600" indent="-228600">
              <a:buAutoNum type="arabicParenR"/>
            </a:pPr>
            <a:r>
              <a:rPr lang="en-US" sz="1000" b="1" dirty="0" smtClean="0"/>
              <a:t>Comparing </a:t>
            </a:r>
            <a:r>
              <a:rPr lang="en-US" sz="1000" b="1" dirty="0"/>
              <a:t>EFG BRRs with the rest of the SBE1 Portfolio: </a:t>
            </a:r>
            <a:r>
              <a:rPr lang="en-US" sz="1000" dirty="0"/>
              <a:t>EFG borrowers are assigned to worse risk ratings than obligors from other segments. Around </a:t>
            </a:r>
            <a:r>
              <a:rPr lang="en-US" sz="1000" dirty="0" smtClean="0"/>
              <a:t>33% </a:t>
            </a:r>
            <a:r>
              <a:rPr lang="en-US" sz="1000" dirty="0"/>
              <a:t>of EFG obligors are in risk ratings 14 (8M), 17 (9M) and 19 (10H). </a:t>
            </a:r>
          </a:p>
          <a:p>
            <a:pPr marL="228600" indent="-228600">
              <a:buFont typeface="+mj-lt"/>
              <a:buAutoNum type="arabicParenR"/>
            </a:pPr>
            <a:r>
              <a:rPr lang="en-US" sz="1000" b="1" dirty="0"/>
              <a:t>Non-EFG/Non-NL vs. EFG and NL: </a:t>
            </a:r>
            <a:r>
              <a:rPr lang="en-US" sz="1000" dirty="0"/>
              <a:t>Non-EFG/Non-NL obligors are assigned to better risk ratings than obligors from other segments. Note that only </a:t>
            </a:r>
            <a:r>
              <a:rPr lang="en-US" sz="1000" dirty="0" smtClean="0"/>
              <a:t>0.30% </a:t>
            </a:r>
            <a:r>
              <a:rPr lang="en-US" sz="1000" dirty="0"/>
              <a:t>of the current portfolio is comprised of Non-EFG/Non-NL obligors. </a:t>
            </a:r>
            <a:endParaRPr lang="en-CA" sz="1000" dirty="0"/>
          </a:p>
          <a:p>
            <a:endParaRPr lang="en-CA" dirty="0"/>
          </a:p>
        </p:txBody>
      </p:sp>
      <p:graphicFrame>
        <p:nvGraphicFramePr>
          <p:cNvPr id="6" name="Chart 5"/>
          <p:cNvGraphicFramePr>
            <a:graphicFrameLocks/>
          </p:cNvGraphicFramePr>
          <p:nvPr>
            <p:extLst>
              <p:ext uri="{D42A27DB-BD31-4B8C-83A1-F6EECF244321}">
                <p14:modId xmlns:p14="http://schemas.microsoft.com/office/powerpoint/2010/main" val="3787954221"/>
              </p:ext>
            </p:extLst>
          </p:nvPr>
        </p:nvGraphicFramePr>
        <p:xfrm>
          <a:off x="406201" y="1098522"/>
          <a:ext cx="8280401" cy="300051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053951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a:t>Overrides</a:t>
            </a:r>
            <a:endParaRPr lang="en-CA" dirty="0"/>
          </a:p>
          <a:p>
            <a:endParaRPr lang="en-CA" dirty="0"/>
          </a:p>
        </p:txBody>
      </p:sp>
      <p:sp>
        <p:nvSpPr>
          <p:cNvPr id="3" name="Text Placeholder 2"/>
          <p:cNvSpPr>
            <a:spLocks noGrp="1"/>
          </p:cNvSpPr>
          <p:nvPr>
            <p:ph type="body" sz="quarter" idx="14"/>
          </p:nvPr>
        </p:nvSpPr>
        <p:spPr/>
        <p:txBody>
          <a:bodyPr/>
          <a:lstStyle/>
          <a:p>
            <a:r>
              <a:rPr lang="en-US" dirty="0"/>
              <a:t>Distribution of BRRs – Current Portfolio (Including Overrides)</a:t>
            </a:r>
          </a:p>
          <a:p>
            <a:endParaRPr lang="en-CA" dirty="0"/>
          </a:p>
          <a:p>
            <a:endParaRPr lang="en-CA" dirty="0"/>
          </a:p>
        </p:txBody>
      </p:sp>
      <p:sp>
        <p:nvSpPr>
          <p:cNvPr id="4" name="Text Placeholder 3"/>
          <p:cNvSpPr>
            <a:spLocks noGrp="1"/>
          </p:cNvSpPr>
          <p:nvPr>
            <p:ph type="body" sz="quarter" idx="15"/>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sz="1000" dirty="0" smtClean="0"/>
          </a:p>
          <a:p>
            <a:r>
              <a:rPr lang="en-US" sz="1000" dirty="0" smtClean="0"/>
              <a:t>In </a:t>
            </a:r>
            <a:r>
              <a:rPr lang="en-US" sz="1000" dirty="0"/>
              <a:t>total, </a:t>
            </a:r>
            <a:r>
              <a:rPr lang="en-US" sz="1000" dirty="0" smtClean="0"/>
              <a:t>58 </a:t>
            </a:r>
            <a:r>
              <a:rPr lang="en-US" sz="1000" dirty="0"/>
              <a:t>obligors were overridden by CRM. This represents 0.33% of the current </a:t>
            </a:r>
            <a:r>
              <a:rPr lang="en-US" sz="1000" dirty="0" smtClean="0"/>
              <a:t>portfolio.</a:t>
            </a:r>
            <a:endParaRPr lang="en-CA" sz="1000" dirty="0"/>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1561610801"/>
              </p:ext>
            </p:extLst>
          </p:nvPr>
        </p:nvGraphicFramePr>
        <p:xfrm>
          <a:off x="406203" y="1395884"/>
          <a:ext cx="8280401" cy="31761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715331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006" y="303621"/>
            <a:ext cx="8280597" cy="397483"/>
          </a:xfrm>
        </p:spPr>
        <p:txBody>
          <a:bodyPr/>
          <a:lstStyle/>
          <a:p>
            <a:r>
              <a:rPr lang="en-US" sz="2600" dirty="0" err="1" smtClean="0"/>
              <a:t>Backtesting</a:t>
            </a:r>
            <a:r>
              <a:rPr lang="en-US" sz="2600" dirty="0" smtClean="0"/>
              <a:t> Analysis</a:t>
            </a:r>
            <a:endParaRPr lang="en-CA" sz="2600" dirty="0"/>
          </a:p>
        </p:txBody>
      </p:sp>
      <p:sp>
        <p:nvSpPr>
          <p:cNvPr id="7" name="Text Placeholder 3"/>
          <p:cNvSpPr>
            <a:spLocks noGrp="1"/>
          </p:cNvSpPr>
          <p:nvPr>
            <p:ph type="body" sz="quarter" idx="15"/>
          </p:nvPr>
        </p:nvSpPr>
        <p:spPr>
          <a:xfrm>
            <a:off x="406006" y="767008"/>
            <a:ext cx="8280597" cy="3929452"/>
          </a:xfrm>
        </p:spPr>
        <p:txBody>
          <a:bodyPr numCol="1"/>
          <a:lstStyle/>
          <a:p>
            <a:pPr marL="285750" indent="-285750" algn="just">
              <a:buFont typeface="Arial" panose="020B0604020202020204" pitchFamily="34" charset="0"/>
              <a:buChar char="•"/>
            </a:pPr>
            <a:r>
              <a:rPr lang="en-US" sz="1550" dirty="0" err="1" smtClean="0"/>
              <a:t>Backtesting</a:t>
            </a:r>
            <a:r>
              <a:rPr lang="en-US" sz="1550" dirty="0" smtClean="0"/>
              <a:t> exercise is the comparison of predicted PDs (i.e., model generated PDs) against observed default rates for the historical data. </a:t>
            </a:r>
          </a:p>
          <a:p>
            <a:pPr algn="just"/>
            <a:endParaRPr lang="en-US" sz="1550" dirty="0" smtClean="0"/>
          </a:p>
          <a:p>
            <a:pPr marL="285750" indent="-285750" algn="just">
              <a:buFont typeface="Arial" panose="020B0604020202020204" pitchFamily="34" charset="0"/>
              <a:buChar char="•"/>
            </a:pPr>
            <a:r>
              <a:rPr lang="en-US" sz="1550" dirty="0" err="1" smtClean="0"/>
              <a:t>Backtesting</a:t>
            </a:r>
            <a:r>
              <a:rPr lang="en-US" sz="1550" dirty="0" smtClean="0"/>
              <a:t> is conducted on a </a:t>
            </a:r>
            <a:r>
              <a:rPr lang="en-US" sz="1550" dirty="0"/>
              <a:t>historical </a:t>
            </a:r>
            <a:r>
              <a:rPr lang="en-US" sz="1550" dirty="0" smtClean="0"/>
              <a:t>dataset </a:t>
            </a:r>
            <a:r>
              <a:rPr lang="en-US" sz="1550" dirty="0"/>
              <a:t>NOT included in the modelling </a:t>
            </a:r>
            <a:r>
              <a:rPr lang="en-US" sz="1550" dirty="0" smtClean="0"/>
              <a:t>sample. For example, suppose a model is developed using </a:t>
            </a:r>
            <a:r>
              <a:rPr lang="en-US" sz="1550" dirty="0"/>
              <a:t>historical data from 2010 to </a:t>
            </a:r>
            <a:r>
              <a:rPr lang="en-US" sz="1550" dirty="0" smtClean="0"/>
              <a:t>2016. Then the model is </a:t>
            </a:r>
            <a:r>
              <a:rPr lang="en-US" sz="1550" dirty="0" err="1" smtClean="0"/>
              <a:t>backtested</a:t>
            </a:r>
            <a:r>
              <a:rPr lang="en-US" sz="1550" dirty="0" smtClean="0"/>
              <a:t> on historical data from 2017 to 2018.</a:t>
            </a:r>
          </a:p>
          <a:p>
            <a:pPr algn="just"/>
            <a:endParaRPr lang="en-US" sz="1550" dirty="0"/>
          </a:p>
          <a:p>
            <a:pPr marL="285750" indent="-285750" algn="just">
              <a:buFont typeface="Arial" panose="020B0604020202020204" pitchFamily="34" charset="0"/>
              <a:buChar char="•"/>
            </a:pPr>
            <a:r>
              <a:rPr lang="en-US" sz="1550" dirty="0" smtClean="0"/>
              <a:t>The test is performed at the risk rating level. For example, suppose a PD model, developed using historical data from 2010 to 2016, generates five risk ratings with PD =1% for RR1, PD=2% for RR2, …, and PD=5% for RR5. Assume there are 100 customers in each RR over the </a:t>
            </a:r>
            <a:r>
              <a:rPr lang="en-US" sz="1550" dirty="0" err="1" smtClean="0"/>
              <a:t>backtesting</a:t>
            </a:r>
            <a:r>
              <a:rPr lang="en-US" sz="1550" dirty="0" smtClean="0"/>
              <a:t> period 2017 to 2018. Then we expect to observe </a:t>
            </a:r>
            <a:r>
              <a:rPr lang="en-US" sz="1550" u="sng" dirty="0" smtClean="0"/>
              <a:t>roughly</a:t>
            </a:r>
            <a:r>
              <a:rPr lang="en-US" sz="1550" dirty="0" smtClean="0"/>
              <a:t> one default in RR1, two defaults in RR2, …, and five defaults in RR5.</a:t>
            </a:r>
          </a:p>
          <a:p>
            <a:pPr algn="just"/>
            <a:endParaRPr lang="en-US" sz="1550" dirty="0" smtClean="0"/>
          </a:p>
          <a:p>
            <a:pPr marL="285750" indent="-285750" algn="just">
              <a:buFont typeface="Arial" panose="020B0604020202020204" pitchFamily="34" charset="0"/>
              <a:buChar char="•"/>
            </a:pPr>
            <a:r>
              <a:rPr lang="en-US" sz="1550" dirty="0" smtClean="0"/>
              <a:t>OSFI requires PD models include appropriate margins of conservatism to cater for sources of uncertainties. That is, models are required to predict PDs slightly higher than observed default rates.</a:t>
            </a:r>
            <a:endParaRPr lang="en-US" sz="1550" dirty="0"/>
          </a:p>
        </p:txBody>
      </p:sp>
    </p:spTree>
    <p:extLst>
      <p:ext uri="{BB962C8B-B14F-4D97-AF65-F5344CB8AC3E}">
        <p14:creationId xmlns:p14="http://schemas.microsoft.com/office/powerpoint/2010/main" val="32522228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005" y="295382"/>
            <a:ext cx="8280597" cy="397483"/>
          </a:xfrm>
        </p:spPr>
        <p:txBody>
          <a:bodyPr/>
          <a:lstStyle/>
          <a:p>
            <a:r>
              <a:rPr lang="en-US" sz="2600" dirty="0" err="1" smtClean="0"/>
              <a:t>Backtesting</a:t>
            </a:r>
            <a:r>
              <a:rPr lang="en-US" sz="2600" dirty="0" smtClean="0"/>
              <a:t> SBE1 PD Model</a:t>
            </a:r>
            <a:endParaRPr lang="en-CA" sz="2600" dirty="0"/>
          </a:p>
        </p:txBody>
      </p:sp>
      <p:sp>
        <p:nvSpPr>
          <p:cNvPr id="7" name="Text Placeholder 3"/>
          <p:cNvSpPr>
            <a:spLocks noGrp="1"/>
          </p:cNvSpPr>
          <p:nvPr>
            <p:ph type="body" sz="quarter" idx="15"/>
          </p:nvPr>
        </p:nvSpPr>
        <p:spPr>
          <a:xfrm>
            <a:off x="406005" y="865477"/>
            <a:ext cx="8367291" cy="3920707"/>
          </a:xfrm>
        </p:spPr>
        <p:txBody>
          <a:bodyPr numCol="1"/>
          <a:lstStyle/>
          <a:p>
            <a:endParaRPr lang="en-US" sz="1400" dirty="0"/>
          </a:p>
          <a:p>
            <a:endParaRPr lang="en-US" sz="1400" dirty="0" smtClean="0"/>
          </a:p>
          <a:p>
            <a:endParaRPr lang="en-US" sz="1000" dirty="0"/>
          </a:p>
          <a:p>
            <a:endParaRPr lang="en-US" sz="1000" dirty="0" smtClean="0"/>
          </a:p>
          <a:p>
            <a:endParaRPr lang="en-US" sz="1000" dirty="0"/>
          </a:p>
          <a:p>
            <a:endParaRPr lang="en-US" sz="1000" dirty="0" smtClean="0"/>
          </a:p>
          <a:p>
            <a:endParaRPr lang="en-US" sz="1000" dirty="0"/>
          </a:p>
          <a:p>
            <a:endParaRPr lang="en-US" sz="1000" dirty="0" smtClean="0"/>
          </a:p>
          <a:p>
            <a:endParaRPr lang="en-US" sz="1000" dirty="0"/>
          </a:p>
          <a:p>
            <a:endParaRPr lang="en-US" sz="1000" dirty="0" smtClean="0"/>
          </a:p>
          <a:p>
            <a:endParaRPr lang="en-US" sz="1400" dirty="0" smtClean="0"/>
          </a:p>
          <a:p>
            <a:pPr marL="228600" indent="-228600">
              <a:buFont typeface="+mj-lt"/>
              <a:buAutoNum type="arabicParenR"/>
            </a:pPr>
            <a:r>
              <a:rPr lang="en-US" sz="1400" b="1" dirty="0" smtClean="0"/>
              <a:t>2017 </a:t>
            </a:r>
            <a:r>
              <a:rPr lang="en-US" sz="1400" b="1" dirty="0"/>
              <a:t>– </a:t>
            </a:r>
            <a:r>
              <a:rPr lang="en-US" sz="1400" b="1" dirty="0" smtClean="0"/>
              <a:t>2018: </a:t>
            </a:r>
            <a:r>
              <a:rPr lang="en-US" sz="1400" dirty="0" smtClean="0"/>
              <a:t>For BBR 6, BRR 8, BRR 9, BRR 11, BRR 14 and BRR 17, predicted PDs (i.e., model PDs), as intended, are slightly higher than the observed default rates. Predicted PD for BRR19 is lower than the observed default rate. This is mainly due to the low number of borrowers in BRR19, i.e. only 50 observations. </a:t>
            </a:r>
            <a:endParaRPr lang="en-US" sz="1400" dirty="0"/>
          </a:p>
          <a:p>
            <a:pPr marL="228600" indent="-228600">
              <a:buFont typeface="+mj-lt"/>
              <a:buAutoNum type="arabicParenR"/>
            </a:pPr>
            <a:r>
              <a:rPr lang="en-US" sz="1400" b="1" dirty="0" smtClean="0"/>
              <a:t>2018 – 2019: </a:t>
            </a:r>
            <a:r>
              <a:rPr lang="en-US" sz="1400" dirty="0"/>
              <a:t>For </a:t>
            </a:r>
            <a:r>
              <a:rPr lang="en-US" sz="1400" dirty="0" smtClean="0"/>
              <a:t>BRR </a:t>
            </a:r>
            <a:r>
              <a:rPr lang="en-US" sz="1400" dirty="0"/>
              <a:t>8, BRR 9, BRR 11, BRR </a:t>
            </a:r>
            <a:r>
              <a:rPr lang="en-US" sz="1400" dirty="0" smtClean="0"/>
              <a:t>14, BRR 17 and BRR19, </a:t>
            </a:r>
            <a:r>
              <a:rPr lang="en-US" sz="1400" dirty="0"/>
              <a:t>predicted PDs (i.e., model PDs), as intended, are slightly higher than the observed default rates. Predicted PD for </a:t>
            </a:r>
            <a:r>
              <a:rPr lang="en-US" sz="1400" dirty="0" smtClean="0"/>
              <a:t>BRR 6 </a:t>
            </a:r>
            <a:r>
              <a:rPr lang="en-US" sz="1400" dirty="0"/>
              <a:t>is lower than the observed default rate. </a:t>
            </a:r>
            <a:r>
              <a:rPr lang="en-US" sz="1400" dirty="0" smtClean="0"/>
              <a:t>However, taking into account the observation period 2017-2018, predicted PDs are still considered to be acceptable. </a:t>
            </a:r>
          </a:p>
        </p:txBody>
      </p:sp>
      <p:graphicFrame>
        <p:nvGraphicFramePr>
          <p:cNvPr id="10" name="Table 9"/>
          <p:cNvGraphicFramePr>
            <a:graphicFrameLocks noGrp="1"/>
          </p:cNvGraphicFramePr>
          <p:nvPr>
            <p:extLst>
              <p:ext uri="{D42A27DB-BD31-4B8C-83A1-F6EECF244321}">
                <p14:modId xmlns:p14="http://schemas.microsoft.com/office/powerpoint/2010/main" val="653137406"/>
              </p:ext>
            </p:extLst>
          </p:nvPr>
        </p:nvGraphicFramePr>
        <p:xfrm>
          <a:off x="406006" y="874231"/>
          <a:ext cx="3974562" cy="2133080"/>
        </p:xfrm>
        <a:graphic>
          <a:graphicData uri="http://schemas.openxmlformats.org/drawingml/2006/table">
            <a:tbl>
              <a:tblPr firstRow="1" bandRow="1">
                <a:tableStyleId>{B301B821-A1FF-4177-AEE7-76D212191A09}</a:tableStyleId>
              </a:tblPr>
              <a:tblGrid>
                <a:gridCol w="662427">
                  <a:extLst>
                    <a:ext uri="{9D8B030D-6E8A-4147-A177-3AD203B41FA5}">
                      <a16:colId xmlns:a16="http://schemas.microsoft.com/office/drawing/2014/main" val="839161199"/>
                    </a:ext>
                  </a:extLst>
                </a:gridCol>
                <a:gridCol w="662427">
                  <a:extLst>
                    <a:ext uri="{9D8B030D-6E8A-4147-A177-3AD203B41FA5}">
                      <a16:colId xmlns:a16="http://schemas.microsoft.com/office/drawing/2014/main" val="4009095429"/>
                    </a:ext>
                  </a:extLst>
                </a:gridCol>
                <a:gridCol w="662427">
                  <a:extLst>
                    <a:ext uri="{9D8B030D-6E8A-4147-A177-3AD203B41FA5}">
                      <a16:colId xmlns:a16="http://schemas.microsoft.com/office/drawing/2014/main" val="4154685194"/>
                    </a:ext>
                  </a:extLst>
                </a:gridCol>
                <a:gridCol w="662427">
                  <a:extLst>
                    <a:ext uri="{9D8B030D-6E8A-4147-A177-3AD203B41FA5}">
                      <a16:colId xmlns:a16="http://schemas.microsoft.com/office/drawing/2014/main" val="3786229257"/>
                    </a:ext>
                  </a:extLst>
                </a:gridCol>
                <a:gridCol w="662427">
                  <a:extLst>
                    <a:ext uri="{9D8B030D-6E8A-4147-A177-3AD203B41FA5}">
                      <a16:colId xmlns:a16="http://schemas.microsoft.com/office/drawing/2014/main" val="1800505661"/>
                    </a:ext>
                  </a:extLst>
                </a:gridCol>
                <a:gridCol w="662427">
                  <a:extLst>
                    <a:ext uri="{9D8B030D-6E8A-4147-A177-3AD203B41FA5}">
                      <a16:colId xmlns:a16="http://schemas.microsoft.com/office/drawing/2014/main" val="1882885175"/>
                    </a:ext>
                  </a:extLst>
                </a:gridCol>
              </a:tblGrid>
              <a:tr h="294219">
                <a:tc gridSpan="6">
                  <a:txBody>
                    <a:bodyPr/>
                    <a:lstStyle/>
                    <a:p>
                      <a:pPr algn="ctr" fontAlgn="ctr"/>
                      <a:r>
                        <a:rPr lang="en-CA" sz="1100" u="none" strike="noStrike" dirty="0">
                          <a:effectLst/>
                        </a:rPr>
                        <a:t>Observation Period: 2017 - 2018</a:t>
                      </a:r>
                      <a:endParaRPr lang="en-CA" sz="11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3195261453"/>
                  </a:ext>
                </a:extLst>
              </a:tr>
              <a:tr h="551659">
                <a:tc>
                  <a:txBody>
                    <a:bodyPr/>
                    <a:lstStyle/>
                    <a:p>
                      <a:pPr algn="ctr" fontAlgn="ctr"/>
                      <a:r>
                        <a:rPr lang="en-CA" sz="1100" b="1" u="none" strike="noStrike" dirty="0">
                          <a:solidFill>
                            <a:srgbClr val="000000"/>
                          </a:solidFill>
                          <a:effectLst/>
                        </a:rPr>
                        <a:t>BRR</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Number of Obligors</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Expected Number of Defaults</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Observed Number of Defaults</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PD</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Observed Default Rate</a:t>
                      </a:r>
                      <a:endParaRPr lang="en-CA" sz="11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68071980"/>
                  </a:ext>
                </a:extLst>
              </a:tr>
              <a:tr h="183886">
                <a:tc>
                  <a:txBody>
                    <a:bodyPr/>
                    <a:lstStyle/>
                    <a:p>
                      <a:pPr algn="ctr" fontAlgn="ctr"/>
                      <a:r>
                        <a:rPr lang="en-CA" sz="1100" u="none" strike="noStrike">
                          <a:solidFill>
                            <a:srgbClr val="000000"/>
                          </a:solidFill>
                          <a:effectLst/>
                        </a:rPr>
                        <a:t>6 (5L)</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88</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0.2464</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0</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0.28%</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0.00%</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1924956"/>
                  </a:ext>
                </a:extLst>
              </a:tr>
              <a:tr h="183886">
                <a:tc>
                  <a:txBody>
                    <a:bodyPr/>
                    <a:lstStyle/>
                    <a:p>
                      <a:pPr algn="ctr" fontAlgn="ctr"/>
                      <a:r>
                        <a:rPr lang="en-CA" sz="1100" u="none" strike="noStrike">
                          <a:solidFill>
                            <a:srgbClr val="000000"/>
                          </a:solidFill>
                          <a:effectLst/>
                        </a:rPr>
                        <a:t>8 (6M)</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864</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5.616</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4</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0.65%</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0.46%</a:t>
                      </a:r>
                      <a:endParaRPr lang="en-CA"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32383335"/>
                  </a:ext>
                </a:extLst>
              </a:tr>
              <a:tr h="183886">
                <a:tc>
                  <a:txBody>
                    <a:bodyPr/>
                    <a:lstStyle/>
                    <a:p>
                      <a:pPr algn="ctr" fontAlgn="ctr"/>
                      <a:r>
                        <a:rPr lang="en-CA" sz="1100" u="none" strike="noStrike">
                          <a:solidFill>
                            <a:srgbClr val="000000"/>
                          </a:solidFill>
                          <a:effectLst/>
                        </a:rPr>
                        <a:t>9 (6L)</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1164</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11.64</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10</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1.00%</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0.86%</a:t>
                      </a:r>
                      <a:endParaRPr lang="en-CA"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49387669"/>
                  </a:ext>
                </a:extLst>
              </a:tr>
              <a:tr h="183886">
                <a:tc>
                  <a:txBody>
                    <a:bodyPr/>
                    <a:lstStyle/>
                    <a:p>
                      <a:pPr algn="ctr" fontAlgn="ctr"/>
                      <a:r>
                        <a:rPr lang="en-CA" sz="1100" u="none" strike="noStrike">
                          <a:solidFill>
                            <a:srgbClr val="000000"/>
                          </a:solidFill>
                          <a:effectLst/>
                        </a:rPr>
                        <a:t>11 (7M)</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646</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12.92</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8</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2.00%</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1.24%</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72851618"/>
                  </a:ext>
                </a:extLst>
              </a:tr>
              <a:tr h="183886">
                <a:tc>
                  <a:txBody>
                    <a:bodyPr/>
                    <a:lstStyle/>
                    <a:p>
                      <a:pPr algn="ctr" fontAlgn="ctr"/>
                      <a:r>
                        <a:rPr lang="en-CA" sz="1100" u="none" strike="noStrike">
                          <a:solidFill>
                            <a:srgbClr val="000000"/>
                          </a:solidFill>
                          <a:effectLst/>
                        </a:rPr>
                        <a:t>14 (8M)</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428</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25.68</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22</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6.00%</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5.14%</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65185851"/>
                  </a:ext>
                </a:extLst>
              </a:tr>
              <a:tr h="183886">
                <a:tc>
                  <a:txBody>
                    <a:bodyPr/>
                    <a:lstStyle/>
                    <a:p>
                      <a:pPr algn="ctr" fontAlgn="ctr"/>
                      <a:r>
                        <a:rPr lang="en-CA" sz="1100" u="none" strike="noStrike">
                          <a:solidFill>
                            <a:srgbClr val="000000"/>
                          </a:solidFill>
                          <a:effectLst/>
                        </a:rPr>
                        <a:t>17 (9M)</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151</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22.65</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17</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15.00%</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11.26%</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16968629"/>
                  </a:ext>
                </a:extLst>
              </a:tr>
              <a:tr h="183886">
                <a:tc>
                  <a:txBody>
                    <a:bodyPr/>
                    <a:lstStyle/>
                    <a:p>
                      <a:pPr algn="ctr" fontAlgn="ctr"/>
                      <a:r>
                        <a:rPr lang="en-CA" sz="1100" u="none" strike="noStrike" dirty="0">
                          <a:solidFill>
                            <a:srgbClr val="000000"/>
                          </a:solidFill>
                          <a:effectLst/>
                        </a:rPr>
                        <a:t>19 (10H)</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50</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15</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20</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30.00%</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40.00%</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51321915"/>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234667794"/>
              </p:ext>
            </p:extLst>
          </p:nvPr>
        </p:nvGraphicFramePr>
        <p:xfrm>
          <a:off x="4761471" y="865477"/>
          <a:ext cx="3974562" cy="2133080"/>
        </p:xfrm>
        <a:graphic>
          <a:graphicData uri="http://schemas.openxmlformats.org/drawingml/2006/table">
            <a:tbl>
              <a:tblPr firstRow="1" bandRow="1">
                <a:tableStyleId>{B301B821-A1FF-4177-AEE7-76D212191A09}</a:tableStyleId>
              </a:tblPr>
              <a:tblGrid>
                <a:gridCol w="662427">
                  <a:extLst>
                    <a:ext uri="{9D8B030D-6E8A-4147-A177-3AD203B41FA5}">
                      <a16:colId xmlns:a16="http://schemas.microsoft.com/office/drawing/2014/main" val="3531414053"/>
                    </a:ext>
                  </a:extLst>
                </a:gridCol>
                <a:gridCol w="662427">
                  <a:extLst>
                    <a:ext uri="{9D8B030D-6E8A-4147-A177-3AD203B41FA5}">
                      <a16:colId xmlns:a16="http://schemas.microsoft.com/office/drawing/2014/main" val="3710890979"/>
                    </a:ext>
                  </a:extLst>
                </a:gridCol>
                <a:gridCol w="662427">
                  <a:extLst>
                    <a:ext uri="{9D8B030D-6E8A-4147-A177-3AD203B41FA5}">
                      <a16:colId xmlns:a16="http://schemas.microsoft.com/office/drawing/2014/main" val="506842641"/>
                    </a:ext>
                  </a:extLst>
                </a:gridCol>
                <a:gridCol w="662427">
                  <a:extLst>
                    <a:ext uri="{9D8B030D-6E8A-4147-A177-3AD203B41FA5}">
                      <a16:colId xmlns:a16="http://schemas.microsoft.com/office/drawing/2014/main" val="3288558782"/>
                    </a:ext>
                  </a:extLst>
                </a:gridCol>
                <a:gridCol w="662427">
                  <a:extLst>
                    <a:ext uri="{9D8B030D-6E8A-4147-A177-3AD203B41FA5}">
                      <a16:colId xmlns:a16="http://schemas.microsoft.com/office/drawing/2014/main" val="2980040611"/>
                    </a:ext>
                  </a:extLst>
                </a:gridCol>
                <a:gridCol w="662427">
                  <a:extLst>
                    <a:ext uri="{9D8B030D-6E8A-4147-A177-3AD203B41FA5}">
                      <a16:colId xmlns:a16="http://schemas.microsoft.com/office/drawing/2014/main" val="2490030578"/>
                    </a:ext>
                  </a:extLst>
                </a:gridCol>
              </a:tblGrid>
              <a:tr h="294219">
                <a:tc gridSpan="6">
                  <a:txBody>
                    <a:bodyPr/>
                    <a:lstStyle/>
                    <a:p>
                      <a:pPr algn="ctr" fontAlgn="ctr"/>
                      <a:r>
                        <a:rPr lang="en-CA" sz="1100" u="none" strike="noStrike">
                          <a:effectLst/>
                        </a:rPr>
                        <a:t>Observation Period: 2018 - 2019</a:t>
                      </a:r>
                      <a:endParaRPr lang="en-CA" sz="1100" b="1"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extLst>
                  <a:ext uri="{0D108BD9-81ED-4DB2-BD59-A6C34878D82A}">
                    <a16:rowId xmlns:a16="http://schemas.microsoft.com/office/drawing/2014/main" val="1980411550"/>
                  </a:ext>
                </a:extLst>
              </a:tr>
              <a:tr h="551659">
                <a:tc>
                  <a:txBody>
                    <a:bodyPr/>
                    <a:lstStyle/>
                    <a:p>
                      <a:pPr algn="ctr" fontAlgn="ctr"/>
                      <a:r>
                        <a:rPr lang="en-CA" sz="1100" b="1" u="none" strike="noStrike" dirty="0">
                          <a:solidFill>
                            <a:srgbClr val="000000"/>
                          </a:solidFill>
                          <a:effectLst/>
                        </a:rPr>
                        <a:t>BRR</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Number of Obligors</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Expected Number of Defaults</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Observed Number of Defaults</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PD</a:t>
                      </a:r>
                      <a:endParaRPr lang="en-CA"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b="1" u="none" strike="noStrike" dirty="0">
                          <a:solidFill>
                            <a:srgbClr val="000000"/>
                          </a:solidFill>
                          <a:effectLst/>
                        </a:rPr>
                        <a:t>Observed Default Rate</a:t>
                      </a:r>
                      <a:endParaRPr lang="en-CA" sz="11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15293457"/>
                  </a:ext>
                </a:extLst>
              </a:tr>
              <a:tr h="183886">
                <a:tc>
                  <a:txBody>
                    <a:bodyPr/>
                    <a:lstStyle/>
                    <a:p>
                      <a:pPr algn="ctr" fontAlgn="ctr"/>
                      <a:r>
                        <a:rPr lang="en-CA" sz="1100" u="none" strike="noStrike" dirty="0">
                          <a:solidFill>
                            <a:srgbClr val="000000"/>
                          </a:solidFill>
                          <a:effectLst/>
                        </a:rPr>
                        <a:t>6 (5L)</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327</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0.9156</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2</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0.28%</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0.61%</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66228280"/>
                  </a:ext>
                </a:extLst>
              </a:tr>
              <a:tr h="183886">
                <a:tc>
                  <a:txBody>
                    <a:bodyPr/>
                    <a:lstStyle/>
                    <a:p>
                      <a:pPr algn="ctr" fontAlgn="ctr"/>
                      <a:r>
                        <a:rPr lang="en-CA" sz="1100" u="none" strike="noStrike">
                          <a:solidFill>
                            <a:srgbClr val="000000"/>
                          </a:solidFill>
                          <a:effectLst/>
                        </a:rPr>
                        <a:t>8 (6M)</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3220</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20.93</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7</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0.65%</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0.22%</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6855399"/>
                  </a:ext>
                </a:extLst>
              </a:tr>
              <a:tr h="183886">
                <a:tc>
                  <a:txBody>
                    <a:bodyPr/>
                    <a:lstStyle/>
                    <a:p>
                      <a:pPr algn="ctr" fontAlgn="ctr"/>
                      <a:r>
                        <a:rPr lang="en-CA" sz="1100" u="none" strike="noStrike">
                          <a:solidFill>
                            <a:srgbClr val="000000"/>
                          </a:solidFill>
                          <a:effectLst/>
                        </a:rPr>
                        <a:t>9 (6L)</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3982</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39.82</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24</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1.00%</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0.60%</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01910173"/>
                  </a:ext>
                </a:extLst>
              </a:tr>
              <a:tr h="183886">
                <a:tc>
                  <a:txBody>
                    <a:bodyPr/>
                    <a:lstStyle/>
                    <a:p>
                      <a:pPr algn="ctr" fontAlgn="ctr"/>
                      <a:r>
                        <a:rPr lang="en-CA" sz="1100" u="none" strike="noStrike">
                          <a:solidFill>
                            <a:srgbClr val="000000"/>
                          </a:solidFill>
                          <a:effectLst/>
                        </a:rPr>
                        <a:t>11 (7M)</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1952</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39.04</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29</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2.00%</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1.49%</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01369710"/>
                  </a:ext>
                </a:extLst>
              </a:tr>
              <a:tr h="183886">
                <a:tc>
                  <a:txBody>
                    <a:bodyPr/>
                    <a:lstStyle/>
                    <a:p>
                      <a:pPr algn="ctr" fontAlgn="ctr"/>
                      <a:r>
                        <a:rPr lang="en-CA" sz="1100" u="none" strike="noStrike">
                          <a:solidFill>
                            <a:srgbClr val="000000"/>
                          </a:solidFill>
                          <a:effectLst/>
                        </a:rPr>
                        <a:t>14 (8M)</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1395</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83.7</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62</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6.00%</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4.44%</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39226100"/>
                  </a:ext>
                </a:extLst>
              </a:tr>
              <a:tr h="183886">
                <a:tc>
                  <a:txBody>
                    <a:bodyPr/>
                    <a:lstStyle/>
                    <a:p>
                      <a:pPr algn="ctr" fontAlgn="ctr"/>
                      <a:r>
                        <a:rPr lang="en-CA" sz="1100" u="none" strike="noStrike">
                          <a:solidFill>
                            <a:srgbClr val="000000"/>
                          </a:solidFill>
                          <a:effectLst/>
                        </a:rPr>
                        <a:t>17 (9M)</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554</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83.1</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51</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15.00%</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9.21%</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62121081"/>
                  </a:ext>
                </a:extLst>
              </a:tr>
              <a:tr h="183886">
                <a:tc>
                  <a:txBody>
                    <a:bodyPr/>
                    <a:lstStyle/>
                    <a:p>
                      <a:pPr algn="ctr" fontAlgn="ctr"/>
                      <a:r>
                        <a:rPr lang="en-CA" sz="1100" u="none" strike="noStrike">
                          <a:solidFill>
                            <a:srgbClr val="000000"/>
                          </a:solidFill>
                          <a:effectLst/>
                        </a:rPr>
                        <a:t>19 (10H)</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186</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a:solidFill>
                            <a:srgbClr val="000000"/>
                          </a:solidFill>
                          <a:effectLst/>
                        </a:rPr>
                        <a:t>55.8</a:t>
                      </a:r>
                      <a:endParaRPr lang="en-CA"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53</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30.00%</a:t>
                      </a:r>
                      <a:endParaRPr lang="en-CA"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CA" sz="1100" u="none" strike="noStrike" dirty="0">
                          <a:solidFill>
                            <a:srgbClr val="000000"/>
                          </a:solidFill>
                          <a:effectLst/>
                        </a:rPr>
                        <a:t>28.49%</a:t>
                      </a:r>
                      <a:endParaRPr lang="en-CA"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0391797"/>
                  </a:ext>
                </a:extLst>
              </a:tr>
            </a:tbl>
          </a:graphicData>
        </a:graphic>
      </p:graphicFrame>
    </p:spTree>
    <p:extLst>
      <p:ext uri="{BB962C8B-B14F-4D97-AF65-F5344CB8AC3E}">
        <p14:creationId xmlns:p14="http://schemas.microsoft.com/office/powerpoint/2010/main" val="216552647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005" y="295382"/>
            <a:ext cx="8280597" cy="397483"/>
          </a:xfrm>
        </p:spPr>
        <p:txBody>
          <a:bodyPr/>
          <a:lstStyle/>
          <a:p>
            <a:r>
              <a:rPr lang="en-US" sz="2600" dirty="0" smtClean="0"/>
              <a:t>Model Performance</a:t>
            </a:r>
            <a:endParaRPr lang="en-CA" sz="2600" dirty="0"/>
          </a:p>
        </p:txBody>
      </p:sp>
      <p:sp>
        <p:nvSpPr>
          <p:cNvPr id="7" name="Text Placeholder 3"/>
          <p:cNvSpPr>
            <a:spLocks noGrp="1"/>
          </p:cNvSpPr>
          <p:nvPr>
            <p:ph type="body" sz="quarter" idx="15"/>
          </p:nvPr>
        </p:nvSpPr>
        <p:spPr>
          <a:xfrm>
            <a:off x="292359" y="873945"/>
            <a:ext cx="8590384" cy="3816244"/>
          </a:xfrm>
        </p:spPr>
        <p:txBody>
          <a:bodyPr numCol="1"/>
          <a:lstStyle/>
          <a:p>
            <a:r>
              <a:rPr lang="en-US" sz="1400" dirty="0" smtClean="0">
                <a:solidFill>
                  <a:schemeClr val="tx2"/>
                </a:solidFill>
              </a:rPr>
              <a:t>On three different samples, over multiple observation periods, the model predicts level of risk with 83%-84% accuracy.</a:t>
            </a:r>
            <a:endParaRPr lang="en-US" sz="1400" dirty="0">
              <a:solidFill>
                <a:schemeClr val="tx2"/>
              </a:solidFill>
            </a:endParaRPr>
          </a:p>
          <a:p>
            <a:endParaRPr lang="en-US" sz="1400" dirty="0" smtClean="0"/>
          </a:p>
          <a:p>
            <a:endParaRPr lang="en-US" sz="1000" dirty="0"/>
          </a:p>
          <a:p>
            <a:endParaRPr lang="en-US" sz="1000" dirty="0" smtClean="0"/>
          </a:p>
        </p:txBody>
      </p:sp>
      <p:graphicFrame>
        <p:nvGraphicFramePr>
          <p:cNvPr id="4" name="Table 3"/>
          <p:cNvGraphicFramePr>
            <a:graphicFrameLocks noGrp="1"/>
          </p:cNvGraphicFramePr>
          <p:nvPr/>
        </p:nvGraphicFramePr>
        <p:xfrm>
          <a:off x="1074925" y="2072908"/>
          <a:ext cx="7029450" cy="1022985"/>
        </p:xfrm>
        <a:graphic>
          <a:graphicData uri="http://schemas.openxmlformats.org/drawingml/2006/table">
            <a:tbl>
              <a:tblPr firstRow="1" firstCol="1" bandRow="1">
                <a:tableStyleId>{5C22544A-7EE6-4342-B048-85BDC9FD1C3A}</a:tableStyleId>
              </a:tblPr>
              <a:tblGrid>
                <a:gridCol w="1565910">
                  <a:extLst>
                    <a:ext uri="{9D8B030D-6E8A-4147-A177-3AD203B41FA5}">
                      <a16:colId xmlns:a16="http://schemas.microsoft.com/office/drawing/2014/main" val="2540594203"/>
                    </a:ext>
                  </a:extLst>
                </a:gridCol>
                <a:gridCol w="1707515">
                  <a:extLst>
                    <a:ext uri="{9D8B030D-6E8A-4147-A177-3AD203B41FA5}">
                      <a16:colId xmlns:a16="http://schemas.microsoft.com/office/drawing/2014/main" val="2609387932"/>
                    </a:ext>
                  </a:extLst>
                </a:gridCol>
                <a:gridCol w="1707515">
                  <a:extLst>
                    <a:ext uri="{9D8B030D-6E8A-4147-A177-3AD203B41FA5}">
                      <a16:colId xmlns:a16="http://schemas.microsoft.com/office/drawing/2014/main" val="3067697338"/>
                    </a:ext>
                  </a:extLst>
                </a:gridCol>
                <a:gridCol w="2048510">
                  <a:extLst>
                    <a:ext uri="{9D8B030D-6E8A-4147-A177-3AD203B41FA5}">
                      <a16:colId xmlns:a16="http://schemas.microsoft.com/office/drawing/2014/main" val="1476154316"/>
                    </a:ext>
                  </a:extLst>
                </a:gridCol>
              </a:tblGrid>
              <a:tr h="340995">
                <a:tc rowSpan="2">
                  <a:txBody>
                    <a:bodyPr/>
                    <a:lstStyle/>
                    <a:p>
                      <a:pPr algn="ctr">
                        <a:spcAft>
                          <a:spcPts val="0"/>
                        </a:spcAft>
                      </a:pPr>
                      <a:r>
                        <a:rPr lang="en-CA" sz="1100">
                          <a:effectLst/>
                        </a:rPr>
                        <a:t>Performance Measure</a:t>
                      </a:r>
                      <a:endParaRPr lang="en-CA" sz="1100">
                        <a:effectLst/>
                        <a:latin typeface="Calibri" panose="020F0502020204030204" pitchFamily="34" charset="0"/>
                        <a:ea typeface="Calibri" panose="020F0502020204030204" pitchFamily="34" charset="0"/>
                      </a:endParaRPr>
                    </a:p>
                  </a:txBody>
                  <a:tcPr marL="68580" marR="68580" marT="0" marB="0" anchor="ctr"/>
                </a:tc>
                <a:tc gridSpan="2">
                  <a:txBody>
                    <a:bodyPr/>
                    <a:lstStyle/>
                    <a:p>
                      <a:pPr algn="ctr">
                        <a:spcAft>
                          <a:spcPts val="0"/>
                        </a:spcAft>
                      </a:pPr>
                      <a:r>
                        <a:rPr lang="en-CA" sz="1100">
                          <a:effectLst/>
                        </a:rPr>
                        <a:t>Modelling Sample: 2011 - 2017</a:t>
                      </a:r>
                      <a:endParaRPr lang="en-CA" sz="1100">
                        <a:effectLst/>
                        <a:latin typeface="Calibri" panose="020F0502020204030204" pitchFamily="34" charset="0"/>
                        <a:ea typeface="Calibri" panose="020F0502020204030204" pitchFamily="34" charset="0"/>
                      </a:endParaRPr>
                    </a:p>
                  </a:txBody>
                  <a:tcPr marL="68580" marR="68580" marT="0" marB="0" anchor="ctr"/>
                </a:tc>
                <a:tc hMerge="1">
                  <a:txBody>
                    <a:bodyPr/>
                    <a:lstStyle/>
                    <a:p>
                      <a:endParaRPr lang="en-CA"/>
                    </a:p>
                  </a:txBody>
                  <a:tcPr/>
                </a:tc>
                <a:tc rowSpan="2">
                  <a:txBody>
                    <a:bodyPr/>
                    <a:lstStyle/>
                    <a:p>
                      <a:pPr algn="ctr">
                        <a:spcAft>
                          <a:spcPts val="0"/>
                        </a:spcAft>
                      </a:pPr>
                      <a:r>
                        <a:rPr lang="en-CA" sz="1100">
                          <a:effectLst/>
                        </a:rPr>
                        <a:t>Backtesting Sample: 2017 - 2018</a:t>
                      </a:r>
                      <a:endParaRPr lang="en-CA" sz="11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623922664"/>
                  </a:ext>
                </a:extLst>
              </a:tr>
              <a:tr h="340995">
                <a:tc vMerge="1">
                  <a:txBody>
                    <a:bodyPr/>
                    <a:lstStyle/>
                    <a:p>
                      <a:endParaRPr lang="en-CA"/>
                    </a:p>
                  </a:txBody>
                  <a:tcPr/>
                </a:tc>
                <a:tc>
                  <a:txBody>
                    <a:bodyPr/>
                    <a:lstStyle/>
                    <a:p>
                      <a:pPr algn="ctr">
                        <a:spcAft>
                          <a:spcPts val="0"/>
                        </a:spcAft>
                      </a:pPr>
                      <a:r>
                        <a:rPr lang="en-CA" sz="1100" dirty="0">
                          <a:solidFill>
                            <a:schemeClr val="tx2"/>
                          </a:solidFill>
                          <a:effectLst/>
                        </a:rPr>
                        <a:t>Training Sample (70%)</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tc>
                  <a:txBody>
                    <a:bodyPr/>
                    <a:lstStyle/>
                    <a:p>
                      <a:pPr algn="ctr">
                        <a:spcAft>
                          <a:spcPts val="0"/>
                        </a:spcAft>
                      </a:pPr>
                      <a:r>
                        <a:rPr lang="en-CA" sz="1100">
                          <a:solidFill>
                            <a:schemeClr val="tx2"/>
                          </a:solidFill>
                          <a:effectLst/>
                        </a:rPr>
                        <a:t>Validation Sample (30%)</a:t>
                      </a:r>
                      <a:endParaRPr lang="en-CA" sz="1100">
                        <a:solidFill>
                          <a:schemeClr val="tx2"/>
                        </a:solidFill>
                        <a:effectLst/>
                        <a:latin typeface="Calibri" panose="020F0502020204030204" pitchFamily="34" charset="0"/>
                        <a:ea typeface="Calibri" panose="020F0502020204030204" pitchFamily="34" charset="0"/>
                      </a:endParaRPr>
                    </a:p>
                  </a:txBody>
                  <a:tcPr marL="68580" marR="68580" marT="0" marB="0" anchor="ctr"/>
                </a:tc>
                <a:tc vMerge="1">
                  <a:txBody>
                    <a:bodyPr/>
                    <a:lstStyle/>
                    <a:p>
                      <a:endParaRPr lang="en-CA"/>
                    </a:p>
                  </a:txBody>
                  <a:tcPr/>
                </a:tc>
                <a:extLst>
                  <a:ext uri="{0D108BD9-81ED-4DB2-BD59-A6C34878D82A}">
                    <a16:rowId xmlns:a16="http://schemas.microsoft.com/office/drawing/2014/main" val="1096419376"/>
                  </a:ext>
                </a:extLst>
              </a:tr>
              <a:tr h="340995">
                <a:tc>
                  <a:txBody>
                    <a:bodyPr/>
                    <a:lstStyle/>
                    <a:p>
                      <a:pPr algn="ctr">
                        <a:spcAft>
                          <a:spcPts val="0"/>
                        </a:spcAft>
                      </a:pPr>
                      <a:r>
                        <a:rPr lang="en-CA" sz="1100" dirty="0" smtClean="0">
                          <a:effectLst/>
                        </a:rPr>
                        <a:t>Rank-Ordering Accuracy</a:t>
                      </a:r>
                      <a:endParaRPr lang="en-CA" sz="1100" dirty="0">
                        <a:effectLst/>
                        <a:latin typeface="Calibri" panose="020F0502020204030204" pitchFamily="34" charset="0"/>
                        <a:ea typeface="Calibri" panose="020F0502020204030204" pitchFamily="34" charset="0"/>
                      </a:endParaRPr>
                    </a:p>
                  </a:txBody>
                  <a:tcPr marL="68580" marR="68580" marT="0" marB="0" anchor="ctr"/>
                </a:tc>
                <a:tc>
                  <a:txBody>
                    <a:bodyPr/>
                    <a:lstStyle/>
                    <a:p>
                      <a:pPr algn="ctr">
                        <a:spcAft>
                          <a:spcPts val="0"/>
                        </a:spcAft>
                      </a:pPr>
                      <a:r>
                        <a:rPr lang="en-CA" sz="1100" dirty="0">
                          <a:solidFill>
                            <a:schemeClr val="tx2"/>
                          </a:solidFill>
                          <a:effectLst/>
                        </a:rPr>
                        <a:t>83.75%</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tc>
                  <a:txBody>
                    <a:bodyPr/>
                    <a:lstStyle/>
                    <a:p>
                      <a:pPr algn="ctr">
                        <a:spcAft>
                          <a:spcPts val="0"/>
                        </a:spcAft>
                      </a:pPr>
                      <a:r>
                        <a:rPr lang="en-CA" sz="1100" dirty="0">
                          <a:solidFill>
                            <a:schemeClr val="tx2"/>
                          </a:solidFill>
                          <a:effectLst/>
                        </a:rPr>
                        <a:t>83.10%</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tc>
                  <a:txBody>
                    <a:bodyPr/>
                    <a:lstStyle/>
                    <a:p>
                      <a:pPr algn="ctr">
                        <a:spcAft>
                          <a:spcPts val="0"/>
                        </a:spcAft>
                      </a:pPr>
                      <a:r>
                        <a:rPr lang="en-CA" sz="1100" dirty="0">
                          <a:solidFill>
                            <a:schemeClr val="tx2"/>
                          </a:solidFill>
                          <a:effectLst/>
                        </a:rPr>
                        <a:t>84.58%</a:t>
                      </a:r>
                      <a:endParaRPr lang="en-CA" sz="1100" dirty="0">
                        <a:solidFill>
                          <a:schemeClr val="tx2"/>
                        </a:solidFill>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2874250756"/>
                  </a:ext>
                </a:extLst>
              </a:tr>
            </a:tbl>
          </a:graphicData>
        </a:graphic>
      </p:graphicFrame>
    </p:spTree>
    <p:extLst>
      <p:ext uri="{BB962C8B-B14F-4D97-AF65-F5344CB8AC3E}">
        <p14:creationId xmlns:p14="http://schemas.microsoft.com/office/powerpoint/2010/main" val="40491330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smtClean="0"/>
              <a:t>Beacon Score</a:t>
            </a:r>
          </a:p>
          <a:p>
            <a:r>
              <a:rPr lang="en-US" dirty="0" smtClean="0"/>
              <a:t>Maximum Delinquent Days in Last 12 Months</a:t>
            </a:r>
          </a:p>
          <a:p>
            <a:r>
              <a:rPr lang="en-US" dirty="0" smtClean="0"/>
              <a:t>NAICS2</a:t>
            </a:r>
          </a:p>
          <a:p>
            <a:r>
              <a:rPr lang="en-US" dirty="0" smtClean="0"/>
              <a:t>Number of Inquiries in Last 6 Months</a:t>
            </a:r>
          </a:p>
          <a:p>
            <a:r>
              <a:rPr lang="en-US" dirty="0" smtClean="0"/>
              <a:t>Age of Oldest Trade</a:t>
            </a:r>
          </a:p>
          <a:p>
            <a:r>
              <a:rPr lang="en-US" dirty="0" smtClean="0"/>
              <a:t>Current Delinquent Amount</a:t>
            </a:r>
          </a:p>
          <a:p>
            <a:endParaRPr lang="en-US" dirty="0" smtClean="0"/>
          </a:p>
          <a:p>
            <a:endParaRPr lang="en-US" dirty="0" smtClean="0"/>
          </a:p>
          <a:p>
            <a:endParaRPr lang="en-CA" dirty="0"/>
          </a:p>
        </p:txBody>
      </p:sp>
      <p:sp>
        <p:nvSpPr>
          <p:cNvPr id="3" name="Text Placeholder 2"/>
          <p:cNvSpPr>
            <a:spLocks noGrp="1"/>
          </p:cNvSpPr>
          <p:nvPr>
            <p:ph type="body" sz="quarter" idx="12"/>
          </p:nvPr>
        </p:nvSpPr>
        <p:spPr/>
        <p:txBody>
          <a:bodyPr/>
          <a:lstStyle/>
          <a:p>
            <a:r>
              <a:rPr lang="en-US" dirty="0" smtClean="0"/>
              <a:t>Analysis of Risk Drivers</a:t>
            </a:r>
            <a:endParaRPr lang="en-CA" dirty="0"/>
          </a:p>
        </p:txBody>
      </p:sp>
      <p:sp>
        <p:nvSpPr>
          <p:cNvPr id="4" name="Text Placeholder 3"/>
          <p:cNvSpPr>
            <a:spLocks noGrp="1"/>
          </p:cNvSpPr>
          <p:nvPr>
            <p:ph type="body" sz="quarter" idx="14"/>
          </p:nvPr>
        </p:nvSpPr>
        <p:spPr/>
        <p:txBody>
          <a:bodyPr/>
          <a:lstStyle/>
          <a:p>
            <a:endParaRPr lang="en-CA"/>
          </a:p>
        </p:txBody>
      </p:sp>
    </p:spTree>
    <p:extLst>
      <p:ext uri="{BB962C8B-B14F-4D97-AF65-F5344CB8AC3E}">
        <p14:creationId xmlns:p14="http://schemas.microsoft.com/office/powerpoint/2010/main" val="3564166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400" dirty="0"/>
              <a:t>Distribution by Beacon Score: Current Portfolio vs. Historical Data</a:t>
            </a:r>
          </a:p>
          <a:p>
            <a:endParaRPr lang="en-CA" dirty="0"/>
          </a:p>
        </p:txBody>
      </p:sp>
      <p:sp>
        <p:nvSpPr>
          <p:cNvPr id="4" name="Text Placeholder 3"/>
          <p:cNvSpPr>
            <a:spLocks noGrp="1"/>
          </p:cNvSpPr>
          <p:nvPr>
            <p:ph type="body" sz="quarter" idx="15"/>
          </p:nvPr>
        </p:nvSpPr>
        <p:spPr>
          <a:xfrm>
            <a:off x="406400" y="1098522"/>
            <a:ext cx="8280400" cy="3666518"/>
          </a:xfrm>
        </p:spPr>
        <p:txBody>
          <a:bodyPr/>
          <a:lstStyle/>
          <a:p>
            <a:pPr marL="342900" indent="-342900" algn="just">
              <a:buAutoNum type="arabicParenR"/>
            </a:pPr>
            <a:endParaRPr lang="en-US" sz="1050" b="1" dirty="0" smtClean="0"/>
          </a:p>
          <a:p>
            <a:pPr marL="342900" indent="-342900" algn="just">
              <a:buAutoNum type="arabicParenR"/>
            </a:pPr>
            <a:endParaRPr lang="en-US" sz="1050" b="1" dirty="0"/>
          </a:p>
          <a:p>
            <a:pPr marL="342900" indent="-342900" algn="just">
              <a:buAutoNum type="arabicParenR"/>
            </a:pPr>
            <a:endParaRPr lang="en-US" sz="1050" b="1" dirty="0" smtClean="0"/>
          </a:p>
          <a:p>
            <a:pPr marL="342900" indent="-342900" algn="just">
              <a:buAutoNum type="arabicParenR"/>
            </a:pPr>
            <a:endParaRPr lang="en-US" sz="1050" b="1" dirty="0"/>
          </a:p>
          <a:p>
            <a:pPr marL="342900" indent="-342900" algn="just">
              <a:buAutoNum type="arabicParenR"/>
            </a:pPr>
            <a:endParaRPr lang="en-US" sz="1050" b="1" dirty="0" smtClean="0"/>
          </a:p>
          <a:p>
            <a:pPr marL="342900" indent="-342900" algn="just">
              <a:buAutoNum type="arabicParenR"/>
            </a:pPr>
            <a:endParaRPr lang="en-US" sz="1050" b="1" dirty="0"/>
          </a:p>
          <a:p>
            <a:pPr marL="342900" indent="-342900" algn="just">
              <a:buAutoNum type="arabicParenR"/>
            </a:pPr>
            <a:endParaRPr lang="en-US" sz="1050" b="1" dirty="0" smtClean="0"/>
          </a:p>
          <a:p>
            <a:pPr algn="just"/>
            <a:endParaRPr lang="en-US" sz="1050" b="1" dirty="0" smtClean="0"/>
          </a:p>
          <a:p>
            <a:pPr marL="342900" indent="-342900" algn="just">
              <a:buAutoNum type="arabicParenR"/>
            </a:pPr>
            <a:endParaRPr lang="en-US" sz="1050" b="1" dirty="0"/>
          </a:p>
          <a:p>
            <a:pPr marL="342900" indent="-342900" algn="just">
              <a:buAutoNum type="arabicParenR"/>
            </a:pPr>
            <a:endParaRPr lang="en-US" sz="1050" b="1" dirty="0" smtClean="0"/>
          </a:p>
          <a:p>
            <a:pPr marL="342900" indent="-342900" algn="just">
              <a:buAutoNum type="arabicParenR"/>
            </a:pPr>
            <a:endParaRPr lang="en-US" sz="1050" b="1" dirty="0" smtClean="0"/>
          </a:p>
          <a:p>
            <a:pPr marL="342900" indent="-342900" algn="just">
              <a:buAutoNum type="arabicParenR"/>
            </a:pPr>
            <a:endParaRPr lang="en-US" sz="1050" b="1" dirty="0" smtClean="0"/>
          </a:p>
          <a:p>
            <a:pPr marL="342900" indent="-342900" algn="just">
              <a:buAutoNum type="arabicParenR"/>
            </a:pPr>
            <a:endParaRPr lang="en-US" sz="1050" b="1" dirty="0"/>
          </a:p>
          <a:p>
            <a:pPr algn="just"/>
            <a:endParaRPr lang="en-US" sz="1050" b="1" dirty="0"/>
          </a:p>
          <a:p>
            <a:pPr marL="342900" indent="-342900" algn="just">
              <a:buAutoNum type="arabicParenR"/>
            </a:pPr>
            <a:r>
              <a:rPr lang="en-US" sz="1000" b="1" dirty="0" smtClean="0"/>
              <a:t>Overall </a:t>
            </a:r>
            <a:r>
              <a:rPr lang="en-US" sz="1000" b="1" dirty="0"/>
              <a:t>Distribution of Beacon Scores: </a:t>
            </a:r>
            <a:r>
              <a:rPr lang="en-US" sz="1000" dirty="0"/>
              <a:t>On the portfolio-level, currently SBE1 portfolio is concentrated in Beacon Scores &gt;= 687. </a:t>
            </a:r>
          </a:p>
          <a:p>
            <a:pPr marL="342900" indent="-342900" algn="just">
              <a:buAutoNum type="arabicParenR"/>
            </a:pPr>
            <a:r>
              <a:rPr lang="en-US" sz="1000" b="1" dirty="0"/>
              <a:t>Quality of the Beacon Scores: </a:t>
            </a:r>
            <a:r>
              <a:rPr lang="en-US" sz="1000" dirty="0"/>
              <a:t>Roughly 50% of the portfolio is comprised of borrowers with a beacon score above 738. Only </a:t>
            </a:r>
            <a:r>
              <a:rPr lang="en-US" sz="1000" dirty="0" smtClean="0"/>
              <a:t>10.60% </a:t>
            </a:r>
            <a:r>
              <a:rPr lang="en-US" sz="1000" dirty="0"/>
              <a:t>of the borrowers has a Beacon Score less than 600. </a:t>
            </a:r>
          </a:p>
          <a:p>
            <a:pPr marL="342900" indent="-342900" algn="just">
              <a:buAutoNum type="arabicParenR"/>
            </a:pPr>
            <a:r>
              <a:rPr lang="en-US" sz="1000" b="1" dirty="0"/>
              <a:t>Historical Data vs. Current Portfolio: </a:t>
            </a:r>
            <a:r>
              <a:rPr lang="en-US" sz="1000" dirty="0" smtClean="0"/>
              <a:t>Overall, the </a:t>
            </a:r>
            <a:r>
              <a:rPr lang="en-US" sz="1000" dirty="0"/>
              <a:t>distribution of Beacon </a:t>
            </a:r>
            <a:r>
              <a:rPr lang="en-US" sz="1000" dirty="0" smtClean="0"/>
              <a:t>Scores </a:t>
            </a:r>
            <a:r>
              <a:rPr lang="en-US" sz="1000" dirty="0"/>
              <a:t>for the current portfolio resembles that of historical data from </a:t>
            </a:r>
            <a:r>
              <a:rPr lang="en-US" sz="1000" dirty="0" smtClean="0"/>
              <a:t>2011 </a:t>
            </a:r>
            <a:r>
              <a:rPr lang="en-US" sz="1000" dirty="0"/>
              <a:t>to 2017.</a:t>
            </a:r>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1113621349"/>
              </p:ext>
            </p:extLst>
          </p:nvPr>
        </p:nvGraphicFramePr>
        <p:xfrm>
          <a:off x="406007" y="1093457"/>
          <a:ext cx="8280597" cy="279116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644507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400" dirty="0"/>
              <a:t>Distribution by Beacon Score: EFG, NL, and Non-EFG/Non-NL</a:t>
            </a:r>
            <a:endParaRPr lang="en-CA" sz="2400" dirty="0"/>
          </a:p>
          <a:p>
            <a:endParaRPr lang="en-CA" dirty="0"/>
          </a:p>
        </p:txBody>
      </p:sp>
      <p:sp>
        <p:nvSpPr>
          <p:cNvPr id="4" name="Text Placeholder 3"/>
          <p:cNvSpPr>
            <a:spLocks noGrp="1"/>
          </p:cNvSpPr>
          <p:nvPr>
            <p:ph type="body" sz="quarter" idx="15"/>
          </p:nvPr>
        </p:nvSpPr>
        <p:spPr>
          <a:xfrm>
            <a:off x="406203" y="1098522"/>
            <a:ext cx="8280400" cy="3646197"/>
          </a:xfrm>
        </p:spPr>
        <p:txBody>
          <a:bodyPr/>
          <a:lstStyle/>
          <a:p>
            <a:endParaRPr lang="en-US" sz="1000" b="1" dirty="0" smtClean="0"/>
          </a:p>
          <a:p>
            <a:pPr marL="228600" indent="-228600">
              <a:buFont typeface="+mj-lt"/>
              <a:buAutoNum type="arabicParenR"/>
            </a:pPr>
            <a:endParaRPr lang="en-US" sz="1000" b="1" dirty="0"/>
          </a:p>
          <a:p>
            <a:pPr marL="228600" indent="-228600">
              <a:buFont typeface="+mj-lt"/>
              <a:buAutoNum type="arabicParenR"/>
            </a:pPr>
            <a:endParaRPr lang="en-US" sz="1000" b="1" dirty="0" smtClean="0"/>
          </a:p>
          <a:p>
            <a:pPr marL="228600" indent="-228600">
              <a:buFont typeface="+mj-lt"/>
              <a:buAutoNum type="arabicParenR"/>
            </a:pPr>
            <a:endParaRPr lang="en-US" sz="1000" b="1" dirty="0"/>
          </a:p>
          <a:p>
            <a:pPr marL="228600" indent="-228600">
              <a:buFont typeface="+mj-lt"/>
              <a:buAutoNum type="arabicParenR"/>
            </a:pPr>
            <a:endParaRPr lang="en-US" sz="1000" b="1" dirty="0" smtClean="0"/>
          </a:p>
          <a:p>
            <a:pPr marL="228600" indent="-228600">
              <a:buFont typeface="+mj-lt"/>
              <a:buAutoNum type="arabicParenR"/>
            </a:pPr>
            <a:endParaRPr lang="en-US" sz="1000" b="1" dirty="0"/>
          </a:p>
          <a:p>
            <a:pPr marL="228600" indent="-228600">
              <a:buFont typeface="+mj-lt"/>
              <a:buAutoNum type="arabicParenR"/>
            </a:pPr>
            <a:endParaRPr lang="en-US" sz="1000" b="1" dirty="0" smtClean="0"/>
          </a:p>
          <a:p>
            <a:pPr marL="228600" indent="-228600">
              <a:buFont typeface="+mj-lt"/>
              <a:buAutoNum type="arabicParenR"/>
            </a:pPr>
            <a:endParaRPr lang="en-US" sz="1000" b="1" dirty="0"/>
          </a:p>
          <a:p>
            <a:pPr marL="228600" indent="-228600">
              <a:buFont typeface="+mj-lt"/>
              <a:buAutoNum type="arabicParenR"/>
            </a:pPr>
            <a:endParaRPr lang="en-US" sz="1000" b="1" dirty="0" smtClean="0"/>
          </a:p>
          <a:p>
            <a:pPr marL="228600" indent="-228600">
              <a:buFont typeface="+mj-lt"/>
              <a:buAutoNum type="arabicParenR"/>
            </a:pPr>
            <a:endParaRPr lang="en-US" sz="1000" b="1" dirty="0"/>
          </a:p>
          <a:p>
            <a:pPr marL="228600" indent="-228600">
              <a:buFont typeface="+mj-lt"/>
              <a:buAutoNum type="arabicParenR"/>
            </a:pPr>
            <a:endParaRPr lang="en-US" sz="1000" b="1" dirty="0" smtClean="0"/>
          </a:p>
          <a:p>
            <a:pPr marL="228600" indent="-228600">
              <a:buFont typeface="+mj-lt"/>
              <a:buAutoNum type="arabicParenR"/>
            </a:pPr>
            <a:endParaRPr lang="en-US" sz="1000" b="1" dirty="0" smtClean="0"/>
          </a:p>
          <a:p>
            <a:pPr marL="228600" indent="-228600">
              <a:buFont typeface="+mj-lt"/>
              <a:buAutoNum type="arabicParenR"/>
            </a:pPr>
            <a:endParaRPr lang="en-US" sz="1000" b="1" dirty="0" smtClean="0"/>
          </a:p>
          <a:p>
            <a:pPr marL="228600" indent="-228600">
              <a:buFont typeface="+mj-lt"/>
              <a:buAutoNum type="arabicParenR"/>
            </a:pPr>
            <a:endParaRPr lang="en-US" sz="1000" b="1" dirty="0"/>
          </a:p>
          <a:p>
            <a:pPr marL="228600" indent="-228600">
              <a:buFont typeface="+mj-lt"/>
              <a:buAutoNum type="arabicParenR"/>
            </a:pPr>
            <a:endParaRPr lang="en-US" sz="1000" b="1" dirty="0" smtClean="0"/>
          </a:p>
          <a:p>
            <a:pPr marL="228600" indent="-228600">
              <a:buFont typeface="+mj-lt"/>
              <a:buAutoNum type="arabicParenR"/>
            </a:pPr>
            <a:endParaRPr lang="en-US" sz="1000" b="1" dirty="0"/>
          </a:p>
          <a:p>
            <a:pPr marL="228600" indent="-228600">
              <a:buFont typeface="+mj-lt"/>
              <a:buAutoNum type="arabicParenR"/>
            </a:pPr>
            <a:r>
              <a:rPr lang="en-US" sz="1000" b="1" dirty="0" smtClean="0"/>
              <a:t>Comparing </a:t>
            </a:r>
            <a:r>
              <a:rPr lang="en-US" sz="1000" b="1" dirty="0"/>
              <a:t>EFG Beacon Scores with the rest of the SBE1 Portfolio: </a:t>
            </a:r>
            <a:r>
              <a:rPr lang="en-US" sz="1000" dirty="0"/>
              <a:t>For Beacon scores less than 738, the distribution of obligors looks </a:t>
            </a:r>
            <a:r>
              <a:rPr lang="en-US" sz="1000" dirty="0" smtClean="0"/>
              <a:t>similar </a:t>
            </a:r>
            <a:r>
              <a:rPr lang="en-US" sz="1000" dirty="0"/>
              <a:t>between the segments. For Beacon scores higher than or equal to 738, EFG has the lowest concentration of obligors. </a:t>
            </a:r>
          </a:p>
          <a:p>
            <a:pPr marL="228600" indent="-228600">
              <a:buFont typeface="+mj-lt"/>
              <a:buAutoNum type="arabicParenR"/>
            </a:pPr>
            <a:r>
              <a:rPr lang="en-US" sz="1000" b="1" dirty="0"/>
              <a:t>Non-EFG/Non-NL vs. EFG and NL: </a:t>
            </a:r>
            <a:r>
              <a:rPr lang="en-US" sz="1000" dirty="0"/>
              <a:t>Non-EFG/Non-NL segment has the highest concentration of obligors with Beacon </a:t>
            </a:r>
            <a:r>
              <a:rPr lang="en-US" sz="1000" dirty="0" smtClean="0"/>
              <a:t>score </a:t>
            </a:r>
            <a:r>
              <a:rPr lang="en-US" sz="1000" dirty="0"/>
              <a:t>higher than or equal to 738. Note that only </a:t>
            </a:r>
            <a:r>
              <a:rPr lang="en-US" sz="1000" dirty="0" smtClean="0"/>
              <a:t>0.30% </a:t>
            </a:r>
            <a:r>
              <a:rPr lang="en-US" sz="1000" dirty="0"/>
              <a:t>of the current portfolio is comprised on Non-EFG/Non-NL obligors.</a:t>
            </a:r>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2976730526"/>
              </p:ext>
            </p:extLst>
          </p:nvPr>
        </p:nvGraphicFramePr>
        <p:xfrm>
          <a:off x="406201" y="1098522"/>
          <a:ext cx="8280401" cy="30257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806202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1800" dirty="0"/>
              <a:t>Distribution by </a:t>
            </a:r>
            <a:r>
              <a:rPr lang="en-US" sz="1800" dirty="0" smtClean="0"/>
              <a:t>Maximum Days Delinquent in Last 12 Months: </a:t>
            </a:r>
            <a:r>
              <a:rPr lang="en-US" sz="1800" dirty="0"/>
              <a:t>Current Portfolio vs. Historical Data</a:t>
            </a:r>
          </a:p>
          <a:p>
            <a:endParaRPr lang="en-CA" sz="2400" dirty="0"/>
          </a:p>
        </p:txBody>
      </p:sp>
      <p:sp>
        <p:nvSpPr>
          <p:cNvPr id="4" name="Text Placeholder 3"/>
          <p:cNvSpPr>
            <a:spLocks noGrp="1"/>
          </p:cNvSpPr>
          <p:nvPr>
            <p:ph type="body" sz="quarter" idx="15"/>
          </p:nvPr>
        </p:nvSpPr>
        <p:spPr>
          <a:xfrm>
            <a:off x="406203" y="1098523"/>
            <a:ext cx="8280400" cy="3629996"/>
          </a:xfrm>
        </p:spPr>
        <p:txBody>
          <a:bodyPr/>
          <a:lstStyle/>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endParaRPr lang="en-US" sz="1000" dirty="0" smtClean="0"/>
          </a:p>
          <a:p>
            <a:endParaRPr lang="en-US" sz="1000" dirty="0"/>
          </a:p>
          <a:p>
            <a:endParaRPr lang="en-US" sz="1000" dirty="0" smtClean="0"/>
          </a:p>
          <a:p>
            <a:endParaRPr lang="en-US" sz="1000" dirty="0"/>
          </a:p>
          <a:p>
            <a:endParaRPr lang="en-US" sz="1000" dirty="0" smtClean="0"/>
          </a:p>
          <a:p>
            <a:pPr marL="228600" indent="-228600">
              <a:buFont typeface="+mj-lt"/>
              <a:buAutoNum type="arabicParenR"/>
            </a:pPr>
            <a:r>
              <a:rPr lang="en-US" sz="1000" b="1" dirty="0" smtClean="0"/>
              <a:t>Historical Data vs Current Portfolio</a:t>
            </a:r>
            <a:r>
              <a:rPr lang="en-US" sz="1000" dirty="0" smtClean="0"/>
              <a:t>: The </a:t>
            </a:r>
            <a:r>
              <a:rPr lang="en-US" sz="1000" dirty="0"/>
              <a:t>distribution of obligors by </a:t>
            </a:r>
            <a:r>
              <a:rPr lang="en-US" sz="1000" dirty="0" smtClean="0"/>
              <a:t>“Max </a:t>
            </a:r>
            <a:r>
              <a:rPr lang="en-US" sz="1000" dirty="0"/>
              <a:t>Delinquent Days in Last 12 </a:t>
            </a:r>
            <a:r>
              <a:rPr lang="en-US" sz="1000" dirty="0" smtClean="0"/>
              <a:t>Months” </a:t>
            </a:r>
            <a:r>
              <a:rPr lang="en-US" sz="1000" dirty="0"/>
              <a:t>is similar between the current portfolio and the historical </a:t>
            </a:r>
            <a:r>
              <a:rPr lang="en-US" sz="1000" dirty="0" smtClean="0"/>
              <a:t>data. </a:t>
            </a:r>
            <a:endParaRPr lang="en-US" sz="1000" dirty="0"/>
          </a:p>
          <a:p>
            <a:pPr marL="228600" indent="-228600">
              <a:buFont typeface="+mj-lt"/>
              <a:buAutoNum type="arabicParenR"/>
            </a:pPr>
            <a:r>
              <a:rPr lang="en-US" sz="1000" b="1" dirty="0" smtClean="0"/>
              <a:t>Concentration of Obligors</a:t>
            </a:r>
            <a:r>
              <a:rPr lang="en-US" sz="1000" dirty="0" smtClean="0"/>
              <a:t>: The </a:t>
            </a:r>
            <a:r>
              <a:rPr lang="en-US" sz="1000" dirty="0"/>
              <a:t>majority of obligors have </a:t>
            </a:r>
            <a:r>
              <a:rPr lang="en-US" sz="1000" dirty="0" smtClean="0"/>
              <a:t>been less </a:t>
            </a:r>
            <a:r>
              <a:rPr lang="en-US" sz="1000" dirty="0"/>
              <a:t>than 30 days delinquent in last 12 months</a:t>
            </a:r>
            <a:r>
              <a:rPr lang="en-US" sz="1000" dirty="0" smtClean="0"/>
              <a:t>.</a:t>
            </a:r>
            <a:endParaRPr lang="en-CA" sz="1000" dirty="0"/>
          </a:p>
        </p:txBody>
      </p:sp>
      <p:graphicFrame>
        <p:nvGraphicFramePr>
          <p:cNvPr id="7" name="Chart 6"/>
          <p:cNvGraphicFramePr>
            <a:graphicFrameLocks/>
          </p:cNvGraphicFramePr>
          <p:nvPr>
            <p:extLst>
              <p:ext uri="{D42A27DB-BD31-4B8C-83A1-F6EECF244321}">
                <p14:modId xmlns:p14="http://schemas.microsoft.com/office/powerpoint/2010/main" val="919089553"/>
              </p:ext>
            </p:extLst>
          </p:nvPr>
        </p:nvGraphicFramePr>
        <p:xfrm>
          <a:off x="406202" y="1098523"/>
          <a:ext cx="8280401" cy="300681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8236612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1800" dirty="0"/>
              <a:t>Distribution by </a:t>
            </a:r>
            <a:r>
              <a:rPr lang="en-US" sz="1800" dirty="0" smtClean="0"/>
              <a:t>Maximum Days Delinquent in Last 12 Months: </a:t>
            </a:r>
            <a:r>
              <a:rPr lang="en-US" sz="1800" dirty="0"/>
              <a:t>EFG, NL, and Non-EFG/Non-NL</a:t>
            </a:r>
            <a:endParaRPr lang="en-CA" sz="1800" dirty="0"/>
          </a:p>
          <a:p>
            <a:endParaRPr lang="en-CA" sz="2400" dirty="0"/>
          </a:p>
        </p:txBody>
      </p:sp>
      <p:sp>
        <p:nvSpPr>
          <p:cNvPr id="4" name="Text Placeholder 3"/>
          <p:cNvSpPr>
            <a:spLocks noGrp="1"/>
          </p:cNvSpPr>
          <p:nvPr>
            <p:ph type="body" sz="quarter" idx="15"/>
          </p:nvPr>
        </p:nvSpPr>
        <p:spPr>
          <a:xfrm>
            <a:off x="406400" y="1098524"/>
            <a:ext cx="8280400" cy="3597044"/>
          </a:xfrm>
        </p:spPr>
        <p:txBody>
          <a:bodyPr/>
          <a:lstStyle/>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lgn="just">
              <a:buFont typeface="+mj-lt"/>
              <a:buAutoNum type="arabicParenR"/>
            </a:pPr>
            <a:r>
              <a:rPr lang="en-US" sz="1000" b="1" dirty="0" smtClean="0"/>
              <a:t>Overall Distribution between Segments</a:t>
            </a:r>
            <a:r>
              <a:rPr lang="en-US" sz="1000" dirty="0" smtClean="0"/>
              <a:t>: The </a:t>
            </a:r>
            <a:r>
              <a:rPr lang="en-US" sz="1000" dirty="0"/>
              <a:t>distribution of obligors is similar for all segments</a:t>
            </a:r>
            <a:r>
              <a:rPr lang="en-US" sz="1000" dirty="0" smtClean="0"/>
              <a:t>.</a:t>
            </a:r>
            <a:endParaRPr lang="en-US" sz="1000" dirty="0"/>
          </a:p>
          <a:p>
            <a:pPr marL="228600" indent="-228600" algn="just">
              <a:buFont typeface="+mj-lt"/>
              <a:buAutoNum type="arabicParenR"/>
            </a:pPr>
            <a:r>
              <a:rPr lang="en-US" sz="1000" b="1" dirty="0" smtClean="0"/>
              <a:t>EFG vs Non-EFG/Non-NL and NL</a:t>
            </a:r>
            <a:r>
              <a:rPr lang="en-US" sz="1000" dirty="0" smtClean="0"/>
              <a:t>: EFG </a:t>
            </a:r>
            <a:r>
              <a:rPr lang="en-US" sz="1000" dirty="0"/>
              <a:t>has a slightly higher concentration of obligors in </a:t>
            </a:r>
            <a:r>
              <a:rPr lang="en-US" sz="1000" dirty="0" smtClean="0"/>
              <a:t>the "New </a:t>
            </a:r>
            <a:r>
              <a:rPr lang="en-US" sz="1000" dirty="0"/>
              <a:t>Customer" group. This group is comprised of obligors that have had less than 6 reports over the past 12 months and have not been delinquent over the past 12 months. The reason this group is set up is to avoid an unfair treatment of existing customers that have not been delinquent. Once a new customer has been a client for more than 6 months with no delinquencies, he will be treated as </a:t>
            </a:r>
            <a:r>
              <a:rPr lang="en-US" sz="1000" dirty="0" smtClean="0"/>
              <a:t>an existing </a:t>
            </a:r>
            <a:r>
              <a:rPr lang="en-US" sz="1000" dirty="0"/>
              <a:t>customer with no delinquencies and will get highest scores.</a:t>
            </a:r>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1445062859"/>
              </p:ext>
            </p:extLst>
          </p:nvPr>
        </p:nvGraphicFramePr>
        <p:xfrm>
          <a:off x="406007" y="1098523"/>
          <a:ext cx="8280597" cy="277979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479865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400" dirty="0"/>
              <a:t>Distribution by </a:t>
            </a:r>
            <a:r>
              <a:rPr lang="en-US" sz="2400" dirty="0" smtClean="0"/>
              <a:t>NAICS2 Score: </a:t>
            </a:r>
            <a:r>
              <a:rPr lang="en-US" sz="2400" dirty="0"/>
              <a:t>Current Portfolio vs Historical </a:t>
            </a:r>
            <a:r>
              <a:rPr lang="en-US" sz="2400" dirty="0" smtClean="0"/>
              <a:t>Data</a:t>
            </a:r>
            <a:endParaRPr lang="en-US" sz="2400" dirty="0"/>
          </a:p>
          <a:p>
            <a:endParaRPr lang="en-CA" dirty="0"/>
          </a:p>
        </p:txBody>
      </p:sp>
      <p:sp>
        <p:nvSpPr>
          <p:cNvPr id="4" name="Text Placeholder 3"/>
          <p:cNvSpPr>
            <a:spLocks noGrp="1"/>
          </p:cNvSpPr>
          <p:nvPr>
            <p:ph type="body" sz="quarter" idx="15"/>
          </p:nvPr>
        </p:nvSpPr>
        <p:spPr>
          <a:xfrm>
            <a:off x="406400" y="1098523"/>
            <a:ext cx="8280400" cy="3629996"/>
          </a:xfrm>
        </p:spPr>
        <p:txBody>
          <a:bodyPr/>
          <a:lstStyle/>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b="1" dirty="0" smtClean="0"/>
          </a:p>
          <a:p>
            <a:endParaRPr lang="en-US" sz="1000" b="1" dirty="0" smtClean="0"/>
          </a:p>
          <a:p>
            <a:pPr marL="228600" indent="-228600">
              <a:buFont typeface="+mj-lt"/>
              <a:buAutoNum type="arabicParenR"/>
            </a:pPr>
            <a:endParaRPr lang="en-US" sz="1000" b="1" dirty="0" smtClean="0"/>
          </a:p>
          <a:p>
            <a:pPr marL="228600" indent="-228600">
              <a:buFont typeface="+mj-lt"/>
              <a:buAutoNum type="arabicParenR"/>
            </a:pPr>
            <a:r>
              <a:rPr lang="en-US" sz="1000" b="1" dirty="0" smtClean="0"/>
              <a:t>Historical Data vs Current Portfolio</a:t>
            </a:r>
            <a:r>
              <a:rPr lang="en-US" sz="1000" dirty="0" smtClean="0"/>
              <a:t>: The </a:t>
            </a:r>
            <a:r>
              <a:rPr lang="en-US" sz="1000" dirty="0"/>
              <a:t>distribution of obligors by </a:t>
            </a:r>
            <a:r>
              <a:rPr lang="en-US" sz="1000" dirty="0" smtClean="0"/>
              <a:t>“NAICS2” </a:t>
            </a:r>
            <a:r>
              <a:rPr lang="en-US" sz="1000" dirty="0"/>
              <a:t>score is similar between the current portfolio and the historical </a:t>
            </a:r>
            <a:r>
              <a:rPr lang="en-US" sz="1000" dirty="0" smtClean="0"/>
              <a:t>data.</a:t>
            </a:r>
            <a:endParaRPr lang="en-US" sz="1000" dirty="0"/>
          </a:p>
          <a:p>
            <a:pPr marL="228600" indent="-228600">
              <a:buFont typeface="+mj-lt"/>
              <a:buAutoNum type="arabicParenR"/>
            </a:pPr>
            <a:r>
              <a:rPr lang="en-US" sz="1000" b="1" dirty="0" smtClean="0"/>
              <a:t>Concentration of Obligors</a:t>
            </a:r>
            <a:r>
              <a:rPr lang="en-US" sz="1000" dirty="0" smtClean="0"/>
              <a:t>: The majority </a:t>
            </a:r>
            <a:r>
              <a:rPr lang="en-US" sz="1000" dirty="0"/>
              <a:t>of obligors get a score of </a:t>
            </a:r>
            <a:r>
              <a:rPr lang="en-US" sz="1000" dirty="0" smtClean="0"/>
              <a:t>9, which corresponds to “NAICS2” codes 11, 31, 33, 53, 54, 61, 71, 72, 81.</a:t>
            </a:r>
            <a:endParaRPr lang="en-US" sz="1000" dirty="0"/>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115018880"/>
              </p:ext>
            </p:extLst>
          </p:nvPr>
        </p:nvGraphicFramePr>
        <p:xfrm>
          <a:off x="406006" y="1098523"/>
          <a:ext cx="8280597" cy="320231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371666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400" dirty="0"/>
              <a:t>Distribution by </a:t>
            </a:r>
            <a:r>
              <a:rPr lang="en-US" sz="2400" dirty="0" smtClean="0"/>
              <a:t>NAICS2 Score: </a:t>
            </a:r>
            <a:r>
              <a:rPr lang="en-US" sz="2400" dirty="0"/>
              <a:t>EFG, NL, and Non-EFG/Non-NL</a:t>
            </a:r>
            <a:endParaRPr lang="en-CA" sz="2400" dirty="0"/>
          </a:p>
          <a:p>
            <a:endParaRPr lang="en-CA" dirty="0"/>
          </a:p>
        </p:txBody>
      </p:sp>
      <p:sp>
        <p:nvSpPr>
          <p:cNvPr id="4" name="Text Placeholder 3"/>
          <p:cNvSpPr>
            <a:spLocks noGrp="1"/>
          </p:cNvSpPr>
          <p:nvPr>
            <p:ph type="body" sz="quarter" idx="15"/>
          </p:nvPr>
        </p:nvSpPr>
        <p:spPr>
          <a:xfrm>
            <a:off x="406400" y="1090286"/>
            <a:ext cx="8280400" cy="3671184"/>
          </a:xfrm>
        </p:spPr>
        <p:txBody>
          <a:bodyPr/>
          <a:lstStyle/>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smtClean="0"/>
          </a:p>
          <a:p>
            <a:pPr marL="228600" indent="-228600">
              <a:buFont typeface="+mj-lt"/>
              <a:buAutoNum type="arabicParenR"/>
            </a:pPr>
            <a:r>
              <a:rPr lang="en-US" sz="1000" b="1" dirty="0" smtClean="0"/>
              <a:t>EFG vs Non-EFG/Non-NL</a:t>
            </a:r>
            <a:r>
              <a:rPr lang="en-US" sz="1000" dirty="0" smtClean="0"/>
              <a:t>: Around 97.21% </a:t>
            </a:r>
            <a:r>
              <a:rPr lang="en-US" sz="1000" dirty="0"/>
              <a:t>of EFG obligors get zero score for </a:t>
            </a:r>
            <a:r>
              <a:rPr lang="en-US" sz="1000" dirty="0" smtClean="0"/>
              <a:t>“NAICS2” </a:t>
            </a:r>
            <a:r>
              <a:rPr lang="en-US" sz="1000" dirty="0"/>
              <a:t>risk driver while the percentages of Non-EFG/Non-NL and NL obligors that get zero score are </a:t>
            </a:r>
            <a:r>
              <a:rPr lang="en-US" sz="1000" dirty="0" smtClean="0"/>
              <a:t>46.88% </a:t>
            </a:r>
            <a:r>
              <a:rPr lang="en-US" sz="1000" dirty="0"/>
              <a:t>and </a:t>
            </a:r>
            <a:r>
              <a:rPr lang="en-US" sz="1000" dirty="0" smtClean="0"/>
              <a:t>34.50% </a:t>
            </a:r>
            <a:r>
              <a:rPr lang="en-US" sz="1000" dirty="0"/>
              <a:t>respectively. Around 75% of EFG borrowers are in Transportation and Warehousing industry (NAICS2=48) while the percentages of Non-EFG and NL </a:t>
            </a:r>
            <a:r>
              <a:rPr lang="en-US" sz="1000" dirty="0" smtClean="0"/>
              <a:t>obligors </a:t>
            </a:r>
            <a:r>
              <a:rPr lang="en-US" sz="1000" dirty="0"/>
              <a:t>in this industry are </a:t>
            </a:r>
            <a:r>
              <a:rPr lang="en-US" sz="1000" dirty="0" smtClean="0"/>
              <a:t>3.13% </a:t>
            </a:r>
            <a:r>
              <a:rPr lang="en-US" sz="1000" dirty="0"/>
              <a:t>and </a:t>
            </a:r>
            <a:r>
              <a:rPr lang="en-US" sz="1000" dirty="0" smtClean="0"/>
              <a:t>9.16% </a:t>
            </a:r>
            <a:r>
              <a:rPr lang="en-US" sz="1000" dirty="0"/>
              <a:t>respectively</a:t>
            </a:r>
            <a:r>
              <a:rPr lang="en-US" sz="1000" dirty="0" smtClean="0"/>
              <a:t>.</a:t>
            </a:r>
            <a:endParaRPr lang="en-US" sz="1000" dirty="0"/>
          </a:p>
          <a:p>
            <a:pPr marL="228600" indent="-228600">
              <a:buFont typeface="+mj-lt"/>
              <a:buAutoNum type="arabicParenR"/>
            </a:pPr>
            <a:r>
              <a:rPr lang="en-US" sz="1000" b="1" dirty="0" smtClean="0"/>
              <a:t>Concentration of NL Obligors</a:t>
            </a:r>
            <a:r>
              <a:rPr lang="en-US" sz="1000" dirty="0" smtClean="0"/>
              <a:t>: NL </a:t>
            </a:r>
            <a:r>
              <a:rPr lang="en-US" sz="1000" dirty="0"/>
              <a:t>borrowers are concentrated (</a:t>
            </a:r>
            <a:r>
              <a:rPr lang="en-US" sz="1000" dirty="0" smtClean="0"/>
              <a:t>43.46%) </a:t>
            </a:r>
            <a:r>
              <a:rPr lang="en-US" sz="1000" dirty="0"/>
              <a:t>in Agriculture, Forestry, Fishing and Hunting industries (NAICS2=11).</a:t>
            </a:r>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3397243833"/>
              </p:ext>
            </p:extLst>
          </p:nvPr>
        </p:nvGraphicFramePr>
        <p:xfrm>
          <a:off x="406006" y="1098522"/>
          <a:ext cx="8280597" cy="303834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138640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000" dirty="0"/>
              <a:t>Distribution by Number of </a:t>
            </a:r>
            <a:r>
              <a:rPr lang="en-US" sz="2000" dirty="0" smtClean="0"/>
              <a:t>Inquiries in Last 6 Months: </a:t>
            </a:r>
            <a:r>
              <a:rPr lang="en-US" sz="2000" dirty="0"/>
              <a:t>Current Portfolio vs. Historical Data</a:t>
            </a:r>
          </a:p>
          <a:p>
            <a:endParaRPr lang="en-CA" sz="2800" dirty="0"/>
          </a:p>
        </p:txBody>
      </p:sp>
      <p:sp>
        <p:nvSpPr>
          <p:cNvPr id="4" name="Text Placeholder 3"/>
          <p:cNvSpPr>
            <a:spLocks noGrp="1"/>
          </p:cNvSpPr>
          <p:nvPr>
            <p:ph type="body" sz="quarter" idx="15"/>
          </p:nvPr>
        </p:nvSpPr>
        <p:spPr>
          <a:xfrm>
            <a:off x="406400" y="1098523"/>
            <a:ext cx="8280400" cy="3712374"/>
          </a:xfrm>
        </p:spPr>
        <p:txBody>
          <a:bodyPr/>
          <a:lstStyle/>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b="1" dirty="0" smtClean="0"/>
          </a:p>
          <a:p>
            <a:pPr marL="228600" indent="-228600">
              <a:buFont typeface="+mj-lt"/>
              <a:buAutoNum type="arabicParenR"/>
            </a:pPr>
            <a:endParaRPr lang="en-US" sz="1000" b="1" dirty="0"/>
          </a:p>
          <a:p>
            <a:pPr marL="228600" indent="-228600">
              <a:buFont typeface="+mj-lt"/>
              <a:buAutoNum type="arabicParenR"/>
            </a:pPr>
            <a:endParaRPr lang="en-US" sz="1000" b="1" dirty="0" smtClean="0"/>
          </a:p>
          <a:p>
            <a:endParaRPr lang="en-US" sz="1000" b="1" dirty="0" smtClean="0"/>
          </a:p>
          <a:p>
            <a:pPr marL="228600" indent="-228600">
              <a:buFont typeface="+mj-lt"/>
              <a:buAutoNum type="arabicParenR"/>
            </a:pPr>
            <a:r>
              <a:rPr lang="en-US" sz="1000" b="1" dirty="0" smtClean="0"/>
              <a:t>Historical Data vs Current Portfolio</a:t>
            </a:r>
            <a:r>
              <a:rPr lang="en-US" sz="1000" dirty="0" smtClean="0"/>
              <a:t>: The </a:t>
            </a:r>
            <a:r>
              <a:rPr lang="en-US" sz="1000" dirty="0"/>
              <a:t>distribution of obligors by </a:t>
            </a:r>
            <a:r>
              <a:rPr lang="en-US" sz="1000" dirty="0" smtClean="0"/>
              <a:t>“Number </a:t>
            </a:r>
            <a:r>
              <a:rPr lang="en-US" sz="1000" dirty="0"/>
              <a:t>of </a:t>
            </a:r>
            <a:r>
              <a:rPr lang="en-US" sz="1000" dirty="0" smtClean="0"/>
              <a:t>Inquiries in last 6 Months” </a:t>
            </a:r>
            <a:r>
              <a:rPr lang="en-US" sz="1000" dirty="0"/>
              <a:t>is similar between the current portfolio and the historical </a:t>
            </a:r>
            <a:r>
              <a:rPr lang="en-US" sz="1000" dirty="0" smtClean="0"/>
              <a:t>data.</a:t>
            </a:r>
            <a:endParaRPr lang="en-US" sz="1000" dirty="0"/>
          </a:p>
          <a:p>
            <a:pPr marL="228600" indent="-228600">
              <a:buFont typeface="+mj-lt"/>
              <a:buAutoNum type="arabicParenR"/>
            </a:pPr>
            <a:r>
              <a:rPr lang="en-US" sz="1000" b="1" dirty="0" smtClean="0"/>
              <a:t>Concentration of Obligors</a:t>
            </a:r>
            <a:r>
              <a:rPr lang="en-US" sz="1000" dirty="0" smtClean="0"/>
              <a:t>: The </a:t>
            </a:r>
            <a:r>
              <a:rPr lang="en-US" sz="1000" dirty="0"/>
              <a:t>majority of obligors have less than 2 inquiries.</a:t>
            </a:r>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1437061448"/>
              </p:ext>
            </p:extLst>
          </p:nvPr>
        </p:nvGraphicFramePr>
        <p:xfrm>
          <a:off x="406007" y="1098522"/>
          <a:ext cx="8280597" cy="317708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838503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000" dirty="0"/>
              <a:t>Distribution by Number of </a:t>
            </a:r>
            <a:r>
              <a:rPr lang="en-US" sz="2000" dirty="0" smtClean="0"/>
              <a:t>Inquiries in Last 6 Months: </a:t>
            </a:r>
            <a:r>
              <a:rPr lang="en-US" sz="2000" dirty="0"/>
              <a:t>EFG, NL, and Non-EFG/Non-NL</a:t>
            </a:r>
            <a:endParaRPr lang="en-CA" sz="2000" dirty="0"/>
          </a:p>
          <a:p>
            <a:endParaRPr lang="en-CA" sz="2800" dirty="0"/>
          </a:p>
          <a:p>
            <a:endParaRPr lang="en-CA" sz="2800" dirty="0"/>
          </a:p>
        </p:txBody>
      </p:sp>
      <p:sp>
        <p:nvSpPr>
          <p:cNvPr id="4" name="Text Placeholder 3"/>
          <p:cNvSpPr>
            <a:spLocks noGrp="1"/>
          </p:cNvSpPr>
          <p:nvPr>
            <p:ph type="body" sz="quarter" idx="15"/>
          </p:nvPr>
        </p:nvSpPr>
        <p:spPr>
          <a:xfrm>
            <a:off x="406204" y="1098524"/>
            <a:ext cx="8280400" cy="3654708"/>
          </a:xfrm>
        </p:spPr>
        <p:txBody>
          <a:bodyPr/>
          <a:lstStyle/>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endParaRPr lang="en-US" sz="1000" dirty="0" smtClean="0"/>
          </a:p>
          <a:p>
            <a:pPr marL="228600" indent="-228600">
              <a:buFont typeface="+mj-lt"/>
              <a:buAutoNum type="arabicParenR"/>
            </a:pPr>
            <a:endParaRPr lang="en-US" sz="1000" b="1" dirty="0" smtClean="0"/>
          </a:p>
          <a:p>
            <a:pPr marL="228600" indent="-228600">
              <a:buFont typeface="+mj-lt"/>
              <a:buAutoNum type="arabicParenR"/>
            </a:pPr>
            <a:endParaRPr lang="en-US" sz="1000" b="1" dirty="0"/>
          </a:p>
          <a:p>
            <a:pPr marL="228600" indent="-228600">
              <a:buFont typeface="+mj-lt"/>
              <a:buAutoNum type="arabicParenR"/>
            </a:pPr>
            <a:endParaRPr lang="en-US" sz="1000" b="1" dirty="0" smtClean="0"/>
          </a:p>
          <a:p>
            <a:pPr marL="228600" indent="-228600">
              <a:buFont typeface="+mj-lt"/>
              <a:buAutoNum type="arabicParenR"/>
            </a:pPr>
            <a:r>
              <a:rPr lang="en-US" sz="1000" b="1" dirty="0" smtClean="0"/>
              <a:t>Overall Distribution between Segments</a:t>
            </a:r>
            <a:r>
              <a:rPr lang="en-US" sz="1000" dirty="0" smtClean="0"/>
              <a:t>: The </a:t>
            </a:r>
            <a:r>
              <a:rPr lang="en-US" sz="1000" dirty="0"/>
              <a:t>distribution of obligors is similar between segments. </a:t>
            </a:r>
          </a:p>
          <a:p>
            <a:pPr marL="228600" indent="-228600">
              <a:buFont typeface="+mj-lt"/>
              <a:buAutoNum type="arabicParenR"/>
            </a:pPr>
            <a:r>
              <a:rPr lang="en-US" sz="1000" b="1" dirty="0" smtClean="0"/>
              <a:t>EFG vs Non-EFG/Non-NL and NL</a:t>
            </a:r>
            <a:r>
              <a:rPr lang="en-US" sz="1000" dirty="0" smtClean="0"/>
              <a:t>: For “Number </a:t>
            </a:r>
            <a:r>
              <a:rPr lang="en-US" sz="1000" dirty="0"/>
              <a:t>of Inquiries in Last 6 </a:t>
            </a:r>
            <a:r>
              <a:rPr lang="en-US" sz="1000" dirty="0" smtClean="0"/>
              <a:t>Months” </a:t>
            </a:r>
            <a:r>
              <a:rPr lang="en-US" sz="1000" dirty="0"/>
              <a:t>higher than or equal to 2, EFG has a slightly higher concentration of obligors than other segments.</a:t>
            </a:r>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2962622795"/>
              </p:ext>
            </p:extLst>
          </p:nvPr>
        </p:nvGraphicFramePr>
        <p:xfrm>
          <a:off x="406202" y="1098522"/>
          <a:ext cx="8280402" cy="318339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8109854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400" dirty="0"/>
              <a:t>Distribution by Age of Oldest Trade: Current Portfolio vs. Historical Data</a:t>
            </a:r>
          </a:p>
          <a:p>
            <a:endParaRPr lang="en-CA" dirty="0"/>
          </a:p>
        </p:txBody>
      </p:sp>
      <p:sp>
        <p:nvSpPr>
          <p:cNvPr id="4" name="Text Placeholder 3"/>
          <p:cNvSpPr>
            <a:spLocks noGrp="1"/>
          </p:cNvSpPr>
          <p:nvPr>
            <p:ph type="body" sz="quarter" idx="15"/>
          </p:nvPr>
        </p:nvSpPr>
        <p:spPr>
          <a:xfrm>
            <a:off x="406400" y="1098523"/>
            <a:ext cx="8280400" cy="3629996"/>
          </a:xfrm>
        </p:spPr>
        <p:txBody>
          <a:bodyPr/>
          <a:lstStyle/>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b="1" dirty="0" smtClean="0"/>
          </a:p>
          <a:p>
            <a:pPr marL="228600" indent="-228600">
              <a:buFont typeface="+mj-lt"/>
              <a:buAutoNum type="arabicParenR"/>
            </a:pPr>
            <a:endParaRPr lang="en-US" sz="1000" b="1" dirty="0"/>
          </a:p>
          <a:p>
            <a:pPr marL="228600" indent="-228600">
              <a:buFont typeface="+mj-lt"/>
              <a:buAutoNum type="arabicParenR"/>
            </a:pPr>
            <a:endParaRPr lang="en-US" sz="1000" b="1" dirty="0" smtClean="0"/>
          </a:p>
          <a:p>
            <a:pPr marL="228600" indent="-228600">
              <a:buFont typeface="+mj-lt"/>
              <a:buAutoNum type="arabicParenR"/>
            </a:pPr>
            <a:endParaRPr lang="en-US" sz="1000" b="1" dirty="0"/>
          </a:p>
          <a:p>
            <a:pPr marL="228600" indent="-228600">
              <a:buFont typeface="+mj-lt"/>
              <a:buAutoNum type="arabicParenR"/>
            </a:pPr>
            <a:endParaRPr lang="en-US" sz="1000" b="1" dirty="0" smtClean="0"/>
          </a:p>
          <a:p>
            <a:pPr marL="228600" indent="-228600">
              <a:buFont typeface="+mj-lt"/>
              <a:buAutoNum type="arabicParenR"/>
            </a:pPr>
            <a:r>
              <a:rPr lang="en-US" sz="1000" b="1" dirty="0" smtClean="0"/>
              <a:t>Historical Data vs Current Portfolio</a:t>
            </a:r>
            <a:r>
              <a:rPr lang="en-US" sz="1000" dirty="0" smtClean="0"/>
              <a:t>: The </a:t>
            </a:r>
            <a:r>
              <a:rPr lang="en-US" sz="1000" dirty="0"/>
              <a:t>distribution of obligors by </a:t>
            </a:r>
            <a:r>
              <a:rPr lang="en-US" sz="1000" dirty="0" smtClean="0"/>
              <a:t>“Age </a:t>
            </a:r>
            <a:r>
              <a:rPr lang="en-US" sz="1000" dirty="0"/>
              <a:t>of Oldest </a:t>
            </a:r>
            <a:r>
              <a:rPr lang="en-US" sz="1000" dirty="0" smtClean="0"/>
              <a:t>Trade” </a:t>
            </a:r>
            <a:r>
              <a:rPr lang="en-US" sz="1000" dirty="0"/>
              <a:t>is similar between the current portfolio and the historical </a:t>
            </a:r>
            <a:r>
              <a:rPr lang="en-US" sz="1000" dirty="0" smtClean="0"/>
              <a:t>data.</a:t>
            </a:r>
            <a:endParaRPr lang="en-US" sz="1000" dirty="0"/>
          </a:p>
          <a:p>
            <a:pPr marL="228600" indent="-228600">
              <a:buFont typeface="+mj-lt"/>
              <a:buAutoNum type="arabicParenR"/>
            </a:pPr>
            <a:r>
              <a:rPr lang="en-US" sz="1000" b="1" dirty="0" smtClean="0"/>
              <a:t>Concentration of Obligors</a:t>
            </a:r>
            <a:r>
              <a:rPr lang="en-US" sz="1000" dirty="0" smtClean="0"/>
              <a:t>: The </a:t>
            </a:r>
            <a:r>
              <a:rPr lang="en-US" sz="1000" dirty="0"/>
              <a:t>age of oldest trade for the majority of obligors is more than or equal to </a:t>
            </a:r>
            <a:r>
              <a:rPr lang="en-US" sz="1000" dirty="0" smtClean="0"/>
              <a:t>158.</a:t>
            </a:r>
            <a:endParaRPr lang="en-US" sz="1000" dirty="0"/>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2154389982"/>
              </p:ext>
            </p:extLst>
          </p:nvPr>
        </p:nvGraphicFramePr>
        <p:xfrm>
          <a:off x="406006" y="1098523"/>
          <a:ext cx="8280597" cy="32464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469153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400" dirty="0"/>
              <a:t>Distribution by Age of Oldest Trade: EFG, NL, and Non-EFG/Non-NL</a:t>
            </a:r>
            <a:endParaRPr lang="en-CA" sz="2400" dirty="0"/>
          </a:p>
          <a:p>
            <a:endParaRPr lang="en-CA" dirty="0"/>
          </a:p>
        </p:txBody>
      </p:sp>
      <p:sp>
        <p:nvSpPr>
          <p:cNvPr id="4" name="Text Placeholder 3"/>
          <p:cNvSpPr>
            <a:spLocks noGrp="1"/>
          </p:cNvSpPr>
          <p:nvPr>
            <p:ph type="body" sz="quarter" idx="15"/>
          </p:nvPr>
        </p:nvSpPr>
        <p:spPr>
          <a:xfrm>
            <a:off x="406204" y="1098523"/>
            <a:ext cx="8280400" cy="3621758"/>
          </a:xfrm>
        </p:spPr>
        <p:txBody>
          <a:bodyPr/>
          <a:lstStyle/>
          <a:p>
            <a:pPr marL="342900" indent="-342900">
              <a:buFont typeface="+mj-lt"/>
              <a:buAutoNum type="arabicParenR"/>
            </a:pPr>
            <a:endParaRPr lang="en-US" sz="1000" dirty="0" smtClean="0"/>
          </a:p>
          <a:p>
            <a:pPr marL="342900" indent="-342900">
              <a:buFont typeface="+mj-lt"/>
              <a:buAutoNum type="arabicParenR"/>
            </a:pPr>
            <a:endParaRPr lang="en-US" sz="1000" dirty="0"/>
          </a:p>
          <a:p>
            <a:pPr marL="342900" indent="-342900">
              <a:buFont typeface="+mj-lt"/>
              <a:buAutoNum type="arabicParenR"/>
            </a:pPr>
            <a:endParaRPr lang="en-US" sz="1000" dirty="0" smtClean="0"/>
          </a:p>
          <a:p>
            <a:pPr marL="342900" indent="-342900">
              <a:buFont typeface="+mj-lt"/>
              <a:buAutoNum type="arabicParenR"/>
            </a:pPr>
            <a:endParaRPr lang="en-US" sz="1000" dirty="0"/>
          </a:p>
          <a:p>
            <a:pPr marL="342900" indent="-342900">
              <a:buFont typeface="+mj-lt"/>
              <a:buAutoNum type="arabicParenR"/>
            </a:pPr>
            <a:endParaRPr lang="en-US" sz="1000" dirty="0" smtClean="0"/>
          </a:p>
          <a:p>
            <a:pPr marL="342900" indent="-342900">
              <a:buFont typeface="+mj-lt"/>
              <a:buAutoNum type="arabicParenR"/>
            </a:pPr>
            <a:endParaRPr lang="en-US" sz="1000" dirty="0"/>
          </a:p>
          <a:p>
            <a:pPr marL="342900" indent="-342900">
              <a:buFont typeface="+mj-lt"/>
              <a:buAutoNum type="arabicParenR"/>
            </a:pPr>
            <a:endParaRPr lang="en-US" sz="1000" dirty="0" smtClean="0"/>
          </a:p>
          <a:p>
            <a:pPr marL="342900" indent="-342900">
              <a:buFont typeface="+mj-lt"/>
              <a:buAutoNum type="arabicParenR"/>
            </a:pPr>
            <a:endParaRPr lang="en-US" sz="1000" dirty="0"/>
          </a:p>
          <a:p>
            <a:pPr marL="342900" indent="-342900">
              <a:buFont typeface="+mj-lt"/>
              <a:buAutoNum type="arabicParenR"/>
            </a:pPr>
            <a:endParaRPr lang="en-US" sz="1000" dirty="0" smtClean="0"/>
          </a:p>
          <a:p>
            <a:pPr marL="342900" indent="-342900">
              <a:buFont typeface="+mj-lt"/>
              <a:buAutoNum type="arabicParenR"/>
            </a:pPr>
            <a:endParaRPr lang="en-US" sz="1000" dirty="0"/>
          </a:p>
          <a:p>
            <a:pPr marL="342900" indent="-342900">
              <a:buFont typeface="+mj-lt"/>
              <a:buAutoNum type="arabicParenR"/>
            </a:pPr>
            <a:endParaRPr lang="en-US" sz="1000" dirty="0" smtClean="0"/>
          </a:p>
          <a:p>
            <a:pPr marL="342900" indent="-342900">
              <a:buFont typeface="+mj-lt"/>
              <a:buAutoNum type="arabicParenR"/>
            </a:pPr>
            <a:endParaRPr lang="en-US" sz="1000" dirty="0"/>
          </a:p>
          <a:p>
            <a:pPr marL="342900" indent="-342900">
              <a:buFont typeface="+mj-lt"/>
              <a:buAutoNum type="arabicParenR"/>
            </a:pPr>
            <a:endParaRPr lang="en-US" sz="1000" dirty="0" smtClean="0"/>
          </a:p>
          <a:p>
            <a:endParaRPr lang="en-US" sz="1000" dirty="0" smtClean="0"/>
          </a:p>
          <a:p>
            <a:pPr marL="342900" indent="-342900">
              <a:buFont typeface="+mj-lt"/>
              <a:buAutoNum type="arabicParenR"/>
            </a:pPr>
            <a:endParaRPr lang="en-US" sz="1000" b="1" dirty="0" smtClean="0"/>
          </a:p>
          <a:p>
            <a:pPr marL="342900" indent="-342900">
              <a:buFont typeface="+mj-lt"/>
              <a:buAutoNum type="arabicParenR"/>
            </a:pPr>
            <a:endParaRPr lang="en-US" sz="1000" b="1" dirty="0"/>
          </a:p>
          <a:p>
            <a:pPr marL="342900" indent="-342900">
              <a:buFont typeface="+mj-lt"/>
              <a:buAutoNum type="arabicParenR"/>
            </a:pPr>
            <a:endParaRPr lang="en-US" sz="1000" b="1" dirty="0" smtClean="0"/>
          </a:p>
          <a:p>
            <a:pPr marL="342900" indent="-342900">
              <a:buFont typeface="+mj-lt"/>
              <a:buAutoNum type="arabicParenR"/>
            </a:pPr>
            <a:r>
              <a:rPr lang="en-US" sz="1000" b="1" dirty="0" smtClean="0"/>
              <a:t>EFG vs Non-EFG/Non-NL and NL</a:t>
            </a:r>
            <a:r>
              <a:rPr lang="en-US" sz="1000" dirty="0" smtClean="0"/>
              <a:t>: On </a:t>
            </a:r>
            <a:r>
              <a:rPr lang="en-US" sz="1000" dirty="0"/>
              <a:t>average, EFG obligors have </a:t>
            </a:r>
            <a:r>
              <a:rPr lang="en-US" sz="1000" u="sng" dirty="0"/>
              <a:t>lower</a:t>
            </a:r>
            <a:r>
              <a:rPr lang="en-US" sz="1000" dirty="0"/>
              <a:t> </a:t>
            </a:r>
            <a:r>
              <a:rPr lang="en-US" sz="1000" dirty="0" smtClean="0"/>
              <a:t>“Age </a:t>
            </a:r>
            <a:r>
              <a:rPr lang="en-US" sz="1000" dirty="0"/>
              <a:t>of Oldest </a:t>
            </a:r>
            <a:r>
              <a:rPr lang="en-US" sz="1000" dirty="0" smtClean="0"/>
              <a:t>Trade” </a:t>
            </a:r>
            <a:r>
              <a:rPr lang="en-US" sz="1000" dirty="0"/>
              <a:t>than obligors from other segments. For </a:t>
            </a:r>
            <a:r>
              <a:rPr lang="en-US" sz="1000" dirty="0" smtClean="0"/>
              <a:t>“Age </a:t>
            </a:r>
            <a:r>
              <a:rPr lang="en-US" sz="1000" dirty="0"/>
              <a:t>of Oldest </a:t>
            </a:r>
            <a:r>
              <a:rPr lang="en-US" sz="1000" dirty="0" smtClean="0"/>
              <a:t>Trade” </a:t>
            </a:r>
            <a:r>
              <a:rPr lang="en-US" sz="1000" dirty="0"/>
              <a:t>greater than or equal to 225, the percentage of EFG borrowers is </a:t>
            </a:r>
            <a:r>
              <a:rPr lang="en-US" sz="1000" dirty="0" smtClean="0"/>
              <a:t>22.19% </a:t>
            </a:r>
            <a:r>
              <a:rPr lang="en-US" sz="1000" dirty="0"/>
              <a:t>while the percentages of Non-EFG/Non-NL and NL obligors are </a:t>
            </a:r>
            <a:r>
              <a:rPr lang="en-US" sz="1000" dirty="0" smtClean="0"/>
              <a:t>59.38% </a:t>
            </a:r>
            <a:r>
              <a:rPr lang="en-US" sz="1000" dirty="0"/>
              <a:t>and </a:t>
            </a:r>
            <a:r>
              <a:rPr lang="en-US" sz="1000" dirty="0" smtClean="0"/>
              <a:t>39.68</a:t>
            </a:r>
            <a:r>
              <a:rPr lang="en-US" sz="1000" dirty="0"/>
              <a:t>% respectively. </a:t>
            </a:r>
            <a:endParaRPr lang="en-CA" sz="1000" dirty="0"/>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3428752264"/>
              </p:ext>
            </p:extLst>
          </p:nvPr>
        </p:nvGraphicFramePr>
        <p:xfrm>
          <a:off x="406202" y="1098522"/>
          <a:ext cx="8280402" cy="317708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715041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000" dirty="0"/>
              <a:t>Distribution by </a:t>
            </a:r>
            <a:r>
              <a:rPr lang="en-US" sz="2000" dirty="0" smtClean="0"/>
              <a:t>Current Delinquent </a:t>
            </a:r>
            <a:r>
              <a:rPr lang="en-US" sz="2000" dirty="0"/>
              <a:t>Amount: Current Portfolio vs. Historical Data</a:t>
            </a:r>
          </a:p>
          <a:p>
            <a:endParaRPr lang="en-CA" sz="2000" dirty="0"/>
          </a:p>
          <a:p>
            <a:endParaRPr lang="en-CA" sz="2000" dirty="0"/>
          </a:p>
        </p:txBody>
      </p:sp>
      <p:sp>
        <p:nvSpPr>
          <p:cNvPr id="4" name="Text Placeholder 3"/>
          <p:cNvSpPr>
            <a:spLocks noGrp="1"/>
          </p:cNvSpPr>
          <p:nvPr>
            <p:ph type="body" sz="quarter" idx="15"/>
          </p:nvPr>
        </p:nvSpPr>
        <p:spPr>
          <a:xfrm>
            <a:off x="406204" y="1098523"/>
            <a:ext cx="8280400" cy="3654709"/>
          </a:xfrm>
        </p:spPr>
        <p:txBody>
          <a:bodyPr/>
          <a:lstStyle/>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endParaRPr lang="en-US" sz="1000" dirty="0" smtClean="0"/>
          </a:p>
          <a:p>
            <a:endParaRPr lang="en-US" sz="1000" dirty="0"/>
          </a:p>
          <a:p>
            <a:endParaRPr lang="en-US" sz="1000" dirty="0" smtClean="0"/>
          </a:p>
          <a:p>
            <a:endParaRPr lang="en-US" sz="1000" dirty="0"/>
          </a:p>
          <a:p>
            <a:endParaRPr lang="en-US" sz="1000" dirty="0" smtClean="0"/>
          </a:p>
          <a:p>
            <a:endParaRPr lang="en-US" sz="1000" dirty="0" smtClean="0"/>
          </a:p>
          <a:p>
            <a:pPr marL="228600" indent="-228600">
              <a:buFont typeface="+mj-lt"/>
              <a:buAutoNum type="arabicParenR"/>
            </a:pPr>
            <a:r>
              <a:rPr lang="en-US" sz="1000" b="1" dirty="0" smtClean="0"/>
              <a:t>Historical Data vs Current Portfolio</a:t>
            </a:r>
            <a:r>
              <a:rPr lang="en-US" sz="1000" dirty="0" smtClean="0"/>
              <a:t>: The </a:t>
            </a:r>
            <a:r>
              <a:rPr lang="en-US" sz="1000" dirty="0"/>
              <a:t>distribution of obligors by </a:t>
            </a:r>
            <a:r>
              <a:rPr lang="en-US" sz="1000" dirty="0" smtClean="0"/>
              <a:t>“Current </a:t>
            </a:r>
            <a:r>
              <a:rPr lang="en-US" sz="1000" dirty="0"/>
              <a:t>Delinquent </a:t>
            </a:r>
            <a:r>
              <a:rPr lang="en-US" sz="1000" dirty="0" smtClean="0"/>
              <a:t>Amount” </a:t>
            </a:r>
            <a:r>
              <a:rPr lang="en-US" sz="1000" dirty="0"/>
              <a:t>is similar between the current portfolio and the historical </a:t>
            </a:r>
            <a:r>
              <a:rPr lang="en-US" sz="1000" dirty="0" smtClean="0"/>
              <a:t>data. </a:t>
            </a:r>
            <a:endParaRPr lang="en-US" sz="1000" dirty="0"/>
          </a:p>
          <a:p>
            <a:pPr marL="228600" indent="-228600">
              <a:buFont typeface="+mj-lt"/>
              <a:buAutoNum type="arabicParenR"/>
            </a:pPr>
            <a:r>
              <a:rPr lang="en-US" sz="1000" b="1" dirty="0" smtClean="0"/>
              <a:t>Concentration of Obligors</a:t>
            </a:r>
            <a:r>
              <a:rPr lang="en-US" sz="1000" dirty="0" smtClean="0"/>
              <a:t>: For </a:t>
            </a:r>
            <a:r>
              <a:rPr lang="en-US" sz="1000" dirty="0"/>
              <a:t>the majority of obligors, current delinquent amounts are either </a:t>
            </a:r>
            <a:r>
              <a:rPr lang="en-US" sz="1000" dirty="0" smtClean="0"/>
              <a:t>zero </a:t>
            </a:r>
            <a:r>
              <a:rPr lang="en-US" sz="1000" dirty="0"/>
              <a:t>or are less than $39.</a:t>
            </a:r>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4236571774"/>
              </p:ext>
            </p:extLst>
          </p:nvPr>
        </p:nvGraphicFramePr>
        <p:xfrm>
          <a:off x="406202" y="1098522"/>
          <a:ext cx="8280402" cy="320231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188328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sz="2300" dirty="0"/>
              <a:t>Distribution by Current Delinquent Amount: EFG, NL, and Non-EFG/Non-NL</a:t>
            </a:r>
            <a:endParaRPr lang="en-CA" sz="2300" dirty="0"/>
          </a:p>
          <a:p>
            <a:endParaRPr lang="en-CA" sz="2300" dirty="0"/>
          </a:p>
        </p:txBody>
      </p:sp>
      <p:sp>
        <p:nvSpPr>
          <p:cNvPr id="4" name="Text Placeholder 3"/>
          <p:cNvSpPr>
            <a:spLocks noGrp="1"/>
          </p:cNvSpPr>
          <p:nvPr>
            <p:ph type="body" sz="quarter" idx="15"/>
          </p:nvPr>
        </p:nvSpPr>
        <p:spPr>
          <a:xfrm>
            <a:off x="406204" y="1158919"/>
            <a:ext cx="8280400" cy="3586076"/>
          </a:xfrm>
        </p:spPr>
        <p:txBody>
          <a:bodyPr/>
          <a:lstStyle/>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a:p>
          <a:p>
            <a:pPr marL="228600" indent="-228600">
              <a:buFont typeface="+mj-lt"/>
              <a:buAutoNum type="arabicParenR"/>
            </a:pPr>
            <a:endParaRPr lang="en-US" sz="1000" dirty="0" smtClean="0"/>
          </a:p>
          <a:p>
            <a:pPr marL="228600" indent="-228600">
              <a:buFont typeface="+mj-lt"/>
              <a:buAutoNum type="arabicParenR"/>
            </a:pPr>
            <a:endParaRPr lang="en-US" sz="1000" dirty="0" smtClean="0"/>
          </a:p>
          <a:p>
            <a:pPr marL="228600" indent="-228600">
              <a:buFont typeface="+mj-lt"/>
              <a:buAutoNum type="arabicParenR"/>
            </a:pPr>
            <a:endParaRPr lang="en-US" sz="1000" dirty="0"/>
          </a:p>
          <a:p>
            <a:endParaRPr lang="en-US" sz="1000" dirty="0"/>
          </a:p>
          <a:p>
            <a:pPr marL="228600" indent="-228600">
              <a:buFont typeface="+mj-lt"/>
              <a:buAutoNum type="arabicParenR"/>
            </a:pPr>
            <a:r>
              <a:rPr lang="en-US" sz="1000" b="1" dirty="0" smtClean="0"/>
              <a:t>Overall Distribution between Segments</a:t>
            </a:r>
            <a:r>
              <a:rPr lang="en-US" sz="1000" dirty="0" smtClean="0"/>
              <a:t>: The </a:t>
            </a:r>
            <a:r>
              <a:rPr lang="en-US" sz="1000" dirty="0"/>
              <a:t>distribution of obligors is similar between segments</a:t>
            </a:r>
            <a:r>
              <a:rPr lang="en-US" sz="1000" dirty="0" smtClean="0"/>
              <a:t>.</a:t>
            </a:r>
            <a:endParaRPr lang="en-US" sz="1000" dirty="0"/>
          </a:p>
          <a:p>
            <a:pPr marL="228600" indent="-228600">
              <a:buFont typeface="+mj-lt"/>
              <a:buAutoNum type="arabicParenR"/>
            </a:pPr>
            <a:r>
              <a:rPr lang="en-US" sz="1000" b="1" dirty="0" smtClean="0"/>
              <a:t>EFG vs Non-EFG/Non-NL and NL</a:t>
            </a:r>
            <a:r>
              <a:rPr lang="en-US" sz="1000" dirty="0" smtClean="0"/>
              <a:t>: For </a:t>
            </a:r>
            <a:r>
              <a:rPr lang="en-US" sz="1000" dirty="0"/>
              <a:t>current delinquent amounts higher than or equal to $39, EFG has a slightly higher concentration of obligors than other segments.</a:t>
            </a:r>
          </a:p>
          <a:p>
            <a:endParaRPr lang="en-CA" dirty="0"/>
          </a:p>
        </p:txBody>
      </p:sp>
      <p:graphicFrame>
        <p:nvGraphicFramePr>
          <p:cNvPr id="7" name="Chart 6"/>
          <p:cNvGraphicFramePr>
            <a:graphicFrameLocks/>
          </p:cNvGraphicFramePr>
          <p:nvPr>
            <p:extLst>
              <p:ext uri="{D42A27DB-BD31-4B8C-83A1-F6EECF244321}">
                <p14:modId xmlns:p14="http://schemas.microsoft.com/office/powerpoint/2010/main" val="2625230322"/>
              </p:ext>
            </p:extLst>
          </p:nvPr>
        </p:nvGraphicFramePr>
        <p:xfrm>
          <a:off x="406203" y="1098522"/>
          <a:ext cx="8280401" cy="306988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23198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1" y="366811"/>
            <a:ext cx="8280401" cy="397483"/>
          </a:xfrm>
        </p:spPr>
        <p:txBody>
          <a:bodyPr/>
          <a:lstStyle/>
          <a:p>
            <a:r>
              <a:rPr lang="en-US" dirty="0" smtClean="0"/>
              <a:t>NAICS2 Codes</a:t>
            </a:r>
            <a:endParaRPr lang="en-CA" dirty="0"/>
          </a:p>
        </p:txBody>
      </p:sp>
      <p:graphicFrame>
        <p:nvGraphicFramePr>
          <p:cNvPr id="6" name="Table 5"/>
          <p:cNvGraphicFramePr>
            <a:graphicFrameLocks noGrp="1"/>
          </p:cNvGraphicFramePr>
          <p:nvPr>
            <p:extLst>
              <p:ext uri="{D42A27DB-BD31-4B8C-83A1-F6EECF244321}">
                <p14:modId xmlns:p14="http://schemas.microsoft.com/office/powerpoint/2010/main" val="3935050193"/>
              </p:ext>
            </p:extLst>
          </p:nvPr>
        </p:nvGraphicFramePr>
        <p:xfrm>
          <a:off x="2536837" y="1079929"/>
          <a:ext cx="4019127" cy="3262308"/>
        </p:xfrm>
        <a:graphic>
          <a:graphicData uri="http://schemas.openxmlformats.org/drawingml/2006/table">
            <a:tbl>
              <a:tblPr/>
              <a:tblGrid>
                <a:gridCol w="309958">
                  <a:extLst>
                    <a:ext uri="{9D8B030D-6E8A-4147-A177-3AD203B41FA5}">
                      <a16:colId xmlns:a16="http://schemas.microsoft.com/office/drawing/2014/main" val="220675643"/>
                    </a:ext>
                  </a:extLst>
                </a:gridCol>
                <a:gridCol w="3709169">
                  <a:extLst>
                    <a:ext uri="{9D8B030D-6E8A-4147-A177-3AD203B41FA5}">
                      <a16:colId xmlns:a16="http://schemas.microsoft.com/office/drawing/2014/main" val="429639859"/>
                    </a:ext>
                  </a:extLst>
                </a:gridCol>
              </a:tblGrid>
              <a:tr h="154979">
                <a:tc>
                  <a:txBody>
                    <a:bodyPr/>
                    <a:lstStyle/>
                    <a:p>
                      <a:pPr algn="ctr" fontAlgn="ctr"/>
                      <a:r>
                        <a:rPr lang="en-CA" sz="900" b="1" i="0" u="none" strike="noStrike">
                          <a:solidFill>
                            <a:srgbClr val="FFFFFF"/>
                          </a:solidFill>
                          <a:effectLst/>
                          <a:latin typeface="Calibri" panose="020F0502020204030204" pitchFamily="34" charset="0"/>
                        </a:rPr>
                        <a:t>Code</a:t>
                      </a:r>
                    </a:p>
                  </a:txBody>
                  <a:tcPr marL="7749" marR="7749" marT="7749" marB="0" anchor="ctr">
                    <a:lnL w="12700" cap="flat" cmpd="sng" algn="ctr">
                      <a:solidFill>
                        <a:srgbClr val="0097A9"/>
                      </a:solidFill>
                      <a:prstDash val="solid"/>
                      <a:round/>
                      <a:headEnd type="none" w="med" len="med"/>
                      <a:tailEnd type="none" w="med" len="med"/>
                    </a:lnL>
                    <a:lnR>
                      <a:noFill/>
                    </a:lnR>
                    <a:lnT w="12700" cap="flat" cmpd="sng" algn="ctr">
                      <a:solidFill>
                        <a:srgbClr val="0097A9"/>
                      </a:solidFill>
                      <a:prstDash val="solid"/>
                      <a:round/>
                      <a:headEnd type="none" w="med" len="med"/>
                      <a:tailEnd type="none" w="med" len="med"/>
                    </a:lnT>
                    <a:lnB>
                      <a:noFill/>
                    </a:lnB>
                    <a:solidFill>
                      <a:srgbClr val="0097A9"/>
                    </a:solidFill>
                  </a:tcPr>
                </a:tc>
                <a:tc>
                  <a:txBody>
                    <a:bodyPr/>
                    <a:lstStyle/>
                    <a:p>
                      <a:pPr algn="ctr" fontAlgn="ctr"/>
                      <a:r>
                        <a:rPr lang="en-CA" sz="900" b="1" i="0" u="none" strike="noStrike">
                          <a:solidFill>
                            <a:srgbClr val="FFFFFF"/>
                          </a:solidFill>
                          <a:effectLst/>
                          <a:latin typeface="Calibri" panose="020F0502020204030204" pitchFamily="34" charset="0"/>
                        </a:rPr>
                        <a:t>Industry Title</a:t>
                      </a:r>
                    </a:p>
                  </a:txBody>
                  <a:tcPr marL="7749" marR="7749" marT="7749" marB="0" anchor="ctr">
                    <a:lnL>
                      <a:noFill/>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extLst>
                  <a:ext uri="{0D108BD9-81ED-4DB2-BD59-A6C34878D82A}">
                    <a16:rowId xmlns:a16="http://schemas.microsoft.com/office/drawing/2014/main" val="976223741"/>
                  </a:ext>
                </a:extLst>
              </a:tr>
              <a:tr h="154979">
                <a:tc>
                  <a:txBody>
                    <a:bodyPr/>
                    <a:lstStyle/>
                    <a:p>
                      <a:pPr algn="ctr" fontAlgn="ctr"/>
                      <a:r>
                        <a:rPr lang="en-CA" sz="900" b="0" i="0" u="none" strike="noStrike" dirty="0">
                          <a:solidFill>
                            <a:srgbClr val="000000"/>
                          </a:solidFill>
                          <a:effectLst/>
                          <a:latin typeface="Calibri" panose="020F0502020204030204" pitchFamily="34" charset="0"/>
                        </a:rPr>
                        <a:t>11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US" sz="900" b="0" i="0" u="none" strike="noStrike">
                          <a:solidFill>
                            <a:srgbClr val="000000"/>
                          </a:solidFill>
                          <a:effectLst/>
                          <a:latin typeface="Calibri" panose="020F0502020204030204" pitchFamily="34" charset="0"/>
                        </a:rPr>
                        <a:t>Agriculture, forestry, fishing and hunting</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123905194"/>
                  </a:ext>
                </a:extLst>
              </a:tr>
              <a:tr h="154979">
                <a:tc>
                  <a:txBody>
                    <a:bodyPr/>
                    <a:lstStyle/>
                    <a:p>
                      <a:pPr algn="ctr" fontAlgn="ctr"/>
                      <a:r>
                        <a:rPr lang="en-CA" sz="900" b="0" i="0" u="none" strike="noStrike">
                          <a:solidFill>
                            <a:srgbClr val="000000"/>
                          </a:solidFill>
                          <a:effectLst/>
                          <a:latin typeface="Calibri" panose="020F0502020204030204" pitchFamily="34" charset="0"/>
                        </a:rPr>
                        <a:t>21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Mining, quarrying, and oil and gas extraction</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904674206"/>
                  </a:ext>
                </a:extLst>
              </a:tr>
              <a:tr h="154979">
                <a:tc>
                  <a:txBody>
                    <a:bodyPr/>
                    <a:lstStyle/>
                    <a:p>
                      <a:pPr algn="ctr" fontAlgn="ctr"/>
                      <a:r>
                        <a:rPr lang="en-CA" sz="900" b="0" i="0" u="none" strike="noStrike">
                          <a:solidFill>
                            <a:srgbClr val="000000"/>
                          </a:solidFill>
                          <a:effectLst/>
                          <a:latin typeface="Calibri" panose="020F0502020204030204" pitchFamily="34" charset="0"/>
                        </a:rPr>
                        <a:t>22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Utilities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524483428"/>
                  </a:ext>
                </a:extLst>
              </a:tr>
              <a:tr h="154979">
                <a:tc>
                  <a:txBody>
                    <a:bodyPr/>
                    <a:lstStyle/>
                    <a:p>
                      <a:pPr algn="ctr" fontAlgn="ctr"/>
                      <a:r>
                        <a:rPr lang="en-CA" sz="900" b="0" i="0" u="none" strike="noStrike">
                          <a:solidFill>
                            <a:srgbClr val="000000"/>
                          </a:solidFill>
                          <a:effectLst/>
                          <a:latin typeface="Calibri" panose="020F0502020204030204" pitchFamily="34" charset="0"/>
                        </a:rPr>
                        <a:t>23</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dirty="0">
                          <a:solidFill>
                            <a:srgbClr val="000000"/>
                          </a:solidFill>
                          <a:effectLst/>
                          <a:latin typeface="Calibri" panose="020F0502020204030204" pitchFamily="34" charset="0"/>
                        </a:rPr>
                        <a:t>Construction</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273576931"/>
                  </a:ext>
                </a:extLst>
              </a:tr>
              <a:tr h="154979">
                <a:tc>
                  <a:txBody>
                    <a:bodyPr/>
                    <a:lstStyle/>
                    <a:p>
                      <a:pPr algn="ctr" fontAlgn="ctr"/>
                      <a:r>
                        <a:rPr lang="en-CA" sz="900" b="0" i="0" u="none" strike="noStrike">
                          <a:solidFill>
                            <a:srgbClr val="000000"/>
                          </a:solidFill>
                          <a:effectLst/>
                          <a:latin typeface="Calibri" panose="020F0502020204030204" pitchFamily="34" charset="0"/>
                        </a:rPr>
                        <a:t>31-33</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dirty="0">
                          <a:solidFill>
                            <a:srgbClr val="000000"/>
                          </a:solidFill>
                          <a:effectLst/>
                          <a:latin typeface="Calibri" panose="020F0502020204030204" pitchFamily="34" charset="0"/>
                        </a:rPr>
                        <a:t>Manufacturing</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219662013"/>
                  </a:ext>
                </a:extLst>
              </a:tr>
              <a:tr h="154979">
                <a:tc>
                  <a:txBody>
                    <a:bodyPr/>
                    <a:lstStyle/>
                    <a:p>
                      <a:pPr algn="ctr" fontAlgn="ctr"/>
                      <a:r>
                        <a:rPr lang="en-CA" sz="900" b="0" i="0" u="none" strike="noStrike">
                          <a:solidFill>
                            <a:srgbClr val="000000"/>
                          </a:solidFill>
                          <a:effectLst/>
                          <a:latin typeface="Calibri" panose="020F0502020204030204" pitchFamily="34" charset="0"/>
                        </a:rPr>
                        <a:t>41-42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Wholesale trade</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947916003"/>
                  </a:ext>
                </a:extLst>
              </a:tr>
              <a:tr h="154979">
                <a:tc>
                  <a:txBody>
                    <a:bodyPr/>
                    <a:lstStyle/>
                    <a:p>
                      <a:pPr algn="ctr" fontAlgn="ctr"/>
                      <a:r>
                        <a:rPr lang="en-CA" sz="900" b="0" i="0" u="none" strike="noStrike">
                          <a:solidFill>
                            <a:srgbClr val="000000"/>
                          </a:solidFill>
                          <a:effectLst/>
                          <a:latin typeface="Calibri" panose="020F0502020204030204" pitchFamily="34" charset="0"/>
                        </a:rPr>
                        <a:t>44-45</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Retail trade</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638785947"/>
                  </a:ext>
                </a:extLst>
              </a:tr>
              <a:tr h="154979">
                <a:tc>
                  <a:txBody>
                    <a:bodyPr/>
                    <a:lstStyle/>
                    <a:p>
                      <a:pPr algn="ctr" fontAlgn="ctr"/>
                      <a:r>
                        <a:rPr lang="en-CA" sz="900" b="0" i="0" u="none" strike="noStrike">
                          <a:solidFill>
                            <a:srgbClr val="000000"/>
                          </a:solidFill>
                          <a:effectLst/>
                          <a:latin typeface="Calibri" panose="020F0502020204030204" pitchFamily="34" charset="0"/>
                        </a:rPr>
                        <a:t>48-49</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Transportation and warehousing</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237738475"/>
                  </a:ext>
                </a:extLst>
              </a:tr>
              <a:tr h="154979">
                <a:tc>
                  <a:txBody>
                    <a:bodyPr/>
                    <a:lstStyle/>
                    <a:p>
                      <a:pPr algn="ctr" fontAlgn="ctr"/>
                      <a:r>
                        <a:rPr lang="en-CA" sz="900" b="0" i="0" u="none" strike="noStrike">
                          <a:solidFill>
                            <a:srgbClr val="000000"/>
                          </a:solidFill>
                          <a:effectLst/>
                          <a:latin typeface="Calibri" panose="020F0502020204030204" pitchFamily="34" charset="0"/>
                        </a:rPr>
                        <a:t>51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dirty="0">
                          <a:solidFill>
                            <a:srgbClr val="000000"/>
                          </a:solidFill>
                          <a:effectLst/>
                          <a:latin typeface="Calibri" panose="020F0502020204030204" pitchFamily="34" charset="0"/>
                        </a:rPr>
                        <a:t>Information and cultural industries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12789773"/>
                  </a:ext>
                </a:extLst>
              </a:tr>
              <a:tr h="154979">
                <a:tc>
                  <a:txBody>
                    <a:bodyPr/>
                    <a:lstStyle/>
                    <a:p>
                      <a:pPr algn="ctr" fontAlgn="ctr"/>
                      <a:r>
                        <a:rPr lang="en-CA" sz="900" b="0" i="0" u="none" strike="noStrike">
                          <a:solidFill>
                            <a:srgbClr val="000000"/>
                          </a:solidFill>
                          <a:effectLst/>
                          <a:latin typeface="Calibri" panose="020F0502020204030204" pitchFamily="34" charset="0"/>
                        </a:rPr>
                        <a:t>52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Finance and insurance</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368916587"/>
                  </a:ext>
                </a:extLst>
              </a:tr>
              <a:tr h="154979">
                <a:tc>
                  <a:txBody>
                    <a:bodyPr/>
                    <a:lstStyle/>
                    <a:p>
                      <a:pPr algn="ctr" fontAlgn="ctr"/>
                      <a:r>
                        <a:rPr lang="en-CA" sz="900" b="0" i="0" u="none" strike="noStrike">
                          <a:solidFill>
                            <a:srgbClr val="000000"/>
                          </a:solidFill>
                          <a:effectLst/>
                          <a:latin typeface="Calibri" panose="020F0502020204030204" pitchFamily="34" charset="0"/>
                        </a:rPr>
                        <a:t>53</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US" sz="900" b="0" i="0" u="none" strike="noStrike">
                          <a:solidFill>
                            <a:srgbClr val="000000"/>
                          </a:solidFill>
                          <a:effectLst/>
                          <a:latin typeface="Calibri" panose="020F0502020204030204" pitchFamily="34" charset="0"/>
                        </a:rPr>
                        <a:t>Real estate and rental and leasing</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539510565"/>
                  </a:ext>
                </a:extLst>
              </a:tr>
              <a:tr h="154979">
                <a:tc>
                  <a:txBody>
                    <a:bodyPr/>
                    <a:lstStyle/>
                    <a:p>
                      <a:pPr algn="ctr" fontAlgn="ctr"/>
                      <a:r>
                        <a:rPr lang="en-CA" sz="900" b="0" i="0" u="none" strike="noStrike">
                          <a:solidFill>
                            <a:srgbClr val="000000"/>
                          </a:solidFill>
                          <a:effectLst/>
                          <a:latin typeface="Calibri" panose="020F0502020204030204" pitchFamily="34" charset="0"/>
                        </a:rPr>
                        <a:t>54</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Professional, scientific and technical services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908784120"/>
                  </a:ext>
                </a:extLst>
              </a:tr>
              <a:tr h="154979">
                <a:tc>
                  <a:txBody>
                    <a:bodyPr/>
                    <a:lstStyle/>
                    <a:p>
                      <a:pPr algn="ctr" fontAlgn="ctr"/>
                      <a:r>
                        <a:rPr lang="en-CA" sz="900" b="0" i="0" u="none" strike="noStrike">
                          <a:solidFill>
                            <a:srgbClr val="000000"/>
                          </a:solidFill>
                          <a:effectLst/>
                          <a:latin typeface="Calibri" panose="020F0502020204030204" pitchFamily="34" charset="0"/>
                        </a:rPr>
                        <a:t>55</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US" sz="900" b="0" i="0" u="none" strike="noStrike">
                          <a:solidFill>
                            <a:srgbClr val="000000"/>
                          </a:solidFill>
                          <a:effectLst/>
                          <a:latin typeface="Calibri" panose="020F0502020204030204" pitchFamily="34" charset="0"/>
                        </a:rPr>
                        <a:t>Management of companies and enterprises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21960662"/>
                  </a:ext>
                </a:extLst>
              </a:tr>
              <a:tr h="154979">
                <a:tc>
                  <a:txBody>
                    <a:bodyPr/>
                    <a:lstStyle/>
                    <a:p>
                      <a:pPr algn="ctr" fontAlgn="ctr"/>
                      <a:r>
                        <a:rPr lang="en-CA" sz="900" b="0" i="0" u="none" strike="noStrike">
                          <a:solidFill>
                            <a:srgbClr val="000000"/>
                          </a:solidFill>
                          <a:effectLst/>
                          <a:latin typeface="Calibri" panose="020F0502020204030204" pitchFamily="34" charset="0"/>
                        </a:rPr>
                        <a:t>56</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Administrative and support, waste management and remediation services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999688645"/>
                  </a:ext>
                </a:extLst>
              </a:tr>
              <a:tr h="154979">
                <a:tc>
                  <a:txBody>
                    <a:bodyPr/>
                    <a:lstStyle/>
                    <a:p>
                      <a:pPr algn="ctr" fontAlgn="ctr"/>
                      <a:r>
                        <a:rPr lang="en-CA" sz="900" b="0" i="0" u="none" strike="noStrike">
                          <a:solidFill>
                            <a:srgbClr val="000000"/>
                          </a:solidFill>
                          <a:effectLst/>
                          <a:latin typeface="Calibri" panose="020F0502020204030204" pitchFamily="34" charset="0"/>
                        </a:rPr>
                        <a:t>61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Educational services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301407293"/>
                  </a:ext>
                </a:extLst>
              </a:tr>
              <a:tr h="154979">
                <a:tc>
                  <a:txBody>
                    <a:bodyPr/>
                    <a:lstStyle/>
                    <a:p>
                      <a:pPr algn="ctr" fontAlgn="ctr"/>
                      <a:r>
                        <a:rPr lang="en-CA" sz="900" b="0" i="0" u="none" strike="noStrike">
                          <a:solidFill>
                            <a:srgbClr val="000000"/>
                          </a:solidFill>
                          <a:effectLst/>
                          <a:latin typeface="Calibri" panose="020F0502020204030204" pitchFamily="34" charset="0"/>
                        </a:rPr>
                        <a:t>62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US" sz="900" b="0" i="0" u="none" strike="noStrike">
                          <a:solidFill>
                            <a:srgbClr val="000000"/>
                          </a:solidFill>
                          <a:effectLst/>
                          <a:latin typeface="Calibri" panose="020F0502020204030204" pitchFamily="34" charset="0"/>
                        </a:rPr>
                        <a:t>Health care and socail assistance</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386600499"/>
                  </a:ext>
                </a:extLst>
              </a:tr>
              <a:tr h="154979">
                <a:tc>
                  <a:txBody>
                    <a:bodyPr/>
                    <a:lstStyle/>
                    <a:p>
                      <a:pPr algn="ctr" fontAlgn="ctr"/>
                      <a:r>
                        <a:rPr lang="en-CA" sz="900" b="0" i="0" u="none" strike="noStrike">
                          <a:solidFill>
                            <a:srgbClr val="000000"/>
                          </a:solidFill>
                          <a:effectLst/>
                          <a:latin typeface="Calibri" panose="020F0502020204030204" pitchFamily="34" charset="0"/>
                        </a:rPr>
                        <a:t>71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Arts, entertainment and recreation</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520428774"/>
                  </a:ext>
                </a:extLst>
              </a:tr>
              <a:tr h="154979">
                <a:tc>
                  <a:txBody>
                    <a:bodyPr/>
                    <a:lstStyle/>
                    <a:p>
                      <a:pPr algn="ctr" fontAlgn="ctr"/>
                      <a:r>
                        <a:rPr lang="en-CA" sz="900" b="0" i="0" u="none" strike="noStrike">
                          <a:solidFill>
                            <a:srgbClr val="000000"/>
                          </a:solidFill>
                          <a:effectLst/>
                          <a:latin typeface="Calibri" panose="020F0502020204030204" pitchFamily="34" charset="0"/>
                        </a:rPr>
                        <a:t>72</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Accommodation and food services</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921468085"/>
                  </a:ext>
                </a:extLst>
              </a:tr>
              <a:tr h="154979">
                <a:tc>
                  <a:txBody>
                    <a:bodyPr/>
                    <a:lstStyle/>
                    <a:p>
                      <a:pPr algn="ctr" fontAlgn="ctr"/>
                      <a:r>
                        <a:rPr lang="en-CA" sz="900" b="0" i="0" u="none" strike="noStrike">
                          <a:solidFill>
                            <a:srgbClr val="000000"/>
                          </a:solidFill>
                          <a:effectLst/>
                          <a:latin typeface="Calibri" panose="020F0502020204030204" pitchFamily="34" charset="0"/>
                        </a:rPr>
                        <a:t>81</a:t>
                      </a:r>
                    </a:p>
                  </a:txBody>
                  <a:tcPr marL="7749" marR="7749" marT="7749" marB="0" anchor="ctr">
                    <a:lnL w="12700" cap="flat" cmpd="sng" algn="ctr">
                      <a:solidFill>
                        <a:srgbClr val="0097A9"/>
                      </a:solidFill>
                      <a:prstDash val="solid"/>
                      <a:round/>
                      <a:headEnd type="none" w="med" len="med"/>
                      <a:tailEnd type="none" w="med" len="med"/>
                    </a:lnL>
                    <a:lnR>
                      <a:noFill/>
                    </a:lnR>
                    <a:lnT>
                      <a:noFill/>
                    </a:lnT>
                    <a:lnB>
                      <a:noFill/>
                    </a:lnB>
                    <a:solidFill>
                      <a:srgbClr val="E7EFF1"/>
                    </a:solidFill>
                  </a:tcPr>
                </a:tc>
                <a:tc>
                  <a:txBody>
                    <a:bodyPr/>
                    <a:lstStyle/>
                    <a:p>
                      <a:pPr algn="ctr" fontAlgn="ctr"/>
                      <a:r>
                        <a:rPr lang="en-CA" sz="900" b="0" i="0" u="none" strike="noStrike">
                          <a:solidFill>
                            <a:srgbClr val="000000"/>
                          </a:solidFill>
                          <a:effectLst/>
                          <a:latin typeface="Calibri" panose="020F0502020204030204" pitchFamily="34" charset="0"/>
                        </a:rPr>
                        <a:t>Other services (except public administration)</a:t>
                      </a:r>
                    </a:p>
                  </a:txBody>
                  <a:tcPr marL="7749" marR="7749" marT="7749" marB="0" anchor="ctr">
                    <a:lnL>
                      <a:noFill/>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151924591"/>
                  </a:ext>
                </a:extLst>
              </a:tr>
              <a:tr h="162728">
                <a:tc>
                  <a:txBody>
                    <a:bodyPr/>
                    <a:lstStyle/>
                    <a:p>
                      <a:pPr algn="ctr" fontAlgn="ctr"/>
                      <a:r>
                        <a:rPr lang="en-CA" sz="900" b="0" i="0" u="none" strike="noStrike">
                          <a:solidFill>
                            <a:srgbClr val="000000"/>
                          </a:solidFill>
                          <a:effectLst/>
                          <a:latin typeface="Calibri" panose="020F0502020204030204" pitchFamily="34" charset="0"/>
                        </a:rPr>
                        <a:t>91-92</a:t>
                      </a:r>
                    </a:p>
                  </a:txBody>
                  <a:tcPr marL="7749" marR="7749" marT="7749" marB="0" anchor="ctr">
                    <a:lnL w="12700" cap="flat" cmpd="sng" algn="ctr">
                      <a:solidFill>
                        <a:srgbClr val="0097A9"/>
                      </a:solidFill>
                      <a:prstDash val="solid"/>
                      <a:round/>
                      <a:headEnd type="none" w="med" len="med"/>
                      <a:tailEnd type="none" w="med" len="med"/>
                    </a:lnL>
                    <a:lnR>
                      <a:noFill/>
                    </a:lnR>
                    <a:lnT>
                      <a:noFill/>
                    </a:lnT>
                    <a:lnB w="12700" cap="flat" cmpd="sng" algn="ctr">
                      <a:solidFill>
                        <a:srgbClr val="0097A9"/>
                      </a:solidFill>
                      <a:prstDash val="solid"/>
                      <a:round/>
                      <a:headEnd type="none" w="med" len="med"/>
                      <a:tailEnd type="none" w="med" len="med"/>
                    </a:lnB>
                    <a:solidFill>
                      <a:srgbClr val="FFFFFF"/>
                    </a:solidFill>
                  </a:tcPr>
                </a:tc>
                <a:tc>
                  <a:txBody>
                    <a:bodyPr/>
                    <a:lstStyle/>
                    <a:p>
                      <a:pPr algn="ctr" fontAlgn="ctr"/>
                      <a:r>
                        <a:rPr lang="en-CA" sz="900" b="0" i="0" u="none" strike="noStrike" dirty="0">
                          <a:solidFill>
                            <a:srgbClr val="000000"/>
                          </a:solidFill>
                          <a:effectLst/>
                          <a:latin typeface="Calibri" panose="020F0502020204030204" pitchFamily="34" charset="0"/>
                        </a:rPr>
                        <a:t>Public administration</a:t>
                      </a:r>
                    </a:p>
                  </a:txBody>
                  <a:tcPr marL="7749" marR="7749" marT="7749" marB="0" anchor="ctr">
                    <a:lnL>
                      <a:noFill/>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FFFFFF"/>
                    </a:solidFill>
                  </a:tcPr>
                </a:tc>
                <a:extLst>
                  <a:ext uri="{0D108BD9-81ED-4DB2-BD59-A6C34878D82A}">
                    <a16:rowId xmlns:a16="http://schemas.microsoft.com/office/drawing/2014/main" val="523299959"/>
                  </a:ext>
                </a:extLst>
              </a:tr>
            </a:tbl>
          </a:graphicData>
        </a:graphic>
      </p:graphicFrame>
    </p:spTree>
    <p:extLst>
      <p:ext uri="{BB962C8B-B14F-4D97-AF65-F5344CB8AC3E}">
        <p14:creationId xmlns:p14="http://schemas.microsoft.com/office/powerpoint/2010/main" val="37608991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221768"/>
            <a:ext cx="8280401" cy="397483"/>
          </a:xfrm>
        </p:spPr>
        <p:txBody>
          <a:bodyPr/>
          <a:lstStyle/>
          <a:p>
            <a:r>
              <a:rPr lang="en-US" sz="2400" dirty="0" smtClean="0"/>
              <a:t>Collateral Types</a:t>
            </a:r>
            <a:endParaRPr lang="en-CA" sz="2400" dirty="0"/>
          </a:p>
        </p:txBody>
      </p:sp>
      <p:graphicFrame>
        <p:nvGraphicFramePr>
          <p:cNvPr id="9" name="Table 8"/>
          <p:cNvGraphicFramePr>
            <a:graphicFrameLocks noGrp="1"/>
          </p:cNvGraphicFramePr>
          <p:nvPr>
            <p:extLst>
              <p:ext uri="{D42A27DB-BD31-4B8C-83A1-F6EECF244321}">
                <p14:modId xmlns:p14="http://schemas.microsoft.com/office/powerpoint/2010/main" val="228329006"/>
              </p:ext>
            </p:extLst>
          </p:nvPr>
        </p:nvGraphicFramePr>
        <p:xfrm>
          <a:off x="406202" y="713844"/>
          <a:ext cx="8280402" cy="3908312"/>
        </p:xfrm>
        <a:graphic>
          <a:graphicData uri="http://schemas.openxmlformats.org/drawingml/2006/table">
            <a:tbl>
              <a:tblPr/>
              <a:tblGrid>
                <a:gridCol w="4140201">
                  <a:extLst>
                    <a:ext uri="{9D8B030D-6E8A-4147-A177-3AD203B41FA5}">
                      <a16:colId xmlns:a16="http://schemas.microsoft.com/office/drawing/2014/main" val="2080253695"/>
                    </a:ext>
                  </a:extLst>
                </a:gridCol>
                <a:gridCol w="4140201">
                  <a:extLst>
                    <a:ext uri="{9D8B030D-6E8A-4147-A177-3AD203B41FA5}">
                      <a16:colId xmlns:a16="http://schemas.microsoft.com/office/drawing/2014/main" val="3022522445"/>
                    </a:ext>
                  </a:extLst>
                </a:gridCol>
              </a:tblGrid>
              <a:tr h="117986">
                <a:tc>
                  <a:txBody>
                    <a:bodyPr/>
                    <a:lstStyle/>
                    <a:p>
                      <a:pPr algn="ctr" rtl="0" fontAlgn="ctr"/>
                      <a:r>
                        <a:rPr lang="en-CA" sz="900" b="1" i="0" u="none" strike="noStrike" dirty="0">
                          <a:solidFill>
                            <a:srgbClr val="FFFFFF"/>
                          </a:solidFill>
                          <a:effectLst/>
                          <a:latin typeface="Calibri" panose="020F0502020204030204" pitchFamily="34" charset="0"/>
                        </a:rPr>
                        <a:t>Collateral Group</a:t>
                      </a:r>
                    </a:p>
                  </a:txBody>
                  <a:tcPr marL="5899" marR="5899" marT="5899"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tc>
                  <a:txBody>
                    <a:bodyPr/>
                    <a:lstStyle/>
                    <a:p>
                      <a:pPr algn="ctr" rtl="0" fontAlgn="ctr"/>
                      <a:r>
                        <a:rPr lang="en-CA" sz="900" b="1" i="0" u="none" strike="noStrike">
                          <a:solidFill>
                            <a:srgbClr val="FFFFFF"/>
                          </a:solidFill>
                          <a:effectLst/>
                          <a:latin typeface="Calibri" panose="020F0502020204030204" pitchFamily="34" charset="0"/>
                        </a:rPr>
                        <a:t>Collateral</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extLst>
                  <a:ext uri="{0D108BD9-81ED-4DB2-BD59-A6C34878D82A}">
                    <a16:rowId xmlns:a16="http://schemas.microsoft.com/office/drawing/2014/main" val="4008688330"/>
                  </a:ext>
                </a:extLst>
              </a:tr>
              <a:tr h="117986">
                <a:tc rowSpan="9">
                  <a:txBody>
                    <a:bodyPr/>
                    <a:lstStyle/>
                    <a:p>
                      <a:pPr algn="ctr" rtl="0" fontAlgn="ctr"/>
                      <a:r>
                        <a:rPr lang="en-CA" sz="900" b="0" i="0" u="none" strike="noStrike" dirty="0">
                          <a:solidFill>
                            <a:srgbClr val="000000"/>
                          </a:solidFill>
                          <a:effectLst/>
                          <a:latin typeface="Calibri" panose="020F0502020204030204" pitchFamily="34" charset="0"/>
                        </a:rPr>
                        <a:t>Agricultural Buildings and Equipment</a:t>
                      </a:r>
                    </a:p>
                  </a:txBody>
                  <a:tcPr marL="5899" marR="5899" marT="5899"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a:noFill/>
                    </a:lnT>
                    <a:lnB w="6350" cap="flat" cmpd="sng" algn="ctr">
                      <a:solidFill>
                        <a:srgbClr val="0097A9"/>
                      </a:solidFill>
                      <a:prstDash val="solid"/>
                      <a:round/>
                      <a:headEnd type="none" w="med" len="med"/>
                      <a:tailEnd type="none" w="med" len="med"/>
                    </a:lnB>
                    <a:solidFill>
                      <a:srgbClr val="E7EFF1"/>
                    </a:solidFill>
                  </a:tcPr>
                </a:tc>
                <a:tc>
                  <a:txBody>
                    <a:bodyPr/>
                    <a:lstStyle/>
                    <a:p>
                      <a:pPr algn="ctr" rtl="0" fontAlgn="ctr"/>
                      <a:r>
                        <a:rPr lang="en-CA" sz="900" b="0" i="0" u="none" strike="noStrike">
                          <a:solidFill>
                            <a:srgbClr val="000000"/>
                          </a:solidFill>
                          <a:effectLst/>
                          <a:latin typeface="Calibri" panose="020F0502020204030204" pitchFamily="34" charset="0"/>
                        </a:rPr>
                        <a:t>Agricultural Buildings</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162911063"/>
                  </a:ext>
                </a:extLst>
              </a:tr>
              <a:tr h="117986">
                <a:tc vMerge="1">
                  <a:txBody>
                    <a:bodyPr/>
                    <a:lstStyle/>
                    <a:p>
                      <a:endParaRPr lang="en-CA"/>
                    </a:p>
                  </a:txBody>
                  <a:tcPr/>
                </a:tc>
                <a:tc>
                  <a:txBody>
                    <a:bodyPr/>
                    <a:lstStyle/>
                    <a:p>
                      <a:pPr algn="ctr" rtl="0" fontAlgn="ctr"/>
                      <a:r>
                        <a:rPr lang="en-CA" sz="900" b="0" i="0" u="none" strike="noStrike">
                          <a:solidFill>
                            <a:srgbClr val="000000"/>
                          </a:solidFill>
                          <a:effectLst/>
                          <a:latin typeface="Calibri" panose="020F0502020204030204" pitchFamily="34" charset="0"/>
                        </a:rPr>
                        <a:t>Agricultural Equipment - GPS Systems</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971072954"/>
                  </a:ext>
                </a:extLst>
              </a:tr>
              <a:tr h="117986">
                <a:tc vMerge="1">
                  <a:txBody>
                    <a:bodyPr/>
                    <a:lstStyle/>
                    <a:p>
                      <a:endParaRPr lang="en-CA"/>
                    </a:p>
                  </a:txBody>
                  <a:tcPr/>
                </a:tc>
                <a:tc>
                  <a:txBody>
                    <a:bodyPr/>
                    <a:lstStyle/>
                    <a:p>
                      <a:pPr algn="ctr" rtl="0" fontAlgn="ctr"/>
                      <a:r>
                        <a:rPr lang="en-US" sz="900" b="0" i="0" u="none" strike="noStrike">
                          <a:solidFill>
                            <a:srgbClr val="000000"/>
                          </a:solidFill>
                          <a:effectLst/>
                          <a:latin typeface="Calibri" panose="020F0502020204030204" pitchFamily="34" charset="0"/>
                        </a:rPr>
                        <a:t>Agricultural Equipment - Grain Bins Large</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971628440"/>
                  </a:ext>
                </a:extLst>
              </a:tr>
              <a:tr h="188778">
                <a:tc vMerge="1">
                  <a:txBody>
                    <a:bodyPr/>
                    <a:lstStyle/>
                    <a:p>
                      <a:endParaRPr lang="en-CA"/>
                    </a:p>
                  </a:txBody>
                  <a:tcPr/>
                </a:tc>
                <a:tc>
                  <a:txBody>
                    <a:bodyPr/>
                    <a:lstStyle/>
                    <a:p>
                      <a:pPr algn="ctr" rtl="0" fontAlgn="ctr"/>
                      <a:r>
                        <a:rPr lang="en-US" sz="900" b="0" i="0" u="none" strike="noStrike">
                          <a:solidFill>
                            <a:srgbClr val="000000"/>
                          </a:solidFill>
                          <a:effectLst/>
                          <a:latin typeface="Calibri" panose="020F0502020204030204" pitchFamily="34" charset="0"/>
                        </a:rPr>
                        <a:t>Agricultural Equipment - Grain Bins / Dry Fertilizers Bins - Movable (&lt; 21 ft diameter)</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643119141"/>
                  </a:ext>
                </a:extLst>
              </a:tr>
              <a:tr h="117986">
                <a:tc vMerge="1">
                  <a:txBody>
                    <a:bodyPr/>
                    <a:lstStyle/>
                    <a:p>
                      <a:endParaRPr lang="en-CA"/>
                    </a:p>
                  </a:txBody>
                  <a:tcPr/>
                </a:tc>
                <a:tc>
                  <a:txBody>
                    <a:bodyPr/>
                    <a:lstStyle/>
                    <a:p>
                      <a:pPr algn="ctr" rtl="0" fontAlgn="ctr"/>
                      <a:r>
                        <a:rPr lang="en-CA" sz="900" b="0" i="0" u="none" strike="noStrike">
                          <a:solidFill>
                            <a:srgbClr val="000000"/>
                          </a:solidFill>
                          <a:effectLst/>
                          <a:latin typeface="Calibri" panose="020F0502020204030204" pitchFamily="34" charset="0"/>
                        </a:rPr>
                        <a:t>Agricultural Equipment - Mobile</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070494568"/>
                  </a:ext>
                </a:extLst>
              </a:tr>
              <a:tr h="117986">
                <a:tc vMerge="1">
                  <a:txBody>
                    <a:bodyPr/>
                    <a:lstStyle/>
                    <a:p>
                      <a:endParaRPr lang="en-CA"/>
                    </a:p>
                  </a:txBody>
                  <a:tcPr/>
                </a:tc>
                <a:tc>
                  <a:txBody>
                    <a:bodyPr/>
                    <a:lstStyle/>
                    <a:p>
                      <a:pPr algn="ctr" rtl="0" fontAlgn="ctr"/>
                      <a:r>
                        <a:rPr lang="en-CA" sz="900" b="0" i="0" u="none" strike="noStrike">
                          <a:solidFill>
                            <a:srgbClr val="000000"/>
                          </a:solidFill>
                          <a:effectLst/>
                          <a:latin typeface="Calibri" panose="020F0502020204030204" pitchFamily="34" charset="0"/>
                        </a:rPr>
                        <a:t>Agricultural Equipment - Stationary</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056889070"/>
                  </a:ext>
                </a:extLst>
              </a:tr>
              <a:tr h="117986">
                <a:tc vMerge="1">
                  <a:txBody>
                    <a:bodyPr/>
                    <a:lstStyle/>
                    <a:p>
                      <a:endParaRPr lang="en-CA"/>
                    </a:p>
                  </a:txBody>
                  <a:tcPr/>
                </a:tc>
                <a:tc>
                  <a:txBody>
                    <a:bodyPr/>
                    <a:lstStyle/>
                    <a:p>
                      <a:pPr algn="ctr" rtl="0" fontAlgn="ctr"/>
                      <a:r>
                        <a:rPr lang="en-CA" sz="900" b="0" i="0" u="none" strike="noStrike">
                          <a:solidFill>
                            <a:srgbClr val="000000"/>
                          </a:solidFill>
                          <a:effectLst/>
                          <a:latin typeface="Calibri" panose="020F0502020204030204" pitchFamily="34" charset="0"/>
                        </a:rPr>
                        <a:t>Agricultural Equipment - Fertilizer Tanks</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080892747"/>
                  </a:ext>
                </a:extLst>
              </a:tr>
              <a:tr h="117986">
                <a:tc vMerge="1">
                  <a:txBody>
                    <a:bodyPr/>
                    <a:lstStyle/>
                    <a:p>
                      <a:endParaRPr lang="en-CA"/>
                    </a:p>
                  </a:txBody>
                  <a:tcPr/>
                </a:tc>
                <a:tc>
                  <a:txBody>
                    <a:bodyPr/>
                    <a:lstStyle/>
                    <a:p>
                      <a:pPr algn="ctr" rtl="0" fontAlgn="ctr"/>
                      <a:r>
                        <a:rPr lang="en-CA" sz="900" b="0" i="0" u="none" strike="noStrike">
                          <a:solidFill>
                            <a:srgbClr val="000000"/>
                          </a:solidFill>
                          <a:effectLst/>
                          <a:latin typeface="Calibri" panose="020F0502020204030204" pitchFamily="34" charset="0"/>
                        </a:rPr>
                        <a:t>Anhydrous Ammonia (NH3) Tanks</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192324202"/>
                  </a:ext>
                </a:extLst>
              </a:tr>
              <a:tr h="117986">
                <a:tc vMerge="1">
                  <a:txBody>
                    <a:bodyPr/>
                    <a:lstStyle/>
                    <a:p>
                      <a:endParaRPr lang="en-CA"/>
                    </a:p>
                  </a:txBody>
                  <a:tcPr/>
                </a:tc>
                <a:tc>
                  <a:txBody>
                    <a:bodyPr/>
                    <a:lstStyle/>
                    <a:p>
                      <a:pPr algn="ctr" rtl="0" fontAlgn="ctr"/>
                      <a:r>
                        <a:rPr lang="en-CA" sz="900" b="0" i="0" u="none" strike="noStrike">
                          <a:solidFill>
                            <a:srgbClr val="000000"/>
                          </a:solidFill>
                          <a:effectLst/>
                          <a:latin typeface="Calibri" panose="020F0502020204030204" pitchFamily="34" charset="0"/>
                        </a:rPr>
                        <a:t>Steel Buildings</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6350" cap="flat" cmpd="sng" algn="ctr">
                      <a:solidFill>
                        <a:srgbClr val="0097A9"/>
                      </a:solidFill>
                      <a:prstDash val="solid"/>
                      <a:round/>
                      <a:headEnd type="none" w="med" len="med"/>
                      <a:tailEnd type="none" w="med" len="med"/>
                    </a:lnB>
                    <a:solidFill>
                      <a:srgbClr val="E7EFF1"/>
                    </a:solidFill>
                  </a:tcPr>
                </a:tc>
                <a:extLst>
                  <a:ext uri="{0D108BD9-81ED-4DB2-BD59-A6C34878D82A}">
                    <a16:rowId xmlns:a16="http://schemas.microsoft.com/office/drawing/2014/main" val="194396178"/>
                  </a:ext>
                </a:extLst>
              </a:tr>
              <a:tr h="117986">
                <a:tc rowSpan="3">
                  <a:txBody>
                    <a:bodyPr/>
                    <a:lstStyle/>
                    <a:p>
                      <a:pPr algn="ctr" rtl="0" fontAlgn="ctr"/>
                      <a:r>
                        <a:rPr lang="en-CA" sz="900" b="0" i="0" u="none" strike="noStrike" dirty="0">
                          <a:solidFill>
                            <a:srgbClr val="000000"/>
                          </a:solidFill>
                          <a:effectLst/>
                          <a:latin typeface="Calibri" panose="020F0502020204030204" pitchFamily="34" charset="0"/>
                        </a:rPr>
                        <a:t>Construction Equipment</a:t>
                      </a:r>
                    </a:p>
                  </a:txBody>
                  <a:tcPr marL="5899" marR="5899" marT="5899"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w="6350" cap="flat" cmpd="sng" algn="ctr">
                      <a:solidFill>
                        <a:srgbClr val="0097A9"/>
                      </a:solidFill>
                      <a:prstDash val="solid"/>
                      <a:round/>
                      <a:headEnd type="none" w="med" len="med"/>
                      <a:tailEnd type="none" w="med" len="med"/>
                    </a:lnB>
                  </a:tcPr>
                </a:tc>
                <a:tc>
                  <a:txBody>
                    <a:bodyPr/>
                    <a:lstStyle/>
                    <a:p>
                      <a:pPr algn="ctr" rtl="0" fontAlgn="ctr"/>
                      <a:r>
                        <a:rPr lang="en-CA" sz="900" b="0" i="0" u="none" strike="noStrike">
                          <a:solidFill>
                            <a:srgbClr val="000000"/>
                          </a:solidFill>
                          <a:effectLst/>
                          <a:latin typeface="Calibri" panose="020F0502020204030204" pitchFamily="34" charset="0"/>
                        </a:rPr>
                        <a:t>Construction Equipment - Other</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a:noFill/>
                    </a:lnB>
                  </a:tcPr>
                </a:tc>
                <a:extLst>
                  <a:ext uri="{0D108BD9-81ED-4DB2-BD59-A6C34878D82A}">
                    <a16:rowId xmlns:a16="http://schemas.microsoft.com/office/drawing/2014/main" val="1688864814"/>
                  </a:ext>
                </a:extLst>
              </a:tr>
              <a:tr h="117986">
                <a:tc vMerge="1">
                  <a:txBody>
                    <a:bodyPr/>
                    <a:lstStyle/>
                    <a:p>
                      <a:endParaRPr lang="en-CA"/>
                    </a:p>
                  </a:txBody>
                  <a:tcPr/>
                </a:tc>
                <a:tc>
                  <a:txBody>
                    <a:bodyPr/>
                    <a:lstStyle/>
                    <a:p>
                      <a:pPr algn="ctr" rtl="0" fontAlgn="ctr"/>
                      <a:r>
                        <a:rPr lang="en-CA" sz="900" b="0" i="0" u="none" strike="noStrike" dirty="0">
                          <a:solidFill>
                            <a:srgbClr val="000000"/>
                          </a:solidFill>
                          <a:effectLst/>
                          <a:latin typeface="Calibri" panose="020F0502020204030204" pitchFamily="34" charset="0"/>
                        </a:rPr>
                        <a:t>Construction Equipment - Self Propelled</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576701887"/>
                  </a:ext>
                </a:extLst>
              </a:tr>
              <a:tr h="117986">
                <a:tc vMerge="1">
                  <a:txBody>
                    <a:bodyPr/>
                    <a:lstStyle/>
                    <a:p>
                      <a:endParaRPr lang="en-CA"/>
                    </a:p>
                  </a:txBody>
                  <a:tcPr/>
                </a:tc>
                <a:tc>
                  <a:txBody>
                    <a:bodyPr/>
                    <a:lstStyle/>
                    <a:p>
                      <a:pPr algn="ctr" rtl="0" fontAlgn="ctr"/>
                      <a:r>
                        <a:rPr lang="en-US" sz="900" b="0" i="0" u="none" strike="noStrike" dirty="0">
                          <a:solidFill>
                            <a:srgbClr val="000000"/>
                          </a:solidFill>
                          <a:effectLst/>
                          <a:latin typeface="Calibri" panose="020F0502020204030204" pitchFamily="34" charset="0"/>
                        </a:rPr>
                        <a:t>Construction Equipment - Towed by Vehicle</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6350" cap="flat" cmpd="sng" algn="ctr">
                      <a:solidFill>
                        <a:srgbClr val="0097A9"/>
                      </a:solidFill>
                      <a:prstDash val="solid"/>
                      <a:round/>
                      <a:headEnd type="none" w="med" len="med"/>
                      <a:tailEnd type="none" w="med" len="med"/>
                    </a:lnB>
                  </a:tcPr>
                </a:tc>
                <a:extLst>
                  <a:ext uri="{0D108BD9-81ED-4DB2-BD59-A6C34878D82A}">
                    <a16:rowId xmlns:a16="http://schemas.microsoft.com/office/drawing/2014/main" val="4202180561"/>
                  </a:ext>
                </a:extLst>
              </a:tr>
              <a:tr h="117986">
                <a:tc rowSpan="14">
                  <a:txBody>
                    <a:bodyPr/>
                    <a:lstStyle/>
                    <a:p>
                      <a:pPr algn="ctr" rtl="0" fontAlgn="ctr"/>
                      <a:r>
                        <a:rPr lang="en-CA" sz="900" b="0" i="0" u="none" strike="noStrike">
                          <a:solidFill>
                            <a:srgbClr val="000000"/>
                          </a:solidFill>
                          <a:effectLst/>
                          <a:latin typeface="Calibri" panose="020F0502020204030204" pitchFamily="34" charset="0"/>
                        </a:rPr>
                        <a:t>Industrial Equipment</a:t>
                      </a:r>
                    </a:p>
                  </a:txBody>
                  <a:tcPr marL="5899" marR="5899" marT="5899"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E7EFF1"/>
                    </a:solidFill>
                  </a:tcPr>
                </a:tc>
                <a:tc>
                  <a:txBody>
                    <a:bodyPr/>
                    <a:lstStyle/>
                    <a:p>
                      <a:pPr algn="ctr" rtl="0" fontAlgn="ctr"/>
                      <a:r>
                        <a:rPr lang="en-CA" sz="900" b="0" i="0" u="none" strike="noStrike" dirty="0">
                          <a:solidFill>
                            <a:srgbClr val="000000"/>
                          </a:solidFill>
                          <a:effectLst/>
                          <a:latin typeface="Calibri" panose="020F0502020204030204" pitchFamily="34" charset="0"/>
                        </a:rPr>
                        <a:t>Aerial Lifts / Skyjacks</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408789438"/>
                  </a:ext>
                </a:extLst>
              </a:tr>
              <a:tr h="117986">
                <a:tc vMerge="1">
                  <a:txBody>
                    <a:bodyPr/>
                    <a:lstStyle/>
                    <a:p>
                      <a:endParaRPr lang="en-CA"/>
                    </a:p>
                  </a:txBody>
                  <a:tcPr/>
                </a:tc>
                <a:tc>
                  <a:txBody>
                    <a:bodyPr/>
                    <a:lstStyle/>
                    <a:p>
                      <a:pPr algn="ctr" rtl="0" fontAlgn="ctr"/>
                      <a:r>
                        <a:rPr lang="en-CA" sz="900" b="0" i="0" u="none" strike="noStrike" dirty="0">
                          <a:solidFill>
                            <a:srgbClr val="000000"/>
                          </a:solidFill>
                          <a:effectLst/>
                          <a:latin typeface="Calibri" panose="020F0502020204030204" pitchFamily="34" charset="0"/>
                        </a:rPr>
                        <a:t>Forestry Equipment</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4283706627"/>
                  </a:ext>
                </a:extLst>
              </a:tr>
              <a:tr h="117986">
                <a:tc vMerge="1">
                  <a:txBody>
                    <a:bodyPr/>
                    <a:lstStyle/>
                    <a:p>
                      <a:endParaRPr lang="en-CA"/>
                    </a:p>
                  </a:txBody>
                  <a:tcPr/>
                </a:tc>
                <a:tc>
                  <a:txBody>
                    <a:bodyPr/>
                    <a:lstStyle/>
                    <a:p>
                      <a:pPr algn="ctr" rtl="0" fontAlgn="ctr"/>
                      <a:r>
                        <a:rPr lang="en-CA" sz="900" b="0" i="0" u="none" strike="noStrike" dirty="0">
                          <a:solidFill>
                            <a:srgbClr val="000000"/>
                          </a:solidFill>
                          <a:effectLst/>
                          <a:latin typeface="Calibri" panose="020F0502020204030204" pitchFamily="34" charset="0"/>
                        </a:rPr>
                        <a:t>Furnaces</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095110517"/>
                  </a:ext>
                </a:extLst>
              </a:tr>
              <a:tr h="117986">
                <a:tc vMerge="1">
                  <a:txBody>
                    <a:bodyPr/>
                    <a:lstStyle/>
                    <a:p>
                      <a:endParaRPr lang="en-CA"/>
                    </a:p>
                  </a:txBody>
                  <a:tcPr/>
                </a:tc>
                <a:tc>
                  <a:txBody>
                    <a:bodyPr/>
                    <a:lstStyle/>
                    <a:p>
                      <a:pPr algn="ctr" rtl="0" fontAlgn="ctr"/>
                      <a:r>
                        <a:rPr lang="en-CA" sz="900" b="0" i="0" u="none" strike="noStrike" dirty="0">
                          <a:solidFill>
                            <a:srgbClr val="000000"/>
                          </a:solidFill>
                          <a:effectLst/>
                          <a:latin typeface="Calibri" panose="020F0502020204030204" pitchFamily="34" charset="0"/>
                        </a:rPr>
                        <a:t>Industrial and Manufacturing Equipment</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328060045"/>
                  </a:ext>
                </a:extLst>
              </a:tr>
              <a:tr h="117986">
                <a:tc vMerge="1">
                  <a:txBody>
                    <a:bodyPr/>
                    <a:lstStyle/>
                    <a:p>
                      <a:endParaRPr lang="en-CA"/>
                    </a:p>
                  </a:txBody>
                  <a:tcPr/>
                </a:tc>
                <a:tc>
                  <a:txBody>
                    <a:bodyPr/>
                    <a:lstStyle/>
                    <a:p>
                      <a:pPr algn="ctr" rtl="0" fontAlgn="ctr"/>
                      <a:r>
                        <a:rPr lang="en-CA" sz="900" b="0" i="0" u="none" strike="noStrike" dirty="0">
                          <a:solidFill>
                            <a:srgbClr val="000000"/>
                          </a:solidFill>
                          <a:effectLst/>
                          <a:latin typeface="Calibri" panose="020F0502020204030204" pitchFamily="34" charset="0"/>
                        </a:rPr>
                        <a:t>Industrial Printing Equipment</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882398792"/>
                  </a:ext>
                </a:extLst>
              </a:tr>
              <a:tr h="117986">
                <a:tc vMerge="1">
                  <a:txBody>
                    <a:bodyPr/>
                    <a:lstStyle/>
                    <a:p>
                      <a:endParaRPr lang="en-CA"/>
                    </a:p>
                  </a:txBody>
                  <a:tcPr/>
                </a:tc>
                <a:tc>
                  <a:txBody>
                    <a:bodyPr/>
                    <a:lstStyle/>
                    <a:p>
                      <a:pPr algn="ctr" rtl="0" fontAlgn="ctr"/>
                      <a:r>
                        <a:rPr lang="en-CA" sz="900" b="0" i="0" u="none" strike="noStrike" dirty="0">
                          <a:solidFill>
                            <a:srgbClr val="000000"/>
                          </a:solidFill>
                          <a:effectLst/>
                          <a:latin typeface="Calibri" panose="020F0502020204030204" pitchFamily="34" charset="0"/>
                        </a:rPr>
                        <a:t>Landscaping Equipment</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885631952"/>
                  </a:ext>
                </a:extLst>
              </a:tr>
              <a:tr h="117986">
                <a:tc vMerge="1">
                  <a:txBody>
                    <a:bodyPr/>
                    <a:lstStyle/>
                    <a:p>
                      <a:endParaRPr lang="en-CA"/>
                    </a:p>
                  </a:txBody>
                  <a:tcPr/>
                </a:tc>
                <a:tc>
                  <a:txBody>
                    <a:bodyPr/>
                    <a:lstStyle/>
                    <a:p>
                      <a:pPr algn="ctr" rtl="0" fontAlgn="ctr"/>
                      <a:r>
                        <a:rPr lang="en-CA" sz="900" b="0" i="0" u="none" strike="noStrike" dirty="0">
                          <a:solidFill>
                            <a:srgbClr val="000000"/>
                          </a:solidFill>
                          <a:effectLst/>
                          <a:latin typeface="Calibri" panose="020F0502020204030204" pitchFamily="34" charset="0"/>
                        </a:rPr>
                        <a:t>Portable / Modular Office Trailers</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725097256"/>
                  </a:ext>
                </a:extLst>
              </a:tr>
              <a:tr h="117986">
                <a:tc vMerge="1">
                  <a:txBody>
                    <a:bodyPr/>
                    <a:lstStyle/>
                    <a:p>
                      <a:endParaRPr lang="en-CA"/>
                    </a:p>
                  </a:txBody>
                  <a:tcPr/>
                </a:tc>
                <a:tc>
                  <a:txBody>
                    <a:bodyPr/>
                    <a:lstStyle/>
                    <a:p>
                      <a:pPr algn="ctr" rtl="0" fontAlgn="ctr"/>
                      <a:r>
                        <a:rPr lang="en-CA" sz="900" b="0" i="0" u="none" strike="noStrike" dirty="0">
                          <a:solidFill>
                            <a:srgbClr val="000000"/>
                          </a:solidFill>
                          <a:effectLst/>
                          <a:latin typeface="Calibri" panose="020F0502020204030204" pitchFamily="34" charset="0"/>
                        </a:rPr>
                        <a:t>Propane Tanks</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754798075"/>
                  </a:ext>
                </a:extLst>
              </a:tr>
              <a:tr h="117986">
                <a:tc vMerge="1">
                  <a:txBody>
                    <a:bodyPr/>
                    <a:lstStyle/>
                    <a:p>
                      <a:endParaRPr lang="en-CA"/>
                    </a:p>
                  </a:txBody>
                  <a:tcPr/>
                </a:tc>
                <a:tc>
                  <a:txBody>
                    <a:bodyPr/>
                    <a:lstStyle/>
                    <a:p>
                      <a:pPr algn="ctr" rtl="0" fontAlgn="ctr"/>
                      <a:r>
                        <a:rPr lang="en-CA" sz="900" b="0" i="0" u="none" strike="noStrike" dirty="0" smtClean="0">
                          <a:solidFill>
                            <a:srgbClr val="000000"/>
                          </a:solidFill>
                          <a:effectLst/>
                          <a:latin typeface="Calibri" panose="020F0502020204030204" pitchFamily="34" charset="0"/>
                        </a:rPr>
                        <a:t>Skid</a:t>
                      </a:r>
                      <a:r>
                        <a:rPr lang="en-CA" sz="900" b="0" i="0" u="none" strike="noStrike" baseline="0" dirty="0" smtClean="0">
                          <a:solidFill>
                            <a:srgbClr val="000000"/>
                          </a:solidFill>
                          <a:effectLst/>
                          <a:latin typeface="Calibri" panose="020F0502020204030204" pitchFamily="34" charset="0"/>
                        </a:rPr>
                        <a:t> S</a:t>
                      </a:r>
                      <a:r>
                        <a:rPr lang="en-CA" sz="900" b="0" i="0" u="none" strike="noStrike" dirty="0" smtClean="0">
                          <a:solidFill>
                            <a:srgbClr val="000000"/>
                          </a:solidFill>
                          <a:effectLst/>
                          <a:latin typeface="Calibri" panose="020F0502020204030204" pitchFamily="34" charset="0"/>
                        </a:rPr>
                        <a:t>teer </a:t>
                      </a:r>
                      <a:r>
                        <a:rPr lang="en-CA" sz="900" b="0" i="0" u="none" strike="noStrike" dirty="0">
                          <a:solidFill>
                            <a:srgbClr val="000000"/>
                          </a:solidFill>
                          <a:effectLst/>
                          <a:latin typeface="Calibri" panose="020F0502020204030204" pitchFamily="34" charset="0"/>
                        </a:rPr>
                        <a:t>Loaders / Bobcats</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165990801"/>
                  </a:ext>
                </a:extLst>
              </a:tr>
              <a:tr h="117986">
                <a:tc vMerge="1">
                  <a:txBody>
                    <a:bodyPr/>
                    <a:lstStyle/>
                    <a:p>
                      <a:endParaRPr lang="en-CA"/>
                    </a:p>
                  </a:txBody>
                  <a:tcPr/>
                </a:tc>
                <a:tc>
                  <a:txBody>
                    <a:bodyPr/>
                    <a:lstStyle/>
                    <a:p>
                      <a:pPr algn="ctr" rtl="0" fontAlgn="ctr"/>
                      <a:r>
                        <a:rPr lang="en-US" sz="900" b="0" i="0" u="none" strike="noStrike" dirty="0">
                          <a:solidFill>
                            <a:srgbClr val="000000"/>
                          </a:solidFill>
                          <a:effectLst/>
                          <a:latin typeface="Calibri" panose="020F0502020204030204" pitchFamily="34" charset="0"/>
                        </a:rPr>
                        <a:t>Storage Tanks - Above </a:t>
                      </a:r>
                      <a:r>
                        <a:rPr lang="en-US" sz="900" b="0" i="0" u="none" strike="noStrike" dirty="0" smtClean="0">
                          <a:solidFill>
                            <a:srgbClr val="000000"/>
                          </a:solidFill>
                          <a:effectLst/>
                          <a:latin typeface="Calibri" panose="020F0502020204030204" pitchFamily="34" charset="0"/>
                        </a:rPr>
                        <a:t>Ground </a:t>
                      </a:r>
                      <a:r>
                        <a:rPr lang="en-US" sz="900" b="0" i="0" u="none" strike="noStrike" dirty="0">
                          <a:solidFill>
                            <a:srgbClr val="000000"/>
                          </a:solidFill>
                          <a:effectLst/>
                          <a:latin typeface="Calibri" panose="020F0502020204030204" pitchFamily="34" charset="0"/>
                        </a:rPr>
                        <a:t>/ Other</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525000943"/>
                  </a:ext>
                </a:extLst>
              </a:tr>
              <a:tr h="117986">
                <a:tc vMerge="1">
                  <a:txBody>
                    <a:bodyPr/>
                    <a:lstStyle/>
                    <a:p>
                      <a:endParaRPr lang="en-CA"/>
                    </a:p>
                  </a:txBody>
                  <a:tcPr/>
                </a:tc>
                <a:tc>
                  <a:txBody>
                    <a:bodyPr/>
                    <a:lstStyle/>
                    <a:p>
                      <a:pPr algn="ctr" rtl="0" fontAlgn="ctr"/>
                      <a:r>
                        <a:rPr lang="en-CA" sz="900" b="0" i="0" u="none" strike="noStrike" dirty="0">
                          <a:solidFill>
                            <a:srgbClr val="000000"/>
                          </a:solidFill>
                          <a:effectLst/>
                          <a:latin typeface="Calibri" panose="020F0502020204030204" pitchFamily="34" charset="0"/>
                        </a:rPr>
                        <a:t>Surveying Equipment</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323097877"/>
                  </a:ext>
                </a:extLst>
              </a:tr>
              <a:tr h="117986">
                <a:tc vMerge="1">
                  <a:txBody>
                    <a:bodyPr/>
                    <a:lstStyle/>
                    <a:p>
                      <a:endParaRPr lang="en-CA"/>
                    </a:p>
                  </a:txBody>
                  <a:tcPr/>
                </a:tc>
                <a:tc>
                  <a:txBody>
                    <a:bodyPr/>
                    <a:lstStyle/>
                    <a:p>
                      <a:pPr algn="ctr" rtl="0" fontAlgn="ctr"/>
                      <a:r>
                        <a:rPr lang="en-CA" sz="900" b="0" i="0" u="none" strike="noStrike" dirty="0">
                          <a:solidFill>
                            <a:srgbClr val="000000"/>
                          </a:solidFill>
                          <a:effectLst/>
                          <a:latin typeface="Calibri" panose="020F0502020204030204" pitchFamily="34" charset="0"/>
                        </a:rPr>
                        <a:t>Warehouse Equipment</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712715786"/>
                  </a:ext>
                </a:extLst>
              </a:tr>
              <a:tr h="117986">
                <a:tc vMerge="1">
                  <a:txBody>
                    <a:bodyPr/>
                    <a:lstStyle/>
                    <a:p>
                      <a:endParaRPr lang="en-CA"/>
                    </a:p>
                  </a:txBody>
                  <a:tcPr/>
                </a:tc>
                <a:tc>
                  <a:txBody>
                    <a:bodyPr/>
                    <a:lstStyle/>
                    <a:p>
                      <a:pPr algn="ctr" rtl="0" fontAlgn="ctr"/>
                      <a:r>
                        <a:rPr lang="en-CA" sz="900" b="0" i="0" u="none" strike="noStrike" dirty="0">
                          <a:solidFill>
                            <a:srgbClr val="000000"/>
                          </a:solidFill>
                          <a:effectLst/>
                          <a:latin typeface="Calibri" panose="020F0502020204030204" pitchFamily="34" charset="0"/>
                        </a:rPr>
                        <a:t>Welding Equipment</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791449145"/>
                  </a:ext>
                </a:extLst>
              </a:tr>
              <a:tr h="123885">
                <a:tc vMerge="1">
                  <a:txBody>
                    <a:bodyPr/>
                    <a:lstStyle/>
                    <a:p>
                      <a:endParaRPr lang="en-CA"/>
                    </a:p>
                  </a:txBody>
                  <a:tcPr/>
                </a:tc>
                <a:tc>
                  <a:txBody>
                    <a:bodyPr/>
                    <a:lstStyle/>
                    <a:p>
                      <a:pPr algn="ctr" rtl="0" fontAlgn="ctr"/>
                      <a:r>
                        <a:rPr lang="en-CA" sz="900" b="0" i="0" u="none" strike="noStrike" dirty="0">
                          <a:solidFill>
                            <a:srgbClr val="000000"/>
                          </a:solidFill>
                          <a:effectLst/>
                          <a:latin typeface="Calibri" panose="020F0502020204030204" pitchFamily="34" charset="0"/>
                        </a:rPr>
                        <a:t>Wood Processing Equipment</a:t>
                      </a:r>
                    </a:p>
                  </a:txBody>
                  <a:tcPr marL="5899" marR="5899" marT="5899"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FFFFFF"/>
                    </a:solidFill>
                  </a:tcPr>
                </a:tc>
                <a:extLst>
                  <a:ext uri="{0D108BD9-81ED-4DB2-BD59-A6C34878D82A}">
                    <a16:rowId xmlns:a16="http://schemas.microsoft.com/office/drawing/2014/main" val="3141995625"/>
                  </a:ext>
                </a:extLst>
              </a:tr>
            </a:tbl>
          </a:graphicData>
        </a:graphic>
      </p:graphicFrame>
    </p:spTree>
    <p:extLst>
      <p:ext uri="{BB962C8B-B14F-4D97-AF65-F5344CB8AC3E}">
        <p14:creationId xmlns:p14="http://schemas.microsoft.com/office/powerpoint/2010/main" val="18503553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221768"/>
            <a:ext cx="8280401" cy="397483"/>
          </a:xfrm>
        </p:spPr>
        <p:txBody>
          <a:bodyPr/>
          <a:lstStyle/>
          <a:p>
            <a:r>
              <a:rPr lang="en-US" sz="2400" dirty="0" smtClean="0"/>
              <a:t>Collateral Types</a:t>
            </a:r>
            <a:endParaRPr lang="en-CA" sz="2400" dirty="0"/>
          </a:p>
        </p:txBody>
      </p:sp>
      <p:graphicFrame>
        <p:nvGraphicFramePr>
          <p:cNvPr id="3" name="Table 2"/>
          <p:cNvGraphicFramePr>
            <a:graphicFrameLocks noGrp="1"/>
          </p:cNvGraphicFramePr>
          <p:nvPr>
            <p:extLst>
              <p:ext uri="{D42A27DB-BD31-4B8C-83A1-F6EECF244321}">
                <p14:modId xmlns:p14="http://schemas.microsoft.com/office/powerpoint/2010/main" val="2181462285"/>
              </p:ext>
            </p:extLst>
          </p:nvPr>
        </p:nvGraphicFramePr>
        <p:xfrm>
          <a:off x="406203" y="739069"/>
          <a:ext cx="8280400" cy="3820553"/>
        </p:xfrm>
        <a:graphic>
          <a:graphicData uri="http://schemas.openxmlformats.org/drawingml/2006/table">
            <a:tbl>
              <a:tblPr/>
              <a:tblGrid>
                <a:gridCol w="4140200">
                  <a:extLst>
                    <a:ext uri="{9D8B030D-6E8A-4147-A177-3AD203B41FA5}">
                      <a16:colId xmlns:a16="http://schemas.microsoft.com/office/drawing/2014/main" val="1882363805"/>
                    </a:ext>
                  </a:extLst>
                </a:gridCol>
                <a:gridCol w="4140200">
                  <a:extLst>
                    <a:ext uri="{9D8B030D-6E8A-4147-A177-3AD203B41FA5}">
                      <a16:colId xmlns:a16="http://schemas.microsoft.com/office/drawing/2014/main" val="1332529701"/>
                    </a:ext>
                  </a:extLst>
                </a:gridCol>
              </a:tblGrid>
              <a:tr h="125260">
                <a:tc>
                  <a:txBody>
                    <a:bodyPr/>
                    <a:lstStyle/>
                    <a:p>
                      <a:pPr algn="ctr" rtl="0" fontAlgn="ctr"/>
                      <a:r>
                        <a:rPr lang="en-CA" sz="800" b="1" i="0" u="none" strike="noStrike" dirty="0">
                          <a:solidFill>
                            <a:srgbClr val="FFFFFF"/>
                          </a:solidFill>
                          <a:effectLst/>
                          <a:latin typeface="Calibri" panose="020F0502020204030204" pitchFamily="34" charset="0"/>
                        </a:rPr>
                        <a:t>Collateral Group</a:t>
                      </a:r>
                    </a:p>
                  </a:txBody>
                  <a:tcPr marL="5305" marR="5305" marT="5305"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6350" cap="flat" cmpd="sng" algn="ctr">
                      <a:solidFill>
                        <a:srgbClr val="0097A9"/>
                      </a:solidFill>
                      <a:prstDash val="solid"/>
                      <a:round/>
                      <a:headEnd type="none" w="med" len="med"/>
                      <a:tailEnd type="none" w="med" len="med"/>
                    </a:lnB>
                    <a:solidFill>
                      <a:srgbClr val="0097A9"/>
                    </a:solidFill>
                  </a:tcPr>
                </a:tc>
                <a:tc>
                  <a:txBody>
                    <a:bodyPr/>
                    <a:lstStyle/>
                    <a:p>
                      <a:pPr algn="ctr" rtl="0" fontAlgn="ctr"/>
                      <a:r>
                        <a:rPr lang="en-CA" sz="800" b="1" i="0" u="none" strike="noStrike">
                          <a:solidFill>
                            <a:srgbClr val="FFFFFF"/>
                          </a:solidFill>
                          <a:effectLst/>
                          <a:latin typeface="Calibri" panose="020F0502020204030204" pitchFamily="34" charset="0"/>
                        </a:rPr>
                        <a:t>Collateral</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w="6350" cap="flat" cmpd="sng" algn="ctr">
                      <a:solidFill>
                        <a:srgbClr val="0097A9"/>
                      </a:solidFill>
                      <a:prstDash val="solid"/>
                      <a:round/>
                      <a:headEnd type="none" w="med" len="med"/>
                      <a:tailEnd type="none" w="med" len="med"/>
                    </a:lnB>
                    <a:solidFill>
                      <a:srgbClr val="0097A9"/>
                    </a:solidFill>
                  </a:tcPr>
                </a:tc>
                <a:extLst>
                  <a:ext uri="{0D108BD9-81ED-4DB2-BD59-A6C34878D82A}">
                    <a16:rowId xmlns:a16="http://schemas.microsoft.com/office/drawing/2014/main" val="2046179261"/>
                  </a:ext>
                </a:extLst>
              </a:tr>
              <a:tr h="125260">
                <a:tc rowSpan="12">
                  <a:txBody>
                    <a:bodyPr/>
                    <a:lstStyle/>
                    <a:p>
                      <a:pPr algn="ctr" rtl="0" fontAlgn="ctr"/>
                      <a:r>
                        <a:rPr lang="en-CA" sz="800" b="0" i="0" u="none" strike="noStrike" dirty="0">
                          <a:solidFill>
                            <a:srgbClr val="000000"/>
                          </a:solidFill>
                          <a:effectLst/>
                          <a:latin typeface="Calibri" panose="020F0502020204030204" pitchFamily="34" charset="0"/>
                        </a:rPr>
                        <a:t>Medical Equipment</a:t>
                      </a:r>
                    </a:p>
                  </a:txBody>
                  <a:tcPr marL="5305" marR="5305" marT="5305"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w="6350" cap="flat" cmpd="sng" algn="ctr">
                      <a:solidFill>
                        <a:srgbClr val="0097A9"/>
                      </a:solidFill>
                      <a:prstDash val="solid"/>
                      <a:round/>
                      <a:headEnd type="none" w="med" len="med"/>
                      <a:tailEnd type="none" w="med" len="med"/>
                    </a:lnB>
                    <a:solidFill>
                      <a:srgbClr val="FFFFFF"/>
                    </a:solidFill>
                  </a:tcPr>
                </a:tc>
                <a:tc>
                  <a:txBody>
                    <a:bodyPr/>
                    <a:lstStyle/>
                    <a:p>
                      <a:pPr algn="ctr" rtl="0" fontAlgn="ctr"/>
                      <a:r>
                        <a:rPr lang="en-CA" sz="800" b="0" i="0" u="none" strike="noStrike">
                          <a:solidFill>
                            <a:srgbClr val="000000"/>
                          </a:solidFill>
                          <a:effectLst/>
                          <a:latin typeface="Calibri" panose="020F0502020204030204" pitchFamily="34" charset="0"/>
                        </a:rPr>
                        <a:t>Aesthetic Equipment - Commercial Market</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535388082"/>
                  </a:ext>
                </a:extLst>
              </a:tr>
              <a:tr h="125260">
                <a:tc vMerge="1">
                  <a:txBody>
                    <a:bodyPr/>
                    <a:lstStyle/>
                    <a:p>
                      <a:endParaRPr lang="en-CA"/>
                    </a:p>
                  </a:txBody>
                  <a:tcPr/>
                </a:tc>
                <a:tc>
                  <a:txBody>
                    <a:bodyPr/>
                    <a:lstStyle/>
                    <a:p>
                      <a:pPr algn="ctr" rtl="0" fontAlgn="ctr"/>
                      <a:r>
                        <a:rPr lang="en-US" sz="800" b="0" i="0" u="none" strike="noStrike">
                          <a:solidFill>
                            <a:srgbClr val="000000"/>
                          </a:solidFill>
                          <a:effectLst/>
                          <a:latin typeface="Calibri" panose="020F0502020204030204" pitchFamily="34" charset="0"/>
                        </a:rPr>
                        <a:t>Medical &amp; Lab Equipment - Commercial Market</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524970996"/>
                  </a:ext>
                </a:extLst>
              </a:tr>
              <a:tr h="125260">
                <a:tc vMerge="1">
                  <a:txBody>
                    <a:bodyPr/>
                    <a:lstStyle/>
                    <a:p>
                      <a:endParaRPr lang="en-CA"/>
                    </a:p>
                  </a:txBody>
                  <a:tcPr/>
                </a:tc>
                <a:tc>
                  <a:txBody>
                    <a:bodyPr/>
                    <a:lstStyle/>
                    <a:p>
                      <a:pPr algn="ctr" fontAlgn="ctr"/>
                      <a:r>
                        <a:rPr lang="en-US" sz="800" b="0" i="0" u="none" strike="noStrike">
                          <a:solidFill>
                            <a:srgbClr val="000000"/>
                          </a:solidFill>
                          <a:effectLst/>
                          <a:latin typeface="Calibri" panose="020F0502020204030204" pitchFamily="34" charset="0"/>
                        </a:rPr>
                        <a:t>Medical Equipment - Aesthetic Equipment, Doctors Only</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484407111"/>
                  </a:ext>
                </a:extLst>
              </a:tr>
              <a:tr h="131028">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Equipment - Chiropractic</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558280230"/>
                  </a:ext>
                </a:extLst>
              </a:tr>
              <a:tr h="12526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Equipment - Defibrillators</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748163300"/>
                  </a:ext>
                </a:extLst>
              </a:tr>
              <a:tr h="12526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Equipment - Dental</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249451885"/>
                  </a:ext>
                </a:extLst>
              </a:tr>
              <a:tr h="12526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Equipment - General</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748370423"/>
                  </a:ext>
                </a:extLst>
              </a:tr>
              <a:tr h="12526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Equipment - Optometric</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145652230"/>
                  </a:ext>
                </a:extLst>
              </a:tr>
              <a:tr h="12526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Equipment - Veterinary</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4159126092"/>
                  </a:ext>
                </a:extLst>
              </a:tr>
              <a:tr h="125260">
                <a:tc vMerge="1">
                  <a:txBody>
                    <a:bodyPr/>
                    <a:lstStyle/>
                    <a:p>
                      <a:endParaRPr lang="en-CA"/>
                    </a:p>
                  </a:txBody>
                  <a:tcPr/>
                </a:tc>
                <a:tc>
                  <a:txBody>
                    <a:bodyPr/>
                    <a:lstStyle/>
                    <a:p>
                      <a:pPr algn="ctr" fontAlgn="ctr"/>
                      <a:r>
                        <a:rPr lang="en-CA" sz="800" b="0" i="0" u="none" strike="noStrike">
                          <a:solidFill>
                            <a:srgbClr val="000000"/>
                          </a:solidFill>
                          <a:effectLst/>
                          <a:latin typeface="Calibri" panose="020F0502020204030204" pitchFamily="34" charset="0"/>
                        </a:rPr>
                        <a:t>Medical Leaseholds</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785106017"/>
                  </a:ext>
                </a:extLst>
              </a:tr>
              <a:tr h="125260">
                <a:tc vMerge="1">
                  <a:txBody>
                    <a:bodyPr/>
                    <a:lstStyle/>
                    <a:p>
                      <a:endParaRPr lang="en-CA"/>
                    </a:p>
                  </a:txBody>
                  <a:tcPr/>
                </a:tc>
                <a:tc>
                  <a:txBody>
                    <a:bodyPr/>
                    <a:lstStyle/>
                    <a:p>
                      <a:pPr algn="ctr" rtl="0" fontAlgn="ctr"/>
                      <a:r>
                        <a:rPr lang="en-CA" sz="800" b="0" i="0" u="none" strike="noStrike" dirty="0">
                          <a:solidFill>
                            <a:srgbClr val="000000"/>
                          </a:solidFill>
                          <a:effectLst/>
                          <a:latin typeface="Calibri" panose="020F0502020204030204" pitchFamily="34" charset="0"/>
                        </a:rPr>
                        <a:t>Orthotic Scanning Equipment</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014831006"/>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Physio/Rehab Equipment</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6350" cap="flat" cmpd="sng" algn="ctr">
                      <a:solidFill>
                        <a:srgbClr val="0097A9"/>
                      </a:solidFill>
                      <a:prstDash val="solid"/>
                      <a:round/>
                      <a:headEnd type="none" w="med" len="med"/>
                      <a:tailEnd type="none" w="med" len="med"/>
                    </a:lnB>
                  </a:tcPr>
                </a:tc>
                <a:extLst>
                  <a:ext uri="{0D108BD9-81ED-4DB2-BD59-A6C34878D82A}">
                    <a16:rowId xmlns:a16="http://schemas.microsoft.com/office/drawing/2014/main" val="1032018819"/>
                  </a:ext>
                </a:extLst>
              </a:tr>
              <a:tr h="125260">
                <a:tc rowSpan="17">
                  <a:txBody>
                    <a:bodyPr/>
                    <a:lstStyle/>
                    <a:p>
                      <a:pPr algn="ctr" fontAlgn="ctr"/>
                      <a:r>
                        <a:rPr lang="en-CA" sz="800" b="0" i="0" u="none" strike="noStrike" dirty="0">
                          <a:solidFill>
                            <a:srgbClr val="000000"/>
                          </a:solidFill>
                          <a:effectLst/>
                          <a:latin typeface="Calibri" panose="020F0502020204030204" pitchFamily="34" charset="0"/>
                        </a:rPr>
                        <a:t>Real Estate Collateral</a:t>
                      </a:r>
                    </a:p>
                  </a:txBody>
                  <a:tcPr marL="5305" marR="5305" marT="5305"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w="12700" cap="flat" cmpd="sng" algn="ctr">
                      <a:solidFill>
                        <a:srgbClr val="0097A9"/>
                      </a:solidFill>
                      <a:prstDash val="solid"/>
                      <a:round/>
                      <a:headEnd type="none" w="med" len="med"/>
                      <a:tailEnd type="none" w="med" len="med"/>
                    </a:lnB>
                    <a:solidFill>
                      <a:srgbClr val="E7EFF1"/>
                    </a:solidFill>
                  </a:tcPr>
                </a:tc>
                <a:tc>
                  <a:txBody>
                    <a:bodyPr/>
                    <a:lstStyle/>
                    <a:p>
                      <a:pPr algn="ctr" fontAlgn="ctr"/>
                      <a:r>
                        <a:rPr lang="en-CA" sz="800" b="0" i="0" u="none" strike="noStrike" dirty="0">
                          <a:solidFill>
                            <a:srgbClr val="000000"/>
                          </a:solidFill>
                          <a:effectLst/>
                          <a:latin typeface="Calibri" panose="020F0502020204030204" pitchFamily="34" charset="0"/>
                        </a:rPr>
                        <a:t>Commercial Building</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6350" cap="flat" cmpd="sng" algn="ctr">
                      <a:solidFill>
                        <a:srgbClr val="0097A9"/>
                      </a:solidFill>
                      <a:prstDash val="solid"/>
                      <a:round/>
                      <a:headEnd type="none" w="med" len="med"/>
                      <a:tailEnd type="none" w="med" len="med"/>
                    </a:lnT>
                    <a:lnB>
                      <a:noFill/>
                    </a:lnB>
                    <a:solidFill>
                      <a:srgbClr val="E7EFF1"/>
                    </a:solidFill>
                  </a:tcPr>
                </a:tc>
                <a:extLst>
                  <a:ext uri="{0D108BD9-81ED-4DB2-BD59-A6C34878D82A}">
                    <a16:rowId xmlns:a16="http://schemas.microsoft.com/office/drawing/2014/main" val="3012242721"/>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Condo - Single Unit</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73120581"/>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Farm</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993437494"/>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Hotel/Lodging Facility</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110175769"/>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Land - Commercial Development</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357445137"/>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Land - Residential Development</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566314001"/>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Mixed Use Development</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186913988"/>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Multi Family</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267598758"/>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Office Building</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954790680"/>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Other - Non-Residential</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070846642"/>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Other - Residential</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112496065"/>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Recreational Property</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893851251"/>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Restaurant/Pub</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774701824"/>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Shopping Centre/Retail Stores</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554435354"/>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Single Family Attached</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73331301"/>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Single Family Detached</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522062848"/>
                  </a:ext>
                </a:extLst>
              </a:tr>
              <a:tr h="125260">
                <a:tc vMerge="1">
                  <a:txBody>
                    <a:bodyPr/>
                    <a:lstStyle/>
                    <a:p>
                      <a:endParaRPr lang="en-CA"/>
                    </a:p>
                  </a:txBody>
                  <a:tcPr/>
                </a:tc>
                <a:tc>
                  <a:txBody>
                    <a:bodyPr/>
                    <a:lstStyle/>
                    <a:p>
                      <a:pPr algn="ctr" fontAlgn="ctr"/>
                      <a:r>
                        <a:rPr lang="en-CA" sz="800" b="0" i="0" u="none" strike="noStrike" dirty="0">
                          <a:solidFill>
                            <a:srgbClr val="000000"/>
                          </a:solidFill>
                          <a:effectLst/>
                          <a:latin typeface="Calibri" panose="020F0502020204030204" pitchFamily="34" charset="0"/>
                        </a:rPr>
                        <a:t>Warehouse/Industrial Building</a:t>
                      </a:r>
                    </a:p>
                  </a:txBody>
                  <a:tcPr marL="5305" marR="5305" marT="530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E7EFF1"/>
                    </a:solidFill>
                  </a:tcPr>
                </a:tc>
                <a:extLst>
                  <a:ext uri="{0D108BD9-81ED-4DB2-BD59-A6C34878D82A}">
                    <a16:rowId xmlns:a16="http://schemas.microsoft.com/office/drawing/2014/main" val="4172209280"/>
                  </a:ext>
                </a:extLst>
              </a:tr>
            </a:tbl>
          </a:graphicData>
        </a:graphic>
      </p:graphicFrame>
    </p:spTree>
    <p:extLst>
      <p:ext uri="{BB962C8B-B14F-4D97-AF65-F5344CB8AC3E}">
        <p14:creationId xmlns:p14="http://schemas.microsoft.com/office/powerpoint/2010/main" val="29531947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06203" y="221768"/>
            <a:ext cx="8280401" cy="397483"/>
          </a:xfrm>
        </p:spPr>
        <p:txBody>
          <a:bodyPr/>
          <a:lstStyle/>
          <a:p>
            <a:r>
              <a:rPr lang="en-US" sz="2400" dirty="0" smtClean="0"/>
              <a:t>Collateral Types</a:t>
            </a:r>
            <a:endParaRPr lang="en-CA" sz="2400" dirty="0"/>
          </a:p>
        </p:txBody>
      </p:sp>
      <p:graphicFrame>
        <p:nvGraphicFramePr>
          <p:cNvPr id="4" name="Table 3"/>
          <p:cNvGraphicFramePr>
            <a:graphicFrameLocks noGrp="1"/>
          </p:cNvGraphicFramePr>
          <p:nvPr>
            <p:extLst>
              <p:ext uri="{D42A27DB-BD31-4B8C-83A1-F6EECF244321}">
                <p14:modId xmlns:p14="http://schemas.microsoft.com/office/powerpoint/2010/main" val="3164468326"/>
              </p:ext>
            </p:extLst>
          </p:nvPr>
        </p:nvGraphicFramePr>
        <p:xfrm>
          <a:off x="406202" y="867897"/>
          <a:ext cx="8280401" cy="3257550"/>
        </p:xfrm>
        <a:graphic>
          <a:graphicData uri="http://schemas.openxmlformats.org/drawingml/2006/table">
            <a:tbl>
              <a:tblPr/>
              <a:tblGrid>
                <a:gridCol w="4026250">
                  <a:extLst>
                    <a:ext uri="{9D8B030D-6E8A-4147-A177-3AD203B41FA5}">
                      <a16:colId xmlns:a16="http://schemas.microsoft.com/office/drawing/2014/main" val="2245494690"/>
                    </a:ext>
                  </a:extLst>
                </a:gridCol>
                <a:gridCol w="4254151">
                  <a:extLst>
                    <a:ext uri="{9D8B030D-6E8A-4147-A177-3AD203B41FA5}">
                      <a16:colId xmlns:a16="http://schemas.microsoft.com/office/drawing/2014/main" val="422245118"/>
                    </a:ext>
                  </a:extLst>
                </a:gridCol>
              </a:tblGrid>
              <a:tr h="200025">
                <a:tc>
                  <a:txBody>
                    <a:bodyPr/>
                    <a:lstStyle/>
                    <a:p>
                      <a:pPr algn="ctr" rtl="0" fontAlgn="ctr"/>
                      <a:r>
                        <a:rPr lang="en-CA" sz="900" b="1" i="0" u="none" strike="noStrike" dirty="0">
                          <a:solidFill>
                            <a:srgbClr val="FFFFFF"/>
                          </a:solidFill>
                          <a:effectLst/>
                          <a:latin typeface="Calibri" panose="020F0502020204030204" pitchFamily="34" charset="0"/>
                        </a:rPr>
                        <a:t>Collateral Group</a:t>
                      </a:r>
                    </a:p>
                  </a:txBody>
                  <a:tcPr marL="9525" marR="9525" marT="9525"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tc>
                  <a:txBody>
                    <a:bodyPr/>
                    <a:lstStyle/>
                    <a:p>
                      <a:pPr algn="ctr" rtl="0" fontAlgn="ctr"/>
                      <a:r>
                        <a:rPr lang="en-CA" sz="900" b="1" i="0" u="none" strike="noStrike">
                          <a:solidFill>
                            <a:srgbClr val="FFFFFF"/>
                          </a:solidFill>
                          <a:effectLst/>
                          <a:latin typeface="Calibri" panose="020F0502020204030204" pitchFamily="34" charset="0"/>
                        </a:rPr>
                        <a:t>Collateral</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w="12700" cap="flat" cmpd="sng" algn="ctr">
                      <a:solidFill>
                        <a:srgbClr val="0097A9"/>
                      </a:solidFill>
                      <a:prstDash val="solid"/>
                      <a:round/>
                      <a:headEnd type="none" w="med" len="med"/>
                      <a:tailEnd type="none" w="med" len="med"/>
                    </a:lnT>
                    <a:lnB>
                      <a:noFill/>
                    </a:lnB>
                    <a:solidFill>
                      <a:srgbClr val="0097A9"/>
                    </a:solidFill>
                  </a:tcPr>
                </a:tc>
                <a:extLst>
                  <a:ext uri="{0D108BD9-81ED-4DB2-BD59-A6C34878D82A}">
                    <a16:rowId xmlns:a16="http://schemas.microsoft.com/office/drawing/2014/main" val="3119238220"/>
                  </a:ext>
                </a:extLst>
              </a:tr>
              <a:tr h="190500">
                <a:tc rowSpan="16">
                  <a:txBody>
                    <a:bodyPr/>
                    <a:lstStyle/>
                    <a:p>
                      <a:pPr algn="ctr" fontAlgn="ctr"/>
                      <a:r>
                        <a:rPr lang="en-CA" sz="900" b="0" i="0" u="none" strike="noStrike" dirty="0">
                          <a:solidFill>
                            <a:srgbClr val="000000"/>
                          </a:solidFill>
                          <a:effectLst/>
                          <a:latin typeface="Calibri" panose="020F0502020204030204" pitchFamily="34" charset="0"/>
                        </a:rPr>
                        <a:t>Business Operating Equipment</a:t>
                      </a:r>
                    </a:p>
                  </a:txBody>
                  <a:tcPr marL="9525" marR="9525" marT="9525" marB="0" anchor="ctr">
                    <a:lnL w="12700" cap="flat" cmpd="sng" algn="ctr">
                      <a:solidFill>
                        <a:srgbClr val="0097A9"/>
                      </a:solidFill>
                      <a:prstDash val="solid"/>
                      <a:round/>
                      <a:headEnd type="none" w="med" len="med"/>
                      <a:tailEnd type="none" w="med" len="med"/>
                    </a:lnL>
                    <a:lnR w="635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solidFill>
                      <a:srgbClr val="FFFFFF"/>
                    </a:solidFill>
                  </a:tcPr>
                </a:tc>
                <a:tc>
                  <a:txBody>
                    <a:bodyPr/>
                    <a:lstStyle/>
                    <a:p>
                      <a:pPr algn="ctr" fontAlgn="ctr"/>
                      <a:r>
                        <a:rPr lang="en-CA" sz="900" b="0" i="0" u="none" strike="noStrike">
                          <a:solidFill>
                            <a:srgbClr val="000000"/>
                          </a:solidFill>
                          <a:effectLst/>
                          <a:latin typeface="Calibri" panose="020F0502020204030204" pitchFamily="34" charset="0"/>
                        </a:rPr>
                        <a:t>ATMs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443091572"/>
                  </a:ext>
                </a:extLst>
              </a:tr>
              <a:tr h="19050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Alternative Energy Generating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032770973"/>
                  </a:ext>
                </a:extLst>
              </a:tr>
              <a:tr h="19050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Cash Registers/POS Systems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817293269"/>
                  </a:ext>
                </a:extLst>
              </a:tr>
              <a:tr h="19050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Commercial Cleaning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157956827"/>
                  </a:ext>
                </a:extLst>
              </a:tr>
              <a:tr h="19050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Funeral Home / Crematory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1927221479"/>
                  </a:ext>
                </a:extLst>
              </a:tr>
              <a:tr h="190500">
                <a:tc vMerge="1">
                  <a:txBody>
                    <a:bodyPr/>
                    <a:lstStyle/>
                    <a:p>
                      <a:endParaRPr lang="en-CA"/>
                    </a:p>
                  </a:txBody>
                  <a:tcPr/>
                </a:tc>
                <a:tc>
                  <a:txBody>
                    <a:bodyPr/>
                    <a:lstStyle/>
                    <a:p>
                      <a:pPr algn="ctr" fontAlgn="ctr"/>
                      <a:r>
                        <a:rPr lang="en-CA" sz="900" b="0" i="0" u="none" strike="noStrike" dirty="0">
                          <a:solidFill>
                            <a:srgbClr val="000000"/>
                          </a:solidFill>
                          <a:effectLst/>
                          <a:latin typeface="Calibri" panose="020F0502020204030204" pitchFamily="34" charset="0"/>
                        </a:rPr>
                        <a:t>Life Rafts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166725032"/>
                  </a:ext>
                </a:extLst>
              </a:tr>
              <a:tr h="19050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Parking Lot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286551915"/>
                  </a:ext>
                </a:extLst>
              </a:tr>
              <a:tr h="190500">
                <a:tc vMerge="1">
                  <a:txBody>
                    <a:bodyPr/>
                    <a:lstStyle/>
                    <a:p>
                      <a:endParaRPr lang="en-CA"/>
                    </a:p>
                  </a:txBody>
                  <a:tcPr/>
                </a:tc>
                <a:tc>
                  <a:txBody>
                    <a:bodyPr/>
                    <a:lstStyle/>
                    <a:p>
                      <a:pPr algn="ctr" fontAlgn="ctr"/>
                      <a:r>
                        <a:rPr lang="en-CA" sz="900" b="0" i="0" u="none" strike="noStrike" dirty="0">
                          <a:solidFill>
                            <a:srgbClr val="000000"/>
                          </a:solidFill>
                          <a:effectLst/>
                          <a:latin typeface="Calibri" panose="020F0502020204030204" pitchFamily="34" charset="0"/>
                        </a:rPr>
                        <a:t>Pressure Washer Cleaning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1550221040"/>
                  </a:ext>
                </a:extLst>
              </a:tr>
              <a:tr h="19050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Refrigeration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786594513"/>
                  </a:ext>
                </a:extLst>
              </a:tr>
              <a:tr h="19050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Restaurant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507997343"/>
                  </a:ext>
                </a:extLst>
              </a:tr>
              <a:tr h="19050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Security Systems - Corporate &amp; Commercial</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781202039"/>
                  </a:ext>
                </a:extLst>
              </a:tr>
              <a:tr h="190500">
                <a:tc vMerge="1">
                  <a:txBody>
                    <a:bodyPr/>
                    <a:lstStyle/>
                    <a:p>
                      <a:endParaRPr lang="en-CA"/>
                    </a:p>
                  </a:txBody>
                  <a:tcPr/>
                </a:tc>
                <a:tc>
                  <a:txBody>
                    <a:bodyPr/>
                    <a:lstStyle/>
                    <a:p>
                      <a:pPr algn="ctr" fontAlgn="ctr"/>
                      <a:r>
                        <a:rPr lang="en-US" sz="900" b="0" i="0" u="none" strike="noStrike">
                          <a:solidFill>
                            <a:srgbClr val="000000"/>
                          </a:solidFill>
                          <a:effectLst/>
                          <a:latin typeface="Calibri" panose="020F0502020204030204" pitchFamily="34" charset="0"/>
                        </a:rPr>
                        <a:t>Security Systems - Retail Stores, Gas Stations, Convenience Stores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2852597992"/>
                  </a:ext>
                </a:extLst>
              </a:tr>
              <a:tr h="19050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Shelving/Racking</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216378495"/>
                  </a:ext>
                </a:extLst>
              </a:tr>
              <a:tr h="19050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Signage</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tcPr>
                </a:tc>
                <a:extLst>
                  <a:ext uri="{0D108BD9-81ED-4DB2-BD59-A6C34878D82A}">
                    <a16:rowId xmlns:a16="http://schemas.microsoft.com/office/drawing/2014/main" val="3067737179"/>
                  </a:ext>
                </a:extLst>
              </a:tr>
              <a:tr h="190500">
                <a:tc vMerge="1">
                  <a:txBody>
                    <a:bodyPr/>
                    <a:lstStyle/>
                    <a:p>
                      <a:endParaRPr lang="en-CA"/>
                    </a:p>
                  </a:txBody>
                  <a:tcPr/>
                </a:tc>
                <a:tc>
                  <a:txBody>
                    <a:bodyPr/>
                    <a:lstStyle/>
                    <a:p>
                      <a:pPr algn="ctr" fontAlgn="ctr"/>
                      <a:r>
                        <a:rPr lang="en-CA" sz="900" b="0" i="0" u="none" strike="noStrike">
                          <a:solidFill>
                            <a:srgbClr val="000000"/>
                          </a:solidFill>
                          <a:effectLst/>
                          <a:latin typeface="Calibri" panose="020F0502020204030204" pitchFamily="34" charset="0"/>
                        </a:rPr>
                        <a:t>Sports Equipment</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a:noFill/>
                    </a:lnB>
                    <a:solidFill>
                      <a:srgbClr val="E7EFF1"/>
                    </a:solidFill>
                  </a:tcPr>
                </a:tc>
                <a:extLst>
                  <a:ext uri="{0D108BD9-81ED-4DB2-BD59-A6C34878D82A}">
                    <a16:rowId xmlns:a16="http://schemas.microsoft.com/office/drawing/2014/main" val="3912273661"/>
                  </a:ext>
                </a:extLst>
              </a:tr>
              <a:tr h="200025">
                <a:tc vMerge="1">
                  <a:txBody>
                    <a:bodyPr/>
                    <a:lstStyle/>
                    <a:p>
                      <a:endParaRPr lang="en-CA"/>
                    </a:p>
                  </a:txBody>
                  <a:tcPr/>
                </a:tc>
                <a:tc>
                  <a:txBody>
                    <a:bodyPr/>
                    <a:lstStyle/>
                    <a:p>
                      <a:pPr algn="ctr" fontAlgn="ctr"/>
                      <a:r>
                        <a:rPr lang="en-CA" sz="900" b="0" i="0" u="none" strike="noStrike" dirty="0">
                          <a:solidFill>
                            <a:srgbClr val="000000"/>
                          </a:solidFill>
                          <a:effectLst/>
                          <a:latin typeface="Calibri" panose="020F0502020204030204" pitchFamily="34" charset="0"/>
                        </a:rPr>
                        <a:t>Vending Machines</a:t>
                      </a:r>
                    </a:p>
                  </a:txBody>
                  <a:tcPr marL="9525" marR="9525" marT="9525" marB="0" anchor="ctr">
                    <a:lnL w="6350" cap="flat" cmpd="sng" algn="ctr">
                      <a:solidFill>
                        <a:srgbClr val="0097A9"/>
                      </a:solidFill>
                      <a:prstDash val="solid"/>
                      <a:round/>
                      <a:headEnd type="none" w="med" len="med"/>
                      <a:tailEnd type="none" w="med" len="med"/>
                    </a:lnL>
                    <a:lnR w="12700" cap="flat" cmpd="sng" algn="ctr">
                      <a:solidFill>
                        <a:srgbClr val="0097A9"/>
                      </a:solidFill>
                      <a:prstDash val="solid"/>
                      <a:round/>
                      <a:headEnd type="none" w="med" len="med"/>
                      <a:tailEnd type="none" w="med" len="med"/>
                    </a:lnR>
                    <a:lnT>
                      <a:noFill/>
                    </a:lnT>
                    <a:lnB w="12700" cap="flat" cmpd="sng" algn="ctr">
                      <a:solidFill>
                        <a:srgbClr val="0097A9"/>
                      </a:solidFill>
                      <a:prstDash val="solid"/>
                      <a:round/>
                      <a:headEnd type="none" w="med" len="med"/>
                      <a:tailEnd type="none" w="med" len="med"/>
                    </a:lnB>
                  </a:tcPr>
                </a:tc>
                <a:extLst>
                  <a:ext uri="{0D108BD9-81ED-4DB2-BD59-A6C34878D82A}">
                    <a16:rowId xmlns:a16="http://schemas.microsoft.com/office/drawing/2014/main" val="3765095805"/>
                  </a:ext>
                </a:extLst>
              </a:tr>
            </a:tbl>
          </a:graphicData>
        </a:graphic>
      </p:graphicFrame>
    </p:spTree>
    <p:extLst>
      <p:ext uri="{BB962C8B-B14F-4D97-AF65-F5344CB8AC3E}">
        <p14:creationId xmlns:p14="http://schemas.microsoft.com/office/powerpoint/2010/main" val="18150669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315313" y="386060"/>
            <a:ext cx="8280401" cy="397483"/>
          </a:xfrm>
        </p:spPr>
        <p:txBody>
          <a:bodyPr/>
          <a:lstStyle/>
          <a:p>
            <a:r>
              <a:rPr lang="en-US" sz="3000" dirty="0" smtClean="0"/>
              <a:t>CWB PD Master Scale</a:t>
            </a:r>
            <a:endParaRPr lang="en-CA" sz="3000" dirty="0"/>
          </a:p>
        </p:txBody>
      </p:sp>
      <p:graphicFrame>
        <p:nvGraphicFramePr>
          <p:cNvPr id="8" name="Table 7"/>
          <p:cNvGraphicFramePr>
            <a:graphicFrameLocks noGrp="1"/>
          </p:cNvGraphicFramePr>
          <p:nvPr>
            <p:extLst/>
          </p:nvPr>
        </p:nvGraphicFramePr>
        <p:xfrm>
          <a:off x="1544070" y="847598"/>
          <a:ext cx="5822885" cy="3855605"/>
        </p:xfrm>
        <a:graphic>
          <a:graphicData uri="http://schemas.openxmlformats.org/drawingml/2006/table">
            <a:tbl>
              <a:tblPr firstRow="1" bandRow="1">
                <a:tableStyleId>{B301B821-A1FF-4177-AEE7-76D212191A09}</a:tableStyleId>
              </a:tblPr>
              <a:tblGrid>
                <a:gridCol w="598007">
                  <a:extLst>
                    <a:ext uri="{9D8B030D-6E8A-4147-A177-3AD203B41FA5}">
                      <a16:colId xmlns:a16="http://schemas.microsoft.com/office/drawing/2014/main" val="976676975"/>
                    </a:ext>
                  </a:extLst>
                </a:gridCol>
                <a:gridCol w="602960">
                  <a:extLst>
                    <a:ext uri="{9D8B030D-6E8A-4147-A177-3AD203B41FA5}">
                      <a16:colId xmlns:a16="http://schemas.microsoft.com/office/drawing/2014/main" val="3089833359"/>
                    </a:ext>
                  </a:extLst>
                </a:gridCol>
                <a:gridCol w="512743">
                  <a:extLst>
                    <a:ext uri="{9D8B030D-6E8A-4147-A177-3AD203B41FA5}">
                      <a16:colId xmlns:a16="http://schemas.microsoft.com/office/drawing/2014/main" val="3890346065"/>
                    </a:ext>
                  </a:extLst>
                </a:gridCol>
                <a:gridCol w="484488">
                  <a:extLst>
                    <a:ext uri="{9D8B030D-6E8A-4147-A177-3AD203B41FA5}">
                      <a16:colId xmlns:a16="http://schemas.microsoft.com/office/drawing/2014/main" val="216206275"/>
                    </a:ext>
                  </a:extLst>
                </a:gridCol>
                <a:gridCol w="735704">
                  <a:extLst>
                    <a:ext uri="{9D8B030D-6E8A-4147-A177-3AD203B41FA5}">
                      <a16:colId xmlns:a16="http://schemas.microsoft.com/office/drawing/2014/main" val="2540051438"/>
                    </a:ext>
                  </a:extLst>
                </a:gridCol>
                <a:gridCol w="654956">
                  <a:extLst>
                    <a:ext uri="{9D8B030D-6E8A-4147-A177-3AD203B41FA5}">
                      <a16:colId xmlns:a16="http://schemas.microsoft.com/office/drawing/2014/main" val="3772930496"/>
                    </a:ext>
                  </a:extLst>
                </a:gridCol>
                <a:gridCol w="601124">
                  <a:extLst>
                    <a:ext uri="{9D8B030D-6E8A-4147-A177-3AD203B41FA5}">
                      <a16:colId xmlns:a16="http://schemas.microsoft.com/office/drawing/2014/main" val="3062903697"/>
                    </a:ext>
                  </a:extLst>
                </a:gridCol>
                <a:gridCol w="502431">
                  <a:extLst>
                    <a:ext uri="{9D8B030D-6E8A-4147-A177-3AD203B41FA5}">
                      <a16:colId xmlns:a16="http://schemas.microsoft.com/office/drawing/2014/main" val="3464167178"/>
                    </a:ext>
                  </a:extLst>
                </a:gridCol>
                <a:gridCol w="610096">
                  <a:extLst>
                    <a:ext uri="{9D8B030D-6E8A-4147-A177-3AD203B41FA5}">
                      <a16:colId xmlns:a16="http://schemas.microsoft.com/office/drawing/2014/main" val="3955193884"/>
                    </a:ext>
                  </a:extLst>
                </a:gridCol>
                <a:gridCol w="520376">
                  <a:extLst>
                    <a:ext uri="{9D8B030D-6E8A-4147-A177-3AD203B41FA5}">
                      <a16:colId xmlns:a16="http://schemas.microsoft.com/office/drawing/2014/main" val="4230038612"/>
                    </a:ext>
                  </a:extLst>
                </a:gridCol>
              </a:tblGrid>
              <a:tr h="273836">
                <a:tc gridSpan="10">
                  <a:txBody>
                    <a:bodyPr/>
                    <a:lstStyle/>
                    <a:p>
                      <a:pPr algn="ctr" rtl="0" fontAlgn="ctr"/>
                      <a:r>
                        <a:rPr lang="en-CA" sz="900" u="none" strike="noStrike" dirty="0">
                          <a:effectLst/>
                        </a:rPr>
                        <a:t>CWB PD Master </a:t>
                      </a:r>
                      <a:r>
                        <a:rPr lang="en-CA" sz="900" u="none" strike="noStrike" dirty="0" smtClean="0">
                          <a:effectLst/>
                        </a:rPr>
                        <a:t>Scale</a:t>
                      </a:r>
                      <a:endParaRPr lang="en-CA" sz="900" b="1" i="0" u="none" strike="noStrike" dirty="0">
                        <a:solidFill>
                          <a:srgbClr val="FFFFFF"/>
                        </a:solidFill>
                        <a:effectLst/>
                        <a:latin typeface="Calibri" panose="020F0502020204030204" pitchFamily="34" charset="0"/>
                      </a:endParaRPr>
                    </a:p>
                  </a:txBody>
                  <a:tcPr marL="6499" marR="6499" marT="6499" marB="0" anchor="ct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endParaRPr lang="en-CA"/>
                    </a:p>
                  </a:txBody>
                  <a:tcP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6499" marR="6499" marT="6499" marB="0" anchor="ctr"/>
                </a:tc>
                <a:tc hMerge="1">
                  <a:txBody>
                    <a:bodyPr/>
                    <a:lstStyle/>
                    <a:p>
                      <a:pPr algn="ctr" fontAlgn="ctr"/>
                      <a:endParaRPr lang="en-CA" sz="700" b="0" i="0" u="none" strike="noStrike" dirty="0">
                        <a:solidFill>
                          <a:srgbClr val="000000"/>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96978422"/>
                  </a:ext>
                </a:extLst>
              </a:tr>
              <a:tr h="380561">
                <a:tc gridSpan="2">
                  <a:txBody>
                    <a:bodyPr/>
                    <a:lstStyle/>
                    <a:p>
                      <a:pPr algn="ctr" rtl="0" fontAlgn="ctr"/>
                      <a:r>
                        <a:rPr lang="en-CA" sz="900" b="1" u="none" strike="noStrike" dirty="0">
                          <a:solidFill>
                            <a:schemeClr val="tx2"/>
                          </a:solidFill>
                          <a:effectLst/>
                        </a:rPr>
                        <a:t>Status</a:t>
                      </a:r>
                      <a:endParaRPr lang="en-CA" sz="900" b="1" i="0" u="none" strike="noStrike" dirty="0">
                        <a:solidFill>
                          <a:schemeClr val="tx2"/>
                        </a:solidFill>
                        <a:effectLst/>
                        <a:latin typeface="Calibri" panose="020F0502020204030204" pitchFamily="34" charset="0"/>
                      </a:endParaRPr>
                    </a:p>
                  </a:txBody>
                  <a:tcPr marL="6499" marR="6499" marT="6499" marB="0" anchor="ctr"/>
                </a:tc>
                <a:tc hMerge="1">
                  <a:txBody>
                    <a:bodyPr/>
                    <a:lstStyle/>
                    <a:p>
                      <a:endParaRPr lang="en-CA"/>
                    </a:p>
                  </a:txBody>
                  <a:tcPr/>
                </a:tc>
                <a:tc>
                  <a:txBody>
                    <a:bodyPr/>
                    <a:lstStyle/>
                    <a:p>
                      <a:pPr algn="ctr" rtl="0" fontAlgn="ctr"/>
                      <a:r>
                        <a:rPr lang="en-CA" sz="900" b="1" u="none" strike="noStrike" dirty="0">
                          <a:solidFill>
                            <a:schemeClr val="tx2"/>
                          </a:solidFill>
                          <a:effectLst/>
                        </a:rPr>
                        <a:t>System Risk Rating </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BRR</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Qualitative Score</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Min PD</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Mid PD</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Max PD</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smtClean="0">
                          <a:solidFill>
                            <a:schemeClr val="tx2"/>
                          </a:solidFill>
                          <a:effectLst/>
                        </a:rPr>
                        <a:t>S&amp;P’s and </a:t>
                      </a:r>
                      <a:r>
                        <a:rPr lang="en-CA" sz="900" b="1" u="none" strike="noStrike" dirty="0">
                          <a:solidFill>
                            <a:schemeClr val="tx2"/>
                          </a:solidFill>
                          <a:effectLst/>
                        </a:rPr>
                        <a:t>Fitch</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chemeClr val="tx2"/>
                          </a:solidFill>
                          <a:effectLst/>
                        </a:rPr>
                        <a:t>Moody's</a:t>
                      </a:r>
                      <a:endParaRPr lang="en-CA" sz="900" b="1" i="0" u="none" strike="noStrike" dirty="0">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477439438"/>
                  </a:ext>
                </a:extLst>
              </a:tr>
              <a:tr h="130799">
                <a:tc rowSpan="20">
                  <a:txBody>
                    <a:bodyPr/>
                    <a:lstStyle/>
                    <a:p>
                      <a:pPr algn="ctr" rtl="0" fontAlgn="ctr"/>
                      <a:r>
                        <a:rPr lang="en-CA" sz="900" b="1" u="none" strike="noStrike" dirty="0">
                          <a:solidFill>
                            <a:schemeClr val="bg1"/>
                          </a:solidFill>
                          <a:effectLst/>
                        </a:rPr>
                        <a:t>Performing</a:t>
                      </a:r>
                      <a:endParaRPr lang="en-CA" sz="900" b="1" i="0" u="none" strike="noStrike" dirty="0">
                        <a:solidFill>
                          <a:schemeClr val="bg1"/>
                        </a:solidFill>
                        <a:effectLst/>
                        <a:latin typeface="Calibri" panose="020F0502020204030204" pitchFamily="34" charset="0"/>
                      </a:endParaRPr>
                    </a:p>
                    <a:p>
                      <a:pPr algn="ctr" rtl="0" fontAlgn="ctr"/>
                      <a:r>
                        <a:rPr lang="en-CA" sz="900" b="1" u="none" strike="noStrike" dirty="0">
                          <a:effectLst/>
                        </a:rPr>
                        <a:t> </a:t>
                      </a:r>
                      <a:endParaRPr lang="en-CA" sz="900" b="1" i="0" u="none" strike="noStrike" dirty="0">
                        <a:solidFill>
                          <a:srgbClr val="003B5C"/>
                        </a:solidFill>
                        <a:effectLst/>
                        <a:latin typeface="Calibri" panose="020F0502020204030204" pitchFamily="34" charset="0"/>
                      </a:endParaRPr>
                    </a:p>
                  </a:txBody>
                  <a:tcPr marL="6499" marR="6499" marT="6499" marB="0" anchor="ctr">
                    <a:solidFill>
                      <a:srgbClr val="00B050"/>
                    </a:solidFill>
                  </a:tcPr>
                </a:tc>
                <a:tc rowSpan="15">
                  <a:txBody>
                    <a:bodyPr/>
                    <a:lstStyle/>
                    <a:p>
                      <a:pPr algn="ctr" rtl="0" fontAlgn="ctr"/>
                      <a:r>
                        <a:rPr lang="en-CA" sz="900" b="1" u="none" strike="noStrike" dirty="0">
                          <a:solidFill>
                            <a:schemeClr val="bg1"/>
                          </a:solidFill>
                          <a:effectLst/>
                        </a:rPr>
                        <a:t>Origination</a:t>
                      </a:r>
                      <a:endParaRPr lang="en-CA" sz="900" b="1" i="0" u="none" strike="noStrike" dirty="0">
                        <a:solidFill>
                          <a:schemeClr val="bg1"/>
                        </a:solidFill>
                        <a:effectLst/>
                        <a:latin typeface="Calibri" panose="020F0502020204030204" pitchFamily="34" charset="0"/>
                      </a:endParaRPr>
                    </a:p>
                  </a:txBody>
                  <a:tcPr marL="6499" marR="6499" marT="6499" marB="0" anchor="ctr">
                    <a:solidFill>
                      <a:srgbClr val="00B050"/>
                    </a:solidFill>
                  </a:tcPr>
                </a:tc>
                <a:tc>
                  <a:txBody>
                    <a:bodyPr/>
                    <a:lstStyle/>
                    <a:p>
                      <a:pPr algn="ctr" rtl="0" fontAlgn="ctr"/>
                      <a:r>
                        <a:rPr lang="en-CA" sz="900" u="none" strike="noStrike" dirty="0">
                          <a:solidFill>
                            <a:schemeClr val="tx2"/>
                          </a:solidFill>
                          <a:effectLst/>
                        </a:rPr>
                        <a:t>1</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NA</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0.01%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0.05%</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0.06%</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AAA/AA+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Aaa/Aa1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660816787"/>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2</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2</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NA</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0.06%</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a:solidFill>
                            <a:srgbClr val="FF0000"/>
                          </a:solidFill>
                          <a:effectLst/>
                        </a:rPr>
                        <a:t>0.07%</a:t>
                      </a:r>
                      <a:endParaRPr lang="en-CA" sz="900" b="1" i="0" u="none" strike="noStrike">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0.09%</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AA/AA-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Aa2/Aa3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975720102"/>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0.09%</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0.11%</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0.14%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964483862"/>
                  </a:ext>
                </a:extLst>
              </a:tr>
              <a:tr h="134918">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4</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4.75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0.14%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a:solidFill>
                            <a:srgbClr val="FF0000"/>
                          </a:solidFill>
                          <a:effectLst/>
                        </a:rPr>
                        <a:t>0.16%</a:t>
                      </a:r>
                      <a:endParaRPr lang="en-CA" sz="900" b="1" i="0" u="none" strike="noStrike">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A2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40009489"/>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5H</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4.5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0.21%</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0.24%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A-</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A3</a:t>
                      </a:r>
                      <a:endParaRPr lang="en-CA" sz="900" b="0" i="0" u="none" strike="noStrike" dirty="0">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743169332"/>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5L</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6</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4.25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0.24%</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0.28%</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0.35%</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BBB+</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839687780"/>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6H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7</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0.35%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0.43%</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0.53%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Baa2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5050822"/>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6M</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3.75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0.53%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0.65%</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0.81%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789970806"/>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6L</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9</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3.5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0.81%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1.00%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123898535"/>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7H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3.25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1.40%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1.67%</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695867069"/>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7M</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11</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1.67%</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a:solidFill>
                            <a:srgbClr val="FF0000"/>
                          </a:solidFill>
                          <a:effectLst/>
                        </a:rPr>
                        <a:t>2.00%</a:t>
                      </a:r>
                      <a:endParaRPr lang="en-CA" sz="900" b="1" i="0" u="none" strike="noStrike">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2.45%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427385968"/>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7L</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12</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2.75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2.45%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3.00%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3.46%</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712821305"/>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8H</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2.5</a:t>
                      </a:r>
                      <a:endParaRPr lang="en-CA" sz="900" b="1"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3.46%</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4.00%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4.90%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312638235"/>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dirty="0">
                          <a:solidFill>
                            <a:schemeClr val="tx2"/>
                          </a:solidFill>
                          <a:effectLst/>
                        </a:rPr>
                        <a:t>8M</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14</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2.25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4.90%</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6.00%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6.93%</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B3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4099049875"/>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8L</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6.93%</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8.00%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9.38%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CCC+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Caa1</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1118232827"/>
                  </a:ext>
                </a:extLst>
              </a:tr>
              <a:tr h="130799">
                <a:tc vMerge="1">
                  <a:txBody>
                    <a:bodyPr/>
                    <a:lstStyle/>
                    <a:p>
                      <a:endParaRPr lang="en-CA"/>
                    </a:p>
                  </a:txBody>
                  <a:tcPr/>
                </a:tc>
                <a:tc rowSpan="5">
                  <a:txBody>
                    <a:bodyPr/>
                    <a:lstStyle/>
                    <a:p>
                      <a:pPr algn="ctr" rtl="0" fontAlgn="ctr"/>
                      <a:r>
                        <a:rPr lang="en-CA" sz="900" b="1" u="none" strike="noStrike" dirty="0">
                          <a:solidFill>
                            <a:schemeClr val="bg1"/>
                          </a:solidFill>
                          <a:effectLst/>
                        </a:rPr>
                        <a:t>Watch List</a:t>
                      </a:r>
                      <a:endParaRPr lang="en-CA" sz="900" b="1" i="0" u="none" strike="noStrike" dirty="0">
                        <a:solidFill>
                          <a:schemeClr val="bg1"/>
                        </a:solidFill>
                        <a:effectLst/>
                        <a:latin typeface="Calibri" panose="020F0502020204030204" pitchFamily="34" charset="0"/>
                      </a:endParaRPr>
                    </a:p>
                  </a:txBody>
                  <a:tcPr marL="6499" marR="6499" marT="6499" marB="0" anchor="ctr">
                    <a:solidFill>
                      <a:srgbClr val="00B050"/>
                    </a:solidFill>
                  </a:tcPr>
                </a:tc>
                <a:tc>
                  <a:txBody>
                    <a:bodyPr/>
                    <a:lstStyle/>
                    <a:p>
                      <a:pPr algn="ctr" rtl="0" fontAlgn="ctr"/>
                      <a:r>
                        <a:rPr lang="en-CA" sz="900" u="none" strike="noStrike">
                          <a:solidFill>
                            <a:schemeClr val="tx2"/>
                          </a:solidFill>
                          <a:effectLst/>
                        </a:rPr>
                        <a:t>9H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16</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1.75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9.38%</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11.00%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12.85%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CCC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Caa2</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563129751"/>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9M</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17</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12.85%</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15.00%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17.75%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CCC-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Caa3</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2644343062"/>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9L</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18</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1.25</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17.75%</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21.00%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25.10%</a:t>
                      </a:r>
                      <a:endParaRPr lang="en-CA" sz="900" b="0" i="0" u="none" strike="noStrike" dirty="0">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a:t>
                      </a:r>
                      <a:endParaRPr lang="en-CA" sz="900" b="0" i="0" u="none" strike="noStrike">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001061531"/>
                  </a:ext>
                </a:extLst>
              </a:tr>
              <a:tr h="130799">
                <a:tc vMerge="1">
                  <a:txBody>
                    <a:bodyPr/>
                    <a:lstStyle/>
                    <a:p>
                      <a:endParaRPr lang="en-CA"/>
                    </a:p>
                  </a:txBody>
                  <a:tcPr/>
                </a:tc>
                <a:tc vMerge="1">
                  <a:txBody>
                    <a:bodyPr/>
                    <a:lstStyle/>
                    <a:p>
                      <a:endParaRPr lang="en-CA"/>
                    </a:p>
                  </a:txBody>
                  <a:tcPr/>
                </a:tc>
                <a:tc>
                  <a:txBody>
                    <a:bodyPr/>
                    <a:lstStyle/>
                    <a:p>
                      <a:pPr algn="ctr" rtl="0" fontAlgn="ctr"/>
                      <a:r>
                        <a:rPr lang="en-CA" sz="900" u="none" strike="noStrike">
                          <a:solidFill>
                            <a:schemeClr val="tx2"/>
                          </a:solidFill>
                          <a:effectLst/>
                        </a:rPr>
                        <a:t>10H</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19</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1</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25.10%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30.00%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40.00%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C</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dirty="0">
                          <a:solidFill>
                            <a:schemeClr val="tx2"/>
                          </a:solidFill>
                          <a:effectLst/>
                        </a:rPr>
                        <a:t>C</a:t>
                      </a:r>
                      <a:endParaRPr lang="en-CA" sz="900" b="0" i="0" u="none" strike="noStrike" dirty="0">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3697515406"/>
                  </a:ext>
                </a:extLst>
              </a:tr>
              <a:tr h="130799">
                <a:tc vMerge="1">
                  <a:txBody>
                    <a:bodyPr/>
                    <a:lstStyle/>
                    <a:p>
                      <a:pPr algn="ctr" rtl="0" fontAlgn="ctr"/>
                      <a:endParaRPr lang="en-CA" sz="900" b="1" i="0" u="none" strike="noStrike" dirty="0">
                        <a:solidFill>
                          <a:srgbClr val="003B5C"/>
                        </a:solidFill>
                        <a:effectLst/>
                        <a:latin typeface="Calibri" panose="020F0502020204030204" pitchFamily="34" charset="0"/>
                      </a:endParaRPr>
                    </a:p>
                  </a:txBody>
                  <a:tcPr marL="6499" marR="6499" marT="6499" marB="0" anchor="ctr">
                    <a:noFill/>
                  </a:tcPr>
                </a:tc>
                <a:tc vMerge="1">
                  <a:txBody>
                    <a:bodyPr/>
                    <a:lstStyle/>
                    <a:p>
                      <a:endParaRPr lang="en-CA"/>
                    </a:p>
                  </a:txBody>
                  <a:tcPr/>
                </a:tc>
                <a:tc>
                  <a:txBody>
                    <a:bodyPr/>
                    <a:lstStyle/>
                    <a:p>
                      <a:pPr algn="ctr" rtl="0" fontAlgn="ctr"/>
                      <a:r>
                        <a:rPr lang="en-CA" sz="900" u="none" strike="noStrike">
                          <a:solidFill>
                            <a:schemeClr val="tx2"/>
                          </a:solidFill>
                          <a:effectLst/>
                        </a:rPr>
                        <a:t>10L</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20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NA</a:t>
                      </a:r>
                      <a:endParaRPr lang="en-CA" sz="900" b="1"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40.00%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rtl="0" fontAlgn="ctr"/>
                      <a:r>
                        <a:rPr lang="en-CA" sz="900" b="1" u="none" strike="noStrike" dirty="0">
                          <a:solidFill>
                            <a:srgbClr val="FF0000"/>
                          </a:solidFill>
                          <a:effectLst/>
                        </a:rPr>
                        <a:t>55.00%</a:t>
                      </a:r>
                      <a:endParaRPr lang="en-CA" sz="900" b="1" i="0" u="none" strike="noStrike" dirty="0">
                        <a:solidFill>
                          <a:srgbClr val="FF0000"/>
                        </a:solidFill>
                        <a:effectLst/>
                        <a:latin typeface="Calibri" panose="020F0502020204030204" pitchFamily="34" charset="0"/>
                      </a:endParaRPr>
                    </a:p>
                  </a:txBody>
                  <a:tcPr marL="6499" marR="6499" marT="6499" marB="0" anchor="ctr"/>
                </a:tc>
                <a:tc>
                  <a:txBody>
                    <a:bodyPr/>
                    <a:lstStyle/>
                    <a:p>
                      <a:pPr algn="ctr" rtl="0" fontAlgn="ctr"/>
                      <a:r>
                        <a:rPr lang="en-CA" sz="900" u="none" strike="noStrike">
                          <a:solidFill>
                            <a:schemeClr val="tx2"/>
                          </a:solidFill>
                          <a:effectLst/>
                        </a:rPr>
                        <a:t>70.00%</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fontAlgn="ctr"/>
                      <a:r>
                        <a:rPr lang="en-CA" sz="900" u="none" strike="noStrike">
                          <a:solidFill>
                            <a:schemeClr val="tx2"/>
                          </a:solidFill>
                          <a:effectLst/>
                        </a:rPr>
                        <a:t>NA</a:t>
                      </a:r>
                      <a:endParaRPr lang="en-CA" sz="900" b="0" i="0" u="none" strike="noStrike">
                        <a:solidFill>
                          <a:schemeClr val="tx2"/>
                        </a:solidFill>
                        <a:effectLst/>
                        <a:latin typeface="Calibri" panose="020F0502020204030204" pitchFamily="34" charset="0"/>
                      </a:endParaRPr>
                    </a:p>
                  </a:txBody>
                  <a:tcPr marL="6499" marR="6499" marT="6499" marB="0" anchor="ctr"/>
                </a:tc>
                <a:tc>
                  <a:txBody>
                    <a:bodyPr/>
                    <a:lstStyle/>
                    <a:p>
                      <a:pPr algn="ctr" fontAlgn="ctr"/>
                      <a:r>
                        <a:rPr lang="en-CA" sz="900" u="none" strike="noStrike" dirty="0">
                          <a:solidFill>
                            <a:schemeClr val="tx2"/>
                          </a:solidFill>
                          <a:effectLst/>
                        </a:rPr>
                        <a:t>NA</a:t>
                      </a:r>
                      <a:endParaRPr lang="en-CA" sz="900" b="0" i="0" u="none" strike="noStrike" dirty="0">
                        <a:solidFill>
                          <a:schemeClr val="tx2"/>
                        </a:solidFill>
                        <a:effectLst/>
                        <a:latin typeface="Calibri" panose="020F0502020204030204" pitchFamily="34" charset="0"/>
                      </a:endParaRPr>
                    </a:p>
                  </a:txBody>
                  <a:tcPr marL="6499" marR="6499" marT="6499" marB="0" anchor="ctr"/>
                </a:tc>
                <a:extLst>
                  <a:ext uri="{0D108BD9-81ED-4DB2-BD59-A6C34878D82A}">
                    <a16:rowId xmlns:a16="http://schemas.microsoft.com/office/drawing/2014/main" val="590699852"/>
                  </a:ext>
                </a:extLst>
              </a:tr>
              <a:tr h="146951">
                <a:tc rowSpan="2" gridSpan="2">
                  <a:txBody>
                    <a:bodyPr/>
                    <a:lstStyle/>
                    <a:p>
                      <a:pPr algn="ctr" rtl="0" fontAlgn="ctr"/>
                      <a:r>
                        <a:rPr lang="en-CA" sz="900" b="1" u="none" strike="noStrike" dirty="0">
                          <a:solidFill>
                            <a:schemeClr val="bg1"/>
                          </a:solidFill>
                          <a:effectLst/>
                        </a:rPr>
                        <a:t>Non-Performing</a:t>
                      </a:r>
                      <a:endParaRPr lang="en-CA" sz="900" b="1"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rowSpan="2" hMerge="1">
                  <a:txBody>
                    <a:bodyPr/>
                    <a:lstStyle/>
                    <a:p>
                      <a:endParaRPr lang="en-CA"/>
                    </a:p>
                  </a:txBody>
                  <a:tcPr/>
                </a:tc>
                <a:tc>
                  <a:txBody>
                    <a:bodyPr/>
                    <a:lstStyle/>
                    <a:p>
                      <a:pPr algn="ctr" rtl="0" fontAlgn="ctr"/>
                      <a:r>
                        <a:rPr lang="en-CA" sz="900" u="none" strike="noStrike">
                          <a:solidFill>
                            <a:schemeClr val="bg1"/>
                          </a:solidFill>
                          <a:effectLst/>
                        </a:rPr>
                        <a:t>11</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D1</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NA</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100%</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100%</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a:solidFill>
                            <a:schemeClr val="bg1"/>
                          </a:solidFill>
                          <a:effectLst/>
                        </a:rPr>
                        <a:t>100%</a:t>
                      </a:r>
                      <a:endParaRPr lang="en-CA" sz="900" b="0" i="0" u="none" strike="noStrike">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fontAlgn="ctr"/>
                      <a:r>
                        <a:rPr lang="en-CA" sz="900" u="none" strike="noStrike" dirty="0" smtClean="0">
                          <a:solidFill>
                            <a:schemeClr val="bg1"/>
                          </a:solidFill>
                          <a:effectLst/>
                        </a:rPr>
                        <a:t>NA</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fontAlgn="ctr"/>
                      <a:r>
                        <a:rPr lang="en-CA" sz="900" u="none" strike="noStrike" dirty="0" smtClean="0">
                          <a:solidFill>
                            <a:schemeClr val="bg1"/>
                          </a:solidFill>
                          <a:effectLst/>
                        </a:rPr>
                        <a:t>NA</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extLst>
                  <a:ext uri="{0D108BD9-81ED-4DB2-BD59-A6C34878D82A}">
                    <a16:rowId xmlns:a16="http://schemas.microsoft.com/office/drawing/2014/main" val="2154255153"/>
                  </a:ext>
                </a:extLst>
              </a:tr>
              <a:tr h="130799">
                <a:tc gridSpan="2" vMerge="1">
                  <a:txBody>
                    <a:bodyPr/>
                    <a:lstStyle/>
                    <a:p>
                      <a:endParaRPr lang="en-CA"/>
                    </a:p>
                  </a:txBody>
                  <a:tcPr/>
                </a:tc>
                <a:tc hMerge="1" vMerge="1">
                  <a:txBody>
                    <a:bodyPr/>
                    <a:lstStyle/>
                    <a:p>
                      <a:endParaRPr lang="en-CA"/>
                    </a:p>
                  </a:txBody>
                  <a:tcPr/>
                </a:tc>
                <a:tc>
                  <a:txBody>
                    <a:bodyPr/>
                    <a:lstStyle/>
                    <a:p>
                      <a:pPr algn="ctr" rtl="0" fontAlgn="ctr"/>
                      <a:r>
                        <a:rPr lang="en-CA" sz="900" u="none" strike="noStrike" dirty="0">
                          <a:solidFill>
                            <a:schemeClr val="bg1"/>
                          </a:solidFill>
                          <a:effectLst/>
                        </a:rPr>
                        <a:t>12</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D2</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NA</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100%</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100%</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rtl="0" fontAlgn="ctr"/>
                      <a:r>
                        <a:rPr lang="en-CA" sz="900" u="none" strike="noStrike" dirty="0">
                          <a:solidFill>
                            <a:schemeClr val="bg1"/>
                          </a:solidFill>
                          <a:effectLst/>
                        </a:rPr>
                        <a:t>100%</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fontAlgn="ctr"/>
                      <a:r>
                        <a:rPr lang="en-CA" sz="900" u="none" strike="noStrike" dirty="0" smtClean="0">
                          <a:solidFill>
                            <a:schemeClr val="bg1"/>
                          </a:solidFill>
                          <a:effectLst/>
                        </a:rPr>
                        <a:t>NA</a:t>
                      </a:r>
                      <a:r>
                        <a:rPr lang="en-CA" sz="900" u="none" strike="noStrike" dirty="0">
                          <a:solidFill>
                            <a:schemeClr val="bg1"/>
                          </a:solidFill>
                          <a:effectLst/>
                        </a:rPr>
                        <a:t> </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tc>
                  <a:txBody>
                    <a:bodyPr/>
                    <a:lstStyle/>
                    <a:p>
                      <a:pPr algn="ctr" fontAlgn="ctr"/>
                      <a:r>
                        <a:rPr lang="en-US" sz="900" b="0" i="0" u="none" strike="noStrike" dirty="0" smtClean="0">
                          <a:solidFill>
                            <a:schemeClr val="bg1"/>
                          </a:solidFill>
                          <a:effectLst/>
                          <a:latin typeface="+mn-lt"/>
                        </a:rPr>
                        <a:t>NA</a:t>
                      </a:r>
                      <a:endParaRPr lang="en-CA" sz="900" b="0" i="0" u="none" strike="noStrike" dirty="0">
                        <a:solidFill>
                          <a:schemeClr val="bg1"/>
                        </a:solidFill>
                        <a:effectLst/>
                        <a:latin typeface="Calibri" panose="020F0502020204030204" pitchFamily="34" charset="0"/>
                      </a:endParaRPr>
                    </a:p>
                  </a:txBody>
                  <a:tcPr marL="6499" marR="6499" marT="6499" marB="0" anchor="ctr">
                    <a:solidFill>
                      <a:srgbClr val="FF0000"/>
                    </a:solidFill>
                  </a:tcPr>
                </a:tc>
                <a:extLst>
                  <a:ext uri="{0D108BD9-81ED-4DB2-BD59-A6C34878D82A}">
                    <a16:rowId xmlns:a16="http://schemas.microsoft.com/office/drawing/2014/main" val="2798211904"/>
                  </a:ext>
                </a:extLst>
              </a:tr>
            </a:tbl>
          </a:graphicData>
        </a:graphic>
      </p:graphicFrame>
    </p:spTree>
    <p:extLst>
      <p:ext uri="{BB962C8B-B14F-4D97-AF65-F5344CB8AC3E}">
        <p14:creationId xmlns:p14="http://schemas.microsoft.com/office/powerpoint/2010/main" val="416095889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51670"/>
            <a:ext cx="8640960" cy="1207483"/>
          </a:xfrm>
        </p:spPr>
        <p:txBody>
          <a:bodyPr/>
          <a:lstStyle/>
          <a:p>
            <a:pPr algn="ctr"/>
            <a:r>
              <a:rPr lang="en-US" sz="8000" dirty="0"/>
              <a:t>Thank You</a:t>
            </a:r>
            <a:endParaRPr lang="en-CA" sz="8000" dirty="0"/>
          </a:p>
        </p:txBody>
      </p:sp>
    </p:spTree>
    <p:extLst>
      <p:ext uri="{BB962C8B-B14F-4D97-AF65-F5344CB8AC3E}">
        <p14:creationId xmlns:p14="http://schemas.microsoft.com/office/powerpoint/2010/main" val="2088382238"/>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AFFC32FA-3CF9-41ED-8902-57C1207CEBA2}"/>
    </a:ext>
  </a:extLst>
</a:theme>
</file>

<file path=ppt/theme/theme2.xml><?xml version="1.0" encoding="utf-8"?>
<a:theme xmlns:a="http://schemas.openxmlformats.org/drawingml/2006/main" name="1 Primary Gold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6F595E1B-48F7-4866-8CD3-2FF272826443}"/>
    </a:ext>
  </a:extLst>
</a:theme>
</file>

<file path=ppt/theme/theme3.xml><?xml version="1.0" encoding="utf-8"?>
<a:theme xmlns:a="http://schemas.openxmlformats.org/drawingml/2006/main" name="1 Primary Gold - Section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30561B8F-A223-4C90-AF26-CAC113BC1661}"/>
    </a:ext>
  </a:extLst>
</a:theme>
</file>

<file path=ppt/theme/theme4.xml><?xml version="1.0" encoding="utf-8"?>
<a:theme xmlns:a="http://schemas.openxmlformats.org/drawingml/2006/main" name="2 Primary Teal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A1EC64B9-2DCC-44E8-88E6-2E2C1FD5F64D}"/>
    </a:ext>
  </a:extLst>
</a:theme>
</file>

<file path=ppt/theme/theme5.xml><?xml version="1.0" encoding="utf-8"?>
<a:theme xmlns:a="http://schemas.openxmlformats.org/drawingml/2006/main" name="2 Primary Gold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9CE1E473-DF07-47CB-8773-FAE2A69A5346}"/>
    </a:ext>
  </a:extLst>
</a:theme>
</file>

<file path=ppt/theme/theme6.xml><?xml version="1.0" encoding="utf-8"?>
<a:theme xmlns:a="http://schemas.openxmlformats.org/drawingml/2006/main" name="2 Primary Gold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835D080A-3A1C-4C94-B807-05181462BCF2}"/>
    </a:ext>
  </a:extLst>
</a:theme>
</file>

<file path=ppt/theme/theme7.xml><?xml version="1.0" encoding="utf-8"?>
<a:theme xmlns:a="http://schemas.openxmlformats.org/drawingml/2006/main" name="3 Navy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D7D753B9-3033-4AE9-977A-3630F1EEA671}"/>
    </a:ext>
  </a:extLst>
</a:theme>
</file>

<file path=ppt/theme/theme8.xml><?xml version="1.0" encoding="utf-8"?>
<a:theme xmlns:a="http://schemas.openxmlformats.org/drawingml/2006/main" name="3 Navy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45E4F62F-B122-4274-AA1B-3B94A3A42C46}"/>
    </a:ext>
  </a:extLst>
</a:theme>
</file>

<file path=ppt/theme/theme9.xml><?xml version="1.0" encoding="utf-8"?>
<a:theme xmlns:a="http://schemas.openxmlformats.org/drawingml/2006/main" name="3 Navy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B998A1DF-8287-4BA4-A893-BA211001F5EF}"/>
    </a:ext>
  </a:extLst>
</a:theme>
</file>

<file path=ppt/theme/theme10.xml><?xml version="1.0" encoding="utf-8"?>
<a:theme xmlns:a="http://schemas.openxmlformats.org/drawingml/2006/main" name="4 Light Teal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E65D8729-05C8-479E-8AF6-9BDB5B865786}"/>
    </a:ext>
  </a:extLst>
</a:theme>
</file>

<file path=ppt/theme/theme11.xml><?xml version="1.0" encoding="utf-8"?>
<a:theme xmlns:a="http://schemas.openxmlformats.org/drawingml/2006/main" name="4 Light Teal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F511EBDF-FDE9-4C2B-A29C-BCBA3A7F7DF4}"/>
    </a:ext>
  </a:extLst>
</a:theme>
</file>

<file path=ppt/theme/theme12.xml><?xml version="1.0" encoding="utf-8"?>
<a:theme xmlns:a="http://schemas.openxmlformats.org/drawingml/2006/main" name="4 Light Teal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21F07EE1-9923-4B74-8B9F-DFBDAF8BAFD3}"/>
    </a:ext>
  </a:extLst>
</a:theme>
</file>

<file path=ppt/theme/theme13.xml><?xml version="1.0" encoding="utf-8"?>
<a:theme xmlns:a="http://schemas.openxmlformats.org/drawingml/2006/main" name="6 Dark Gold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E5A06807-39A0-4E57-89E0-9DBC6D67A921}"/>
    </a:ext>
  </a:extLst>
</a:theme>
</file>

<file path=ppt/theme/theme14.xml><?xml version="1.0" encoding="utf-8"?>
<a:theme xmlns:a="http://schemas.openxmlformats.org/drawingml/2006/main" name="6 Dark Gold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54647542-15F9-4F78-83A8-29E066D45CB4}"/>
    </a:ext>
  </a:extLst>
</a:theme>
</file>

<file path=ppt/theme/theme15.xml><?xml version="1.0" encoding="utf-8"?>
<a:theme xmlns:a="http://schemas.openxmlformats.org/drawingml/2006/main" name="6 Dark Gold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719C9F3D-ED5E-4AF4-B0AF-C95002611559}"/>
    </a:ext>
  </a:extLst>
</a:theme>
</file>

<file path=ppt/theme/theme16.xml><?xml version="1.0" encoding="utf-8"?>
<a:theme xmlns:a="http://schemas.openxmlformats.org/drawingml/2006/main" name="7 Orange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0560C50E-6632-4FE7-9D78-599FAA257B74}"/>
    </a:ext>
  </a:extLst>
</a:theme>
</file>

<file path=ppt/theme/theme17.xml><?xml version="1.0" encoding="utf-8"?>
<a:theme xmlns:a="http://schemas.openxmlformats.org/drawingml/2006/main" name="7 Orange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89CEFB3A-4A5C-4B1D-91EB-D62E9BFAA955}"/>
    </a:ext>
  </a:extLst>
</a:theme>
</file>

<file path=ppt/theme/theme18.xml><?xml version="1.0" encoding="utf-8"?>
<a:theme xmlns:a="http://schemas.openxmlformats.org/drawingml/2006/main" name="7 Orange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C11D73AD-5315-4486-94D2-E64FA5E1DB9A}"/>
    </a:ext>
  </a:extLst>
</a:theme>
</file>

<file path=ppt/theme/theme19.xml><?xml version="1.0" encoding="utf-8"?>
<a:theme xmlns:a="http://schemas.openxmlformats.org/drawingml/2006/main" name="8 Grey - Section 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BFEFCC51-2D2A-469B-89F5-0C692C1A4DC2}"/>
    </a:ext>
  </a:extLst>
</a:theme>
</file>

<file path=ppt/theme/theme20.xml><?xml version="1.0" encoding="utf-8"?>
<a:theme xmlns:a="http://schemas.openxmlformats.org/drawingml/2006/main" name="8 Grey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148D378B-638E-400B-947E-5A5843F4BDC0}"/>
    </a:ext>
  </a:extLst>
</a:theme>
</file>

<file path=ppt/theme/theme21.xml><?xml version="1.0" encoding="utf-8"?>
<a:theme xmlns:a="http://schemas.openxmlformats.org/drawingml/2006/main" name="8 Grey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WBank Presentation 16x9" id="{67B570B4-D408-4BE5-8E41-CC240DD36237}" vid="{B11517A5-955C-407B-946D-F82AE420A6A6}"/>
    </a:ext>
  </a:extLst>
</a:theme>
</file>

<file path=ppt/theme/theme22.xml><?xml version="1.0" encoding="utf-8"?>
<a:theme xmlns:a="http://schemas.openxmlformats.org/drawingml/2006/main" name="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50B547C6-07E2-4AC4-BD59-A67AAD8A2944}"/>
    </a:ext>
  </a:extLst>
</a:theme>
</file>

<file path=ppt/theme/theme23.xml><?xml version="1.0" encoding="utf-8"?>
<a:theme xmlns:a="http://schemas.openxmlformats.org/drawingml/2006/main" name="1_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23F58467-4976-428F-B5D9-3C9112269D62}"/>
    </a:ext>
  </a:extLst>
</a:theme>
</file>

<file path=ppt/theme/theme24.xml><?xml version="1.0" encoding="utf-8"?>
<a:theme xmlns:a="http://schemas.openxmlformats.org/drawingml/2006/main" name="2_Section Title - Phot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79267145-6C3F-45DC-9F13-5264C553C788}"/>
    </a:ext>
  </a:extLst>
</a:theme>
</file>

<file path=ppt/theme/theme25.xml><?xml version="1.0" encoding="utf-8"?>
<a:theme xmlns:a="http://schemas.openxmlformats.org/drawingml/2006/main" name="Quote - Teal Ladd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F9EC8069-171E-4ADE-B526-D208324FBB58}"/>
    </a:ext>
  </a:extLst>
</a:theme>
</file>

<file path=ppt/theme/theme26.xml><?xml version="1.0" encoding="utf-8"?>
<a:theme xmlns:a="http://schemas.openxmlformats.org/drawingml/2006/main" name="Quote - Navy Pat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6120AEB7-75A6-4DFE-886D-C65605ABADA7}"/>
    </a:ext>
  </a:extLst>
</a:theme>
</file>

<file path=ppt/theme/theme27.xml><?xml version="1.0" encoding="utf-8"?>
<a:theme xmlns:a="http://schemas.openxmlformats.org/drawingml/2006/main" name="1_Quote - Navy Pat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ank Presentation 16x9" id="{67B570B4-D408-4BE5-8E41-CC240DD36237}" vid="{1E2EC6B8-1999-467C-BD83-E30657CD27A6}"/>
    </a:ext>
  </a:extLst>
</a:theme>
</file>

<file path=ppt/theme/theme2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6E2191C135504F9351B7DBCB2BE606" ma:contentTypeVersion="19" ma:contentTypeDescription="Create a new document." ma:contentTypeScope="" ma:versionID="144ddb5c3dec5e6553fff6a9e46bb08f">
  <xsd:schema xmlns:xsd="http://www.w3.org/2001/XMLSchema" xmlns:xs="http://www.w3.org/2001/XMLSchema" xmlns:p="http://schemas.microsoft.com/office/2006/metadata/properties" xmlns:ns2="6d778449-ff75-428e-914f-0c7c3a330bda" xmlns:ns3="9685b3f0-18b8-4ac0-8917-75cacc3928c8" xmlns:ns4="http://schemas.microsoft.com/sharepoint/v4" targetNamespace="http://schemas.microsoft.com/office/2006/metadata/properties" ma:root="true" ma:fieldsID="20e32d3dfd06a5d03c1eec57e40fefd4" ns2:_="" ns3:_="" ns4:_="">
    <xsd:import namespace="6d778449-ff75-428e-914f-0c7c3a330bda"/>
    <xsd:import namespace="9685b3f0-18b8-4ac0-8917-75cacc3928c8"/>
    <xsd:import namespace="http://schemas.microsoft.com/sharepoint/v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DateTaken" minOccurs="0"/>
                <xsd:element ref="ns4:IconOverlay"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778449-ff75-428e-914f-0c7c3a330b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104f31a-2814-4102-809d-73f760290a8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685b3f0-18b8-4ac0-8917-75cacc3928c8"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fdc0967b-2da2-44e6-873a-f241ab05c942}" ma:internalName="TaxCatchAll" ma:showField="CatchAllData" ma:web="9685b3f0-18b8-4ac0-8917-75cacc3928c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d778449-ff75-428e-914f-0c7c3a330bda">
      <Terms xmlns="http://schemas.microsoft.com/office/infopath/2007/PartnerControls"/>
    </lcf76f155ced4ddcb4097134ff3c332f>
    <TaxCatchAll xmlns="9685b3f0-18b8-4ac0-8917-75cacc3928c8" xsi:nil="true"/>
    <IconOverlay xmlns="http://schemas.microsoft.com/sharepoint/v4" xsi:nil="true"/>
  </documentManagement>
</p:properties>
</file>

<file path=customXml/itemProps1.xml><?xml version="1.0" encoding="utf-8"?>
<ds:datastoreItem xmlns:ds="http://schemas.openxmlformats.org/officeDocument/2006/customXml" ds:itemID="{ADE11328-CFA3-4B42-B371-49371B52C44A}"/>
</file>

<file path=customXml/itemProps2.xml><?xml version="1.0" encoding="utf-8"?>
<ds:datastoreItem xmlns:ds="http://schemas.openxmlformats.org/officeDocument/2006/customXml" ds:itemID="{CB6B6D4D-AE5D-45CF-A67A-99CA85F4309E}"/>
</file>

<file path=customXml/itemProps3.xml><?xml version="1.0" encoding="utf-8"?>
<ds:datastoreItem xmlns:ds="http://schemas.openxmlformats.org/officeDocument/2006/customXml" ds:itemID="{B66F611C-839F-4DAC-828E-B3E9321FE09F}"/>
</file>

<file path=docMetadata/LabelInfo.xml><?xml version="1.0" encoding="utf-8"?>
<clbl:labelList xmlns:clbl="http://schemas.microsoft.com/office/2020/mipLabelMetadata">
  <clbl:label id="{4e1dbe9c-67f7-4be6-a2b7-0951d57be59d}" enabled="1" method="Standard" siteId="{bbf04c3f-b0e3-4b50-bd1b-10ce0b74385d}" removed="0"/>
</clbl:labelList>
</file>

<file path=docProps/app.xml><?xml version="1.0" encoding="utf-8"?>
<Properties xmlns="http://schemas.openxmlformats.org/officeDocument/2006/extended-properties" xmlns:vt="http://schemas.openxmlformats.org/officeDocument/2006/docPropsVTypes">
  <Template>CWBank Presentation 16x9</Template>
  <TotalTime>11977</TotalTime>
  <Words>4086</Words>
  <Application>Microsoft Office PowerPoint</Application>
  <PresentationFormat>On-screen Show (16:9)</PresentationFormat>
  <Paragraphs>1063</Paragraphs>
  <Slides>40</Slides>
  <Notes>2</Notes>
  <HiddenSlides>0</HiddenSlides>
  <MMClips>0</MMClips>
  <ScaleCrop>false</ScaleCrop>
  <HeadingPairs>
    <vt:vector size="6" baseType="variant">
      <vt:variant>
        <vt:lpstr>Fonts Used</vt:lpstr>
      </vt:variant>
      <vt:variant>
        <vt:i4>4</vt:i4>
      </vt:variant>
      <vt:variant>
        <vt:lpstr>Theme</vt:lpstr>
      </vt:variant>
      <vt:variant>
        <vt:i4>27</vt:i4>
      </vt:variant>
      <vt:variant>
        <vt:lpstr>Slide Titles</vt:lpstr>
      </vt:variant>
      <vt:variant>
        <vt:i4>40</vt:i4>
      </vt:variant>
    </vt:vector>
  </HeadingPairs>
  <TitlesOfParts>
    <vt:vector size="71" baseType="lpstr">
      <vt:lpstr>Arial</vt:lpstr>
      <vt:lpstr>Calibri</vt:lpstr>
      <vt:lpstr>Times New Roman</vt:lpstr>
      <vt:lpstr>Wingdings</vt:lpstr>
      <vt:lpstr>Custom Design</vt:lpstr>
      <vt:lpstr>1 Primary Gold - Section Title</vt:lpstr>
      <vt:lpstr>1 Primary Gold - Section Content</vt:lpstr>
      <vt:lpstr>2 Primary Teal - Section Title</vt:lpstr>
      <vt:lpstr>2 Primary Gold - Section Content</vt:lpstr>
      <vt:lpstr>2 Primary Gold - Content</vt:lpstr>
      <vt:lpstr>3 Navy - Section Title</vt:lpstr>
      <vt:lpstr>3 Navy - Section Content</vt:lpstr>
      <vt:lpstr>3 Navy - Content</vt:lpstr>
      <vt:lpstr>4 Light Teal - Section Title</vt:lpstr>
      <vt:lpstr>4 Light Teal - Section Content</vt:lpstr>
      <vt:lpstr>4 Light Teal - Content</vt:lpstr>
      <vt:lpstr>6 Dark Gold - Section Title</vt:lpstr>
      <vt:lpstr>6 Dark Gold - Section Content</vt:lpstr>
      <vt:lpstr>6 Dark Gold - Content</vt:lpstr>
      <vt:lpstr>7 Orange - Section Title</vt:lpstr>
      <vt:lpstr>7 Orange - Section Content</vt:lpstr>
      <vt:lpstr>7 Orange - Content</vt:lpstr>
      <vt:lpstr>8 Grey - Section Title</vt:lpstr>
      <vt:lpstr>8 Grey - Section Content</vt:lpstr>
      <vt:lpstr>8 Grey - Content</vt:lpstr>
      <vt:lpstr>Section Title - Photo</vt:lpstr>
      <vt:lpstr>1_Section Title - Photo</vt:lpstr>
      <vt:lpstr>2_Section Title - Photo</vt:lpstr>
      <vt:lpstr>Quote - Teal Ladder</vt:lpstr>
      <vt:lpstr>Quote - Navy Path</vt:lpstr>
      <vt:lpstr>1_Quote - Navy Path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Canadian Western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Daisy Amador</dc:creator>
  <cp:lastModifiedBy>Jerry Ni</cp:lastModifiedBy>
  <cp:revision>404</cp:revision>
  <cp:lastPrinted>2014-01-17T22:29:57Z</cp:lastPrinted>
  <dcterms:created xsi:type="dcterms:W3CDTF">2020-04-16T21:47:44Z</dcterms:created>
  <dcterms:modified xsi:type="dcterms:W3CDTF">2021-01-26T00:37:48Z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0x010100CA6E2191C135504F9351B7DBCB2BE606</vt:lpwstr>
  </property>
  <property fmtid="{D5CDD505-2E9C-101B-9397-08002B2CF9AE}" pid="3" name="Order">
    <vt:r8>611700</vt:r8>
  </property>
  <property fmtid="{D5CDD505-2E9C-101B-9397-08002B2CF9AE}" pid="4" name="URL">
    <vt:lpwstr/>
  </property>
</Properties>
</file>