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5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6" r:id="rId5"/>
    <p:sldMasterId id="2147483699" r:id="rId6"/>
    <p:sldMasterId id="2147483705" r:id="rId7"/>
    <p:sldMasterId id="2147483711" r:id="rId8"/>
    <p:sldMasterId id="2147483717" r:id="rId9"/>
  </p:sldMasterIdLst>
  <p:notesMasterIdLst>
    <p:notesMasterId r:id="rId20"/>
  </p:notesMasterIdLst>
  <p:handoutMasterIdLst>
    <p:handoutMasterId r:id="rId21"/>
  </p:handoutMasterIdLst>
  <p:sldIdLst>
    <p:sldId id="433" r:id="rId10"/>
    <p:sldId id="497" r:id="rId11"/>
    <p:sldId id="487" r:id="rId12"/>
    <p:sldId id="499" r:id="rId13"/>
    <p:sldId id="498" r:id="rId14"/>
    <p:sldId id="500" r:id="rId15"/>
    <p:sldId id="501" r:id="rId16"/>
    <p:sldId id="502" r:id="rId17"/>
    <p:sldId id="504" r:id="rId18"/>
    <p:sldId id="505" r:id="rId19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rah Barbour" initials="SB" lastIdx="6" clrIdx="0"/>
  <p:cmAuthor id="1" name="Ivy Chia" initials="I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B4BD"/>
    <a:srgbClr val="A9ACA0"/>
    <a:srgbClr val="EEEEEC"/>
    <a:srgbClr val="9E7C0C"/>
    <a:srgbClr val="FFCC00"/>
    <a:srgbClr val="00747D"/>
    <a:srgbClr val="003366"/>
    <a:srgbClr val="937A46"/>
    <a:srgbClr val="99D7DB"/>
    <a:srgbClr val="009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18" autoAdjust="0"/>
    <p:restoredTop sz="93975" autoAdjust="0"/>
  </p:normalViewPr>
  <p:slideViewPr>
    <p:cSldViewPr snapToGrid="0">
      <p:cViewPr>
        <p:scale>
          <a:sx n="106" d="100"/>
          <a:sy n="106" d="100"/>
        </p:scale>
        <p:origin x="-1181" y="672"/>
      </p:cViewPr>
      <p:guideLst>
        <p:guide orient="horz" pos="2160"/>
        <p:guide pos="2879"/>
      </p:guideLst>
    </p:cSldViewPr>
  </p:slideViewPr>
  <p:outlineViewPr>
    <p:cViewPr>
      <p:scale>
        <a:sx n="33" d="100"/>
        <a:sy n="33" d="100"/>
      </p:scale>
      <p:origin x="0" y="59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34668"/>
    </p:cViewPr>
  </p:sorterViewPr>
  <p:notesViewPr>
    <p:cSldViewPr snapToGrid="0">
      <p:cViewPr varScale="1">
        <p:scale>
          <a:sx n="82" d="100"/>
          <a:sy n="82" d="100"/>
        </p:scale>
        <p:origin x="-3780" y="-96"/>
      </p:cViewPr>
      <p:guideLst>
        <p:guide orient="horz" pos="2932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presProps" Target="pres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3343" cy="465455"/>
          </a:xfrm>
          <a:prstGeom prst="rect">
            <a:avLst/>
          </a:prstGeom>
        </p:spPr>
        <p:txBody>
          <a:bodyPr vert="horz" lIns="93305" tIns="46654" rIns="93305" bIns="46654" rtlCol="0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05" tIns="46654" rIns="93305" bIns="46654" rtlCol="0"/>
          <a:lstStyle>
            <a:lvl1pPr algn="r">
              <a:defRPr sz="1300"/>
            </a:lvl1pPr>
          </a:lstStyle>
          <a:p>
            <a:fld id="{7F320C92-5B60-47CE-AF8E-33393E468A4F}" type="datetimeFigureOut">
              <a:rPr lang="en-CA" smtClean="0"/>
              <a:t>03/25/2019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2030"/>
            <a:ext cx="3043343" cy="465455"/>
          </a:xfrm>
          <a:prstGeom prst="rect">
            <a:avLst/>
          </a:prstGeom>
        </p:spPr>
        <p:txBody>
          <a:bodyPr vert="horz" lIns="93305" tIns="46654" rIns="93305" bIns="46654" rtlCol="0" anchor="b"/>
          <a:lstStyle>
            <a:lvl1pPr algn="l">
              <a:defRPr sz="1300"/>
            </a:lvl1pPr>
          </a:lstStyle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5455"/>
          </a:xfrm>
          <a:prstGeom prst="rect">
            <a:avLst/>
          </a:prstGeom>
        </p:spPr>
        <p:txBody>
          <a:bodyPr vert="horz" lIns="93305" tIns="46654" rIns="93305" bIns="46654" rtlCol="0" anchor="b"/>
          <a:lstStyle>
            <a:lvl1pPr algn="r">
              <a:defRPr sz="1300"/>
            </a:lvl1pPr>
          </a:lstStyle>
          <a:p>
            <a:fld id="{D932885D-FA4E-45F3-9C34-9BE667995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2965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43649" cy="464839"/>
          </a:xfrm>
          <a:prstGeom prst="rect">
            <a:avLst/>
          </a:prstGeom>
        </p:spPr>
        <p:txBody>
          <a:bodyPr vert="horz" lIns="88265" tIns="44133" rIns="88265" bIns="44133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7929" y="2"/>
            <a:ext cx="3043649" cy="464839"/>
          </a:xfrm>
          <a:prstGeom prst="rect">
            <a:avLst/>
          </a:prstGeom>
        </p:spPr>
        <p:txBody>
          <a:bodyPr vert="horz" lIns="88265" tIns="44133" rIns="88265" bIns="44133" rtlCol="0"/>
          <a:lstStyle>
            <a:lvl1pPr algn="r">
              <a:defRPr sz="1200"/>
            </a:lvl1pPr>
          </a:lstStyle>
          <a:p>
            <a:fld id="{B0CF9F78-B7FC-4D34-B5E9-CFFF0660210F}" type="datetimeFigureOut">
              <a:rPr lang="en-CA" smtClean="0"/>
              <a:t>03/25/2019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65" tIns="44133" rIns="88265" bIns="44133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616" y="4422132"/>
            <a:ext cx="5617870" cy="4188171"/>
          </a:xfrm>
          <a:prstGeom prst="rect">
            <a:avLst/>
          </a:prstGeom>
        </p:spPr>
        <p:txBody>
          <a:bodyPr vert="horz" lIns="88265" tIns="44133" rIns="88265" bIns="44133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42724"/>
            <a:ext cx="3043649" cy="464839"/>
          </a:xfrm>
          <a:prstGeom prst="rect">
            <a:avLst/>
          </a:prstGeom>
        </p:spPr>
        <p:txBody>
          <a:bodyPr vert="horz" lIns="88265" tIns="44133" rIns="88265" bIns="44133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7929" y="8842724"/>
            <a:ext cx="3043649" cy="464839"/>
          </a:xfrm>
          <a:prstGeom prst="rect">
            <a:avLst/>
          </a:prstGeom>
        </p:spPr>
        <p:txBody>
          <a:bodyPr vert="horz" lIns="88265" tIns="44133" rIns="88265" bIns="44133" rtlCol="0" anchor="b"/>
          <a:lstStyle>
            <a:lvl1pPr algn="r">
              <a:defRPr sz="1200"/>
            </a:lvl1pPr>
          </a:lstStyle>
          <a:p>
            <a:fld id="{761EB8C7-5EFC-4FA9-BA9E-FFC3022A465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10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31988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4658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  <a:p>
            <a:r>
              <a:rPr lang="en-US" b="1" dirty="0"/>
              <a:t>Working</a:t>
            </a:r>
            <a:r>
              <a:rPr lang="en-US" b="1"/>
              <a:t> Group  Recommendations</a:t>
            </a:r>
            <a:endParaRPr lang="en-US" b="1" dirty="0"/>
          </a:p>
          <a:p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/>
              <a:t>- </a:t>
            </a:r>
            <a:r>
              <a:rPr lang="en-US" b="1">
                <a:solidFill>
                  <a:schemeClr val="accent4">
                    <a:lumMod val="50000"/>
                  </a:schemeClr>
                </a:solidFill>
              </a:rPr>
              <a:t>Account Specialist</a:t>
            </a:r>
            <a:r>
              <a:rPr lang="en-CA" b="1">
                <a:solidFill>
                  <a:schemeClr val="accent2"/>
                </a:solidFill>
              </a:rPr>
              <a:t>:</a:t>
            </a:r>
            <a:endParaRPr lang="en-CA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FF0000"/>
                </a:solidFill>
              </a:rPr>
              <a:t>Reviews the </a:t>
            </a:r>
            <a:r>
              <a:rPr lang="en-CA">
                <a:solidFill>
                  <a:srgbClr val="FF0000"/>
                </a:solidFill>
              </a:rPr>
              <a:t>Return on Capital (ROC) calculations to ensure within ROC Matrix after the RM builds it.  (Just to make sure it is right…) </a:t>
            </a:r>
            <a:endParaRPr lang="en-CA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Perhaps don’t need to go to this detail however how does the Account Specialist receive the ROC to prepare the LOI?</a:t>
            </a: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- Upload approved ROC to WAVE or Advise Account Specialist the approved ROC and sent by email/sharepoint (?) </a:t>
            </a:r>
            <a:endParaRPr lang="en-US" dirty="0">
              <a:solidFill>
                <a:srgbClr val="FF0000"/>
              </a:solidFill>
            </a:endParaRPr>
          </a:p>
          <a:p>
            <a:endParaRPr lang="en-C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131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  <a:p>
            <a:r>
              <a:rPr lang="en-US" b="1" dirty="0"/>
              <a:t>Working</a:t>
            </a:r>
            <a:r>
              <a:rPr lang="en-US" b="1"/>
              <a:t> Group  Recommendations</a:t>
            </a:r>
            <a:endParaRPr lang="en-US" b="1" dirty="0"/>
          </a:p>
          <a:p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/>
              <a:t>- </a:t>
            </a:r>
            <a:r>
              <a:rPr lang="en-US" b="1">
                <a:solidFill>
                  <a:schemeClr val="accent4">
                    <a:lumMod val="50000"/>
                  </a:schemeClr>
                </a:solidFill>
              </a:rPr>
              <a:t>Account Specialist</a:t>
            </a:r>
            <a:r>
              <a:rPr lang="en-CA" b="1">
                <a:solidFill>
                  <a:schemeClr val="accent2"/>
                </a:solidFill>
              </a:rPr>
              <a:t>:</a:t>
            </a:r>
            <a:endParaRPr lang="en-CA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FF0000"/>
                </a:solidFill>
              </a:rPr>
              <a:t>Reviews the </a:t>
            </a:r>
            <a:r>
              <a:rPr lang="en-CA">
                <a:solidFill>
                  <a:srgbClr val="FF0000"/>
                </a:solidFill>
              </a:rPr>
              <a:t>Return on Capital (ROC) calculations to ensure within ROC Matrix after the RM builds it.  (Just to make sure it is right…) </a:t>
            </a:r>
            <a:endParaRPr lang="en-CA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Perhaps don’t need to go to this detail however how does the Account Specialist receive the ROC to prepare the LOI?</a:t>
            </a: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- Upload approved ROC to WAVE or Advise Account Specialist the approved ROC and sent by email/sharepoint (?) </a:t>
            </a:r>
            <a:endParaRPr lang="en-US" dirty="0">
              <a:solidFill>
                <a:srgbClr val="FF0000"/>
              </a:solidFill>
            </a:endParaRPr>
          </a:p>
          <a:p>
            <a:endParaRPr lang="en-C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131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  <a:p>
            <a:r>
              <a:rPr lang="en-US" b="1" dirty="0"/>
              <a:t>Working</a:t>
            </a:r>
            <a:r>
              <a:rPr lang="en-US" b="1"/>
              <a:t> Group  Recommendations</a:t>
            </a:r>
            <a:endParaRPr lang="en-US" b="1" dirty="0"/>
          </a:p>
          <a:p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/>
              <a:t>- </a:t>
            </a:r>
            <a:r>
              <a:rPr lang="en-US" b="1">
                <a:solidFill>
                  <a:schemeClr val="accent4">
                    <a:lumMod val="50000"/>
                  </a:schemeClr>
                </a:solidFill>
              </a:rPr>
              <a:t>Account Specialist</a:t>
            </a:r>
            <a:r>
              <a:rPr lang="en-CA" b="1">
                <a:solidFill>
                  <a:schemeClr val="accent2"/>
                </a:solidFill>
              </a:rPr>
              <a:t>:</a:t>
            </a:r>
            <a:endParaRPr lang="en-CA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FF0000"/>
                </a:solidFill>
              </a:rPr>
              <a:t>Reviews the </a:t>
            </a:r>
            <a:r>
              <a:rPr lang="en-CA">
                <a:solidFill>
                  <a:srgbClr val="FF0000"/>
                </a:solidFill>
              </a:rPr>
              <a:t>Return on Capital (ROC) calculations to ensure within ROC Matrix after the RM builds it.  (Just to make sure it is right…) </a:t>
            </a:r>
            <a:endParaRPr lang="en-CA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Perhaps don’t need to go to this detail however how does the Account Specialist receive the ROC to prepare the LOI?</a:t>
            </a: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- Upload approved ROC to WAVE or Advise Account Specialist the approved ROC and sent by email/sharepoint (?) </a:t>
            </a:r>
            <a:endParaRPr lang="en-US" dirty="0">
              <a:solidFill>
                <a:srgbClr val="FF0000"/>
              </a:solidFill>
            </a:endParaRPr>
          </a:p>
          <a:p>
            <a:endParaRPr lang="en-C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131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  <a:p>
            <a:r>
              <a:rPr lang="en-US" b="1" dirty="0"/>
              <a:t>Working</a:t>
            </a:r>
            <a:r>
              <a:rPr lang="en-US" b="1"/>
              <a:t> Group  Recommendations</a:t>
            </a:r>
            <a:endParaRPr lang="en-US" b="1" dirty="0"/>
          </a:p>
          <a:p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/>
              <a:t>- </a:t>
            </a:r>
            <a:r>
              <a:rPr lang="en-US" b="1">
                <a:solidFill>
                  <a:schemeClr val="accent4">
                    <a:lumMod val="50000"/>
                  </a:schemeClr>
                </a:solidFill>
              </a:rPr>
              <a:t>Account Specialist</a:t>
            </a:r>
            <a:r>
              <a:rPr lang="en-CA" b="1">
                <a:solidFill>
                  <a:schemeClr val="accent2"/>
                </a:solidFill>
              </a:rPr>
              <a:t>:</a:t>
            </a:r>
            <a:endParaRPr lang="en-CA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FF0000"/>
                </a:solidFill>
              </a:rPr>
              <a:t>Reviews the </a:t>
            </a:r>
            <a:r>
              <a:rPr lang="en-CA">
                <a:solidFill>
                  <a:srgbClr val="FF0000"/>
                </a:solidFill>
              </a:rPr>
              <a:t>Return on Capital (ROC) calculations to ensure within ROC Matrix after the RM builds it.  (Just to make sure it is right…) </a:t>
            </a:r>
            <a:endParaRPr lang="en-CA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Perhaps don’t need to go to this detail however how does the Account Specialist receive the ROC to prepare the LOI?</a:t>
            </a: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- Upload approved ROC to WAVE or Advise Account Specialist the approved ROC and sent by email/sharepoint (?) </a:t>
            </a:r>
            <a:endParaRPr lang="en-US" dirty="0">
              <a:solidFill>
                <a:srgbClr val="FF0000"/>
              </a:solidFill>
            </a:endParaRPr>
          </a:p>
          <a:p>
            <a:endParaRPr lang="en-C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131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  <a:p>
            <a:r>
              <a:rPr lang="en-US" b="1" dirty="0"/>
              <a:t>Working</a:t>
            </a:r>
            <a:r>
              <a:rPr lang="en-US" b="1"/>
              <a:t> Group  Recommendations</a:t>
            </a:r>
            <a:endParaRPr lang="en-US" b="1" dirty="0"/>
          </a:p>
          <a:p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/>
              <a:t>- </a:t>
            </a:r>
            <a:r>
              <a:rPr lang="en-US" b="1">
                <a:solidFill>
                  <a:schemeClr val="accent4">
                    <a:lumMod val="50000"/>
                  </a:schemeClr>
                </a:solidFill>
              </a:rPr>
              <a:t>Account Specialist</a:t>
            </a:r>
            <a:r>
              <a:rPr lang="en-CA" b="1">
                <a:solidFill>
                  <a:schemeClr val="accent2"/>
                </a:solidFill>
              </a:rPr>
              <a:t>:</a:t>
            </a:r>
            <a:endParaRPr lang="en-CA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FF0000"/>
                </a:solidFill>
              </a:rPr>
              <a:t>Reviews the </a:t>
            </a:r>
            <a:r>
              <a:rPr lang="en-CA">
                <a:solidFill>
                  <a:srgbClr val="FF0000"/>
                </a:solidFill>
              </a:rPr>
              <a:t>Return on Capital (ROC) calculations to ensure within ROC Matrix after the RM builds it.  (Just to make sure it is right…) </a:t>
            </a:r>
            <a:endParaRPr lang="en-CA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Perhaps don’t need to go to this detail however how does the Account Specialist receive the ROC to prepare the LOI?</a:t>
            </a: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- Upload approved ROC to WAVE or Advise Account Specialist the approved ROC and sent by email/sharepoint (?) </a:t>
            </a:r>
            <a:endParaRPr lang="en-US" dirty="0">
              <a:solidFill>
                <a:srgbClr val="FF0000"/>
              </a:solidFill>
            </a:endParaRPr>
          </a:p>
          <a:p>
            <a:endParaRPr lang="en-C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7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131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  <a:p>
            <a:r>
              <a:rPr lang="en-US" b="1" dirty="0"/>
              <a:t>Working</a:t>
            </a:r>
            <a:r>
              <a:rPr lang="en-US" b="1"/>
              <a:t> Group  Recommendations</a:t>
            </a:r>
            <a:endParaRPr lang="en-US" b="1" dirty="0"/>
          </a:p>
          <a:p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/>
              <a:t>- </a:t>
            </a:r>
            <a:r>
              <a:rPr lang="en-US" b="1">
                <a:solidFill>
                  <a:schemeClr val="accent4">
                    <a:lumMod val="50000"/>
                  </a:schemeClr>
                </a:solidFill>
              </a:rPr>
              <a:t>Account Specialist</a:t>
            </a:r>
            <a:r>
              <a:rPr lang="en-CA" b="1">
                <a:solidFill>
                  <a:schemeClr val="accent2"/>
                </a:solidFill>
              </a:rPr>
              <a:t>:</a:t>
            </a:r>
            <a:endParaRPr lang="en-CA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FF0000"/>
                </a:solidFill>
              </a:rPr>
              <a:t>Reviews the </a:t>
            </a:r>
            <a:r>
              <a:rPr lang="en-CA">
                <a:solidFill>
                  <a:srgbClr val="FF0000"/>
                </a:solidFill>
              </a:rPr>
              <a:t>Return on Capital (ROC) calculations to ensure within ROC Matrix after the RM builds it.  (Just to make sure it is right…) </a:t>
            </a:r>
            <a:endParaRPr lang="en-CA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Perhaps don’t need to go to this detail however how does the Account Specialist receive the ROC to prepare the LOI?</a:t>
            </a: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- Upload approved ROC to WAVE or Advise Account Specialist the approved ROC and sent by email/sharepoint (?) </a:t>
            </a:r>
            <a:endParaRPr lang="en-US" dirty="0">
              <a:solidFill>
                <a:srgbClr val="FF0000"/>
              </a:solidFill>
            </a:endParaRPr>
          </a:p>
          <a:p>
            <a:endParaRPr lang="en-C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131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  <a:p>
            <a:r>
              <a:rPr lang="en-US" b="1" dirty="0"/>
              <a:t>Working</a:t>
            </a:r>
            <a:r>
              <a:rPr lang="en-US" b="1"/>
              <a:t> Group  Recommendations</a:t>
            </a:r>
            <a:endParaRPr lang="en-US" b="1" dirty="0"/>
          </a:p>
          <a:p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/>
              <a:t>- </a:t>
            </a:r>
            <a:r>
              <a:rPr lang="en-US" b="1">
                <a:solidFill>
                  <a:schemeClr val="accent4">
                    <a:lumMod val="50000"/>
                  </a:schemeClr>
                </a:solidFill>
              </a:rPr>
              <a:t>Account Specialist</a:t>
            </a:r>
            <a:r>
              <a:rPr lang="en-CA" b="1">
                <a:solidFill>
                  <a:schemeClr val="accent2"/>
                </a:solidFill>
              </a:rPr>
              <a:t>:</a:t>
            </a:r>
            <a:endParaRPr lang="en-CA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FF0000"/>
                </a:solidFill>
              </a:rPr>
              <a:t>Reviews the </a:t>
            </a:r>
            <a:r>
              <a:rPr lang="en-CA">
                <a:solidFill>
                  <a:srgbClr val="FF0000"/>
                </a:solidFill>
              </a:rPr>
              <a:t>Return on Capital (ROC) calculations to ensure within ROC Matrix after the RM builds it.  (Just to make sure it is right…) </a:t>
            </a:r>
            <a:endParaRPr lang="en-CA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Perhaps don’t need to go to this detail however how does the Account Specialist receive the ROC to prepare the LOI?</a:t>
            </a: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- Upload approved ROC to WAVE or Advise Account Specialist the approved ROC and sent by email/sharepoint (?) </a:t>
            </a:r>
            <a:endParaRPr lang="en-US" dirty="0">
              <a:solidFill>
                <a:srgbClr val="FF0000"/>
              </a:solidFill>
            </a:endParaRPr>
          </a:p>
          <a:p>
            <a:endParaRPr lang="en-C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131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  <a:p>
            <a:r>
              <a:rPr lang="en-US" b="1" dirty="0"/>
              <a:t>Working</a:t>
            </a:r>
            <a:r>
              <a:rPr lang="en-US" b="1"/>
              <a:t> Group  Recommendations</a:t>
            </a:r>
            <a:endParaRPr lang="en-US" b="1" dirty="0"/>
          </a:p>
          <a:p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/>
              <a:t>- </a:t>
            </a:r>
            <a:r>
              <a:rPr lang="en-US" b="1">
                <a:solidFill>
                  <a:schemeClr val="accent4">
                    <a:lumMod val="50000"/>
                  </a:schemeClr>
                </a:solidFill>
              </a:rPr>
              <a:t>Account Specialist</a:t>
            </a:r>
            <a:r>
              <a:rPr lang="en-CA" b="1">
                <a:solidFill>
                  <a:schemeClr val="accent2"/>
                </a:solidFill>
              </a:rPr>
              <a:t>:</a:t>
            </a:r>
            <a:endParaRPr lang="en-CA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FF0000"/>
                </a:solidFill>
              </a:rPr>
              <a:t>Reviews the </a:t>
            </a:r>
            <a:r>
              <a:rPr lang="en-CA">
                <a:solidFill>
                  <a:srgbClr val="FF0000"/>
                </a:solidFill>
              </a:rPr>
              <a:t>Return on Capital (ROC) calculations to ensure within ROC Matrix after the RM builds it.  (Just to make sure it is right…) </a:t>
            </a:r>
            <a:endParaRPr lang="en-CA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Perhaps don’t need to go to this detail however how does the Account Specialist receive the ROC to prepare the LOI?</a:t>
            </a: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- Upload approved ROC to WAVE or Advise Account Specialist the approved ROC and sent by email/sharepoint (?) </a:t>
            </a:r>
            <a:endParaRPr lang="en-US" dirty="0">
              <a:solidFill>
                <a:srgbClr val="FF0000"/>
              </a:solidFill>
            </a:endParaRPr>
          </a:p>
          <a:p>
            <a:endParaRPr lang="en-C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EB8C7-5EFC-4FA9-BA9E-FFC3022A4650}" type="slidenum">
              <a:rPr lang="en-CA" smtClean="0"/>
              <a:t>10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131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77825" y="3476625"/>
            <a:ext cx="6362700" cy="105727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rgbClr val="937A46"/>
                </a:solidFill>
              </a:defRPr>
            </a:lvl1pPr>
          </a:lstStyle>
          <a:p>
            <a:r>
              <a:rPr lang="en-CA" dirty="0" smtClean="0"/>
              <a:t>Additional text…</a:t>
            </a:r>
            <a:endParaRPr lang="en-CA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377825" y="2733677"/>
            <a:ext cx="8331201" cy="60959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 spc="-100" baseline="0">
                <a:solidFill>
                  <a:srgbClr val="937A4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dirty="0" smtClean="0"/>
              <a:t>Subtitle</a:t>
            </a:r>
            <a:endParaRPr lang="en-CA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77825" y="2019300"/>
            <a:ext cx="8350249" cy="7048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800"/>
              </a:lnSpc>
              <a:spcBef>
                <a:spcPts val="0"/>
              </a:spcBef>
              <a:buNone/>
              <a:defRPr sz="6000" spc="-100" baseline="0">
                <a:solidFill>
                  <a:srgbClr val="009AA6"/>
                </a:solidFill>
              </a:defRPr>
            </a:lvl1pPr>
          </a:lstStyle>
          <a:p>
            <a:pPr lvl="0"/>
            <a:r>
              <a:rPr lang="en-US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902861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7674" y="2133601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25054" y="1520715"/>
            <a:ext cx="8274446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200" b="1" spc="0" baseline="0">
                <a:solidFill>
                  <a:srgbClr val="009AA6"/>
                </a:solidFill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04510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45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87349" y="2060626"/>
            <a:ext cx="8340725" cy="17129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200"/>
              </a:lnSpc>
              <a:spcBef>
                <a:spcPts val="0"/>
              </a:spcBef>
              <a:buNone/>
              <a:defRPr sz="5200" spc="-100" baseline="0">
                <a:solidFill>
                  <a:srgbClr val="937A46"/>
                </a:solidFill>
                <a:latin typeface="+mj-lt"/>
              </a:defRPr>
            </a:lvl1pPr>
          </a:lstStyle>
          <a:p>
            <a:pPr lvl="0"/>
            <a:r>
              <a:rPr lang="en-CA" dirty="0" smtClean="0"/>
              <a:t>Section 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10703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634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87349" y="2060626"/>
            <a:ext cx="8340725" cy="17129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200"/>
              </a:lnSpc>
              <a:spcBef>
                <a:spcPts val="0"/>
              </a:spcBef>
              <a:buNone/>
              <a:defRPr sz="5200" spc="-100" baseline="0">
                <a:solidFill>
                  <a:srgbClr val="937A46"/>
                </a:solidFill>
                <a:latin typeface="+mj-lt"/>
              </a:defRPr>
            </a:lvl1pPr>
          </a:lstStyle>
          <a:p>
            <a:pPr lvl="0"/>
            <a:r>
              <a:rPr lang="en-CA" dirty="0" smtClean="0"/>
              <a:t>Section 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1537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7674" y="2133601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25054" y="1520715"/>
            <a:ext cx="8274446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200" b="1" spc="0" baseline="0">
                <a:solidFill>
                  <a:srgbClr val="009AA6"/>
                </a:solidFill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87538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2" y="1718914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9074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4" y="5997857"/>
            <a:ext cx="8075611" cy="2728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rgbClr val="009AA6"/>
                </a:solidFill>
              </a:defRPr>
            </a:lvl1pPr>
          </a:lstStyle>
          <a:p>
            <a:pPr lvl="0"/>
            <a:r>
              <a:rPr lang="en-US" dirty="0" smtClean="0"/>
              <a:t>Photo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919858"/>
            <a:ext cx="8280400" cy="499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0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5412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87349" y="2060626"/>
            <a:ext cx="8340725" cy="17129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200"/>
              </a:lnSpc>
              <a:spcBef>
                <a:spcPts val="0"/>
              </a:spcBef>
              <a:buNone/>
              <a:defRPr sz="5200" spc="-100" baseline="0">
                <a:solidFill>
                  <a:srgbClr val="937A46"/>
                </a:solidFill>
                <a:latin typeface="+mj-lt"/>
              </a:defRPr>
            </a:lvl1pPr>
          </a:lstStyle>
          <a:p>
            <a:pPr lvl="0"/>
            <a:r>
              <a:rPr lang="en-CA" dirty="0" smtClean="0"/>
              <a:t>Section 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510005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7674" y="2133601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25054" y="1520715"/>
            <a:ext cx="8274446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200" b="1" spc="0" baseline="0">
                <a:solidFill>
                  <a:srgbClr val="009AA6"/>
                </a:solidFill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10256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2" y="1718914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124226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4" y="5997857"/>
            <a:ext cx="8075611" cy="2728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rgbClr val="009AA6"/>
                </a:solidFill>
              </a:defRPr>
            </a:lvl1pPr>
          </a:lstStyle>
          <a:p>
            <a:pPr lvl="0"/>
            <a:r>
              <a:rPr lang="en-US" dirty="0" smtClean="0"/>
              <a:t>Photo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919858"/>
            <a:ext cx="8280400" cy="499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15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1377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87349" y="2060626"/>
            <a:ext cx="8340725" cy="17129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200"/>
              </a:lnSpc>
              <a:spcBef>
                <a:spcPts val="0"/>
              </a:spcBef>
              <a:buNone/>
              <a:defRPr sz="5200" spc="-100" baseline="0">
                <a:solidFill>
                  <a:srgbClr val="937A46"/>
                </a:solidFill>
                <a:latin typeface="+mj-lt"/>
              </a:defRPr>
            </a:lvl1pPr>
          </a:lstStyle>
          <a:p>
            <a:pPr lvl="0"/>
            <a:r>
              <a:rPr lang="en-CA" dirty="0" smtClean="0"/>
              <a:t>Section 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031742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7674" y="2133601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25054" y="1520715"/>
            <a:ext cx="8274446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200" b="1" spc="0" baseline="0">
                <a:solidFill>
                  <a:srgbClr val="009AA6"/>
                </a:solidFill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7306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2" y="1718914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13511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4" y="5997857"/>
            <a:ext cx="8075611" cy="2728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rgbClr val="009AA6"/>
                </a:solidFill>
              </a:defRPr>
            </a:lvl1pPr>
          </a:lstStyle>
          <a:p>
            <a:pPr lvl="0"/>
            <a:r>
              <a:rPr lang="en-US" dirty="0" smtClean="0"/>
              <a:t>Photo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919858"/>
            <a:ext cx="8280400" cy="499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14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340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87349" y="2060626"/>
            <a:ext cx="8340725" cy="17129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200"/>
              </a:lnSpc>
              <a:spcBef>
                <a:spcPts val="0"/>
              </a:spcBef>
              <a:buNone/>
              <a:defRPr sz="5200" spc="-100" baseline="0">
                <a:solidFill>
                  <a:srgbClr val="937A46"/>
                </a:solidFill>
                <a:latin typeface="+mj-lt"/>
              </a:defRPr>
            </a:lvl1pPr>
          </a:lstStyle>
          <a:p>
            <a:pPr lvl="0"/>
            <a:r>
              <a:rPr lang="en-CA" dirty="0" smtClean="0"/>
              <a:t>Section 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064008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7674" y="2133601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25054" y="1520715"/>
            <a:ext cx="8274446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200" b="1" spc="0" baseline="0">
                <a:solidFill>
                  <a:srgbClr val="009AA6"/>
                </a:solidFill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2731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2" y="1718914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463937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4" y="5997857"/>
            <a:ext cx="8075611" cy="2728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rgbClr val="009AA6"/>
                </a:solidFill>
              </a:defRPr>
            </a:lvl1pPr>
          </a:lstStyle>
          <a:p>
            <a:pPr lvl="0"/>
            <a:r>
              <a:rPr lang="en-US" dirty="0" smtClean="0"/>
              <a:t>Photo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919858"/>
            <a:ext cx="8280400" cy="499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243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33172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87349" y="2060626"/>
            <a:ext cx="8340725" cy="17129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5200"/>
              </a:lnSpc>
              <a:spcBef>
                <a:spcPts val="0"/>
              </a:spcBef>
              <a:buNone/>
              <a:defRPr sz="5200" spc="-100" baseline="0">
                <a:solidFill>
                  <a:srgbClr val="937A46"/>
                </a:solidFill>
                <a:latin typeface="+mj-lt"/>
              </a:defRPr>
            </a:lvl1pPr>
          </a:lstStyle>
          <a:p>
            <a:pPr lvl="0"/>
            <a:r>
              <a:rPr lang="en-CA" dirty="0" smtClean="0"/>
              <a:t>Section 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95419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7674" y="2133601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25054" y="1520715"/>
            <a:ext cx="8274446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200" b="1" spc="0" baseline="0">
                <a:solidFill>
                  <a:srgbClr val="009AA6"/>
                </a:solidFill>
              </a:defRPr>
            </a:lvl1pPr>
          </a:lstStyle>
          <a:p>
            <a:pPr lvl="0"/>
            <a:r>
              <a:rPr lang="en-CA" dirty="0" smtClean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00147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202" y="1718914"/>
            <a:ext cx="8280401" cy="4124324"/>
          </a:xfrm>
          <a:prstGeom prst="rect">
            <a:avLst/>
          </a:prstGeom>
          <a:noFill/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 marL="1143000" indent="-228600">
              <a:buFont typeface="Wingdings" panose="05000000000000000000" pitchFamily="2" charset="2"/>
              <a:buChar char="s"/>
              <a:defRPr sz="16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 dirty="0" smtClean="0"/>
              <a:t>Bullet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en-CA" dirty="0" smtClean="0"/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  <a:p>
            <a:pPr lvl="0"/>
            <a:r>
              <a:rPr lang="en-CA" dirty="0" smtClean="0"/>
              <a:t>Bullet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06202" y="1092090"/>
            <a:ext cx="8293297" cy="31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400"/>
              </a:lnSpc>
              <a:spcBef>
                <a:spcPts val="0"/>
              </a:spcBef>
              <a:buNone/>
              <a:defRPr sz="3400" spc="-100" baseline="0">
                <a:solidFill>
                  <a:srgbClr val="937A46"/>
                </a:solidFill>
              </a:defRPr>
            </a:lvl1pPr>
          </a:lstStyle>
          <a:p>
            <a:pPr lvl="0"/>
            <a:r>
              <a:rPr lang="en-CA" dirty="0" smtClean="0"/>
              <a:t>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593001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4" y="5997857"/>
            <a:ext cx="8075611" cy="2728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rgbClr val="009AA6"/>
                </a:solidFill>
              </a:defRPr>
            </a:lvl1pPr>
          </a:lstStyle>
          <a:p>
            <a:pPr lvl="0"/>
            <a:r>
              <a:rPr lang="en-US" dirty="0" smtClean="0"/>
              <a:t>Photo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1307805"/>
            <a:ext cx="8280400" cy="46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33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5473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2576"/>
            <a:ext cx="9144000" cy="72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7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8" r:id="rId2"/>
    <p:sldLayoutId id="2147483723" r:id="rId3"/>
    <p:sldLayoutId id="2147483725" r:id="rId4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utiger LT Std 57 Cn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47675" y="6416937"/>
            <a:ext cx="8266479" cy="0"/>
          </a:xfrm>
          <a:prstGeom prst="line">
            <a:avLst/>
          </a:prstGeom>
          <a:ln w="6350">
            <a:solidFill>
              <a:srgbClr val="937A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388424" y="6502840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937A46"/>
                </a:solidFill>
                <a:latin typeface="Frutiger LT Std 45 Light" pitchFamily="34" charset="0"/>
              </a:rPr>
              <a:pPr/>
              <a:t>‹#›</a:t>
            </a:fld>
            <a:endParaRPr lang="en-CA" sz="900" dirty="0">
              <a:solidFill>
                <a:srgbClr val="937A46"/>
              </a:solidFill>
              <a:latin typeface="Frutiger LT Std 45 Light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552" y="6544880"/>
            <a:ext cx="784887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900" b="1" i="1" dirty="0" smtClean="0">
                <a:solidFill>
                  <a:schemeClr val="accent1"/>
                </a:solidFill>
              </a:rPr>
              <a:t>CWB</a:t>
            </a:r>
            <a:r>
              <a:rPr lang="en-CA" sz="900" b="1" i="1" baseline="0" dirty="0" smtClean="0">
                <a:solidFill>
                  <a:schemeClr val="accent1"/>
                </a:solidFill>
              </a:rPr>
              <a:t> Financial Group </a:t>
            </a:r>
            <a:endParaRPr lang="en-CA" sz="900" b="1" i="1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5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2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2" r:id="rId2"/>
    <p:sldLayoutId id="2147483675" r:id="rId3"/>
    <p:sldLayoutId id="2147483697" r:id="rId4"/>
    <p:sldLayoutId id="2147483696" r:id="rId5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47675" y="6416937"/>
            <a:ext cx="8266479" cy="0"/>
          </a:xfrm>
          <a:prstGeom prst="line">
            <a:avLst/>
          </a:prstGeom>
          <a:ln w="6350">
            <a:solidFill>
              <a:srgbClr val="937A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388424" y="6502840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937A46"/>
                </a:solidFill>
                <a:latin typeface="Frutiger LT Std 45 Light" pitchFamily="34" charset="0"/>
              </a:rPr>
              <a:pPr/>
              <a:t>‹#›</a:t>
            </a:fld>
            <a:endParaRPr lang="en-CA" sz="900" dirty="0">
              <a:solidFill>
                <a:srgbClr val="937A46"/>
              </a:solidFill>
              <a:latin typeface="Frutiger LT Std 45 Light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552" y="6544880"/>
            <a:ext cx="784887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A" sz="900" b="1" i="1" dirty="0" smtClean="0">
                <a:solidFill>
                  <a:srgbClr val="009AA6"/>
                </a:solidFill>
              </a:rPr>
              <a:t>CWB Financial Group </a:t>
            </a:r>
            <a:endParaRPr lang="en-CA" sz="900" b="1" i="1" dirty="0">
              <a:solidFill>
                <a:srgbClr val="937A4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5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8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47675" y="6416937"/>
            <a:ext cx="8266479" cy="0"/>
          </a:xfrm>
          <a:prstGeom prst="line">
            <a:avLst/>
          </a:prstGeom>
          <a:ln w="6350">
            <a:solidFill>
              <a:srgbClr val="937A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388424" y="6502840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937A46"/>
                </a:solidFill>
                <a:latin typeface="Frutiger LT Std 45 Light" pitchFamily="34" charset="0"/>
              </a:rPr>
              <a:pPr/>
              <a:t>‹#›</a:t>
            </a:fld>
            <a:endParaRPr lang="en-CA" sz="900" dirty="0">
              <a:solidFill>
                <a:srgbClr val="937A46"/>
              </a:solidFill>
              <a:latin typeface="Frutiger LT Std 45 Light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552" y="6544880"/>
            <a:ext cx="784887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A" sz="900" b="1" i="1" dirty="0" smtClean="0">
                <a:solidFill>
                  <a:srgbClr val="009AA6"/>
                </a:solidFill>
              </a:rPr>
              <a:t>Canadian Western Bank</a:t>
            </a:r>
            <a:endParaRPr lang="en-CA" sz="900" b="1" i="1" dirty="0">
              <a:solidFill>
                <a:srgbClr val="937A46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47675" y="6416937"/>
            <a:ext cx="8266479" cy="0"/>
          </a:xfrm>
          <a:prstGeom prst="line">
            <a:avLst/>
          </a:prstGeom>
          <a:ln w="6350">
            <a:solidFill>
              <a:srgbClr val="937A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388424" y="6502840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937A46"/>
                </a:solidFill>
                <a:latin typeface="Frutiger LT Std 45 Light" pitchFamily="34" charset="0"/>
              </a:rPr>
              <a:pPr/>
              <a:t>‹#›</a:t>
            </a:fld>
            <a:endParaRPr lang="en-CA" sz="900" dirty="0">
              <a:solidFill>
                <a:srgbClr val="937A46"/>
              </a:solidFill>
              <a:latin typeface="Frutiger LT Std 45 Light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552" y="6544880"/>
            <a:ext cx="784887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A" sz="900" b="1" i="1" dirty="0" smtClean="0">
                <a:solidFill>
                  <a:srgbClr val="009AA6"/>
                </a:solidFill>
              </a:rPr>
              <a:t>Canadian Western Bank</a:t>
            </a:r>
            <a:endParaRPr lang="en-CA" sz="900" b="1" i="1" dirty="0">
              <a:solidFill>
                <a:srgbClr val="937A46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19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47675" y="6416937"/>
            <a:ext cx="8266479" cy="0"/>
          </a:xfrm>
          <a:prstGeom prst="line">
            <a:avLst/>
          </a:prstGeom>
          <a:ln w="6350">
            <a:solidFill>
              <a:srgbClr val="937A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388424" y="6502840"/>
            <a:ext cx="32573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167796FD-2C35-44D3-9582-043279E26514}" type="slidenum">
              <a:rPr lang="en-CA" sz="900" b="1" smtClean="0">
                <a:solidFill>
                  <a:srgbClr val="937A46"/>
                </a:solidFill>
                <a:latin typeface="Frutiger LT Std 45 Light" pitchFamily="34" charset="0"/>
              </a:rPr>
              <a:pPr/>
              <a:t>‹#›</a:t>
            </a:fld>
            <a:endParaRPr lang="en-CA" sz="900" dirty="0">
              <a:solidFill>
                <a:srgbClr val="937A46"/>
              </a:solidFill>
              <a:latin typeface="Frutiger LT Std 45 Light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552" y="6544880"/>
            <a:ext cx="784887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A" sz="900" b="1" i="1" dirty="0" smtClean="0">
                <a:solidFill>
                  <a:srgbClr val="009AA6"/>
                </a:solidFill>
              </a:rPr>
              <a:t>CWB Financial Group </a:t>
            </a:r>
            <a:endParaRPr lang="en-CA" sz="900" b="1" i="1" dirty="0">
              <a:solidFill>
                <a:srgbClr val="937A4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5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4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77825" y="3139178"/>
            <a:ext cx="8331201" cy="609598"/>
          </a:xfrm>
        </p:spPr>
        <p:txBody>
          <a:bodyPr/>
          <a:lstStyle/>
          <a:p>
            <a:r>
              <a:rPr lang="en-CA" dirty="0" smtClean="0">
                <a:solidFill>
                  <a:schemeClr val="accent2"/>
                </a:solidFill>
              </a:rPr>
              <a:t>High Level Process Overview</a:t>
            </a:r>
            <a:endParaRPr lang="en-CA" dirty="0">
              <a:solidFill>
                <a:schemeClr val="accent2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47660" y="2415276"/>
            <a:ext cx="8796340" cy="704850"/>
          </a:xfrm>
        </p:spPr>
        <p:txBody>
          <a:bodyPr/>
          <a:lstStyle/>
          <a:p>
            <a:r>
              <a:rPr lang="en-CA" sz="4800" spc="-100" dirty="0" smtClean="0">
                <a:solidFill>
                  <a:schemeClr val="accent1">
                    <a:lumMod val="50000"/>
                  </a:schemeClr>
                </a:solidFill>
              </a:rPr>
              <a:t>Account Opening –Demand Business</a:t>
            </a:r>
            <a:endParaRPr lang="en-CA" sz="4800" spc="-1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469" y="4244617"/>
            <a:ext cx="1566171" cy="20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7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015318"/>
            <a:ext cx="9144000" cy="842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9" name="Rounded Rectangle 138"/>
          <p:cNvSpPr/>
          <p:nvPr/>
        </p:nvSpPr>
        <p:spPr>
          <a:xfrm>
            <a:off x="7607935" y="3274365"/>
            <a:ext cx="762768" cy="352088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Down Arrow 145"/>
          <p:cNvSpPr/>
          <p:nvPr/>
        </p:nvSpPr>
        <p:spPr>
          <a:xfrm>
            <a:off x="7614933" y="4374776"/>
            <a:ext cx="135103" cy="1058441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Down Arrow 146"/>
          <p:cNvSpPr/>
          <p:nvPr/>
        </p:nvSpPr>
        <p:spPr>
          <a:xfrm>
            <a:off x="8235600" y="4374776"/>
            <a:ext cx="135103" cy="2061883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/>
          <p:cNvSpPr/>
          <p:nvPr/>
        </p:nvSpPr>
        <p:spPr>
          <a:xfrm>
            <a:off x="6736724" y="1120594"/>
            <a:ext cx="721911" cy="475128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 Arrow 4"/>
          <p:cNvSpPr/>
          <p:nvPr/>
        </p:nvSpPr>
        <p:spPr>
          <a:xfrm>
            <a:off x="7238872" y="2076884"/>
            <a:ext cx="212198" cy="1206447"/>
          </a:xfrm>
          <a:prstGeom prst="up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5" name="Down Arrow 114"/>
          <p:cNvSpPr/>
          <p:nvPr/>
        </p:nvSpPr>
        <p:spPr>
          <a:xfrm>
            <a:off x="6765136" y="2090177"/>
            <a:ext cx="135103" cy="1184189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74"/>
          <p:cNvSpPr/>
          <p:nvPr/>
        </p:nvSpPr>
        <p:spPr>
          <a:xfrm>
            <a:off x="5835256" y="1120595"/>
            <a:ext cx="762768" cy="219442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>
            <a:off x="4181940" y="1120595"/>
            <a:ext cx="770584" cy="219442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/>
          <p:cNvSpPr/>
          <p:nvPr/>
        </p:nvSpPr>
        <p:spPr>
          <a:xfrm>
            <a:off x="3255653" y="1120595"/>
            <a:ext cx="767530" cy="218775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ight Arrow 96"/>
          <p:cNvSpPr/>
          <p:nvPr/>
        </p:nvSpPr>
        <p:spPr>
          <a:xfrm>
            <a:off x="6598023" y="3130926"/>
            <a:ext cx="2456329" cy="1080000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85209" y="430289"/>
            <a:ext cx="9144000" cy="31761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3200" dirty="0"/>
              <a:t>Process </a:t>
            </a:r>
            <a:r>
              <a:rPr lang="en-US" sz="3200" dirty="0" smtClean="0"/>
              <a:t>Overview: Account Opening –Demand Business</a:t>
            </a:r>
            <a:endParaRPr lang="en-US" sz="3200" dirty="0"/>
          </a:p>
          <a:p>
            <a:endParaRPr lang="en-CA" dirty="0"/>
          </a:p>
        </p:txBody>
      </p:sp>
      <p:sp>
        <p:nvSpPr>
          <p:cNvPr id="16" name="Right Arrow 15"/>
          <p:cNvSpPr/>
          <p:nvPr/>
        </p:nvSpPr>
        <p:spPr>
          <a:xfrm>
            <a:off x="596190" y="831149"/>
            <a:ext cx="8458163" cy="1080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3172751" y="1967535"/>
            <a:ext cx="5881602" cy="10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4822" y="1095197"/>
            <a:ext cx="858524" cy="527584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900" dirty="0" smtClean="0"/>
              <a:t>Cash Management/</a:t>
            </a:r>
          </a:p>
          <a:p>
            <a:pPr algn="ctr"/>
            <a:r>
              <a:rPr lang="en-US" sz="900" dirty="0" smtClean="0"/>
              <a:t>Retail role</a:t>
            </a:r>
          </a:p>
          <a:p>
            <a:pPr algn="ctr"/>
            <a:r>
              <a:rPr lang="en-US" sz="900" dirty="0" smtClean="0"/>
              <a:t>(1A)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667910" y="1666425"/>
            <a:ext cx="9314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Gather Preliminary Info</a:t>
            </a:r>
            <a:endParaRPr lang="en-US" sz="1000" b="1" dirty="0"/>
          </a:p>
        </p:txBody>
      </p:sp>
      <p:sp>
        <p:nvSpPr>
          <p:cNvPr id="23" name="Oval 22"/>
          <p:cNvSpPr/>
          <p:nvPr/>
        </p:nvSpPr>
        <p:spPr>
          <a:xfrm>
            <a:off x="968893" y="1161164"/>
            <a:ext cx="335577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1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298046" y="2260669"/>
            <a:ext cx="787781" cy="44656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Branch Authorizer</a:t>
            </a:r>
            <a:endParaRPr lang="en-CA" sz="900" dirty="0" smtClean="0"/>
          </a:p>
          <a:p>
            <a:pPr algn="ctr"/>
            <a:r>
              <a:rPr lang="en-US" sz="900" dirty="0" smtClean="0"/>
              <a:t>(1A)</a:t>
            </a:r>
            <a:endParaRPr lang="en-US" sz="900" dirty="0"/>
          </a:p>
        </p:txBody>
      </p:sp>
      <p:sp>
        <p:nvSpPr>
          <p:cNvPr id="70" name="Oval 69"/>
          <p:cNvSpPr/>
          <p:nvPr/>
        </p:nvSpPr>
        <p:spPr>
          <a:xfrm>
            <a:off x="1785949" y="1161163"/>
            <a:ext cx="336910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513257" y="1676571"/>
            <a:ext cx="862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Gather Documents</a:t>
            </a:r>
            <a:endParaRPr lang="en-US" sz="1000" b="1" dirty="0"/>
          </a:p>
        </p:txBody>
      </p:sp>
      <p:sp>
        <p:nvSpPr>
          <p:cNvPr id="80" name="Down Arrow 79"/>
          <p:cNvSpPr/>
          <p:nvPr/>
        </p:nvSpPr>
        <p:spPr>
          <a:xfrm>
            <a:off x="3234500" y="2400128"/>
            <a:ext cx="132045" cy="255616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5752624" y="3442687"/>
            <a:ext cx="721856" cy="44656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00" dirty="0" smtClean="0"/>
              <a:t>Master Reviewer</a:t>
            </a:r>
          </a:p>
          <a:p>
            <a:pPr algn="ctr"/>
            <a:r>
              <a:rPr lang="en-US" sz="1000" dirty="0" smtClean="0"/>
              <a:t>(1B)</a:t>
            </a:r>
            <a:endParaRPr lang="en-US" sz="1000" dirty="0"/>
          </a:p>
        </p:txBody>
      </p:sp>
      <p:sp>
        <p:nvSpPr>
          <p:cNvPr id="62" name="TextBox 61"/>
          <p:cNvSpPr txBox="1"/>
          <p:nvPr/>
        </p:nvSpPr>
        <p:spPr>
          <a:xfrm>
            <a:off x="2432804" y="1761299"/>
            <a:ext cx="76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Analyze</a:t>
            </a:r>
            <a:endParaRPr lang="en-US" sz="1000" b="1" dirty="0"/>
          </a:p>
        </p:txBody>
      </p:sp>
      <p:sp>
        <p:nvSpPr>
          <p:cNvPr id="93" name="Oval 92"/>
          <p:cNvSpPr/>
          <p:nvPr/>
        </p:nvSpPr>
        <p:spPr>
          <a:xfrm>
            <a:off x="2673803" y="1182033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59520" y="2754348"/>
            <a:ext cx="7662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Authorize Account Opening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204476" y="1674066"/>
            <a:ext cx="8878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Create CIF and Account Opening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085938" y="1665257"/>
            <a:ext cx="9791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Print/Prepare Application Forms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182110" y="2756479"/>
            <a:ext cx="7662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Authorize Hold Restriction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88384" y="1665101"/>
            <a:ext cx="8084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Client Sign </a:t>
            </a:r>
            <a:r>
              <a:rPr lang="en-US" sz="1000" b="1" dirty="0"/>
              <a:t>A</a:t>
            </a:r>
            <a:r>
              <a:rPr lang="en-US" sz="1000" b="1" dirty="0" smtClean="0"/>
              <a:t>ll </a:t>
            </a:r>
            <a:r>
              <a:rPr lang="en-US" sz="1000" b="1" dirty="0"/>
              <a:t>D</a:t>
            </a:r>
            <a:r>
              <a:rPr lang="en-US" sz="1000" b="1" dirty="0" smtClean="0"/>
              <a:t>ocuments</a:t>
            </a:r>
            <a:endParaRPr lang="en-US" sz="1000" b="1" dirty="0"/>
          </a:p>
        </p:txBody>
      </p:sp>
      <p:sp>
        <p:nvSpPr>
          <p:cNvPr id="76" name="TextBox 75"/>
          <p:cNvSpPr txBox="1"/>
          <p:nvPr/>
        </p:nvSpPr>
        <p:spPr>
          <a:xfrm>
            <a:off x="5864765" y="1675390"/>
            <a:ext cx="7332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Complete KYC/AML on T24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841681" y="2761026"/>
            <a:ext cx="7662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Authorize Hold Removals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1304470" y="1328153"/>
            <a:ext cx="267896" cy="85992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Right Arrow 83"/>
          <p:cNvSpPr/>
          <p:nvPr/>
        </p:nvSpPr>
        <p:spPr>
          <a:xfrm>
            <a:off x="2122859" y="1335752"/>
            <a:ext cx="267896" cy="85992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5" name="Right Arrow 84"/>
          <p:cNvSpPr/>
          <p:nvPr/>
        </p:nvSpPr>
        <p:spPr>
          <a:xfrm>
            <a:off x="3019694" y="1335752"/>
            <a:ext cx="267896" cy="85992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Up Arrow 3"/>
          <p:cNvSpPr/>
          <p:nvPr/>
        </p:nvSpPr>
        <p:spPr>
          <a:xfrm>
            <a:off x="3829282" y="2377825"/>
            <a:ext cx="131377" cy="259420"/>
          </a:xfrm>
          <a:prstGeom prst="up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9" name="Right Arrow 88"/>
          <p:cNvSpPr/>
          <p:nvPr/>
        </p:nvSpPr>
        <p:spPr>
          <a:xfrm>
            <a:off x="5554612" y="1325976"/>
            <a:ext cx="267896" cy="85992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6" name="TextBox 115"/>
          <p:cNvSpPr txBox="1"/>
          <p:nvPr/>
        </p:nvSpPr>
        <p:spPr>
          <a:xfrm>
            <a:off x="6703933" y="1679606"/>
            <a:ext cx="7886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Submit for Branch Audit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17" name="Down Arrow 116"/>
          <p:cNvSpPr/>
          <p:nvPr/>
        </p:nvSpPr>
        <p:spPr>
          <a:xfrm>
            <a:off x="4181940" y="2401410"/>
            <a:ext cx="132045" cy="255616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Up Arrow 117"/>
          <p:cNvSpPr/>
          <p:nvPr/>
        </p:nvSpPr>
        <p:spPr>
          <a:xfrm>
            <a:off x="4786477" y="2389923"/>
            <a:ext cx="131377" cy="259420"/>
          </a:xfrm>
          <a:prstGeom prst="up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9" name="Down Arrow 118"/>
          <p:cNvSpPr/>
          <p:nvPr/>
        </p:nvSpPr>
        <p:spPr>
          <a:xfrm>
            <a:off x="5858012" y="2385079"/>
            <a:ext cx="132045" cy="255616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Up Arrow 119"/>
          <p:cNvSpPr/>
          <p:nvPr/>
        </p:nvSpPr>
        <p:spPr>
          <a:xfrm>
            <a:off x="6441933" y="2381372"/>
            <a:ext cx="131377" cy="259420"/>
          </a:xfrm>
          <a:prstGeom prst="up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1" name="Oval 120"/>
          <p:cNvSpPr/>
          <p:nvPr/>
        </p:nvSpPr>
        <p:spPr>
          <a:xfrm>
            <a:off x="3488978" y="1162974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4402049" y="1162974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3416260" y="2295903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4a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4377086" y="2302840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5a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5198373" y="1172266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6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6053948" y="1144995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7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6046488" y="2295903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7a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6880455" y="1172266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6930677" y="3480811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8a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703933" y="3926572"/>
            <a:ext cx="7886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Perform Branch Audit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7750036" y="1164103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9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7551812" y="1735219"/>
            <a:ext cx="892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Error Remediation</a:t>
            </a:r>
            <a:endParaRPr lang="en-US" sz="1000" b="1" dirty="0"/>
          </a:p>
        </p:txBody>
      </p:sp>
      <p:sp>
        <p:nvSpPr>
          <p:cNvPr id="6" name="Left Arrow 5"/>
          <p:cNvSpPr/>
          <p:nvPr/>
        </p:nvSpPr>
        <p:spPr>
          <a:xfrm>
            <a:off x="7451069" y="1325976"/>
            <a:ext cx="290002" cy="95768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3" name="Right Arrow 132"/>
          <p:cNvSpPr/>
          <p:nvPr/>
        </p:nvSpPr>
        <p:spPr>
          <a:xfrm>
            <a:off x="7296383" y="3627930"/>
            <a:ext cx="267896" cy="85992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4" name="Oval 133"/>
          <p:cNvSpPr/>
          <p:nvPr/>
        </p:nvSpPr>
        <p:spPr>
          <a:xfrm>
            <a:off x="7830721" y="3453787"/>
            <a:ext cx="340304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10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5" name="Right Arrow 134"/>
          <p:cNvSpPr/>
          <p:nvPr/>
        </p:nvSpPr>
        <p:spPr>
          <a:xfrm>
            <a:off x="6598023" y="4298445"/>
            <a:ext cx="2456330" cy="1080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ight Arrow 135"/>
          <p:cNvSpPr/>
          <p:nvPr/>
        </p:nvSpPr>
        <p:spPr>
          <a:xfrm>
            <a:off x="6607953" y="5455260"/>
            <a:ext cx="2446399" cy="1080000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136"/>
          <p:cNvSpPr/>
          <p:nvPr/>
        </p:nvSpPr>
        <p:spPr>
          <a:xfrm>
            <a:off x="5572542" y="4615160"/>
            <a:ext cx="920607" cy="44656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00" dirty="0" smtClean="0"/>
              <a:t>Regulatory Processing</a:t>
            </a:r>
          </a:p>
          <a:p>
            <a:pPr algn="ctr"/>
            <a:r>
              <a:rPr lang="en-US" sz="1000" dirty="0" smtClean="0"/>
              <a:t>(1B)</a:t>
            </a:r>
            <a:endParaRPr lang="en-US" sz="1000" dirty="0"/>
          </a:p>
        </p:txBody>
      </p:sp>
      <p:sp>
        <p:nvSpPr>
          <p:cNvPr id="138" name="Rounded Rectangle 137"/>
          <p:cNvSpPr/>
          <p:nvPr/>
        </p:nvSpPr>
        <p:spPr>
          <a:xfrm>
            <a:off x="5567830" y="5771976"/>
            <a:ext cx="920607" cy="44656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00" dirty="0" smtClean="0"/>
              <a:t>Regulatory Compliance</a:t>
            </a:r>
          </a:p>
          <a:p>
            <a:pPr algn="ctr"/>
            <a:r>
              <a:rPr lang="en-US" sz="1000" dirty="0" smtClean="0"/>
              <a:t>(</a:t>
            </a:r>
            <a:r>
              <a:rPr lang="en-US" sz="1000" dirty="0"/>
              <a:t>2</a:t>
            </a:r>
            <a:r>
              <a:rPr lang="en-US" sz="1000" dirty="0" smtClean="0"/>
              <a:t>)</a:t>
            </a:r>
            <a:endParaRPr lang="en-US" sz="1000" dirty="0"/>
          </a:p>
        </p:txBody>
      </p:sp>
      <p:sp>
        <p:nvSpPr>
          <p:cNvPr id="140" name="Oval 139"/>
          <p:cNvSpPr/>
          <p:nvPr/>
        </p:nvSpPr>
        <p:spPr>
          <a:xfrm>
            <a:off x="7767783" y="4641739"/>
            <a:ext cx="470778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10a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776748" y="5812540"/>
            <a:ext cx="470778" cy="393412"/>
          </a:xfrm>
          <a:prstGeom prst="ellipse">
            <a:avLst/>
          </a:prstGeom>
          <a:solidFill>
            <a:srgbClr val="A9AC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10b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7576117" y="5101446"/>
            <a:ext cx="841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Perform Self-Assessment Audit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7585082" y="6248729"/>
            <a:ext cx="841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Perform FATCA </a:t>
            </a:r>
            <a:r>
              <a:rPr lang="en-US" sz="1000" b="1" dirty="0" smtClean="0">
                <a:solidFill>
                  <a:schemeClr val="bg1"/>
                </a:solidFill>
              </a:rPr>
              <a:t>Audit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7605968" y="3948987"/>
            <a:ext cx="7886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bg1"/>
                </a:solidFill>
              </a:rPr>
              <a:t>Scan File/FATCA Form</a:t>
            </a:r>
            <a:endParaRPr 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2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0651" y="3955312"/>
            <a:ext cx="1807535" cy="221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14669" y="888890"/>
            <a:ext cx="8293297" cy="317610"/>
          </a:xfrm>
        </p:spPr>
        <p:txBody>
          <a:bodyPr/>
          <a:lstStyle/>
          <a:p>
            <a:r>
              <a:rPr lang="en-US" dirty="0" smtClean="0"/>
              <a:t>Process Details</a:t>
            </a:r>
            <a:endParaRPr lang="en-CA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897847"/>
              </p:ext>
            </p:extLst>
          </p:nvPr>
        </p:nvGraphicFramePr>
        <p:xfrm>
          <a:off x="335518" y="1465038"/>
          <a:ext cx="8297832" cy="491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69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80275">
                  <a:extLst>
                    <a:ext uri="{9D8B030D-6E8A-4147-A177-3AD203B41FA5}">
                      <a16:colId xmlns="" xmlns:a16="http://schemas.microsoft.com/office/drawing/2014/main" val="1343460670"/>
                    </a:ext>
                  </a:extLst>
                </a:gridCol>
              </a:tblGrid>
              <a:tr h="55202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Section</a:t>
                      </a:r>
                      <a:r>
                        <a:rPr lang="en-CA" sz="1400" baseline="0" dirty="0" smtClean="0"/>
                        <a:t> Overview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Details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Controls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1002">
                <a:tc rowSpan="3">
                  <a:txBody>
                    <a:bodyPr/>
                    <a:lstStyle/>
                    <a:p>
                      <a:r>
                        <a:rPr lang="en-US" sz="1400" dirty="0" smtClean="0"/>
                        <a:t>Gather Preliminary Info</a:t>
                      </a:r>
                      <a:r>
                        <a:rPr lang="en-US" sz="1400" baseline="0" dirty="0" smtClean="0"/>
                        <a:t> (1)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  <a:endParaRPr lang="en-CA" sz="1400" dirty="0" smtClean="0">
                        <a:solidFill>
                          <a:schemeClr val="accent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Gather</a:t>
                      </a:r>
                      <a:r>
                        <a:rPr lang="en-US" sz="1400" baseline="0" dirty="0" smtClean="0"/>
                        <a:t> preliminary information - ID, occupation, basic client info, PEFP/PEP, intended use, company background, and product/service info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Conduct Fraud Database search using </a:t>
                      </a:r>
                      <a:r>
                        <a:rPr lang="en-US" sz="1400" baseline="0" dirty="0" err="1" smtClean="0"/>
                        <a:t>Fircosoft</a:t>
                      </a:r>
                      <a:r>
                        <a:rPr lang="en-US" sz="1400" baseline="0" dirty="0" smtClean="0"/>
                        <a:t> on business and primary party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If name is found on </a:t>
                      </a:r>
                      <a:r>
                        <a:rPr lang="en-US" sz="1400" baseline="0" dirty="0" err="1" smtClean="0"/>
                        <a:t>Fircosoft</a:t>
                      </a:r>
                      <a:r>
                        <a:rPr lang="en-US" sz="1400" baseline="0" dirty="0" smtClean="0"/>
                        <a:t>, email Fraud and Special Investigative </a:t>
                      </a:r>
                      <a:r>
                        <a:rPr lang="en-US" sz="1400" baseline="0" smtClean="0"/>
                        <a:t>Services Team (FSIS) </a:t>
                      </a:r>
                      <a:r>
                        <a:rPr lang="en-US" sz="1400" baseline="0" dirty="0" smtClean="0"/>
                        <a:t>for further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Operational Policy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Automated systems configured to receive data in consistent format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Expert analysis by FSIS team</a:t>
                      </a:r>
                      <a:endParaRPr lang="en-US" sz="14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44787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  <a:endParaRPr lang="en-CA" sz="1400" dirty="0" smtClean="0">
                        <a:solidFill>
                          <a:schemeClr val="accent1"/>
                        </a:solidFill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Obtain all primary signors’ consent to obtain financial information by obtaining clients’ signatures on the Personal Financial Statement (PFS)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Standardized forms</a:t>
                      </a: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81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  <a:endParaRPr lang="en-CA" sz="1400" dirty="0" smtClean="0">
                        <a:solidFill>
                          <a:schemeClr val="accent1"/>
                        </a:solidFill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Determine eligibility to proceed</a:t>
                      </a:r>
                      <a:endParaRPr lang="en-CA" sz="1400" b="1" dirty="0" smtClean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CA" sz="1400" b="0" i="0" u="none" strike="noStrike" kern="1200" baseline="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1673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00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0651" y="3955312"/>
            <a:ext cx="1807535" cy="221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14669" y="888890"/>
            <a:ext cx="8293297" cy="317610"/>
          </a:xfrm>
        </p:spPr>
        <p:txBody>
          <a:bodyPr/>
          <a:lstStyle/>
          <a:p>
            <a:r>
              <a:rPr lang="en-US" dirty="0" smtClean="0"/>
              <a:t>Process Details– </a:t>
            </a:r>
            <a:r>
              <a:rPr lang="en-US" dirty="0" err="1" smtClean="0"/>
              <a:t>Cont</a:t>
            </a:r>
            <a:r>
              <a:rPr lang="en-US" dirty="0" smtClean="0"/>
              <a:t>’.</a:t>
            </a:r>
            <a:endParaRPr lang="en-CA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827833"/>
              </p:ext>
            </p:extLst>
          </p:nvPr>
        </p:nvGraphicFramePr>
        <p:xfrm>
          <a:off x="335518" y="1465038"/>
          <a:ext cx="8297832" cy="4268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69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80275">
                  <a:extLst>
                    <a:ext uri="{9D8B030D-6E8A-4147-A177-3AD203B41FA5}">
                      <a16:colId xmlns="" xmlns:a16="http://schemas.microsoft.com/office/drawing/2014/main" val="1343460670"/>
                    </a:ext>
                  </a:extLst>
                </a:gridCol>
              </a:tblGrid>
              <a:tr h="55202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Section</a:t>
                      </a:r>
                      <a:r>
                        <a:rPr lang="en-CA" sz="1400" baseline="0" dirty="0" smtClean="0"/>
                        <a:t> Overview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Details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Controls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1002">
                <a:tc rowSpan="3">
                  <a:txBody>
                    <a:bodyPr/>
                    <a:lstStyle/>
                    <a:p>
                      <a:r>
                        <a:rPr lang="en-US" sz="1400" dirty="0" smtClean="0"/>
                        <a:t>Gather Documents (2)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  <a:endParaRPr lang="en-CA" sz="1400" dirty="0" smtClean="0">
                        <a:solidFill>
                          <a:schemeClr val="accent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Pull credit</a:t>
                      </a:r>
                      <a:r>
                        <a:rPr lang="en-US" sz="1400" baseline="0" dirty="0" smtClean="0"/>
                        <a:t> bureau on all primary signors through Equifax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External data from Equifax</a:t>
                      </a:r>
                      <a:endParaRPr lang="en-US" sz="14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7744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  <a:endParaRPr lang="en-CA" sz="1400" dirty="0" smtClean="0">
                        <a:solidFill>
                          <a:schemeClr val="accent1"/>
                        </a:solidFill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Request from client the required documents based on corporate legal entity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Account Opening Checklist highlighting document requirements (consistency)</a:t>
                      </a: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816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  <a:endParaRPr lang="en-CA" sz="1400" dirty="0" smtClean="0">
                        <a:solidFill>
                          <a:schemeClr val="accent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Receive all documents including results of the credit bureau search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Pull corporate search, if not already provided by the client or available in WAVE.  Note: Corporate search must be current within 30 days to be acceptable for current account opening transaction.</a:t>
                      </a:r>
                      <a:endParaRPr lang="en-CA" sz="1400" b="1" dirty="0" smtClean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External data from Equifax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Operations Policy highlighting document requirements (consistency)</a:t>
                      </a: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1673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25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0651" y="3955312"/>
            <a:ext cx="1807535" cy="221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14669" y="888890"/>
            <a:ext cx="8293297" cy="317610"/>
          </a:xfrm>
        </p:spPr>
        <p:txBody>
          <a:bodyPr/>
          <a:lstStyle/>
          <a:p>
            <a:r>
              <a:rPr lang="en-US" dirty="0" smtClean="0"/>
              <a:t>Process Details– </a:t>
            </a:r>
            <a:r>
              <a:rPr lang="en-US" dirty="0" err="1" smtClean="0"/>
              <a:t>Cont</a:t>
            </a:r>
            <a:r>
              <a:rPr lang="en-US" dirty="0" smtClean="0"/>
              <a:t>’.</a:t>
            </a:r>
            <a:endParaRPr lang="en-CA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066918"/>
              </p:ext>
            </p:extLst>
          </p:nvPr>
        </p:nvGraphicFramePr>
        <p:xfrm>
          <a:off x="335518" y="1465038"/>
          <a:ext cx="8297832" cy="3629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69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80275">
                  <a:extLst>
                    <a:ext uri="{9D8B030D-6E8A-4147-A177-3AD203B41FA5}">
                      <a16:colId xmlns="" xmlns:a16="http://schemas.microsoft.com/office/drawing/2014/main" val="1343460670"/>
                    </a:ext>
                  </a:extLst>
                </a:gridCol>
              </a:tblGrid>
              <a:tr h="55202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Section</a:t>
                      </a:r>
                      <a:r>
                        <a:rPr lang="en-CA" sz="1400" baseline="0" dirty="0" smtClean="0"/>
                        <a:t> Overview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Details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Controls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1002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Analyze (3)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  <a:endParaRPr lang="en-CA" sz="1400" dirty="0" smtClean="0">
                        <a:solidFill>
                          <a:schemeClr val="accent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Analyze all information and documents</a:t>
                      </a:r>
                      <a:r>
                        <a:rPr lang="en-US" sz="1400" baseline="0" dirty="0" smtClean="0"/>
                        <a:t> received/gathered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Create corporate ownership structure based on supporting documents (</a:t>
                      </a:r>
                      <a:r>
                        <a:rPr lang="en-US" sz="1400" baseline="0" dirty="0" err="1" smtClean="0"/>
                        <a:t>ie</a:t>
                      </a:r>
                      <a:r>
                        <a:rPr lang="en-US" sz="1400" baseline="0" dirty="0" smtClean="0"/>
                        <a:t>. Schedule 50, Central Securities Register, corporate search)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Operations Policy requirements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Manual population by user</a:t>
                      </a:r>
                      <a:endParaRPr lang="en-US" sz="1400" i="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9623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  <a:endParaRPr lang="en-CA" sz="1400" dirty="0" smtClean="0">
                        <a:solidFill>
                          <a:schemeClr val="accent1"/>
                        </a:solidFill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Determine eligibility to proceed</a:t>
                      </a:r>
                      <a:endParaRPr lang="en-CA" sz="1400" b="1" dirty="0" smtClean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8165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Create CIF and Account Opening (4)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  <a:endParaRPr lang="en-CA" sz="1400" dirty="0" smtClean="0">
                        <a:solidFill>
                          <a:schemeClr val="accent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Conduct Fraud Database search using </a:t>
                      </a:r>
                      <a:r>
                        <a:rPr lang="en-US" sz="1400" baseline="0" dirty="0" err="1" smtClean="0"/>
                        <a:t>Fircosoft</a:t>
                      </a:r>
                      <a:r>
                        <a:rPr lang="en-US" sz="1400" baseline="0" dirty="0" smtClean="0"/>
                        <a:t> on all related parties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If name is found on </a:t>
                      </a:r>
                      <a:r>
                        <a:rPr lang="en-US" sz="1400" baseline="0" dirty="0" err="1" smtClean="0"/>
                        <a:t>Fircosoft</a:t>
                      </a:r>
                      <a:r>
                        <a:rPr lang="en-US" sz="1400" baseline="0" dirty="0" smtClean="0"/>
                        <a:t>, </a:t>
                      </a:r>
                      <a:r>
                        <a:rPr lang="en-US" sz="1400" baseline="0" smtClean="0"/>
                        <a:t>email FSIS </a:t>
                      </a:r>
                      <a:r>
                        <a:rPr lang="en-US" sz="1400" baseline="0" dirty="0" smtClean="0"/>
                        <a:t>for further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Automated system configured to receive data in consistent format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Expert analysis by FSIS team</a:t>
                      </a: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1673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40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0651" y="3955312"/>
            <a:ext cx="1807535" cy="221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14669" y="888890"/>
            <a:ext cx="8293297" cy="317610"/>
          </a:xfrm>
        </p:spPr>
        <p:txBody>
          <a:bodyPr/>
          <a:lstStyle/>
          <a:p>
            <a:r>
              <a:rPr lang="en-US" dirty="0" smtClean="0"/>
              <a:t>Process Details– </a:t>
            </a:r>
            <a:r>
              <a:rPr lang="en-US" dirty="0" err="1" smtClean="0"/>
              <a:t>Cont</a:t>
            </a:r>
            <a:r>
              <a:rPr lang="en-US" dirty="0" smtClean="0"/>
              <a:t>’.</a:t>
            </a:r>
            <a:endParaRPr lang="en-CA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872136"/>
              </p:ext>
            </p:extLst>
          </p:nvPr>
        </p:nvGraphicFramePr>
        <p:xfrm>
          <a:off x="335518" y="1465038"/>
          <a:ext cx="8297832" cy="4453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69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80275">
                  <a:extLst>
                    <a:ext uri="{9D8B030D-6E8A-4147-A177-3AD203B41FA5}">
                      <a16:colId xmlns="" xmlns:a16="http://schemas.microsoft.com/office/drawing/2014/main" val="1343460670"/>
                    </a:ext>
                  </a:extLst>
                </a:gridCol>
              </a:tblGrid>
              <a:tr h="55202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Section</a:t>
                      </a:r>
                      <a:r>
                        <a:rPr lang="en-CA" sz="1400" baseline="0" dirty="0" smtClean="0"/>
                        <a:t> Overview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Details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Controls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100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Create CIF and Account Opening (4) – </a:t>
                      </a:r>
                      <a:r>
                        <a:rPr lang="en-US" sz="1400" dirty="0" err="1" smtClean="0"/>
                        <a:t>con’t</a:t>
                      </a:r>
                      <a:r>
                        <a:rPr lang="en-US" sz="1400" dirty="0" smtClean="0"/>
                        <a:t>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Create CIF(s) on T24 for all primary and related parties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Open demand account on T24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Request authorization  on T24 for account 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Automated workflow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Procedural guidance for users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Segregation of duties (covers all of T24 activities) – inputter vs. approver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9623">
                <a:tc>
                  <a:txBody>
                    <a:bodyPr/>
                    <a:lstStyle/>
                    <a:p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Authorize Account Opening (4a)</a:t>
                      </a:r>
                      <a:endParaRPr 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kern="120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Branch Approving Authority (1A):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Review all KYC/AML fields in T24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Authorize in T24 the account opening</a:t>
                      </a:r>
                      <a:endParaRPr lang="en-CA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Hard stops in system – required approval by senior team member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Segregation of duties – inputter vs. approver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Senior party checks transaction</a:t>
                      </a: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8165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Print and Prepare Application (5)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 and prepare Business Account application form (#4238) off T24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Pull Foreign Account Tax </a:t>
                      </a:r>
                      <a:r>
                        <a:rPr lang="en-US" sz="14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Compliance Act (FATCA) </a:t>
                      </a: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 RC519 from CRA website and pre-populate form with applicable information</a:t>
                      </a:r>
                      <a:endParaRPr lang="en-CA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Standardized forms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Consistent workflow</a:t>
                      </a: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1673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45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0651" y="3955312"/>
            <a:ext cx="1807535" cy="221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14669" y="888890"/>
            <a:ext cx="8293297" cy="317610"/>
          </a:xfrm>
        </p:spPr>
        <p:txBody>
          <a:bodyPr/>
          <a:lstStyle/>
          <a:p>
            <a:r>
              <a:rPr lang="en-US" dirty="0" smtClean="0"/>
              <a:t>Process Details– </a:t>
            </a:r>
            <a:r>
              <a:rPr lang="en-US" dirty="0" err="1" smtClean="0"/>
              <a:t>Cont</a:t>
            </a:r>
            <a:r>
              <a:rPr lang="en-US" dirty="0" smtClean="0"/>
              <a:t>’.</a:t>
            </a:r>
            <a:endParaRPr lang="en-CA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163564"/>
              </p:ext>
            </p:extLst>
          </p:nvPr>
        </p:nvGraphicFramePr>
        <p:xfrm>
          <a:off x="335518" y="1465038"/>
          <a:ext cx="8297832" cy="4056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69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80275">
                  <a:extLst>
                    <a:ext uri="{9D8B030D-6E8A-4147-A177-3AD203B41FA5}">
                      <a16:colId xmlns="" xmlns:a16="http://schemas.microsoft.com/office/drawing/2014/main" val="1343460670"/>
                    </a:ext>
                  </a:extLst>
                </a:gridCol>
              </a:tblGrid>
              <a:tr h="55202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Section</a:t>
                      </a:r>
                      <a:r>
                        <a:rPr lang="en-CA" sz="1400" baseline="0" dirty="0" smtClean="0"/>
                        <a:t> Overview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Details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Controls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1002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Authorize Hold Restriction (5a)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Place hold restriction on the account in T24 as per Ops Policy requirements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Request authorization on T24 for the hold restriction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Automated workflow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Procedural guidance for users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Segregation of duties (covers all of T24 activities) – inputter vs. approver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9623">
                <a:tc vMerge="1">
                  <a:txBody>
                    <a:bodyPr/>
                    <a:lstStyle/>
                    <a:p>
                      <a:endParaRPr 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kern="120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Branch Approving Authority (1A):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Authorize in T24 the hold restriction to prevent transaction activity to the account</a:t>
                      </a:r>
                      <a:endParaRPr lang="en-CA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Hard stops in system – required approval by senior team member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Segregation of duties – inputter vs. approver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Senior party checks transaction</a:t>
                      </a: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8165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Client Signs All Documents (6)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Meet with client(s) to obtain other missing KYC/AML information</a:t>
                      </a:r>
                      <a:endParaRPr lang="en-CA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Obtain client signature(s) on Business Account Application (#4238) and FATCA form RC519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External (client) validation of data input for accuracy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Standardized forms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Operations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1673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55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0651" y="3955312"/>
            <a:ext cx="1807535" cy="221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14669" y="888890"/>
            <a:ext cx="8293297" cy="317610"/>
          </a:xfrm>
        </p:spPr>
        <p:txBody>
          <a:bodyPr/>
          <a:lstStyle/>
          <a:p>
            <a:r>
              <a:rPr lang="en-US" dirty="0" smtClean="0"/>
              <a:t>Process Details– </a:t>
            </a:r>
            <a:r>
              <a:rPr lang="en-US" dirty="0" err="1" smtClean="0"/>
              <a:t>Cont</a:t>
            </a:r>
            <a:r>
              <a:rPr lang="en-US" dirty="0" smtClean="0"/>
              <a:t>’.</a:t>
            </a:r>
            <a:endParaRPr lang="en-CA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583855"/>
              </p:ext>
            </p:extLst>
          </p:nvPr>
        </p:nvGraphicFramePr>
        <p:xfrm>
          <a:off x="335518" y="1465038"/>
          <a:ext cx="8297832" cy="4270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69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80275">
                  <a:extLst>
                    <a:ext uri="{9D8B030D-6E8A-4147-A177-3AD203B41FA5}">
                      <a16:colId xmlns="" xmlns:a16="http://schemas.microsoft.com/office/drawing/2014/main" val="1343460670"/>
                    </a:ext>
                  </a:extLst>
                </a:gridCol>
              </a:tblGrid>
              <a:tr h="55202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Section</a:t>
                      </a:r>
                      <a:r>
                        <a:rPr lang="en-CA" sz="1400" baseline="0" dirty="0" smtClean="0"/>
                        <a:t> Overview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Details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Controls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100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Complete</a:t>
                      </a:r>
                      <a:r>
                        <a:rPr lang="en-US" sz="1400" baseline="0" dirty="0" smtClean="0"/>
                        <a:t> KYC/AML on T24 </a:t>
                      </a:r>
                      <a:r>
                        <a:rPr lang="en-US" sz="1400" dirty="0" smtClean="0"/>
                        <a:t>(7)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Input any outstanding KYC/AML info into T24 (including IDs)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Remove hold restrictions on the account in T24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Request authorization on T24 for the hold restriction removal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Automated workflow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Procedural guidance for users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Segregation of duties (covers all of T24 activities) – inputter vs. approver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9623">
                <a:tc>
                  <a:txBody>
                    <a:bodyPr/>
                    <a:lstStyle/>
                    <a:p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Authorize Hold Removals (7a)</a:t>
                      </a:r>
                      <a:endParaRPr 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="1" kern="120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Branch Approving Authority (1A):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Authorize in T24 the removal of the hold restriction to the account</a:t>
                      </a:r>
                      <a:endParaRPr lang="en-CA" sz="1400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Hard stops in system – required approval by senior team member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Segregation of duties – inputter vs. approver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Senior party checks transaction</a:t>
                      </a: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8165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Submit For</a:t>
                      </a:r>
                      <a:r>
                        <a:rPr lang="en-US" sz="1400" baseline="0" dirty="0" smtClean="0"/>
                        <a:t> Branch Audit (8)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Forward paper Account Opening file to Branch Master Reviewer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1673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49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0651" y="3955312"/>
            <a:ext cx="1807535" cy="221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14669" y="888890"/>
            <a:ext cx="8293297" cy="317610"/>
          </a:xfrm>
        </p:spPr>
        <p:txBody>
          <a:bodyPr/>
          <a:lstStyle/>
          <a:p>
            <a:r>
              <a:rPr lang="en-US" dirty="0" smtClean="0"/>
              <a:t>Process Details– </a:t>
            </a:r>
            <a:r>
              <a:rPr lang="en-US" dirty="0" err="1" smtClean="0"/>
              <a:t>Cont</a:t>
            </a:r>
            <a:r>
              <a:rPr lang="en-US" dirty="0" smtClean="0"/>
              <a:t>’.</a:t>
            </a:r>
            <a:endParaRPr lang="en-CA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149041"/>
              </p:ext>
            </p:extLst>
          </p:nvPr>
        </p:nvGraphicFramePr>
        <p:xfrm>
          <a:off x="335518" y="1465038"/>
          <a:ext cx="8297832" cy="4758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69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80275">
                  <a:extLst>
                    <a:ext uri="{9D8B030D-6E8A-4147-A177-3AD203B41FA5}">
                      <a16:colId xmlns="" xmlns:a16="http://schemas.microsoft.com/office/drawing/2014/main" val="1343460670"/>
                    </a:ext>
                  </a:extLst>
                </a:gridCol>
              </a:tblGrid>
              <a:tr h="55202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Section</a:t>
                      </a:r>
                      <a:r>
                        <a:rPr lang="en-CA" sz="1400" baseline="0" dirty="0" smtClean="0"/>
                        <a:t> Overview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Details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Controls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100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Perform Branch Audit (8a)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Master Reviewer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(1B):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Review information in T24 against the supporting documents in the physical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Post-Account Opening audit by designated Compliance team member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Segregation of duties – inputter vs. approver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9623">
                <a:tc rowSpan="2">
                  <a:txBody>
                    <a:bodyPr/>
                    <a:lstStyle/>
                    <a:p>
                      <a:r>
                        <a:rPr lang="en-US" sz="1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Remediation (9)</a:t>
                      </a:r>
                      <a:endParaRPr 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Master Reviewer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(1B):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If errors are found, request remediation from Cash Management/Retail Team.  If not, go to Scan File/FATCA Form (10).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Post-Account Opening audit by designated Compliance team member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Segregation of duties – inputter vs. approver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49623">
                <a:tc vMerge="1">
                  <a:txBody>
                    <a:bodyPr/>
                    <a:lstStyle/>
                    <a:p>
                      <a:endParaRPr 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Cash Management/Retail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Role (1A):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Remediate errors from branch audit,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endParaRPr lang="en-US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188165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Scan File/FATCA Form (10)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Master Reviewer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(1B):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Scan all documents in the account opening file and email to Regulatory Processing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Scan FATCA Form RC519 and email to Regulatory Compliance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File account opening physical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1673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52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0651" y="3955312"/>
            <a:ext cx="1807535" cy="221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14669" y="888890"/>
            <a:ext cx="8293297" cy="317610"/>
          </a:xfrm>
        </p:spPr>
        <p:txBody>
          <a:bodyPr/>
          <a:lstStyle/>
          <a:p>
            <a:r>
              <a:rPr lang="en-US" dirty="0" smtClean="0"/>
              <a:t>Process Details– </a:t>
            </a:r>
            <a:r>
              <a:rPr lang="en-US" dirty="0" err="1" smtClean="0"/>
              <a:t>Cont</a:t>
            </a:r>
            <a:r>
              <a:rPr lang="en-US" dirty="0" smtClean="0"/>
              <a:t>’.</a:t>
            </a:r>
            <a:endParaRPr lang="en-CA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988401"/>
              </p:ext>
            </p:extLst>
          </p:nvPr>
        </p:nvGraphicFramePr>
        <p:xfrm>
          <a:off x="335518" y="1465038"/>
          <a:ext cx="8297832" cy="4361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6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1690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80275">
                  <a:extLst>
                    <a:ext uri="{9D8B030D-6E8A-4147-A177-3AD203B41FA5}">
                      <a16:colId xmlns="" xmlns:a16="http://schemas.microsoft.com/office/drawing/2014/main" val="1343460670"/>
                    </a:ext>
                  </a:extLst>
                </a:gridCol>
              </a:tblGrid>
              <a:tr h="552021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Section</a:t>
                      </a:r>
                      <a:r>
                        <a:rPr lang="en-CA" sz="1400" baseline="0" dirty="0" smtClean="0"/>
                        <a:t> Overview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Details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Controls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41002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Perform Self-Assessment Audit</a:t>
                      </a:r>
                      <a:r>
                        <a:rPr lang="en-US" sz="1400" baseline="0" dirty="0" smtClean="0"/>
                        <a:t> (10a)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Regulatory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Processing (1B):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Review information in T24 against AML requirements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Review information in T24 against digital copy of the physical account opening file (30% review)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Post-Account Opening audit by designated Compliance team member</a:t>
                      </a:r>
                    </a:p>
                    <a:p>
                      <a:pPr marL="342900" indent="-342900" rtl="0">
                        <a:buAutoNum type="arabicPeriod"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Segregation of duties – inputter vs. approver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9623">
                <a:tc vMerge="1">
                  <a:txBody>
                    <a:bodyPr/>
                    <a:lstStyle/>
                    <a:p>
                      <a:endParaRPr lang="en-US" sz="14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dirty="0" smtClean="0">
                          <a:solidFill>
                            <a:schemeClr val="accent1"/>
                          </a:solidFill>
                        </a:rPr>
                        <a:t>Regulatory</a:t>
                      </a: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 Processing (1B):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If errors are found, request remediation from branch contact.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endParaRPr lang="en-US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88165">
                <a:tc rowSpan="2">
                  <a:txBody>
                    <a:bodyPr/>
                    <a:lstStyle/>
                    <a:p>
                      <a:r>
                        <a:rPr lang="en-US" sz="1400" dirty="0" smtClean="0"/>
                        <a:t>Perform FATCA Form Audit (10b)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Regulatory Compliance (2):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Review FATCA form RC519 for 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Review by experts familiar with FATCA requirements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Standardized forms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Consistent workflow</a:t>
                      </a: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16737111"/>
                  </a:ext>
                </a:extLst>
              </a:tr>
              <a:tr h="445204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400" b="1" baseline="0" dirty="0" smtClean="0">
                          <a:solidFill>
                            <a:schemeClr val="accent1"/>
                          </a:solidFill>
                        </a:rPr>
                        <a:t>Regulatory Compliance (2):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 smtClean="0"/>
                        <a:t>Submit </a:t>
                      </a:r>
                      <a:r>
                        <a:rPr lang="en-US" sz="1400" baseline="0" dirty="0" smtClean="0"/>
                        <a:t>FATCA report to CRA for all individuals deemed to be ‘reportable’</a:t>
                      </a:r>
                      <a:endParaRPr lang="en-US" sz="14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CA" sz="14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3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WBFG Presentation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5AB7B2"/>
      </a:accent3>
      <a:accent4>
        <a:srgbClr val="FFC843"/>
      </a:accent4>
      <a:accent5>
        <a:srgbClr val="A9ACA0"/>
      </a:accent5>
      <a:accent6>
        <a:srgbClr val="356195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9BD3D0"/>
      </a:accent3>
      <a:accent4>
        <a:srgbClr val="FFC843"/>
      </a:accent4>
      <a:accent5>
        <a:srgbClr val="356195"/>
      </a:accent5>
      <a:accent6>
        <a:srgbClr val="A9ACA0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tent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9BD3D0"/>
      </a:accent3>
      <a:accent4>
        <a:srgbClr val="FFC843"/>
      </a:accent4>
      <a:accent5>
        <a:srgbClr val="356195"/>
      </a:accent5>
      <a:accent6>
        <a:srgbClr val="A9ACA0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ontent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9BD3D0"/>
      </a:accent3>
      <a:accent4>
        <a:srgbClr val="FFC843"/>
      </a:accent4>
      <a:accent5>
        <a:srgbClr val="356195"/>
      </a:accent5>
      <a:accent6>
        <a:srgbClr val="A9ACA0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Content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9BD3D0"/>
      </a:accent3>
      <a:accent4>
        <a:srgbClr val="FFC843"/>
      </a:accent4>
      <a:accent5>
        <a:srgbClr val="356195"/>
      </a:accent5>
      <a:accent6>
        <a:srgbClr val="A9ACA0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Content">
  <a:themeElements>
    <a:clrScheme name="CWBG Corporate Colours">
      <a:dk1>
        <a:srgbClr val="111111"/>
      </a:dk1>
      <a:lt1>
        <a:srgbClr val="FFFFFF"/>
      </a:lt1>
      <a:dk2>
        <a:srgbClr val="77777A"/>
      </a:dk2>
      <a:lt2>
        <a:srgbClr val="FFFFFF"/>
      </a:lt2>
      <a:accent1>
        <a:srgbClr val="009AA6"/>
      </a:accent1>
      <a:accent2>
        <a:srgbClr val="937A46"/>
      </a:accent2>
      <a:accent3>
        <a:srgbClr val="9BD3D0"/>
      </a:accent3>
      <a:accent4>
        <a:srgbClr val="FFC843"/>
      </a:accent4>
      <a:accent5>
        <a:srgbClr val="356195"/>
      </a:accent5>
      <a:accent6>
        <a:srgbClr val="A9ACA0"/>
      </a:accent6>
      <a:hlink>
        <a:srgbClr val="009AA6"/>
      </a:hlink>
      <a:folHlink>
        <a:srgbClr val="9BD3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1E7DB8-8BF8-49B3-8FA7-C80C467F007E}"/>
</file>

<file path=customXml/itemProps2.xml><?xml version="1.0" encoding="utf-8"?>
<ds:datastoreItem xmlns:ds="http://schemas.openxmlformats.org/officeDocument/2006/customXml" ds:itemID="{615E7838-9DCD-4702-B6C8-3A1D299C3A9B}"/>
</file>

<file path=customXml/itemProps3.xml><?xml version="1.0" encoding="utf-8"?>
<ds:datastoreItem xmlns:ds="http://schemas.openxmlformats.org/officeDocument/2006/customXml" ds:itemID="{CBB2B2B0-ACBB-4539-AF80-BDB75F7561A2}"/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CWBFG Presentation</Template>
  <TotalTime>19079</TotalTime>
  <Words>1830</Words>
  <Application>Microsoft Office PowerPoint</Application>
  <PresentationFormat>On-screen Show (4:3)</PresentationFormat>
  <Paragraphs>305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CWBFG Presentation</vt:lpstr>
      <vt:lpstr>Content</vt:lpstr>
      <vt:lpstr>1_Content</vt:lpstr>
      <vt:lpstr>2_Content</vt:lpstr>
      <vt:lpstr>3_Content</vt:lpstr>
      <vt:lpstr>4_Content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Canadian Western Bank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Kenneth Mastaller</dc:creator>
  <cp:lastModifiedBy>Ivy Chia</cp:lastModifiedBy>
  <cp:revision>1132</cp:revision>
  <cp:lastPrinted>2019-01-16T20:42:23Z</cp:lastPrinted>
  <dcterms:created xsi:type="dcterms:W3CDTF">2017-07-14T18:14:48Z</dcterms:created>
  <dcterms:modified xsi:type="dcterms:W3CDTF">2019-03-25T19:00:20Z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Order">
    <vt:r8>174600</vt:r8>
  </property>
  <property fmtid="{D5CDD505-2E9C-101B-9397-08002B2CF9AE}" pid="4" name="URL">
    <vt:lpwstr/>
  </property>
</Properties>
</file>