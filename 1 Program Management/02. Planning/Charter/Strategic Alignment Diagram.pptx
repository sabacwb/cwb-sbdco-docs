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060CA-78AA-4C36-9540-068A210209F4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D990E-D0C8-426E-A074-5DABA91190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2155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5386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2137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3205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158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523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592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947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4928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431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258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491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4536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3" y="1718914"/>
            <a:ext cx="11040535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4" y="1092090"/>
            <a:ext cx="11057729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4526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45617-BCC8-4DE4-82B8-4502C347DE1A}" type="datetimeFigureOut">
              <a:rPr lang="en-CA" smtClean="0"/>
              <a:t>01/23/2020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E347F-D7A0-4C6A-8A2E-348AB9094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98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2035073" y="914401"/>
            <a:ext cx="8911222" cy="5226550"/>
            <a:chOff x="511073" y="778998"/>
            <a:chExt cx="8911222" cy="5361953"/>
          </a:xfrm>
        </p:grpSpPr>
        <p:cxnSp>
          <p:nvCxnSpPr>
            <p:cNvPr id="56" name="Straight Connector 55"/>
            <p:cNvCxnSpPr>
              <a:stCxn id="4" idx="0"/>
            </p:cNvCxnSpPr>
            <p:nvPr/>
          </p:nvCxnSpPr>
          <p:spPr>
            <a:xfrm flipV="1">
              <a:off x="4552848" y="2911837"/>
              <a:ext cx="1771" cy="979690"/>
            </a:xfrm>
            <a:prstGeom prst="line">
              <a:avLst/>
            </a:prstGeom>
            <a:ln w="44450">
              <a:gradFill flip="none" rotWithShape="1">
                <a:gsLst>
                  <a:gs pos="0">
                    <a:schemeClr val="accent1">
                      <a:lumMod val="0"/>
                      <a:lumOff val="100000"/>
                    </a:schemeClr>
                  </a:gs>
                  <a:gs pos="44000">
                    <a:schemeClr val="accent1">
                      <a:lumMod val="0"/>
                      <a:lumOff val="100000"/>
                    </a:schemeClr>
                  </a:gs>
                  <a:gs pos="91000">
                    <a:schemeClr val="accent1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3428136" y="3891527"/>
              <a:ext cx="2249424" cy="22494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400" dirty="0"/>
            </a:p>
            <a:p>
              <a:pPr algn="ctr"/>
              <a:endParaRPr lang="en-CA" sz="1400" dirty="0"/>
            </a:p>
            <a:p>
              <a:pPr algn="ctr"/>
              <a:endParaRPr lang="en-CA" sz="1400" dirty="0"/>
            </a:p>
            <a:p>
              <a:pPr algn="ctr"/>
              <a:r>
                <a:rPr lang="en-CA" sz="1600" b="1" dirty="0"/>
                <a:t>“To be the best full-service bank for business owners in Canada.” </a:t>
              </a:r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1089762" y="4065381"/>
              <a:ext cx="914400" cy="914400"/>
              <a:chOff x="1062840" y="3082013"/>
              <a:chExt cx="914400" cy="9144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1062840" y="3082013"/>
                <a:ext cx="914400" cy="914400"/>
              </a:xfrm>
              <a:prstGeom prst="ellipse">
                <a:avLst/>
              </a:prstGeom>
              <a:noFill/>
              <a:ln>
                <a:solidFill>
                  <a:srgbClr val="0074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7183" y="3196356"/>
                <a:ext cx="685714" cy="685714"/>
              </a:xfrm>
              <a:prstGeom prst="rect">
                <a:avLst/>
              </a:prstGeom>
            </p:spPr>
          </p:pic>
        </p:grpSp>
        <p:sp>
          <p:nvSpPr>
            <p:cNvPr id="12" name="TextBox 11"/>
            <p:cNvSpPr txBox="1"/>
            <p:nvPr/>
          </p:nvSpPr>
          <p:spPr>
            <a:xfrm>
              <a:off x="511073" y="2819366"/>
              <a:ext cx="1622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Best for Clients</a:t>
              </a:r>
              <a:endParaRPr lang="en-CA" b="1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4091769" y="1997437"/>
              <a:ext cx="914400" cy="914400"/>
              <a:chOff x="4026065" y="1891783"/>
              <a:chExt cx="914400" cy="914400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026065" y="1891783"/>
                <a:ext cx="914400" cy="914400"/>
              </a:xfrm>
              <a:prstGeom prst="ellipse">
                <a:avLst/>
              </a:prstGeom>
              <a:noFill/>
              <a:ln>
                <a:solidFill>
                  <a:srgbClr val="0074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8068"/>
              <a:stretch/>
            </p:blipFill>
            <p:spPr>
              <a:xfrm>
                <a:off x="4083265" y="1944791"/>
                <a:ext cx="800000" cy="6554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TextBox 12"/>
            <p:cNvSpPr txBox="1"/>
            <p:nvPr/>
          </p:nvSpPr>
          <p:spPr>
            <a:xfrm>
              <a:off x="3077834" y="778998"/>
              <a:ext cx="1843966" cy="369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Best for Investors</a:t>
              </a:r>
              <a:endParaRPr lang="en-CA" b="1" dirty="0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7056782" y="4065381"/>
              <a:ext cx="914400" cy="914400"/>
              <a:chOff x="6944430" y="3045593"/>
              <a:chExt cx="914400" cy="914400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48062" y="3128154"/>
                <a:ext cx="707136" cy="70713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6944430" y="3045593"/>
                <a:ext cx="914400" cy="914400"/>
              </a:xfrm>
              <a:prstGeom prst="ellipse">
                <a:avLst/>
              </a:prstGeom>
              <a:noFill/>
              <a:ln>
                <a:solidFill>
                  <a:srgbClr val="0074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6254736" y="2965921"/>
              <a:ext cx="1633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Best for People</a:t>
              </a:r>
              <a:endParaRPr lang="en-CA" b="1" dirty="0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3166" y="4065381"/>
              <a:ext cx="536381" cy="536381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511073" y="3148243"/>
              <a:ext cx="326181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Improves client </a:t>
              </a:r>
              <a:r>
                <a:rPr lang="en-CA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experience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Increases speed of service delivery</a:t>
              </a:r>
              <a:endParaRPr lang="en-CA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Raises awareness and reputation of CWB with target clients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254736" y="3267950"/>
              <a:ext cx="3167559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 </a:t>
              </a:r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Improves the employee experience</a:t>
              </a:r>
            </a:p>
            <a:p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 </a:t>
              </a:r>
              <a:r>
                <a:rPr lang="en-CA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Improves </a:t>
              </a:r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employee </a:t>
              </a:r>
              <a:r>
                <a:rPr lang="en-CA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effectiveness</a:t>
              </a:r>
            </a:p>
            <a:p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 </a:t>
              </a:r>
              <a:r>
                <a:rPr lang="en-US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Improves employee engagement</a:t>
              </a:r>
              <a:endParaRPr lang="en-CA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077835" y="1069524"/>
              <a:ext cx="4893348" cy="8572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15000"/>
                </a:lnSpc>
                <a:buFont typeface="Wingdings" panose="05000000000000000000" pitchFamily="2" charset="2"/>
                <a:buChar char="ü"/>
              </a:pPr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Provide the ability to attract new clients from new markets </a:t>
              </a:r>
            </a:p>
            <a:p>
              <a:pPr>
                <a:lnSpc>
                  <a:spcPct val="115000"/>
                </a:lnSpc>
              </a:pPr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which will increase loans and deposits</a:t>
              </a:r>
            </a:p>
            <a:p>
              <a:pPr>
                <a:lnSpc>
                  <a:spcPct val="115000"/>
                </a:lnSpc>
              </a:pPr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    </a:t>
              </a:r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Makes </a:t>
              </a:r>
              <a:r>
                <a:rPr lang="en-CA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CWB more efficient and/or more productive</a:t>
              </a:r>
            </a:p>
          </p:txBody>
        </p:sp>
        <p:cxnSp>
          <p:nvCxnSpPr>
            <p:cNvPr id="42" name="Straight Connector 41"/>
            <p:cNvCxnSpPr>
              <a:stCxn id="4" idx="2"/>
              <a:endCxn id="5" idx="6"/>
            </p:cNvCxnSpPr>
            <p:nvPr/>
          </p:nvCxnSpPr>
          <p:spPr>
            <a:xfrm flipH="1" flipV="1">
              <a:off x="2004162" y="4522581"/>
              <a:ext cx="1423974" cy="493658"/>
            </a:xfrm>
            <a:prstGeom prst="line">
              <a:avLst/>
            </a:prstGeom>
            <a:ln w="44450">
              <a:gradFill flip="none" rotWithShape="1">
                <a:gsLst>
                  <a:gs pos="0">
                    <a:schemeClr val="accent1">
                      <a:lumMod val="0"/>
                      <a:lumOff val="100000"/>
                    </a:schemeClr>
                  </a:gs>
                  <a:gs pos="44000">
                    <a:schemeClr val="accent1">
                      <a:lumMod val="0"/>
                      <a:lumOff val="100000"/>
                    </a:schemeClr>
                  </a:gs>
                  <a:gs pos="91000">
                    <a:schemeClr val="accent1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V="1">
              <a:off x="5677560" y="4615124"/>
              <a:ext cx="1379222" cy="493200"/>
            </a:xfrm>
            <a:prstGeom prst="line">
              <a:avLst/>
            </a:prstGeom>
            <a:ln w="44450">
              <a:gradFill flip="none" rotWithShape="1">
                <a:gsLst>
                  <a:gs pos="0">
                    <a:schemeClr val="accent1">
                      <a:lumMod val="0"/>
                      <a:lumOff val="100000"/>
                    </a:schemeClr>
                  </a:gs>
                  <a:gs pos="44000">
                    <a:schemeClr val="accent1">
                      <a:lumMod val="0"/>
                      <a:lumOff val="100000"/>
                    </a:schemeClr>
                  </a:gs>
                  <a:gs pos="91000">
                    <a:schemeClr val="accent1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598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CDEE64-3AEF-466D-91B5-8413FDDCA256}">
  <ds:schemaRefs>
    <ds:schemaRef ds:uri="http://purl.org/dc/elements/1.1/"/>
    <ds:schemaRef ds:uri="http://schemas.microsoft.com/office/2006/metadata/properties"/>
    <ds:schemaRef ds:uri="http://schemas.microsoft.com/sharepoint/v4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C7C393-6FC6-47F8-A6B9-98A1542825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522055-25A1-4B72-8D7A-FED2824B2EE6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78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Karbonik</dc:creator>
  <cp:lastModifiedBy>Barb Keryliuk</cp:lastModifiedBy>
  <cp:revision>10</cp:revision>
  <dcterms:created xsi:type="dcterms:W3CDTF">2018-12-06T16:22:34Z</dcterms:created>
  <dcterms:modified xsi:type="dcterms:W3CDTF">2020-01-23T21:08:11Z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50500</vt:r8>
  </property>
  <property fmtid="{D5CDD505-2E9C-101B-9397-08002B2CF9AE}" pid="4" name="URL">
    <vt:lpwstr/>
  </property>
  <property fmtid="{D5CDD505-2E9C-101B-9397-08002B2CF9AE}" pid="5" name="MediaServiceImageTags">
    <vt:lpwstr/>
  </property>
</Properties>
</file>