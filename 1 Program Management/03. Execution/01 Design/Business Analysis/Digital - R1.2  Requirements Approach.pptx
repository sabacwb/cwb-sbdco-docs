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4" r:id="rId1"/>
    <p:sldMasterId id="2147483701" r:id="rId2"/>
    <p:sldMasterId id="2147483709" r:id="rId3"/>
    <p:sldMasterId id="2147483699" r:id="rId4"/>
    <p:sldMasterId id="2147483711" r:id="rId5"/>
    <p:sldMasterId id="2147483800" r:id="rId6"/>
    <p:sldMasterId id="2147483758" r:id="rId7"/>
    <p:sldMasterId id="2147483715" r:id="rId8"/>
    <p:sldMasterId id="2147483808" r:id="rId9"/>
    <p:sldMasterId id="2147483785" r:id="rId10"/>
    <p:sldMasterId id="2147483707" r:id="rId11"/>
    <p:sldMasterId id="2147483816" r:id="rId12"/>
    <p:sldMasterId id="2147483783" r:id="rId13"/>
    <p:sldMasterId id="2147483713" r:id="rId14"/>
    <p:sldMasterId id="2147483823" r:id="rId15"/>
    <p:sldMasterId id="2147483763" r:id="rId16"/>
    <p:sldMasterId id="2147483717" r:id="rId17"/>
    <p:sldMasterId id="2147483830" r:id="rId18"/>
    <p:sldMasterId id="2147483773" r:id="rId19"/>
    <p:sldMasterId id="2147483719" r:id="rId20"/>
    <p:sldMasterId id="2147483837" r:id="rId21"/>
    <p:sldMasterId id="2147483729" r:id="rId22"/>
    <p:sldMasterId id="2147483796" r:id="rId23"/>
    <p:sldMasterId id="2147483846" r:id="rId24"/>
    <p:sldMasterId id="2147483727" r:id="rId25"/>
    <p:sldMasterId id="2147483725" r:id="rId26"/>
    <p:sldMasterId id="2147483798" r:id="rId27"/>
    <p:sldMasterId id="2147483848" r:id="rId28"/>
    <p:sldMasterId id="2147483850" r:id="rId29"/>
    <p:sldMasterId id="2147483857" r:id="rId30"/>
  </p:sldMasterIdLst>
  <p:notesMasterIdLst>
    <p:notesMasterId r:id="rId46"/>
  </p:notesMasterIdLst>
  <p:handoutMasterIdLst>
    <p:handoutMasterId r:id="rId47"/>
  </p:handoutMasterIdLst>
  <p:sldIdLst>
    <p:sldId id="403" r:id="rId31"/>
    <p:sldId id="430" r:id="rId32"/>
    <p:sldId id="431" r:id="rId33"/>
    <p:sldId id="437" r:id="rId34"/>
    <p:sldId id="433" r:id="rId35"/>
    <p:sldId id="432" r:id="rId36"/>
    <p:sldId id="434" r:id="rId37"/>
    <p:sldId id="438" r:id="rId38"/>
    <p:sldId id="426" r:id="rId39"/>
    <p:sldId id="428" r:id="rId40"/>
    <p:sldId id="435" r:id="rId41"/>
    <p:sldId id="436" r:id="rId42"/>
    <p:sldId id="425" r:id="rId43"/>
    <p:sldId id="394" r:id="rId44"/>
    <p:sldId id="335" r:id="rId45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AA6"/>
    <a:srgbClr val="BAC5B9"/>
    <a:srgbClr val="A9ACA0"/>
    <a:srgbClr val="2DCCD3"/>
    <a:srgbClr val="0097A9"/>
    <a:srgbClr val="FF8200"/>
    <a:srgbClr val="003B5C"/>
    <a:srgbClr val="84754E"/>
    <a:srgbClr val="DAAA00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158" autoAdjust="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>
        <p:guide orient="horz" pos="162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9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4.xml"/><Relationship Id="rId42" Type="http://schemas.openxmlformats.org/officeDocument/2006/relationships/slide" Target="slides/slide12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2.xml"/><Relationship Id="rId37" Type="http://schemas.openxmlformats.org/officeDocument/2006/relationships/slide" Target="slides/slide7.xml"/><Relationship Id="rId40" Type="http://schemas.openxmlformats.org/officeDocument/2006/relationships/slide" Target="slides/slide10.xml"/><Relationship Id="rId45" Type="http://schemas.openxmlformats.org/officeDocument/2006/relationships/slide" Target="slides/slide15.xml"/><Relationship Id="rId53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.xml"/><Relationship Id="rId44" Type="http://schemas.openxmlformats.org/officeDocument/2006/relationships/slide" Target="slides/slide14.xml"/><Relationship Id="rId52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5.xml"/><Relationship Id="rId43" Type="http://schemas.openxmlformats.org/officeDocument/2006/relationships/slide" Target="slides/slide13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3.xml"/><Relationship Id="rId38" Type="http://schemas.openxmlformats.org/officeDocument/2006/relationships/slide" Target="slides/slide8.xml"/><Relationship Id="rId46" Type="http://schemas.openxmlformats.org/officeDocument/2006/relationships/notesMaster" Target="notesMasters/notesMaster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1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6.xml"/><Relationship Id="rId4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01/28/2022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01/28/2022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142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0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8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22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3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51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705319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78816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974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303480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65227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550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06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521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16387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851267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6837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8129601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673295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45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473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848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8949911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04991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3805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2847988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5745996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61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76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29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8746329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46336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5782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9867522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749229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61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6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8146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622670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381770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8494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4330227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6991537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00883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55994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56087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32981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16122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25337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315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7608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0547484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endParaRPr lang="en-CA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319808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text. Body placeholder text goes here.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commole</a:t>
            </a:r>
            <a:r>
              <a:rPr lang="en-US"/>
              <a:t> </a:t>
            </a:r>
            <a:r>
              <a:rPr lang="en-US" err="1"/>
              <a:t>ntotas</a:t>
            </a:r>
            <a:r>
              <a:rPr lang="en-US"/>
              <a:t> se </a:t>
            </a:r>
            <a:r>
              <a:rPr lang="en-US" err="1"/>
              <a:t>volum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veliatuint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tiuntem</a:t>
            </a:r>
            <a:r>
              <a:rPr lang="en-US"/>
              <a:t> </a:t>
            </a:r>
            <a:r>
              <a:rPr lang="en-US" err="1"/>
              <a:t>inulparum</a:t>
            </a:r>
            <a:r>
              <a:rPr lang="en-US"/>
              <a:t> et </a:t>
            </a:r>
            <a:r>
              <a:rPr lang="en-US" err="1"/>
              <a:t>fugioto</a:t>
            </a:r>
            <a:r>
              <a:rPr lang="en-US"/>
              <a:t> </a:t>
            </a:r>
            <a:r>
              <a:rPr lang="en-US" err="1"/>
              <a:t>cusa</a:t>
            </a:r>
            <a:r>
              <a:rPr lang="en-US"/>
              <a:t> net </a:t>
            </a:r>
            <a:r>
              <a:rPr lang="en-US" err="1"/>
              <a:t>aut</a:t>
            </a:r>
            <a:r>
              <a:rPr lang="en-US"/>
              <a:t> colossus. </a:t>
            </a: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 </a:t>
            </a:r>
            <a:r>
              <a:rPr lang="en-US" err="1"/>
              <a:t>cid</a:t>
            </a:r>
            <a:r>
              <a:rPr lang="en-US"/>
              <a:t> et </a:t>
            </a:r>
            <a:r>
              <a:rPr lang="en-US" err="1"/>
              <a:t>poreupudam</a:t>
            </a:r>
            <a:r>
              <a:rPr lang="en-US"/>
              <a:t> </a:t>
            </a:r>
            <a:r>
              <a:rPr lang="en-US" err="1"/>
              <a:t>unti</a:t>
            </a:r>
            <a:r>
              <a:rPr lang="en-US"/>
              <a:t>, </a:t>
            </a:r>
            <a:r>
              <a:rPr lang="en-US" err="1"/>
              <a:t>uptodemsd</a:t>
            </a:r>
            <a:r>
              <a:rPr lang="en-US"/>
              <a:t> </a:t>
            </a:r>
            <a:r>
              <a:rPr lang="en-US" err="1"/>
              <a:t>blacsccsuam</a:t>
            </a:r>
            <a:r>
              <a:rPr lang="en-US"/>
              <a:t> </a:t>
            </a:r>
            <a:r>
              <a:rPr lang="en-US" err="1"/>
              <a:t>reprio</a:t>
            </a:r>
            <a:r>
              <a:rPr lang="en-US"/>
              <a:t> </a:t>
            </a:r>
            <a:r>
              <a:rPr lang="en-US" err="1"/>
              <a:t>endes</a:t>
            </a:r>
            <a:r>
              <a:rPr lang="en-US"/>
              <a:t> </a:t>
            </a:r>
            <a:r>
              <a:rPr lang="en-US" err="1"/>
              <a:t>autem</a:t>
            </a:r>
            <a:r>
              <a:rPr lang="en-US"/>
              <a:t> </a:t>
            </a:r>
            <a:r>
              <a:rPr lang="en-US" err="1"/>
              <a:t>quie</a:t>
            </a:r>
            <a:r>
              <a:rPr lang="en-US"/>
              <a:t> </a:t>
            </a:r>
            <a:r>
              <a:rPr lang="en-US" err="1"/>
              <a:t>prem</a:t>
            </a:r>
            <a:r>
              <a:rPr lang="en-US"/>
              <a:t> </a:t>
            </a:r>
            <a:r>
              <a:rPr lang="en-US" err="1"/>
              <a:t>aditas</a:t>
            </a:r>
            <a:r>
              <a:rPr lang="en-US"/>
              <a:t> discus </a:t>
            </a:r>
            <a:r>
              <a:rPr lang="en-US" err="1"/>
              <a:t>magnihilibus</a:t>
            </a:r>
            <a:r>
              <a:rPr lang="en-US"/>
              <a:t> </a:t>
            </a:r>
            <a:r>
              <a:rPr lang="en-US" err="1"/>
              <a:t>cusiccs</a:t>
            </a:r>
            <a:r>
              <a:rPr lang="en-US"/>
              <a:t> </a:t>
            </a:r>
            <a:r>
              <a:rPr lang="en-US" err="1"/>
              <a:t>eatumse</a:t>
            </a:r>
            <a:r>
              <a:rPr lang="en-US"/>
              <a:t> </a:t>
            </a:r>
            <a:r>
              <a:rPr lang="en-US" err="1"/>
              <a:t>luptaquie</a:t>
            </a:r>
            <a:r>
              <a:rPr lang="en-US"/>
              <a:t> </a:t>
            </a:r>
            <a:r>
              <a:rPr lang="en-US" err="1"/>
              <a:t>dolum</a:t>
            </a:r>
            <a:r>
              <a:rPr lang="en-US"/>
              <a:t>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commole</a:t>
            </a:r>
            <a:r>
              <a:rPr lang="en-US"/>
              <a:t> </a:t>
            </a:r>
            <a:r>
              <a:rPr lang="en-US" err="1"/>
              <a:t>ntotas</a:t>
            </a:r>
            <a:r>
              <a:rPr lang="en-US"/>
              <a:t> se </a:t>
            </a:r>
            <a:r>
              <a:rPr lang="en-US" err="1"/>
              <a:t>volum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veliatuint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tiuntem</a:t>
            </a:r>
            <a:r>
              <a:rPr lang="en-US"/>
              <a:t> </a:t>
            </a:r>
            <a:r>
              <a:rPr lang="en-US" err="1"/>
              <a:t>inulparum</a:t>
            </a:r>
            <a:r>
              <a:rPr lang="en-US"/>
              <a:t> et </a:t>
            </a:r>
            <a:r>
              <a:rPr lang="en-US" err="1"/>
              <a:t>fugioto</a:t>
            </a:r>
            <a:r>
              <a:rPr lang="en-US"/>
              <a:t> </a:t>
            </a:r>
            <a:r>
              <a:rPr lang="en-US" err="1"/>
              <a:t>cusa</a:t>
            </a:r>
            <a:r>
              <a:rPr lang="en-US"/>
              <a:t> net </a:t>
            </a:r>
            <a:r>
              <a:rPr lang="en-US" err="1"/>
              <a:t>aut</a:t>
            </a:r>
            <a:r>
              <a:rPr lang="en-US"/>
              <a:t> colossus. </a:t>
            </a: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 </a:t>
            </a:r>
            <a:r>
              <a:rPr lang="en-US" err="1"/>
              <a:t>cid</a:t>
            </a:r>
            <a:r>
              <a:rPr lang="en-US"/>
              <a:t> et </a:t>
            </a:r>
            <a:r>
              <a:rPr lang="en-US" err="1"/>
              <a:t>poreupudam</a:t>
            </a:r>
            <a:r>
              <a:rPr lang="en-US"/>
              <a:t> </a:t>
            </a:r>
            <a:r>
              <a:rPr lang="en-US" err="1"/>
              <a:t>unti</a:t>
            </a:r>
            <a:r>
              <a:rPr lang="en-US"/>
              <a:t>, </a:t>
            </a:r>
            <a:r>
              <a:rPr lang="en-US" err="1"/>
              <a:t>uptodemsd</a:t>
            </a:r>
            <a:r>
              <a:rPr lang="en-US"/>
              <a:t> </a:t>
            </a:r>
            <a:r>
              <a:rPr lang="en-US" err="1"/>
              <a:t>blacsccsuam</a:t>
            </a:r>
            <a:r>
              <a:rPr lang="en-US"/>
              <a:t> </a:t>
            </a:r>
            <a:r>
              <a:rPr lang="en-US" err="1"/>
              <a:t>reprio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005624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text. Body placeholder text goes here.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Evelegndigim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 </a:t>
            </a:r>
            <a:r>
              <a:rPr lang="en-US" err="1"/>
              <a:t>cid</a:t>
            </a:r>
            <a:r>
              <a:rPr lang="en-US"/>
              <a:t> et </a:t>
            </a:r>
            <a:r>
              <a:rPr lang="en-US" err="1"/>
              <a:t>poreupudam</a:t>
            </a:r>
            <a:r>
              <a:rPr lang="en-US"/>
              <a:t> </a:t>
            </a:r>
            <a:r>
              <a:rPr lang="en-US" err="1"/>
              <a:t>unti</a:t>
            </a:r>
            <a:r>
              <a:rPr lang="en-US"/>
              <a:t>, </a:t>
            </a:r>
            <a:r>
              <a:rPr lang="en-US" err="1"/>
              <a:t>uptodemsd</a:t>
            </a:r>
            <a:r>
              <a:rPr lang="en-US"/>
              <a:t> </a:t>
            </a:r>
            <a:r>
              <a:rPr lang="en-US" err="1"/>
              <a:t>blacsccsuam</a:t>
            </a:r>
            <a:r>
              <a:rPr lang="en-US"/>
              <a:t> </a:t>
            </a:r>
            <a:r>
              <a:rPr lang="en-US" err="1"/>
              <a:t>reprio</a:t>
            </a:r>
            <a:r>
              <a:rPr lang="en-US"/>
              <a:t> </a:t>
            </a:r>
            <a:r>
              <a:rPr lang="en-US" err="1"/>
              <a:t>endes</a:t>
            </a:r>
            <a:r>
              <a:rPr lang="en-US"/>
              <a:t> </a:t>
            </a:r>
            <a:r>
              <a:rPr lang="en-US" err="1"/>
              <a:t>autem</a:t>
            </a:r>
            <a:r>
              <a:rPr lang="en-US"/>
              <a:t> </a:t>
            </a:r>
            <a:r>
              <a:rPr lang="en-US" err="1"/>
              <a:t>quie</a:t>
            </a:r>
            <a:r>
              <a:rPr lang="en-US"/>
              <a:t> </a:t>
            </a:r>
            <a:r>
              <a:rPr lang="en-US" err="1"/>
              <a:t>prem</a:t>
            </a:r>
            <a:r>
              <a:rPr lang="en-US"/>
              <a:t> </a:t>
            </a:r>
            <a:r>
              <a:rPr lang="en-US" err="1"/>
              <a:t>aditas</a:t>
            </a:r>
            <a:r>
              <a:rPr lang="en-US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.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veliatuint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tiuntem</a:t>
            </a:r>
            <a:r>
              <a:rPr lang="en-US"/>
              <a:t> </a:t>
            </a:r>
            <a:r>
              <a:rPr lang="en-US" err="1"/>
              <a:t>inulparum</a:t>
            </a:r>
            <a:r>
              <a:rPr lang="en-US"/>
              <a:t> et </a:t>
            </a:r>
            <a:r>
              <a:rPr lang="en-US" err="1"/>
              <a:t>fugioto</a:t>
            </a:r>
            <a:r>
              <a:rPr lang="en-US"/>
              <a:t> </a:t>
            </a:r>
            <a:r>
              <a:rPr lang="en-US" err="1"/>
              <a:t>cusa</a:t>
            </a:r>
            <a:r>
              <a:rPr lang="en-US"/>
              <a:t> net </a:t>
            </a:r>
            <a:r>
              <a:rPr lang="en-US" err="1"/>
              <a:t>aut</a:t>
            </a:r>
            <a:r>
              <a:rPr lang="en-US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Aperchil</a:t>
            </a:r>
            <a:r>
              <a:rPr lang="en-US"/>
              <a:t> </a:t>
            </a:r>
            <a:r>
              <a:rPr lang="en-US" err="1"/>
              <a:t>inus</a:t>
            </a:r>
            <a:r>
              <a:rPr lang="en-US"/>
              <a:t>, </a:t>
            </a:r>
            <a:r>
              <a:rPr lang="en-US" err="1"/>
              <a:t>ullabo</a:t>
            </a:r>
            <a:r>
              <a:rPr lang="en-US"/>
              <a:t>. </a:t>
            </a:r>
            <a:r>
              <a:rPr lang="en-US" err="1"/>
              <a:t>Otat</a:t>
            </a:r>
            <a:r>
              <a:rPr lang="en-US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Bissecto</a:t>
            </a:r>
            <a:r>
              <a:rPr lang="en-US"/>
              <a:t> </a:t>
            </a:r>
            <a:r>
              <a:rPr lang="en-US" err="1"/>
              <a:t>occust</a:t>
            </a:r>
            <a:r>
              <a:rPr lang="en-US"/>
              <a:t>, to </a:t>
            </a:r>
            <a:r>
              <a:rPr lang="en-US" err="1"/>
              <a:t>dolupta</a:t>
            </a:r>
            <a:r>
              <a:rPr lang="en-US"/>
              <a:t> turbos </a:t>
            </a:r>
            <a:r>
              <a:rPr lang="en-US" err="1"/>
              <a:t>consequidi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dolesequam</a:t>
            </a:r>
            <a:r>
              <a:rPr lang="en-US"/>
              <a:t> </a:t>
            </a:r>
            <a:r>
              <a:rPr lang="en-US" err="1"/>
              <a:t>commole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Evelegndigim</a:t>
            </a:r>
            <a:r>
              <a:rPr lang="en-US"/>
              <a:t> qui </a:t>
            </a:r>
            <a:r>
              <a:rPr lang="en-US" err="1"/>
              <a:t>ommodiao</a:t>
            </a:r>
            <a:r>
              <a:rPr lang="en-US"/>
              <a:t> </a:t>
            </a:r>
            <a:r>
              <a:rPr lang="en-US" err="1"/>
              <a:t>exceaswum</a:t>
            </a:r>
            <a:r>
              <a:rPr lang="en-US"/>
              <a:t> </a:t>
            </a:r>
            <a:r>
              <a:rPr lang="en-US" err="1"/>
              <a:t>enus</a:t>
            </a:r>
            <a:r>
              <a:rPr lang="en-US"/>
              <a:t> as </a:t>
            </a:r>
            <a:r>
              <a:rPr lang="en-US" err="1"/>
              <a:t>deerro</a:t>
            </a:r>
            <a:r>
              <a:rPr lang="en-US"/>
              <a:t> </a:t>
            </a:r>
            <a:r>
              <a:rPr lang="en-US" err="1"/>
              <a:t>consedi</a:t>
            </a:r>
            <a:r>
              <a:rPr lang="en-US"/>
              <a:t> </a:t>
            </a:r>
            <a:r>
              <a:rPr lang="en-US" err="1"/>
              <a:t>rerum</a:t>
            </a:r>
            <a:r>
              <a:rPr lang="en-US"/>
              <a:t> et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qui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et </a:t>
            </a:r>
            <a:r>
              <a:rPr lang="en-US" err="1"/>
              <a:t>secsaill</a:t>
            </a:r>
            <a:r>
              <a:rPr lang="en-US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0026710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2626500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/>
              <a:t>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A"/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  <a:p>
            <a:pPr lvl="0"/>
            <a:r>
              <a:rPr lang="en-CA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48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1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8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9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slideLayout" Target="../slideLayouts/slideLayout32.xml"/><Relationship Id="rId7" Type="http://schemas.openxmlformats.org/officeDocument/2006/relationships/theme" Target="../theme/theme1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3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slideLayout" Target="../slideLayouts/slideLayout40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44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45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slideLayout" Target="../slideLayouts/slideLayout48.xml"/><Relationship Id="rId7" Type="http://schemas.openxmlformats.org/officeDocument/2006/relationships/theme" Target="../theme/theme21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5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5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5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5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56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5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5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61.xml"/><Relationship Id="rId7" Type="http://schemas.openxmlformats.org/officeDocument/2006/relationships/theme" Target="../theme/theme29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14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335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4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74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10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6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2DC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02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9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0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282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1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06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7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6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99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BA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504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6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7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3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4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2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6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31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01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115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p.cwb.local/projects/pmo2/Digital%20Program/Digital%20Program%20SharePoint/1%20Program%20Management/03.%20Execution/01%20Design/Business%20Analysis/Digital%20-%20Requirements%20Workflow%20-%20Current%20and%20Future%20State%20-%20Overview.pdf" TargetMode="Externa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wbank.atlassian.net/jira/software/c/projects/TIAB/boards/17" TargetMode="External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p.cwb.local/projects/pmo2/Digital%20Program/Digital%20Program%20SharePoint/1%20Program%20Management/03.%20Execution/01%20Design/Business%20Analysis/Digital%20-%20Requirements%20Workflow%20-%20Current%20and%20Future%20State%20-%20Overview.pdf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p.cwb.local/projects/pmo2/Digital%20Program/Digital%20Program%20SharePoint/1%20Program%20Management/03.%20Execution/01%20Design/Business%20Analysis/Digital%20-%20Requirements%20Workflow%20-%20Current%20and%20Future%20State%20-%20Overview.pdf" TargetMode="Externa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p.cwb.local/departments/is/as/ba/SitePages/Service_Catalogue.aspx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556184-1D4D-4135-9D76-F61ADACA8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Sherry McMillan</a:t>
            </a:r>
          </a:p>
          <a:p>
            <a:r>
              <a:rPr lang="en-US" dirty="0"/>
              <a:t>Sr Manager, Business Analysis</a:t>
            </a:r>
          </a:p>
          <a:p>
            <a:r>
              <a:rPr lang="en-US" dirty="0"/>
              <a:t>January 26, 2022</a:t>
            </a:r>
          </a:p>
          <a:p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A61C5-8924-4CD1-9011-2F93E2CFFD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rgbClr val="003B5C"/>
                </a:solidFill>
              </a:rPr>
              <a:t>Digital – R1.2 Requirements Approach</a:t>
            </a:r>
            <a:endParaRPr lang="en-CA" b="1" dirty="0">
              <a:solidFill>
                <a:srgbClr val="003B5C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89C17-32C1-4E64-94D6-A2A904862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Business Analysis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25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CEEED-7024-496E-9DC2-8635916CF0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2" y="231140"/>
            <a:ext cx="8280401" cy="397483"/>
          </a:xfrm>
        </p:spPr>
        <p:txBody>
          <a:bodyPr/>
          <a:lstStyle/>
          <a:p>
            <a:r>
              <a:rPr lang="en-US" dirty="0"/>
              <a:t>Requirements Assessments &amp; Recommendations</a:t>
            </a:r>
            <a:endParaRPr lang="en-CA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3DB57CAE-FCEF-4A64-9127-7D08DDA55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89297"/>
              </p:ext>
            </p:extLst>
          </p:nvPr>
        </p:nvGraphicFramePr>
        <p:xfrm>
          <a:off x="317105" y="939800"/>
          <a:ext cx="8369498" cy="326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646">
                  <a:extLst>
                    <a:ext uri="{9D8B030D-6E8A-4147-A177-3AD203B41FA5}">
                      <a16:colId xmlns:a16="http://schemas.microsoft.com/office/drawing/2014/main" val="1521635277"/>
                    </a:ext>
                  </a:extLst>
                </a:gridCol>
                <a:gridCol w="4463852">
                  <a:extLst>
                    <a:ext uri="{9D8B030D-6E8A-4147-A177-3AD203B41FA5}">
                      <a16:colId xmlns:a16="http://schemas.microsoft.com/office/drawing/2014/main" val="2701098928"/>
                    </a:ext>
                  </a:extLst>
                </a:gridCol>
              </a:tblGrid>
              <a:tr h="4597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 Approach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74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Requirements Assessment &amp; Recommendations</a:t>
                      </a:r>
                    </a:p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The goal for this meeting is to ensure we have agreement and then implement asap, e.g. starting on Monday.</a:t>
                      </a:r>
                      <a:endParaRPr lang="en-CA" b="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29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Hire a BA Lead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For the time being Gerry Weber continues to handle the day-to-day assignments for the Digital BAs</a:t>
                      </a:r>
                    </a:p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Done. Ciara Whelan starts Feb 14</a:t>
                      </a:r>
                      <a:r>
                        <a:rPr lang="en-US" baseline="30000" dirty="0"/>
                        <a:t>th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430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Hire a BA with deep commercial knowledge </a:t>
                      </a:r>
                      <a:r>
                        <a:rPr lang="en-US" sz="1800" dirty="0"/>
                        <a:t>(Individual Contributor) </a:t>
                      </a:r>
                      <a:endParaRPr lang="en-US" sz="1800" b="1" dirty="0"/>
                    </a:p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Progress. </a:t>
                      </a:r>
                    </a:p>
                    <a:p>
                      <a:r>
                        <a:rPr lang="en-US" dirty="0"/>
                        <a:t>Several candidates are in the pipeline.  Proceeding to second interviews next week.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890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84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CEEED-7024-496E-9DC2-8635916CF0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2" y="231140"/>
            <a:ext cx="8280401" cy="397483"/>
          </a:xfrm>
        </p:spPr>
        <p:txBody>
          <a:bodyPr/>
          <a:lstStyle/>
          <a:p>
            <a:r>
              <a:rPr lang="en-US" dirty="0"/>
              <a:t>Recommendations – Immediate Next Steps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21A91-2442-4C55-ACA4-79DEFF675F15}"/>
              </a:ext>
            </a:extLst>
          </p:cNvPr>
          <p:cNvSpPr txBox="1"/>
          <p:nvPr/>
        </p:nvSpPr>
        <p:spPr>
          <a:xfrm>
            <a:off x="359177" y="826523"/>
            <a:ext cx="83744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marL="228600" lvl="1" indent="-228600">
              <a:buFontTx/>
              <a:buAutoNum type="arabicPeriod"/>
            </a:pPr>
            <a:r>
              <a:rPr lang="en-US" sz="2800" dirty="0"/>
              <a:t> Define and train out ownership for BA Responsibilities</a:t>
            </a:r>
          </a:p>
          <a:p>
            <a:pPr marL="228600" lvl="1" indent="-228600">
              <a:buFontTx/>
              <a:buAutoNum type="arabicPeriod"/>
            </a:pPr>
            <a:r>
              <a:rPr lang="en-US" sz="2800" dirty="0"/>
              <a:t> Improve the efficiencies of meetings</a:t>
            </a:r>
          </a:p>
          <a:p>
            <a:pPr marL="228600" lvl="1" indent="-228600">
              <a:buAutoNum type="arabicPeriod"/>
            </a:pPr>
            <a:r>
              <a:rPr lang="en-US" sz="2800" dirty="0"/>
              <a:t> Transparency and tracking of deliverables</a:t>
            </a:r>
          </a:p>
          <a:p>
            <a:pPr marL="0" lvl="1"/>
            <a:endParaRPr lang="en-US" sz="2800" dirty="0"/>
          </a:p>
          <a:p>
            <a:pPr marL="228600" lvl="1" indent="-228600">
              <a:buAutoNum type="arabicPeriod"/>
            </a:pPr>
            <a:endParaRPr lang="en-US" sz="2800" dirty="0"/>
          </a:p>
          <a:p>
            <a:pPr marL="0" lvl="1"/>
            <a:r>
              <a:rPr lang="en-US" sz="2800" dirty="0"/>
              <a:t>Level set with both CWB and Temenos Teams in a joint meeting. </a:t>
            </a:r>
          </a:p>
          <a:p>
            <a:pPr marL="0" lvl="1"/>
            <a:endParaRPr lang="en-US" sz="2800" dirty="0"/>
          </a:p>
          <a:p>
            <a:pPr marL="0" lvl="1"/>
            <a:endParaRPr lang="en-US" sz="2800" dirty="0"/>
          </a:p>
          <a:p>
            <a:pPr marL="0" lvl="1"/>
            <a:endParaRPr lang="en-US" sz="2800" dirty="0"/>
          </a:p>
          <a:p>
            <a:pPr marL="0" lvl="1"/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222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CEEED-7024-496E-9DC2-8635916CF0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2" y="231140"/>
            <a:ext cx="8280401" cy="397483"/>
          </a:xfrm>
        </p:spPr>
        <p:txBody>
          <a:bodyPr/>
          <a:lstStyle/>
          <a:p>
            <a:r>
              <a:rPr lang="en-US" dirty="0"/>
              <a:t>What Does Success Look Like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21A91-2442-4C55-ACA4-79DEFF675F15}"/>
              </a:ext>
            </a:extLst>
          </p:cNvPr>
          <p:cNvSpPr txBox="1"/>
          <p:nvPr/>
        </p:nvSpPr>
        <p:spPr>
          <a:xfrm>
            <a:off x="225827" y="628623"/>
            <a:ext cx="837445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dirty="0"/>
              <a:t>We have a common understanding of </a:t>
            </a:r>
          </a:p>
          <a:p>
            <a:pPr lvl="4" indent="-457200">
              <a:buFont typeface="Arial" panose="020B0604020202020204" pitchFamily="34" charset="0"/>
              <a:buChar char="•"/>
            </a:pPr>
            <a:r>
              <a:rPr lang="en-US" dirty="0"/>
              <a:t>What the Business Need is</a:t>
            </a:r>
          </a:p>
          <a:p>
            <a:pPr lvl="4" indent="-457200">
              <a:buFont typeface="Arial" panose="020B0604020202020204" pitchFamily="34" charset="0"/>
              <a:buChar char="•"/>
            </a:pPr>
            <a:r>
              <a:rPr lang="en-US" dirty="0"/>
              <a:t>How the solution is filling it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dirty="0"/>
              <a:t>All stakeholders can easily find the answer to the points above</a:t>
            </a:r>
          </a:p>
          <a:p>
            <a:pPr lvl="4" indent="-457200">
              <a:buFont typeface="Arial" panose="020B0604020202020204" pitchFamily="34" charset="0"/>
              <a:buChar char="•"/>
            </a:pPr>
            <a:r>
              <a:rPr lang="en-US" dirty="0"/>
              <a:t>We don’t need to ask “What did we decide?”</a:t>
            </a:r>
          </a:p>
          <a:p>
            <a:pPr lvl="4" indent="-457200">
              <a:buFont typeface="Arial" panose="020B0604020202020204" pitchFamily="34" charset="0"/>
              <a:buChar char="•"/>
            </a:pPr>
            <a:r>
              <a:rPr lang="en-US" dirty="0"/>
              <a:t>The answers are complete, correct, and consistent (no missing or conflicting documentation)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dirty="0"/>
              <a:t>Dev has what they need to code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dirty="0"/>
              <a:t>QA has what they need to test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dirty="0"/>
              <a:t>We all have what we need to support and maintain (or even enhance) the solution in the future. </a:t>
            </a:r>
          </a:p>
          <a:p>
            <a:pPr marL="914400" lvl="3"/>
            <a:endParaRPr lang="en-US" sz="2800" dirty="0"/>
          </a:p>
          <a:p>
            <a:pPr marL="228600" lvl="1" indent="-228600">
              <a:buAutoNum type="arabicPeriod"/>
            </a:pPr>
            <a:endParaRPr lang="en-US" sz="2800" dirty="0"/>
          </a:p>
          <a:p>
            <a:pPr marL="0" lvl="1"/>
            <a:r>
              <a:rPr lang="en-US" sz="2800" dirty="0"/>
              <a:t> </a:t>
            </a:r>
          </a:p>
          <a:p>
            <a:pPr marL="0" lvl="1"/>
            <a:endParaRPr lang="en-US" sz="2800" dirty="0"/>
          </a:p>
          <a:p>
            <a:pPr marL="0" lvl="1"/>
            <a:endParaRPr lang="en-US" sz="2800" dirty="0"/>
          </a:p>
          <a:p>
            <a:pPr marL="0" lvl="1"/>
            <a:endParaRPr lang="en-US" sz="2800" dirty="0"/>
          </a:p>
          <a:p>
            <a:pPr marL="0" lvl="1"/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405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EAA009-405A-418B-AC06-67C50BE5F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799" y="1576105"/>
            <a:ext cx="8280401" cy="26810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B7C5E-5711-4F35-8915-60A5ECF3D8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1" y="184007"/>
            <a:ext cx="8280401" cy="397483"/>
          </a:xfrm>
        </p:spPr>
        <p:txBody>
          <a:bodyPr/>
          <a:lstStyle/>
          <a:p>
            <a:r>
              <a:rPr lang="en-US" dirty="0"/>
              <a:t>1. Ownership of BA Tasks and Deliverables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CB52A-5409-469F-BBFE-8CE905F3F8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201" y="581490"/>
            <a:ext cx="8280401" cy="238208"/>
          </a:xfrm>
        </p:spPr>
        <p:txBody>
          <a:bodyPr/>
          <a:lstStyle/>
          <a:p>
            <a:r>
              <a:rPr lang="en-US" dirty="0"/>
              <a:t>Owned by:  Digital BA Lead</a:t>
            </a:r>
          </a:p>
          <a:p>
            <a:pPr>
              <a:lnSpc>
                <a:spcPct val="100000"/>
              </a:lnSpc>
            </a:pPr>
            <a:r>
              <a:rPr lang="en-US" dirty="0"/>
              <a:t>See also Digital – </a:t>
            </a:r>
            <a:r>
              <a:rPr lang="en-US" dirty="0">
                <a:hlinkClick r:id="rId2"/>
              </a:rPr>
              <a:t>Requirements Workflow – Current and Future State – Overview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1200" i="1" dirty="0">
                <a:solidFill>
                  <a:schemeClr val="tx1"/>
                </a:solidFill>
              </a:rPr>
              <a:t>Note: This principle can be applied across disciplines - UX etc. </a:t>
            </a:r>
          </a:p>
          <a:p>
            <a:endParaRPr lang="en-US" dirty="0"/>
          </a:p>
          <a:p>
            <a:endParaRPr lang="en-CA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052AB4-D6C0-452D-8F73-63B8DBA47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925619"/>
              </p:ext>
            </p:extLst>
          </p:nvPr>
        </p:nvGraphicFramePr>
        <p:xfrm>
          <a:off x="258632" y="1392532"/>
          <a:ext cx="8537833" cy="3283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8456">
                  <a:extLst>
                    <a:ext uri="{9D8B030D-6E8A-4147-A177-3AD203B41FA5}">
                      <a16:colId xmlns:a16="http://schemas.microsoft.com/office/drawing/2014/main" val="686983463"/>
                    </a:ext>
                  </a:extLst>
                </a:gridCol>
                <a:gridCol w="1388112">
                  <a:extLst>
                    <a:ext uri="{9D8B030D-6E8A-4147-A177-3AD203B41FA5}">
                      <a16:colId xmlns:a16="http://schemas.microsoft.com/office/drawing/2014/main" val="446714296"/>
                    </a:ext>
                  </a:extLst>
                </a:gridCol>
                <a:gridCol w="1042087">
                  <a:extLst>
                    <a:ext uri="{9D8B030D-6E8A-4147-A177-3AD203B41FA5}">
                      <a16:colId xmlns:a16="http://schemas.microsoft.com/office/drawing/2014/main" val="821696652"/>
                    </a:ext>
                  </a:extLst>
                </a:gridCol>
                <a:gridCol w="1566563">
                  <a:extLst>
                    <a:ext uri="{9D8B030D-6E8A-4147-A177-3AD203B41FA5}">
                      <a16:colId xmlns:a16="http://schemas.microsoft.com/office/drawing/2014/main" val="479240413"/>
                    </a:ext>
                  </a:extLst>
                </a:gridCol>
                <a:gridCol w="1593850">
                  <a:extLst>
                    <a:ext uri="{9D8B030D-6E8A-4147-A177-3AD203B41FA5}">
                      <a16:colId xmlns:a16="http://schemas.microsoft.com/office/drawing/2014/main" val="3933057876"/>
                    </a:ext>
                  </a:extLst>
                </a:gridCol>
                <a:gridCol w="1798765">
                  <a:extLst>
                    <a:ext uri="{9D8B030D-6E8A-4147-A177-3AD203B41FA5}">
                      <a16:colId xmlns:a16="http://schemas.microsoft.com/office/drawing/2014/main" val="955272513"/>
                    </a:ext>
                  </a:extLst>
                </a:gridCol>
              </a:tblGrid>
              <a:tr h="161191">
                <a:tc rowSpan="2">
                  <a:txBody>
                    <a:bodyPr/>
                    <a:lstStyle/>
                    <a:p>
                      <a:pPr algn="ctr"/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Case</a:t>
                      </a:r>
                      <a:endParaRPr lang="en-CA" sz="11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A" sz="1100">
                          <a:effectLst/>
                        </a:rPr>
                        <a:t>Temenos BA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CWB BA</a:t>
                      </a:r>
                      <a:endParaRPr lang="en-CA" sz="11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CWB BA</a:t>
                      </a:r>
                      <a:endParaRPr lang="en-CA" sz="11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A" sz="110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en-CA" sz="1100">
                          <a:effectLst/>
                        </a:rPr>
                        <a:t>Notes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3348495"/>
                  </a:ext>
                </a:extLst>
              </a:tr>
              <a:tr h="17514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dirty="0">
                          <a:effectLst/>
                        </a:rPr>
                        <a:t>Task</a:t>
                      </a:r>
                      <a:endParaRPr lang="en-CA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dirty="0">
                          <a:effectLst/>
                        </a:rPr>
                        <a:t>Deliverable</a:t>
                      </a:r>
                      <a:endParaRPr lang="en-CA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09AA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CA" sz="1100" b="1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dirty="0">
                          <a:solidFill>
                            <a:srgbClr val="009AA6"/>
                          </a:solidFill>
                          <a:effectLst/>
                        </a:rPr>
                        <a:t>Deliverable</a:t>
                      </a:r>
                      <a:endParaRPr lang="en-CA" sz="1100" b="1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897661"/>
                  </a:ext>
                </a:extLst>
              </a:tr>
              <a:tr h="527533">
                <a:tc>
                  <a:txBody>
                    <a:bodyPr/>
                    <a:lstStyle/>
                    <a:p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Infinity Out Of The Box (OOTB)</a:t>
                      </a:r>
                    </a:p>
                    <a:p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 </a:t>
                      </a:r>
                      <a:endParaRPr lang="en-CA" sz="11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Demo. Available for Q&amp;A</a:t>
                      </a:r>
                      <a:endParaRPr lang="en-C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*Provide Existing Requirements.</a:t>
                      </a:r>
                      <a:br>
                        <a:rPr lang="en-CA" sz="900" dirty="0">
                          <a:effectLst/>
                        </a:rPr>
                      </a:br>
                      <a:r>
                        <a:rPr lang="en-CA" sz="900" dirty="0">
                          <a:effectLst/>
                        </a:rPr>
                        <a:t>*Recorded Demo. </a:t>
                      </a:r>
                      <a:endParaRPr lang="en-C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Work with Business to verify that OOTB will meet the need.  (Ultimately a Business decision). 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Trace Temenos Deliverables to CWB Business Need. 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>
                          <a:effectLst/>
                        </a:rPr>
                        <a:t>*Note: QA is an important consumer of this information. </a:t>
                      </a:r>
                      <a:endParaRPr lang="en-CA" sz="1400">
                        <a:effectLst/>
                      </a:endParaRPr>
                    </a:p>
                    <a:p>
                      <a:r>
                        <a:rPr lang="en-CA" sz="900">
                          <a:effectLst/>
                        </a:rPr>
                        <a:t>*Storage location TBD. </a:t>
                      </a:r>
                      <a:endParaRPr lang="en-CA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4800518"/>
                  </a:ext>
                </a:extLst>
              </a:tr>
              <a:tr h="1252849">
                <a:tc>
                  <a:txBody>
                    <a:bodyPr/>
                    <a:lstStyle/>
                    <a:p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Infinity – With Customization</a:t>
                      </a:r>
                    </a:p>
                    <a:p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 </a:t>
                      </a:r>
                      <a:endParaRPr lang="en-CA" sz="11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*Demo OOTB. </a:t>
                      </a:r>
                      <a:endParaRPr lang="en-CA" sz="1400" dirty="0">
                        <a:effectLst/>
                      </a:endParaRPr>
                    </a:p>
                    <a:p>
                      <a:r>
                        <a:rPr lang="en-CA" sz="900" dirty="0">
                          <a:effectLst/>
                        </a:rPr>
                        <a:t>*Document Customization, e.g. User Story and Mock-up</a:t>
                      </a:r>
                      <a:endParaRPr lang="en-C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*User Story that covers the modification.</a:t>
                      </a:r>
                      <a:endParaRPr lang="en-CA" sz="1400" dirty="0">
                        <a:effectLst/>
                      </a:endParaRPr>
                    </a:p>
                    <a:p>
                      <a:r>
                        <a:rPr lang="en-CA" sz="900" dirty="0">
                          <a:effectLst/>
                        </a:rPr>
                        <a:t>*Mock-Ups</a:t>
                      </a:r>
                      <a:br>
                        <a:rPr lang="en-CA" sz="900" dirty="0">
                          <a:effectLst/>
                        </a:rPr>
                      </a:br>
                      <a:r>
                        <a:rPr lang="en-CA" sz="900" dirty="0">
                          <a:effectLst/>
                        </a:rPr>
                        <a:t>*Recorded Demo if modification jumps off of unchanged design with </a:t>
                      </a:r>
                      <a:r>
                        <a:rPr lang="en-CA" sz="900">
                          <a:effectLst/>
                        </a:rPr>
                        <a:t>no requirements.</a:t>
                      </a:r>
                      <a:endParaRPr lang="en-C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*Verify that customization is necessary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</a:endParaRPr>
                    </a:p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*Review, provide feedback on, and ultimately validate Temenos requirements. </a:t>
                      </a:r>
                    </a:p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*Trace Temenos Deliverables to CWB Business Need.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 Trace Temenos Deliverables to CWB Business Need.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</a:endParaRPr>
                    </a:p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*Transition to Operations (TTO)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*Note: QA is an important consumer of this information. </a:t>
                      </a:r>
                      <a:endParaRPr lang="en-CA" sz="1400" dirty="0">
                        <a:effectLst/>
                      </a:endParaRPr>
                    </a:p>
                    <a:p>
                      <a:r>
                        <a:rPr lang="en-CA" sz="900" dirty="0">
                          <a:effectLst/>
                        </a:rPr>
                        <a:t>*Storage location TBD.</a:t>
                      </a:r>
                      <a:br>
                        <a:rPr lang="en-CA" sz="900" dirty="0">
                          <a:effectLst/>
                        </a:rPr>
                      </a:br>
                      <a:r>
                        <a:rPr lang="en-CA" sz="900" dirty="0">
                          <a:effectLst/>
                        </a:rPr>
                        <a:t>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5976826"/>
                  </a:ext>
                </a:extLst>
              </a:tr>
              <a:tr h="1138953">
                <a:tc>
                  <a:txBody>
                    <a:bodyPr/>
                    <a:lstStyle/>
                    <a:p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Not Infinity - e.g. Integration</a:t>
                      </a:r>
                    </a:p>
                    <a:p>
                      <a:r>
                        <a:rPr lang="en-CA" sz="1100" dirty="0">
                          <a:solidFill>
                            <a:srgbClr val="009AA6"/>
                          </a:solidFill>
                          <a:effectLst/>
                        </a:rPr>
                        <a:t> </a:t>
                      </a:r>
                      <a:endParaRPr lang="en-CA" sz="11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TBD</a:t>
                      </a:r>
                      <a:endParaRPr lang="en-C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TBD</a:t>
                      </a:r>
                      <a:endParaRPr lang="en-C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*All necessary for requirements creation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</a:endParaRPr>
                    </a:p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*Work with the consumers of the requirements to understand the level of detail needed applying BA Best Practices.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*BR, FR, NFRs and other BA artifacts as needed. 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</a:endParaRPr>
                    </a:p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*Traceability Matrix. 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</a:endParaRPr>
                    </a:p>
                    <a:p>
                      <a:r>
                        <a:rPr lang="en-CA" sz="900" dirty="0">
                          <a:solidFill>
                            <a:srgbClr val="009AA6"/>
                          </a:solidFill>
                          <a:effectLst/>
                        </a:rPr>
                        <a:t>*TTO</a:t>
                      </a:r>
                      <a:endParaRPr lang="en-CA" sz="1400" dirty="0">
                        <a:solidFill>
                          <a:srgbClr val="009AA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dirty="0">
                          <a:effectLst/>
                        </a:rPr>
                        <a:t>TBD:  Are the deliverables above sufficient for our integration needs? </a:t>
                      </a:r>
                      <a:endParaRPr lang="en-C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473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744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CEEED-7024-496E-9DC2-8635916CF0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2" y="231140"/>
            <a:ext cx="8280401" cy="397483"/>
          </a:xfrm>
        </p:spPr>
        <p:txBody>
          <a:bodyPr/>
          <a:lstStyle/>
          <a:p>
            <a:r>
              <a:rPr lang="en-US" dirty="0"/>
              <a:t>2. Improve Efficiency of Meetings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21A91-2442-4C55-ACA4-79DEFF675F15}"/>
              </a:ext>
            </a:extLst>
          </p:cNvPr>
          <p:cNvSpPr txBox="1"/>
          <p:nvPr/>
        </p:nvSpPr>
        <p:spPr>
          <a:xfrm>
            <a:off x="361751" y="622246"/>
            <a:ext cx="82804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1" indent="-228600">
              <a:buFont typeface="+mj-lt"/>
              <a:buAutoNum type="alphaLcParenR"/>
            </a:pPr>
            <a:endParaRPr lang="en-US" sz="1400" dirty="0"/>
          </a:p>
          <a:p>
            <a:pPr marL="685800" lvl="1" indent="-228600">
              <a:buFont typeface="+mj-lt"/>
              <a:buAutoNum type="alphaLcParenR"/>
            </a:pPr>
            <a:endParaRPr lang="en-US" sz="1400" dirty="0"/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Temenos to give at least 2 business days lead time on meeting agendas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400" dirty="0"/>
              <a:t>Ideally, CWB drives the meeting schedule.  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CWB to ensure that the right people are in those meetings. </a:t>
            </a:r>
          </a:p>
          <a:p>
            <a:pPr marL="1143000" lvl="2" indent="-228600">
              <a:buFont typeface="Wingdings" panose="05000000000000000000" pitchFamily="2" charset="2"/>
              <a:buChar char="§"/>
            </a:pPr>
            <a:r>
              <a:rPr lang="en-US" sz="1400" dirty="0"/>
              <a:t>Can we have admin support on scheduling those meetings? 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Both Temenos and CWB team members to come prepared to address the meeting topics for the scheduled meeting.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Use a visual aid to clearly state what action we’re talking about, who owns it, current status, and next steps.</a:t>
            </a:r>
          </a:p>
          <a:p>
            <a:pPr marL="1143000" lvl="2" indent="-228600">
              <a:buFont typeface="Wingdings" panose="05000000000000000000" pitchFamily="2" charset="2"/>
              <a:buChar char="§"/>
            </a:pPr>
            <a:r>
              <a:rPr lang="en-US" sz="1400" dirty="0"/>
              <a:t>See #3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Begin each meeting/agenda item with a stated goal </a:t>
            </a:r>
          </a:p>
          <a:p>
            <a:pPr marL="685800" lvl="1" indent="-228600">
              <a:buFont typeface="+mj-lt"/>
              <a:buAutoNum type="alphaLcParenR"/>
            </a:pPr>
            <a:r>
              <a:rPr lang="en-US" sz="1400" dirty="0"/>
              <a:t>Shorter meetings, e.g. 2 hours daily</a:t>
            </a:r>
          </a:p>
          <a:p>
            <a:pPr marL="1143000" lvl="2" indent="-228600">
              <a:buFont typeface="+mj-lt"/>
              <a:buAutoNum type="alphaLcParenR"/>
            </a:pPr>
            <a:r>
              <a:rPr lang="en-US" sz="1400" dirty="0"/>
              <a:t>To give people time to work on their deliverables</a:t>
            </a:r>
          </a:p>
          <a:p>
            <a:pPr marL="1143000" lvl="2" indent="-228600">
              <a:buFont typeface="+mj-lt"/>
              <a:buAutoNum type="alphaLcParenR"/>
            </a:pPr>
            <a:r>
              <a:rPr lang="en-US" sz="1400" dirty="0"/>
              <a:t>To ensure that attendees can focus and be efficient</a:t>
            </a:r>
          </a:p>
          <a:p>
            <a:pPr lvl="1"/>
            <a:endParaRPr lang="en-US" sz="1400" dirty="0"/>
          </a:p>
          <a:p>
            <a:pPr marL="0" lvl="1"/>
            <a:r>
              <a:rPr lang="en-US" sz="1400" dirty="0"/>
              <a:t>Nice to have: 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400" dirty="0"/>
              <a:t>Meetings named insightfully – Is it a Requirements Review meeting or a Requirements Status meeting?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/>
            <a:endParaRPr lang="en-US" sz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29165-E8FC-49E1-B5C9-B29B421B6F77}"/>
              </a:ext>
            </a:extLst>
          </p:cNvPr>
          <p:cNvSpPr txBox="1">
            <a:spLocks/>
          </p:cNvSpPr>
          <p:nvPr/>
        </p:nvSpPr>
        <p:spPr>
          <a:xfrm>
            <a:off x="818094" y="605122"/>
            <a:ext cx="6241733" cy="23820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spc="0" baseline="0">
                <a:solidFill>
                  <a:srgbClr val="DAAA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Owned by:  Project Manager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19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CEEED-7024-496E-9DC2-8635916CF0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2" y="231140"/>
            <a:ext cx="8280401" cy="397483"/>
          </a:xfrm>
        </p:spPr>
        <p:txBody>
          <a:bodyPr/>
          <a:lstStyle/>
          <a:p>
            <a:r>
              <a:rPr lang="en-US" dirty="0"/>
              <a:t>3. Transparency and Tracking of Deliverables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18037-3B67-48B6-8642-50005AAD730F}"/>
              </a:ext>
            </a:extLst>
          </p:cNvPr>
          <p:cNvSpPr txBox="1">
            <a:spLocks/>
          </p:cNvSpPr>
          <p:nvPr/>
        </p:nvSpPr>
        <p:spPr>
          <a:xfrm>
            <a:off x="838689" y="692641"/>
            <a:ext cx="6241733" cy="23820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spc="0" baseline="0">
                <a:solidFill>
                  <a:srgbClr val="DAAA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Owned by:   </a:t>
            </a:r>
            <a:br>
              <a:rPr lang="en-US" dirty="0"/>
            </a:br>
            <a:r>
              <a:rPr lang="en-US" dirty="0"/>
              <a:t>BA Deliverables (CWB and Temenos) – BA Lead</a:t>
            </a:r>
          </a:p>
          <a:p>
            <a:r>
              <a:rPr lang="en-US" dirty="0"/>
              <a:t>Other Deliverables – Project Manager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164D9-0570-4A18-B6C0-6D7F1498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6" y="1923117"/>
            <a:ext cx="9144000" cy="2527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E346FE-FB42-4B6B-B49B-24673F4071C1}"/>
              </a:ext>
            </a:extLst>
          </p:cNvPr>
          <p:cNvSpPr txBox="1"/>
          <p:nvPr/>
        </p:nvSpPr>
        <p:spPr>
          <a:xfrm>
            <a:off x="123567" y="1617454"/>
            <a:ext cx="181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DRAFT</a:t>
            </a:r>
            <a:endParaRPr lang="en-CA" b="1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E2F76-BAB5-40ED-A4BA-B298EDB214A1}"/>
              </a:ext>
            </a:extLst>
          </p:cNvPr>
          <p:cNvSpPr txBox="1"/>
          <p:nvPr/>
        </p:nvSpPr>
        <p:spPr>
          <a:xfrm>
            <a:off x="5508017" y="913346"/>
            <a:ext cx="467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i="1" dirty="0">
                <a:solidFill>
                  <a:schemeClr val="tx1"/>
                </a:solidFill>
              </a:rPr>
              <a:t>Note: Can report on this, e.g. weekly.</a:t>
            </a:r>
          </a:p>
          <a:p>
            <a:pPr>
              <a:lnSpc>
                <a:spcPct val="100000"/>
              </a:lnSpc>
            </a:pPr>
            <a:r>
              <a:rPr lang="en-US" sz="1200" i="1" dirty="0"/>
              <a:t>Can work as a Requirements Management Plan as well. </a:t>
            </a:r>
          </a:p>
          <a:p>
            <a:pPr>
              <a:lnSpc>
                <a:spcPct val="100000"/>
              </a:lnSpc>
            </a:pPr>
            <a:r>
              <a:rPr lang="en-US" sz="1200" i="1" dirty="0"/>
              <a:t>Stakeholders and other info to be added.</a:t>
            </a:r>
            <a:endParaRPr lang="en-US" sz="12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1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CEEED-7024-496E-9DC2-8635916CF0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6202" y="231140"/>
            <a:ext cx="8280401" cy="397483"/>
          </a:xfrm>
        </p:spPr>
        <p:txBody>
          <a:bodyPr/>
          <a:lstStyle/>
          <a:p>
            <a:r>
              <a:rPr lang="en-US" dirty="0"/>
              <a:t>3. Transparency and Tracking of Deliverables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18037-3B67-48B6-8642-50005AAD730F}"/>
              </a:ext>
            </a:extLst>
          </p:cNvPr>
          <p:cNvSpPr txBox="1">
            <a:spLocks/>
          </p:cNvSpPr>
          <p:nvPr/>
        </p:nvSpPr>
        <p:spPr>
          <a:xfrm>
            <a:off x="838689" y="692641"/>
            <a:ext cx="6241733" cy="23820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spc="0" baseline="0">
                <a:solidFill>
                  <a:srgbClr val="DAAA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Could also be accomplished using Jira Dashboards, e.g.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346FE-FB42-4B6B-B49B-24673F4071C1}"/>
              </a:ext>
            </a:extLst>
          </p:cNvPr>
          <p:cNvSpPr txBox="1"/>
          <p:nvPr/>
        </p:nvSpPr>
        <p:spPr>
          <a:xfrm>
            <a:off x="123567" y="1617454"/>
            <a:ext cx="181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DRAFT</a:t>
            </a:r>
            <a:endParaRPr lang="en-CA" b="1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E2F76-BAB5-40ED-A4BA-B298EDB214A1}"/>
              </a:ext>
            </a:extLst>
          </p:cNvPr>
          <p:cNvSpPr txBox="1"/>
          <p:nvPr/>
        </p:nvSpPr>
        <p:spPr>
          <a:xfrm>
            <a:off x="754434" y="963855"/>
            <a:ext cx="467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i="1" dirty="0">
                <a:solidFill>
                  <a:schemeClr val="tx1"/>
                </a:solidFill>
              </a:rPr>
              <a:t>Sandbox: </a:t>
            </a:r>
            <a:r>
              <a:rPr lang="en-US" sz="1200" dirty="0">
                <a:hlinkClick r:id="rId2"/>
              </a:rPr>
              <a:t>TIAB board - TIAB board - Agile Board - Jira (atlassian.net)</a:t>
            </a:r>
            <a:endParaRPr lang="en-US" sz="1200" i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FF1F8D-AF6C-4F2D-A6C0-B693773F2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7" y="2040947"/>
            <a:ext cx="9064883" cy="18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66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184C18-0287-4F47-99C2-44182FA23E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5896" y="1525623"/>
            <a:ext cx="5153312" cy="293251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cs typeface="Arial"/>
              </a:rPr>
              <a:t>	</a:t>
            </a:r>
            <a:endParaRPr lang="en-US" sz="1800" dirty="0">
              <a:solidFill>
                <a:srgbClr val="009AA6"/>
              </a:solidFill>
              <a:cs typeface="Arial"/>
            </a:endParaRPr>
          </a:p>
          <a:p>
            <a:pPr marL="0" indent="0">
              <a:buNone/>
            </a:pPr>
            <a:endParaRPr lang="en-US" b="1" dirty="0">
              <a:solidFill>
                <a:srgbClr val="003B5C"/>
              </a:solidFill>
              <a:cs typeface="Arial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cs typeface="Arial"/>
              </a:rPr>
              <a:t>Inputs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cs typeface="Arial"/>
              </a:rPr>
              <a:t>Digital – Requirements Workflow – Current and Future State Overview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cs typeface="Arial"/>
              </a:rPr>
              <a:t>BA Deliverables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cs typeface="Arial"/>
              </a:rPr>
              <a:t>BA in a Nutshell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cs typeface="Arial"/>
              </a:rPr>
              <a:t>Simplified BA Workflow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B5C"/>
                </a:solidFill>
                <a:cs typeface="Arial"/>
              </a:rPr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B65CC-AD06-429D-A6A3-12EE175301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7235" y="999779"/>
            <a:ext cx="2832297" cy="1428834"/>
          </a:xfrm>
        </p:spPr>
        <p:txBody>
          <a:bodyPr/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Appendix</a:t>
            </a:r>
          </a:p>
          <a:p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47447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CEEED-7024-496E-9DC2-8635916CF0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Inputs</a:t>
            </a:r>
            <a:endParaRPr lang="en-C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706A1D5-8508-4593-95A0-18DAFE4C1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978945"/>
              </p:ext>
            </p:extLst>
          </p:nvPr>
        </p:nvGraphicFramePr>
        <p:xfrm>
          <a:off x="663146" y="1355296"/>
          <a:ext cx="609443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430">
                  <a:extLst>
                    <a:ext uri="{9D8B030D-6E8A-4147-A177-3AD203B41FA5}">
                      <a16:colId xmlns:a16="http://schemas.microsoft.com/office/drawing/2014/main" val="27849519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92940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2734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Christina Mullin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Jason Bond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Daniel Pedersen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1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Dilshad Bhatti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Gerry Weber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All CWB BAs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32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Michael Schultz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Adam Skoreyko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Sharon Rousey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654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CWB QA Managers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Sandra Murillo Paz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Daniel Cook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978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Neil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Colinares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More…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59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956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B31E2C-42F2-4984-BB98-F3B8F3DCE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991" y="65902"/>
            <a:ext cx="4119368" cy="5979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E19CAF-F37B-4D1C-AE3F-81E42B2DF452}"/>
              </a:ext>
            </a:extLst>
          </p:cNvPr>
          <p:cNvSpPr txBox="1"/>
          <p:nvPr/>
        </p:nvSpPr>
        <p:spPr>
          <a:xfrm>
            <a:off x="362465" y="366754"/>
            <a:ext cx="25125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Living Document link – </a:t>
            </a:r>
            <a:r>
              <a:rPr lang="en-US" sz="1400" dirty="0">
                <a:hlinkClick r:id="rId3"/>
              </a:rPr>
              <a:t>Requirements Workflow – Current and Future State – Overview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75540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E19CAF-F37B-4D1C-AE3F-81E42B2DF452}"/>
              </a:ext>
            </a:extLst>
          </p:cNvPr>
          <p:cNvSpPr txBox="1"/>
          <p:nvPr/>
        </p:nvSpPr>
        <p:spPr>
          <a:xfrm>
            <a:off x="362465" y="366754"/>
            <a:ext cx="25125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Living Document link – </a:t>
            </a:r>
            <a:r>
              <a:rPr lang="en-US" sz="1400" dirty="0">
                <a:hlinkClick r:id="rId2"/>
              </a:rPr>
              <a:t>Requirements Workflow – Current and Future State – Overview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6392-B5DA-4A16-8E91-16C5C261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462" y="74140"/>
            <a:ext cx="36269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27F26-4962-409A-B1F8-C9DFFC53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50" y="0"/>
            <a:ext cx="79597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33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C22EFAE-1EE2-405A-86AD-572F8D5C7234}"/>
              </a:ext>
            </a:extLst>
          </p:cNvPr>
          <p:cNvSpPr txBox="1">
            <a:spLocks/>
          </p:cNvSpPr>
          <p:nvPr/>
        </p:nvSpPr>
        <p:spPr>
          <a:xfrm>
            <a:off x="313069" y="265007"/>
            <a:ext cx="8280401" cy="52239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9A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Analysis in a Nutshell - Projects</a:t>
            </a:r>
            <a:endParaRPr kumimoji="0" lang="en-CA" sz="3200" b="0" i="0" u="none" strike="noStrike" kern="1200" cap="none" spc="0" normalizeH="0" baseline="0" noProof="0" dirty="0">
              <a:ln>
                <a:noFill/>
              </a:ln>
              <a:solidFill>
                <a:srgbClr val="009AA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B7026-23A3-4538-8E2D-7F167AA86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87" y="973185"/>
            <a:ext cx="7294606" cy="365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26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8611F94-A84E-47B9-88D2-89123423079F}"/>
              </a:ext>
            </a:extLst>
          </p:cNvPr>
          <p:cNvSpPr txBox="1"/>
          <p:nvPr/>
        </p:nvSpPr>
        <p:spPr>
          <a:xfrm>
            <a:off x="6980283" y="3409037"/>
            <a:ext cx="1640713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Deliverables: </a:t>
            </a:r>
            <a:r>
              <a:rPr lang="en-US" sz="800" dirty="0"/>
              <a:t>Operational Initiatives </a:t>
            </a:r>
          </a:p>
          <a:p>
            <a:r>
              <a:rPr lang="en-US" sz="800" b="1" dirty="0"/>
              <a:t>Opportunities and Pain Points:  </a:t>
            </a:r>
            <a:r>
              <a:rPr lang="en-US" sz="800" dirty="0"/>
              <a:t>Creation of public, published, and prioritized backlogs.</a:t>
            </a:r>
            <a:br>
              <a:rPr lang="en-US" sz="800" b="1" dirty="0"/>
            </a:br>
            <a:r>
              <a:rPr lang="en-US" sz="800" b="1" dirty="0"/>
              <a:t>Action Items:  </a:t>
            </a:r>
            <a:r>
              <a:rPr lang="en-US" sz="800" dirty="0"/>
              <a:t>Part of the SDLC Tools initiative. </a:t>
            </a:r>
            <a:endParaRPr lang="en-CA" sz="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E90B84-3DFB-4D24-8753-D70CD2CCDDF7}"/>
              </a:ext>
            </a:extLst>
          </p:cNvPr>
          <p:cNvSpPr txBox="1"/>
          <p:nvPr/>
        </p:nvSpPr>
        <p:spPr>
          <a:xfrm>
            <a:off x="6828276" y="1429462"/>
            <a:ext cx="2125068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Deliverables:</a:t>
            </a:r>
            <a:r>
              <a:rPr lang="en-US" sz="800" dirty="0"/>
              <a:t>  Transition to Operations (TTO)</a:t>
            </a:r>
          </a:p>
          <a:p>
            <a:r>
              <a:rPr lang="en-US" sz="800" b="1" dirty="0"/>
              <a:t>Opportunities and Pain Points:  </a:t>
            </a:r>
            <a:r>
              <a:rPr lang="en-US" sz="800" dirty="0"/>
              <a:t>More lead time is needed.  </a:t>
            </a:r>
            <a:br>
              <a:rPr lang="en-US" sz="800" b="1" dirty="0"/>
            </a:br>
            <a:r>
              <a:rPr lang="en-US" sz="800" b="1" dirty="0"/>
              <a:t>Action Items:  </a:t>
            </a:r>
            <a:r>
              <a:rPr lang="en-US" sz="800" dirty="0"/>
              <a:t>Work with the PMO to resource at the right time in the initiative. </a:t>
            </a:r>
            <a:endParaRPr lang="en-CA" sz="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4B19A-40F6-494E-AB1F-7EDF4A63B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1" y="454790"/>
            <a:ext cx="6724585" cy="3895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F6841B-4F83-41E1-A2F2-8A454CFC1688}"/>
              </a:ext>
            </a:extLst>
          </p:cNvPr>
          <p:cNvSpPr txBox="1"/>
          <p:nvPr/>
        </p:nvSpPr>
        <p:spPr>
          <a:xfrm>
            <a:off x="824391" y="454790"/>
            <a:ext cx="42377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With Action Items.  See also: Business Analysis Value Add  - </a:t>
            </a:r>
            <a:r>
              <a:rPr lang="en-US" sz="900" b="1" dirty="0">
                <a:hlinkClick r:id="rId3"/>
              </a:rPr>
              <a:t>BA Service Catalog</a:t>
            </a:r>
            <a:r>
              <a:rPr lang="en-US" sz="900" b="1" dirty="0"/>
              <a:t>  </a:t>
            </a:r>
            <a:endParaRPr lang="en-CA" sz="9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97084A-5AF9-4C2E-BC3E-F33044601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63487"/>
            <a:ext cx="9144000" cy="4071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98093D-7F0E-4134-8902-6DDCA515A7AF}"/>
              </a:ext>
            </a:extLst>
          </p:cNvPr>
          <p:cNvSpPr txBox="1"/>
          <p:nvPr/>
        </p:nvSpPr>
        <p:spPr>
          <a:xfrm>
            <a:off x="255698" y="2978150"/>
            <a:ext cx="2865848" cy="1708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700" b="1" dirty="0"/>
              <a:t>Deliverables:</a:t>
            </a:r>
            <a:r>
              <a:rPr lang="en-US" sz="700" dirty="0"/>
              <a:t>  BRD or BRD Light</a:t>
            </a:r>
          </a:p>
          <a:p>
            <a:r>
              <a:rPr lang="en-US" sz="700" b="1" dirty="0"/>
              <a:t>Opportunities and Pain Points:  </a:t>
            </a:r>
            <a:r>
              <a:rPr lang="en-US" sz="7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Varying expectations for the required level of detail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Ensure we understand the business need before solutioning.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Requirements Repository </a:t>
            </a:r>
          </a:p>
          <a:p>
            <a:r>
              <a:rPr lang="en-US" sz="700" b="1" dirty="0"/>
              <a:t>Action Items: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Separate BRs from FRs – refining the sign-off to the appropriate stakeholders for each.  Add Sr </a:t>
            </a:r>
            <a:r>
              <a:rPr lang="en-US" sz="700" dirty="0" err="1"/>
              <a:t>Mgr</a:t>
            </a:r>
            <a:r>
              <a:rPr lang="en-US" sz="700" dirty="0"/>
              <a:t>, BA to the signers.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Decision Tree on where BRD or BRD Light is needed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Implement SDLC Tools – Project Kick-Off on Jan 14</a:t>
            </a:r>
            <a:r>
              <a:rPr lang="en-US" sz="700" baseline="30000" dirty="0"/>
              <a:t>th</a:t>
            </a:r>
            <a:r>
              <a:rPr lang="en-US" sz="700" dirty="0"/>
              <a:t> 2021.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Integrate the new Business Process Catalog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Trace to the Benefits Realization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Improve Regulatory Requirements Traceability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Ensure new Security Standards are addressed.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Ensure we follow Accessibility standards.</a:t>
            </a:r>
            <a:endParaRPr lang="en-CA" sz="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A94FF-97BA-4153-AC8F-5A4119B790B1}"/>
              </a:ext>
            </a:extLst>
          </p:cNvPr>
          <p:cNvSpPr txBox="1"/>
          <p:nvPr/>
        </p:nvSpPr>
        <p:spPr>
          <a:xfrm>
            <a:off x="3282866" y="2978150"/>
            <a:ext cx="2022343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Deliverables: </a:t>
            </a:r>
            <a:r>
              <a:rPr lang="en-US" sz="800" dirty="0"/>
              <a:t>Various Other Deliverables. See the Service Catalog. </a:t>
            </a:r>
          </a:p>
          <a:p>
            <a:r>
              <a:rPr lang="en-US" sz="800" b="1" dirty="0"/>
              <a:t>Opportunities and Pain Points: </a:t>
            </a:r>
            <a:r>
              <a:rPr lang="en-US" sz="800" dirty="0"/>
              <a:t>Varying expectations on the level of detail expected.</a:t>
            </a:r>
          </a:p>
          <a:p>
            <a:r>
              <a:rPr lang="en-US" sz="800" dirty="0"/>
              <a:t>Estimates and Dates</a:t>
            </a:r>
            <a:br>
              <a:rPr lang="en-US" sz="800" b="1" dirty="0"/>
            </a:br>
            <a:r>
              <a:rPr lang="en-US" sz="800" b="1" dirty="0"/>
              <a:t>Action Items: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Update the Service Catalog.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Clarify the criteria for each deliverable.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High level (PMO/Business driven) estimates to be refined by the Implementation Team once the solution is solidified. </a:t>
            </a:r>
            <a:endParaRPr lang="en-CA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97404-D106-457C-B612-C4E81B75E067}"/>
              </a:ext>
            </a:extLst>
          </p:cNvPr>
          <p:cNvSpPr txBox="1"/>
          <p:nvPr/>
        </p:nvSpPr>
        <p:spPr>
          <a:xfrm>
            <a:off x="6828276" y="133447"/>
            <a:ext cx="2145291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700" b="1" dirty="0"/>
              <a:t>Add UDF to our SDLC Workflow</a:t>
            </a:r>
          </a:p>
          <a:p>
            <a:r>
              <a:rPr lang="en-US" sz="700" b="1" dirty="0"/>
              <a:t>Action Items:</a:t>
            </a:r>
          </a:p>
          <a:p>
            <a:r>
              <a:rPr lang="en-US" sz="700" b="1" dirty="0"/>
              <a:t>Q122 - </a:t>
            </a:r>
            <a:r>
              <a:rPr lang="en-US" sz="700" dirty="0"/>
              <a:t> Feedback and formalization with IS, PMO, and other stakeholders. </a:t>
            </a:r>
          </a:p>
          <a:p>
            <a:r>
              <a:rPr lang="en-US" sz="700" dirty="0"/>
              <a:t>Train and document. </a:t>
            </a:r>
          </a:p>
          <a:p>
            <a:r>
              <a:rPr lang="en-US" sz="700" b="1" dirty="0"/>
              <a:t>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Implement UDF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Add Regulatory checks to UDF (NRAP and Risks identified in the Business Process Catalog).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Add Benefits Realization to UDF</a:t>
            </a:r>
            <a:endParaRPr lang="en-CA" sz="700" b="1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87901" y="103797"/>
            <a:ext cx="8280401" cy="397483"/>
          </a:xfrm>
        </p:spPr>
        <p:txBody>
          <a:bodyPr/>
          <a:lstStyle/>
          <a:p>
            <a:r>
              <a:rPr lang="en-US" dirty="0"/>
              <a:t>Simplified Business Analysis Workflow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6869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82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4E558F14-40F2-4330-8415-37CDE72EF9BF}"/>
    </a:ext>
  </a:extLst>
</a:theme>
</file>

<file path=ppt/theme/theme2.xml><?xml version="1.0" encoding="utf-8"?>
<a:theme xmlns:a="http://schemas.openxmlformats.org/drawingml/2006/main" name="1 Primary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8B5F3925-061E-4CE9-AD99-C39C9C5C7142}"/>
    </a:ext>
  </a:extLst>
</a:theme>
</file>

<file path=ppt/theme/theme3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BFDF226E-E1D5-4DFA-85E3-B2178792D722}"/>
    </a:ext>
  </a:extLst>
</a:theme>
</file>

<file path=ppt/theme/theme4.xml><?xml version="1.0" encoding="utf-8"?>
<a:theme xmlns:a="http://schemas.openxmlformats.org/drawingml/2006/main" name="2 Primary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1DF51B12-F757-46EA-AACB-3E7AF6984824}"/>
    </a:ext>
  </a:extLst>
</a:theme>
</file>

<file path=ppt/theme/theme5.xml><?xml version="1.0" encoding="utf-8"?>
<a:theme xmlns:a="http://schemas.openxmlformats.org/drawingml/2006/main" name="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41658887-B83D-438C-A6F3-8CBA0A9EFF28}"/>
    </a:ext>
  </a:extLst>
</a:theme>
</file>

<file path=ppt/theme/theme6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521E4F13-70F4-481E-9512-18FCF3CC7233}"/>
    </a:ext>
  </a:extLst>
</a:theme>
</file>

<file path=ppt/theme/theme7.xml><?xml version="1.0" encoding="utf-8"?>
<a:theme xmlns:a="http://schemas.openxmlformats.org/drawingml/2006/main" name="3 Nav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278AF892-CE97-431D-BA00-CEFEA980BB32}"/>
    </a:ext>
  </a:extLst>
</a:theme>
</file>

<file path=ppt/theme/theme8.xml><?xml version="1.0" encoding="utf-8"?>
<a:theme xmlns:a="http://schemas.openxmlformats.org/drawingml/2006/main" name="3 Nav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CDF18213-AC0C-4C09-94AB-2592BA73E9EF}"/>
    </a:ext>
  </a:extLst>
</a:theme>
</file>

<file path=ppt/theme/theme9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2D93E9AB-E93C-4163-B906-28E343ED8AC4}"/>
    </a:ext>
  </a:extLst>
</a:theme>
</file>

<file path=ppt/theme/theme10.xml><?xml version="1.0" encoding="utf-8"?>
<a:theme xmlns:a="http://schemas.openxmlformats.org/drawingml/2006/main" name="4 Light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3F8E7C21-928F-47F7-8525-A8B0980C9A2B}"/>
    </a:ext>
  </a:extLst>
</a:theme>
</file>

<file path=ppt/theme/theme11.xml><?xml version="1.0" encoding="utf-8"?>
<a:theme xmlns:a="http://schemas.openxmlformats.org/drawingml/2006/main" name="4 Light Teal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1DC37EAA-A375-45A5-BE55-70394A3F4441}"/>
    </a:ext>
  </a:extLst>
</a:theme>
</file>

<file path=ppt/theme/theme12.xml><?xml version="1.0" encoding="utf-8"?>
<a:theme xmlns:a="http://schemas.openxmlformats.org/drawingml/2006/main" name="4 Light Teal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8A10909D-AD12-46D1-A3F6-4F51DC1F0FFC}"/>
    </a:ext>
  </a:extLst>
</a:theme>
</file>

<file path=ppt/theme/theme13.xml><?xml version="1.0" encoding="utf-8"?>
<a:theme xmlns:a="http://schemas.openxmlformats.org/drawingml/2006/main" name="6 Dark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748905C5-6124-4524-871A-75B13E3108B7}"/>
    </a:ext>
  </a:extLst>
</a:theme>
</file>

<file path=ppt/theme/theme14.xml><?xml version="1.0" encoding="utf-8"?>
<a:theme xmlns:a="http://schemas.openxmlformats.org/drawingml/2006/main" name="6 Dark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4F5A13A9-0175-4824-A985-6E465A7C989B}"/>
    </a:ext>
  </a:extLst>
</a:theme>
</file>

<file path=ppt/theme/theme15.xml><?xml version="1.0" encoding="utf-8"?>
<a:theme xmlns:a="http://schemas.openxmlformats.org/drawingml/2006/main" name="6 Dark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A27A6D6F-802B-4B22-8AE9-9C1C48B25F5E}"/>
    </a:ext>
  </a:extLst>
</a:theme>
</file>

<file path=ppt/theme/theme16.xml><?xml version="1.0" encoding="utf-8"?>
<a:theme xmlns:a="http://schemas.openxmlformats.org/drawingml/2006/main" name="7 Orange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AE54C68D-2684-458E-9163-6CBF5521F4D5}"/>
    </a:ext>
  </a:extLst>
</a:theme>
</file>

<file path=ppt/theme/theme17.xml><?xml version="1.0" encoding="utf-8"?>
<a:theme xmlns:a="http://schemas.openxmlformats.org/drawingml/2006/main" name="7 Orange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86B41A6C-07F6-4586-A6F6-2253D5BDF330}"/>
    </a:ext>
  </a:extLst>
</a:theme>
</file>

<file path=ppt/theme/theme18.xml><?xml version="1.0" encoding="utf-8"?>
<a:theme xmlns:a="http://schemas.openxmlformats.org/drawingml/2006/main" name="7 Orange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98F7E1AF-1DB3-47E9-A8A3-F995F235ADAC}"/>
    </a:ext>
  </a:extLst>
</a:theme>
</file>

<file path=ppt/theme/theme19.xml><?xml version="1.0" encoding="utf-8"?>
<a:theme xmlns:a="http://schemas.openxmlformats.org/drawingml/2006/main" name="8 Gre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6BAF52FC-7B46-4DAC-9BE1-1088C8D1B9D4}"/>
    </a:ext>
  </a:extLst>
</a:theme>
</file>

<file path=ppt/theme/theme20.xml><?xml version="1.0" encoding="utf-8"?>
<a:theme xmlns:a="http://schemas.openxmlformats.org/drawingml/2006/main" name="8 Gre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1F3ADA15-1F7D-4487-9DBF-DFF28F0BB24E}"/>
    </a:ext>
  </a:extLst>
</a:theme>
</file>

<file path=ppt/theme/theme21.xml><?xml version="1.0" encoding="utf-8"?>
<a:theme xmlns:a="http://schemas.openxmlformats.org/drawingml/2006/main" name="8 Gre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067A5AC6-057A-429E-BBB8-A1420CEF719E}"/>
    </a:ext>
  </a:extLst>
</a:theme>
</file>

<file path=ppt/theme/theme22.xml><?xml version="1.0" encoding="utf-8"?>
<a:theme xmlns:a="http://schemas.openxmlformats.org/drawingml/2006/main" name="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A1F9742B-9396-422E-AF1B-4C04FC00D645}"/>
    </a:ext>
  </a:extLst>
</a:theme>
</file>

<file path=ppt/theme/theme23.xml><?xml version="1.0" encoding="utf-8"?>
<a:theme xmlns:a="http://schemas.openxmlformats.org/drawingml/2006/main" name="1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98C1DD27-F428-4E12-B550-31BE71BEFB32}"/>
    </a:ext>
  </a:extLst>
</a:theme>
</file>

<file path=ppt/theme/theme24.xml><?xml version="1.0" encoding="utf-8"?>
<a:theme xmlns:a="http://schemas.openxmlformats.org/drawingml/2006/main" name="2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D5D523EC-3E25-4CA7-9D3E-9EDFF4F03C4D}"/>
    </a:ext>
  </a:extLst>
</a:theme>
</file>

<file path=ppt/theme/theme25.xml><?xml version="1.0" encoding="utf-8"?>
<a:theme xmlns:a="http://schemas.openxmlformats.org/drawingml/2006/main" name="Quote - Teal Lad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98B12E0E-021C-400F-9E85-13498143C36A}"/>
    </a:ext>
  </a:extLst>
</a:theme>
</file>

<file path=ppt/theme/theme26.xml><?xml version="1.0" encoding="utf-8"?>
<a:theme xmlns:a="http://schemas.openxmlformats.org/drawingml/2006/main" name="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083DE1E7-4379-4554-9DBF-CCD1389761E3}"/>
    </a:ext>
  </a:extLst>
</a:theme>
</file>

<file path=ppt/theme/theme27.xml><?xml version="1.0" encoding="utf-8"?>
<a:theme xmlns:a="http://schemas.openxmlformats.org/drawingml/2006/main" name="1_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FG Presentation 16x9" id="{4B5D33AB-E39C-4FD9-A59A-93FA20FA7EAC}" vid="{EDBB0F01-8EAA-4381-83C5-72A9BE2FEFB1}"/>
    </a:ext>
  </a:extLst>
</a:theme>
</file>

<file path=ppt/theme/theme28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9035E62-F7A9-4709-9788-2DAD6D496E76}"/>
    </a:ext>
  </a:extLst>
</a:theme>
</file>

<file path=ppt/theme/theme29.xml><?xml version="1.0" encoding="utf-8"?>
<a:theme xmlns:a="http://schemas.openxmlformats.org/drawingml/2006/main" name="1_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30.xml><?xml version="1.0" encoding="utf-8"?>
<a:theme xmlns:a="http://schemas.openxmlformats.org/drawingml/2006/main" name="1_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46035B87-CB5B-410B-9AAC-64B535A96964}"/>
    </a:ext>
  </a:extLst>
</a:theme>
</file>

<file path=ppt/theme/theme3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822AC87A-1BD7-4590-A02C-A4F53A486A31}"/>
</file>

<file path=customXml/itemProps2.xml><?xml version="1.0" encoding="utf-8"?>
<ds:datastoreItem xmlns:ds="http://schemas.openxmlformats.org/officeDocument/2006/customXml" ds:itemID="{EADA0456-8179-4967-B0FB-3FB38CD472F7}"/>
</file>

<file path=customXml/itemProps3.xml><?xml version="1.0" encoding="utf-8"?>
<ds:datastoreItem xmlns:ds="http://schemas.openxmlformats.org/officeDocument/2006/customXml" ds:itemID="{98E020D9-FD55-42D6-BF0E-F0414994D6B4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 16x9</Template>
  <TotalTime>13569</TotalTime>
  <Words>1193</Words>
  <Application>Microsoft Office PowerPoint</Application>
  <PresentationFormat>On-screen Show (16:9)</PresentationFormat>
  <Paragraphs>183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30</vt:i4>
      </vt:variant>
      <vt:variant>
        <vt:lpstr>Slide Titles</vt:lpstr>
      </vt:variant>
      <vt:variant>
        <vt:i4>15</vt:i4>
      </vt:variant>
    </vt:vector>
  </HeadingPairs>
  <TitlesOfParts>
    <vt:vector size="48" baseType="lpstr">
      <vt:lpstr>Arial</vt:lpstr>
      <vt:lpstr>Calibri</vt:lpstr>
      <vt:lpstr>Wingdings</vt:lpstr>
      <vt:lpstr>Custom Design</vt:lpstr>
      <vt:lpstr>1 Primary Gold - Section Title</vt:lpstr>
      <vt:lpstr>1 Primary Gold - Section Content</vt:lpstr>
      <vt:lpstr>2 Primary Teal - Section Title</vt:lpstr>
      <vt:lpstr>2 Primary Gold - Section Content</vt:lpstr>
      <vt:lpstr>2 Primary Gold - Content</vt:lpstr>
      <vt:lpstr>3 Navy - Section Title</vt:lpstr>
      <vt:lpstr>3 Navy - Section Content</vt:lpstr>
      <vt:lpstr>3 Navy - Content</vt:lpstr>
      <vt:lpstr>4 Light Teal - Section Title</vt:lpstr>
      <vt:lpstr>4 Light Teal - Section Content</vt:lpstr>
      <vt:lpstr>4 Light Teal - Content</vt:lpstr>
      <vt:lpstr>6 Dark Gold - Section Title</vt:lpstr>
      <vt:lpstr>6 Dark Gold - Section Content</vt:lpstr>
      <vt:lpstr>6 Dark Gold - Content</vt:lpstr>
      <vt:lpstr>7 Orange - Section Title</vt:lpstr>
      <vt:lpstr>7 Orange - Section Content</vt:lpstr>
      <vt:lpstr>7 Orange - Content</vt:lpstr>
      <vt:lpstr>8 Grey - Section Title</vt:lpstr>
      <vt:lpstr>8 Grey - Section Content</vt:lpstr>
      <vt:lpstr>8 Grey - Content</vt:lpstr>
      <vt:lpstr>Section Title - Photo</vt:lpstr>
      <vt:lpstr>1_Section Title - Photo</vt:lpstr>
      <vt:lpstr>2_Section Title - Photo</vt:lpstr>
      <vt:lpstr>Quote - Teal Ladder</vt:lpstr>
      <vt:lpstr>Quote - Navy Path</vt:lpstr>
      <vt:lpstr>1_Quote - Navy Path</vt:lpstr>
      <vt:lpstr>1_Custom Design</vt:lpstr>
      <vt:lpstr>1_2 Primary Gold - Content</vt:lpstr>
      <vt:lpstr>1_2 Primary Gold - Section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- R1.2  Requirements Approach</dc:title>
  <dc:creator>Sherry McMillan</dc:creator>
  <cp:lastModifiedBy>Sherry McMillan</cp:lastModifiedBy>
  <cp:revision>48</cp:revision>
  <cp:lastPrinted>2014-01-17T22:29:57Z</cp:lastPrinted>
  <dcterms:created xsi:type="dcterms:W3CDTF">2021-10-03T18:19:33Z</dcterms:created>
  <dcterms:modified xsi:type="dcterms:W3CDTF">2022-01-28T19:10:01Z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947200</vt:r8>
  </property>
  <property fmtid="{D5CDD505-2E9C-101B-9397-08002B2CF9AE}" pid="4" name="URL">
    <vt:lpwstr/>
  </property>
</Properties>
</file>